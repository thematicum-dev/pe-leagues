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0.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1.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2.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3.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Fee</c:v>
                </c:pt>
              </c:strCache>
            </c:strRef>
          </c:tx>
          <c:spPr>
            <a:solidFill>
              <a:srgbClr val="DCB264"/>
            </a:solidFill>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5</c:v>
                </c:pt>
                <c:pt idx="1">
                  <c:v>5</c:v>
                </c:pt>
                <c:pt idx="2">
                  <c:v>5</c:v>
                </c:pt>
                <c:pt idx="3">
                  <c:v>5</c:v>
                </c:pt>
                <c:pt idx="4">
                  <c:v>5</c:v>
                </c:pt>
                <c:pt idx="5">
                  <c:v>5</c:v>
                </c:pt>
                <c:pt idx="6">
                  <c:v>5</c:v>
                </c:pt>
                <c:pt idx="7">
                  <c:v>5</c:v>
                </c:pt>
                <c:pt idx="8">
                  <c:v>5</c:v>
                </c:pt>
                <c:pt idx="9">
                  <c:v>5</c:v>
                </c:pt>
                <c:pt idx="10">
                  <c:v>2.8000000000000003</c:v>
                </c:pt>
                <c:pt idx="11">
                  <c:v>2.4</c:v>
                </c:pt>
                <c:pt idx="12">
                  <c:v>2</c:v>
                </c:pt>
                <c:pt idx="13">
                  <c:v>1.6</c:v>
                </c:pt>
                <c:pt idx="14">
                  <c:v>1.2</c:v>
                </c:pt>
                <c:pt idx="15">
                  <c:v>0.9</c:v>
                </c:pt>
                <c:pt idx="16">
                  <c:v>0.6</c:v>
                </c:pt>
                <c:pt idx="17">
                  <c:v>0.4</c:v>
                </c:pt>
                <c:pt idx="18">
                  <c:v>0.2</c:v>
                </c:pt>
                <c:pt idx="19">
                  <c:v>0</c:v>
                </c:pt>
              </c:numCache>
            </c:numRef>
          </c:val>
        </c:ser>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8E9C9B"/>
                    </a:solidFill>
                    <a:latin typeface="Arial"/>
                  </a:defRPr>
                </a:pPr>
                <a:r>
                  <a:rPr sz="1000" b="0" i="0" u="none" strike="noStrike">
                    <a:solidFill>
                      <a:srgbClr val="8E9C9B"/>
                    </a:solidFill>
                    <a:latin typeface="Arial"/>
                  </a:rPr>
                  <a:t>Halbjahr</a:t>
                </a:r>
              </a:p>
            </c:rich>
          </c:tx>
          <c:layout/>
          <c:overlay val="0"/>
        </c:title>
        <c:numFmt formatCode="General" sourceLinked="1"/>
        <c:majorTickMark val="out"/>
        <c:minorTickMark val="none"/>
        <c:tickLblPos val="low"/>
        <c:spPr>
          <a:ln w="12700" cap="flat">
            <a:solidFill>
              <a:srgbClr val="243033"/>
            </a:solidFill>
            <a:prstDash val="solid"/>
            <a:round/>
          </a:ln>
        </c:spPr>
        <c:txPr>
          <a:bodyPr/>
          <a:lstStyle/>
          <a:p>
            <a:pPr>
              <a:defRPr sz="10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6350" cap="flat">
              <a:solidFill>
                <a:srgbClr val="243033"/>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plotVisOnly val="1"/>
    <c:dispBlanksAs val="span"/>
  </c:chart>
  <c:spPr>
    <a:solidFill>
      <a:srgbClr val="161F2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EDF1EE"/>
                </a:solidFill>
                <a:latin typeface="Calibri"/>
              </a:defRPr>
            </a:pPr>
            <a:r>
              <a:rPr sz="1200" b="0" i="0" u="none" strike="noStrike">
                <a:solidFill>
                  <a:srgbClr val="EDF1EE"/>
                </a:solidFill>
                <a:latin typeface="Calibri"/>
              </a:rPr>
              <a:t>J-Curve: kumulierter Cashflow (Mio. €)</a:t>
            </a:r>
          </a:p>
        </c:rich>
      </c:tx>
      <c:layout/>
      <c:overlay val="0"/>
    </c:title>
    <c:autoTitleDeleted val="0"/>
    <c:plotArea>
      <c:layout/>
      <c:barChart>
        <c:barDir val="col"/>
        <c:grouping val="stacked"/>
        <c:varyColors val="0"/>
        <c:ser>
          <c:idx val="0"/>
          <c:order val="0"/>
          <c:tx>
            <c:strRef>
              <c:f>Sheet1!$B$1</c:f>
              <c:strCache>
                <c:ptCount val="1"/>
                <c:pt idx="0">
                  <c:v>negativ</c:v>
                </c:pt>
              </c:strCache>
            </c:strRef>
          </c:tx>
          <c:spPr>
            <a:solidFill>
              <a:srgbClr val="E3897F"/>
            </a:solidFill>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-110</c:v>
                </c:pt>
                <c:pt idx="1">
                  <c:v>-272</c:v>
                </c:pt>
                <c:pt idx="2">
                  <c:v>-402</c:v>
                </c:pt>
                <c:pt idx="3">
                  <c:v>-407</c:v>
                </c:pt>
                <c:pt idx="4">
                  <c:v>-113</c:v>
                </c:pt>
                <c:pt idx="5">
                  <c:v>-64</c:v>
                </c:pt>
                <c:pt idx="6">
                  <c:v>-77</c:v>
                </c:pt>
                <c:pt idx="7">
                  <c:v>0</c:v>
                </c:pt>
                <c:pt idx="8">
                  <c:v>0</c:v>
                </c:pt>
                <c:pt idx="9">
                  <c:v>0</c:v>
                </c:pt>
                <c:pt idx="10">
                  <c:v>0</c:v>
                </c:pt>
                <c:pt idx="11">
                  <c:v>0</c:v>
                </c:pt>
                <c:pt idx="12">
                  <c:v>0</c:v>
                </c:pt>
                <c:pt idx="13">
                  <c:v>0</c:v>
                </c:pt>
                <c:pt idx="14">
                  <c:v>0</c:v>
                </c:pt>
                <c:pt idx="15">
                  <c:v>0</c:v>
                </c:pt>
                <c:pt idx="16">
                  <c:v>0</c:v>
                </c:pt>
                <c:pt idx="17">
                  <c:v>0</c:v>
                </c:pt>
                <c:pt idx="18">
                  <c:v>0</c:v>
                </c:pt>
                <c:pt idx="19">
                  <c:v>0</c:v>
                </c:pt>
              </c:numCache>
            </c:numRef>
          </c:val>
        </c:ser>
        <c:ser>
          <c:idx val="1"/>
          <c:order val="1"/>
          <c:tx>
            <c:strRef>
              <c:f>Sheet1!$C$1</c:f>
              <c:strCache>
                <c:ptCount val="1"/>
                <c:pt idx="0">
                  <c:v>positiv</c:v>
                </c:pt>
              </c:strCache>
            </c:strRef>
          </c:tx>
          <c:spPr>
            <a:solidFill>
              <a:srgbClr val="5FC4B1"/>
            </a:solidFill>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c:v>
                </c:pt>
                <c:pt idx="1">
                  <c:v>0</c:v>
                </c:pt>
                <c:pt idx="2">
                  <c:v>0</c:v>
                </c:pt>
                <c:pt idx="3">
                  <c:v>0</c:v>
                </c:pt>
                <c:pt idx="4">
                  <c:v>0</c:v>
                </c:pt>
                <c:pt idx="5">
                  <c:v>0</c:v>
                </c:pt>
                <c:pt idx="6">
                  <c:v>0</c:v>
                </c:pt>
                <c:pt idx="7">
                  <c:v>31</c:v>
                </c:pt>
                <c:pt idx="8">
                  <c:v>111</c:v>
                </c:pt>
                <c:pt idx="9">
                  <c:v>106</c:v>
                </c:pt>
                <c:pt idx="10">
                  <c:v>237</c:v>
                </c:pt>
                <c:pt idx="11">
                  <c:v>237</c:v>
                </c:pt>
                <c:pt idx="12">
                  <c:v>237</c:v>
                </c:pt>
                <c:pt idx="13">
                  <c:v>195</c:v>
                </c:pt>
                <c:pt idx="14">
                  <c:v>194</c:v>
                </c:pt>
                <c:pt idx="15">
                  <c:v>194</c:v>
                </c:pt>
                <c:pt idx="16">
                  <c:v>193</c:v>
                </c:pt>
                <c:pt idx="17">
                  <c:v>259</c:v>
                </c:pt>
                <c:pt idx="18">
                  <c:v>259</c:v>
                </c:pt>
                <c:pt idx="19">
                  <c:v>259</c:v>
                </c:pt>
              </c:numCache>
            </c:numRef>
          </c:val>
        </c:ser>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43033"/>
            </a:solidFill>
            <a:prstDash val="solid"/>
            <a:round/>
          </a:ln>
        </c:spPr>
        <c:txPr>
          <a:bodyPr/>
          <a:lstStyle/>
          <a:p>
            <a:pPr>
              <a:defRPr sz="10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033"/>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plotVisOnly val="1"/>
    <c:dispBlanksAs val="span"/>
  </c:chart>
  <c:spPr>
    <a:solidFill>
      <a:srgbClr val="161F22"/>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TVCC</c:v>
                </c:pt>
              </c:strCache>
            </c:strRef>
          </c:tx>
          <c:spPr>
            <a:solidFill>
              <a:srgbClr val="DCB264"/>
            </a:solidFill>
            <a:ln w="31750" cap="flat">
              <a:solidFill>
                <a:srgbClr val="DCB264"/>
              </a:solidFill>
              <a:prstDash val="solid"/>
              <a:round/>
            </a:ln>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c:symbol val="none"/>
            <c:size val="6"/>
            <c:spPr>
              <a:solidFill>
                <a:srgbClr val="DCB264"/>
              </a:solidFill>
              <a:ln w="9525" cap="flat">
                <a:solidFill>
                  <a:srgbClr val="DCB264"/>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0.15</c:v>
                </c:pt>
                <c:pt idx="1">
                  <c:v>0.5</c:v>
                </c:pt>
                <c:pt idx="2">
                  <c:v>0.69</c:v>
                </c:pt>
                <c:pt idx="3">
                  <c:v>0.71</c:v>
                </c:pt>
                <c:pt idx="4">
                  <c:v>0.92</c:v>
                </c:pt>
                <c:pt idx="5">
                  <c:v>0.97</c:v>
                </c:pt>
                <c:pt idx="6">
                  <c:v>1.09</c:v>
                </c:pt>
                <c:pt idx="7">
                  <c:v>1.15</c:v>
                </c:pt>
                <c:pt idx="8">
                  <c:v>1.23</c:v>
                </c:pt>
                <c:pt idx="9">
                  <c:v>1.25</c:v>
                </c:pt>
                <c:pt idx="10">
                  <c:v>1.27</c:v>
                </c:pt>
                <c:pt idx="11">
                  <c:v>1.29</c:v>
                </c:pt>
                <c:pt idx="12">
                  <c:v>1.34</c:v>
                </c:pt>
                <c:pt idx="13">
                  <c:v>1.43</c:v>
                </c:pt>
                <c:pt idx="14">
                  <c:v>1.42</c:v>
                </c:pt>
                <c:pt idx="15">
                  <c:v>1.43</c:v>
                </c:pt>
                <c:pt idx="16">
                  <c:v>1.43</c:v>
                </c:pt>
                <c:pt idx="17">
                  <c:v>1.5</c:v>
                </c:pt>
                <c:pt idx="18">
                  <c:v>1.5</c:v>
                </c:pt>
                <c:pt idx="19">
                  <c:v>1.5</c:v>
                </c:pt>
              </c:numCache>
            </c:numRef>
          </c:val>
          <c:smooth val="0"/>
        </c:ser>
        <c:ser>
          <c:idx val="1"/>
          <c:order val="1"/>
          <c:tx>
            <c:strRef>
              <c:f>Sheet1!$C$1</c:f>
              <c:strCache>
                <c:ptCount val="1"/>
                <c:pt idx="0">
                  <c:v>TVPI</c:v>
                </c:pt>
              </c:strCache>
            </c:strRef>
          </c:tx>
          <c:spPr>
            <a:solidFill>
              <a:srgbClr val="8E9C9B"/>
            </a:solidFill>
            <a:ln w="31750" cap="flat">
              <a:solidFill>
                <a:srgbClr val="8E9C9B"/>
              </a:solidFill>
              <a:prstDash val="solid"/>
              <a:round/>
            </a:ln>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c:symbol val="none"/>
            <c:size val="6"/>
            <c:spPr>
              <a:solidFill>
                <a:srgbClr val="8E9C9B"/>
              </a:solidFill>
              <a:ln w="9525" cap="flat">
                <a:solidFill>
                  <a:srgbClr val="8E9C9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0.69</c:v>
                </c:pt>
                <c:pt idx="1">
                  <c:v>0.92</c:v>
                </c:pt>
                <c:pt idx="2">
                  <c:v>0.86</c:v>
                </c:pt>
                <c:pt idx="3">
                  <c:v>0.88</c:v>
                </c:pt>
                <c:pt idx="4">
                  <c:v>1.12</c:v>
                </c:pt>
                <c:pt idx="5">
                  <c:v>1.16</c:v>
                </c:pt>
                <c:pt idx="6">
                  <c:v>1.27</c:v>
                </c:pt>
                <c:pt idx="7">
                  <c:v>1.32</c:v>
                </c:pt>
                <c:pt idx="8">
                  <c:v>1.4</c:v>
                </c:pt>
                <c:pt idx="9">
                  <c:v>1.4</c:v>
                </c:pt>
                <c:pt idx="10">
                  <c:v>1.43</c:v>
                </c:pt>
                <c:pt idx="11">
                  <c:v>1.44</c:v>
                </c:pt>
                <c:pt idx="12">
                  <c:v>1.5</c:v>
                </c:pt>
                <c:pt idx="13">
                  <c:v>1.47</c:v>
                </c:pt>
                <c:pt idx="14">
                  <c:v>1.45</c:v>
                </c:pt>
                <c:pt idx="15">
                  <c:v>1.46</c:v>
                </c:pt>
                <c:pt idx="16">
                  <c:v>1.46</c:v>
                </c:pt>
                <c:pt idx="17">
                  <c:v>1.53</c:v>
                </c:pt>
                <c:pt idx="18">
                  <c:v>1.53</c:v>
                </c:pt>
                <c:pt idx="19">
                  <c:v>1.53</c:v>
                </c:pt>
              </c:numCache>
            </c:numRef>
          </c:val>
          <c:smooth val="0"/>
        </c:ser>
        <c:ser>
          <c:idx val="2"/>
          <c:order val="2"/>
          <c:tx>
            <c:strRef>
              <c:f>Sheet1!$D$1</c:f>
              <c:strCache>
                <c:ptCount val="1"/>
                <c:pt idx="0">
                  <c:v>DPI</c:v>
                </c:pt>
              </c:strCache>
            </c:strRef>
          </c:tx>
          <c:spPr>
            <a:solidFill>
              <a:srgbClr val="5FC4B1"/>
            </a:solidFill>
            <a:ln w="31750" cap="flat">
              <a:solidFill>
                <a:srgbClr val="5FC4B1"/>
              </a:solidFill>
              <a:prstDash val="solid"/>
              <a:round/>
            </a:ln>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c:symbol val="none"/>
            <c:size val="6"/>
            <c:spPr>
              <a:solidFill>
                <a:srgbClr val="5FC4B1"/>
              </a:solidFill>
              <a:ln w="9525" cap="flat">
                <a:solidFill>
                  <a:srgbClr val="5FC4B1"/>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Sheet1!$D$2:$D$21</c:f>
              <c:numCache>
                <c:formatCode>General</c:formatCode>
                <c:ptCount val="20"/>
                <c:pt idx="0">
                  <c:v>0</c:v>
                </c:pt>
                <c:pt idx="1">
                  <c:v>0</c:v>
                </c:pt>
                <c:pt idx="2">
                  <c:v>0</c:v>
                </c:pt>
                <c:pt idx="3">
                  <c:v>0</c:v>
                </c:pt>
                <c:pt idx="4">
                  <c:v>0.71</c:v>
                </c:pt>
                <c:pt idx="5">
                  <c:v>0.84</c:v>
                </c:pt>
                <c:pt idx="6">
                  <c:v>0.78</c:v>
                </c:pt>
                <c:pt idx="7">
                  <c:v>1.01</c:v>
                </c:pt>
                <c:pt idx="8">
                  <c:v>1.17</c:v>
                </c:pt>
                <c:pt idx="9">
                  <c:v>1.16</c:v>
                </c:pt>
                <c:pt idx="10">
                  <c:v>1.43</c:v>
                </c:pt>
                <c:pt idx="11">
                  <c:v>1.44</c:v>
                </c:pt>
                <c:pt idx="12">
                  <c:v>1.5</c:v>
                </c:pt>
                <c:pt idx="13">
                  <c:v>1.4</c:v>
                </c:pt>
                <c:pt idx="14">
                  <c:v>1.4</c:v>
                </c:pt>
                <c:pt idx="15">
                  <c:v>1.4</c:v>
                </c:pt>
                <c:pt idx="16">
                  <c:v>1.39</c:v>
                </c:pt>
                <c:pt idx="17">
                  <c:v>1.53</c:v>
                </c:pt>
                <c:pt idx="18">
                  <c:v>1.53</c:v>
                </c:pt>
                <c:pt idx="19">
                  <c:v>1.53</c:v>
                </c:pt>
              </c:numCache>
            </c:numRef>
          </c:val>
          <c:smooth val="0"/>
        </c:ser>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243033"/>
            </a:solidFill>
            <a:prstDash val="solid"/>
            <a:round/>
          </a:ln>
        </c:spPr>
        <c:txPr>
          <a:bodyPr/>
          <a:lstStyle/>
          <a:p>
            <a:pPr>
              <a:defRPr sz="10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max val="2"/>
          <c:min val="0"/>
        </c:scaling>
        <c:delete val="0"/>
        <c:axPos val="l"/>
        <c:majorGridlines>
          <c:spPr>
            <a:ln w="6350" cap="flat">
              <a:solidFill>
                <a:srgbClr val="243033"/>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legend>
      <c:legendPos val="r"/>
      <c:overlay val="0"/>
      <c:txPr>
        <a:bodyPr/>
        <a:lstStyle/>
        <a:p>
          <a:pPr>
            <a:defRPr sz="1000">
              <a:solidFill>
                <a:srgbClr val="8E9C9B"/>
              </a:solidFill>
              <a:latin typeface="Calibri"/>
              <a:cs typeface="Calibri"/>
            </a:defRPr>
          </a:pPr>
          <a:endParaRPr lang="en-US"/>
        </a:p>
      </c:txPr>
    </c:legend>
    <c:plotVisOnly val="1"/>
    <c:dispBlanksAs val="span"/>
  </c:chart>
  <c:spPr>
    <a:solidFill>
      <a:srgbClr val="161F22"/>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Gewinn der Investoren (netto)</c:v>
                </c:pt>
              </c:strCache>
            </c:strRef>
          </c:tx>
          <c:spPr>
            <a:solidFill>
              <a:srgbClr val="5FC4B1"/>
            </a:solidFill>
            <a:ln w="38100" cap="flat">
              <a:solidFill>
                <a:srgbClr val="5FC4B1"/>
              </a:solidFill>
              <a:prstDash val="solid"/>
              <a:round/>
            </a:ln>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c:symbol val="none"/>
            <c:size val="6"/>
            <c:spPr>
              <a:solidFill>
                <a:srgbClr val="5FC4B1"/>
              </a:solidFill>
              <a:ln w="9525" cap="flat">
                <a:solidFill>
                  <a:srgbClr val="5FC4B1"/>
                </a:solidFill>
                <a:prstDash val="solid"/>
                <a:round/>
              </a:ln>
              <a:effectLst/>
            </c:spPr>
          </c:marker>
          <c:cat>
            <c:multiLvlStrRef>
              <c:f>Sheet1!$A$2:$A$22</c:f>
              <c:multiLvlStrCache>
                <c:ptCount val="21"/>
                <c:lvl>
                  <c:pt idx="0">
                    <c:v>0</c:v>
                  </c:pt>
                  <c:pt idx="1">
                    <c:v>20</c:v>
                  </c:pt>
                  <c:pt idx="2">
                    <c:v>40</c:v>
                  </c:pt>
                  <c:pt idx="3">
                    <c:v>60</c:v>
                  </c:pt>
                  <c:pt idx="4">
                    <c:v>80</c:v>
                  </c:pt>
                  <c:pt idx="5">
                    <c:v>100</c:v>
                  </c:pt>
                  <c:pt idx="6">
                    <c:v>120</c:v>
                  </c:pt>
                  <c:pt idx="7">
                    <c:v>140</c:v>
                  </c:pt>
                  <c:pt idx="8">
                    <c:v>160</c:v>
                  </c:pt>
                  <c:pt idx="9">
                    <c:v>180</c:v>
                  </c:pt>
                  <c:pt idx="10">
                    <c:v>200</c:v>
                  </c:pt>
                  <c:pt idx="11">
                    <c:v>220</c:v>
                  </c:pt>
                  <c:pt idx="12">
                    <c:v>240</c:v>
                  </c:pt>
                  <c:pt idx="13">
                    <c:v>260</c:v>
                  </c:pt>
                  <c:pt idx="14">
                    <c:v>280</c:v>
                  </c:pt>
                  <c:pt idx="15">
                    <c:v>300</c:v>
                  </c:pt>
                  <c:pt idx="16">
                    <c:v>320</c:v>
                  </c:pt>
                  <c:pt idx="17">
                    <c:v>340</c:v>
                  </c:pt>
                  <c:pt idx="18">
                    <c:v>360</c:v>
                  </c:pt>
                  <c:pt idx="19">
                    <c:v>380</c:v>
                  </c:pt>
                  <c:pt idx="20">
                    <c:v>400</c:v>
                  </c:pt>
                </c:lvl>
              </c:multiLvlStrCache>
            </c:multiLvlStrRef>
          </c:cat>
          <c:val>
            <c:numRef>
              <c:f>Sheet1!$B$2:$B$22</c:f>
              <c:numCache>
                <c:formatCode>General</c:formatCode>
                <c:ptCount val="21"/>
                <c:pt idx="0">
                  <c:v>0</c:v>
                </c:pt>
                <c:pt idx="1">
                  <c:v>20</c:v>
                </c:pt>
                <c:pt idx="2">
                  <c:v>40</c:v>
                </c:pt>
                <c:pt idx="3">
                  <c:v>60</c:v>
                </c:pt>
                <c:pt idx="4">
                  <c:v>80</c:v>
                </c:pt>
                <c:pt idx="5">
                  <c:v>100</c:v>
                </c:pt>
                <c:pt idx="6">
                  <c:v>120</c:v>
                </c:pt>
                <c:pt idx="7">
                  <c:v>140</c:v>
                </c:pt>
                <c:pt idx="8">
                  <c:v>140</c:v>
                </c:pt>
                <c:pt idx="9">
                  <c:v>144</c:v>
                </c:pt>
                <c:pt idx="10">
                  <c:v>160</c:v>
                </c:pt>
                <c:pt idx="11">
                  <c:v>176</c:v>
                </c:pt>
                <c:pt idx="12">
                  <c:v>192</c:v>
                </c:pt>
                <c:pt idx="13">
                  <c:v>208</c:v>
                </c:pt>
                <c:pt idx="14">
                  <c:v>224</c:v>
                </c:pt>
                <c:pt idx="15">
                  <c:v>240</c:v>
                </c:pt>
                <c:pt idx="16">
                  <c:v>256</c:v>
                </c:pt>
                <c:pt idx="17">
                  <c:v>272</c:v>
                </c:pt>
                <c:pt idx="18">
                  <c:v>288</c:v>
                </c:pt>
                <c:pt idx="19">
                  <c:v>304</c:v>
                </c:pt>
                <c:pt idx="20">
                  <c:v>320</c:v>
                </c:pt>
              </c:numCache>
            </c:numRef>
          </c:val>
          <c:smooth val="0"/>
        </c:ser>
        <c:ser>
          <c:idx val="1"/>
          <c:order val="1"/>
          <c:tx>
            <c:strRef>
              <c:f>Sheet1!$C$1</c:f>
              <c:strCache>
                <c:ptCount val="1"/>
                <c:pt idx="0">
                  <c:v>Carry an den GP</c:v>
                </c:pt>
              </c:strCache>
            </c:strRef>
          </c:tx>
          <c:spPr>
            <a:solidFill>
              <a:srgbClr val="DCB264"/>
            </a:solidFill>
            <a:ln w="38100" cap="flat">
              <a:solidFill>
                <a:srgbClr val="DCB264"/>
              </a:solidFill>
              <a:prstDash val="solid"/>
              <a:round/>
            </a:ln>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c:symbol val="none"/>
            <c:size val="6"/>
            <c:spPr>
              <a:solidFill>
                <a:srgbClr val="DCB264"/>
              </a:solidFill>
              <a:ln w="9525" cap="flat">
                <a:solidFill>
                  <a:srgbClr val="DCB264"/>
                </a:solidFill>
                <a:prstDash val="solid"/>
                <a:round/>
              </a:ln>
              <a:effectLst/>
            </c:spPr>
          </c:marker>
          <c:cat>
            <c:multiLvlStrRef>
              <c:f>Sheet1!$A$2:$A$22</c:f>
              <c:multiLvlStrCache>
                <c:ptCount val="21"/>
                <c:lvl>
                  <c:pt idx="0">
                    <c:v>0</c:v>
                  </c:pt>
                  <c:pt idx="1">
                    <c:v>20</c:v>
                  </c:pt>
                  <c:pt idx="2">
                    <c:v>40</c:v>
                  </c:pt>
                  <c:pt idx="3">
                    <c:v>60</c:v>
                  </c:pt>
                  <c:pt idx="4">
                    <c:v>80</c:v>
                  </c:pt>
                  <c:pt idx="5">
                    <c:v>100</c:v>
                  </c:pt>
                  <c:pt idx="6">
                    <c:v>120</c:v>
                  </c:pt>
                  <c:pt idx="7">
                    <c:v>140</c:v>
                  </c:pt>
                  <c:pt idx="8">
                    <c:v>160</c:v>
                  </c:pt>
                  <c:pt idx="9">
                    <c:v>180</c:v>
                  </c:pt>
                  <c:pt idx="10">
                    <c:v>200</c:v>
                  </c:pt>
                  <c:pt idx="11">
                    <c:v>220</c:v>
                  </c:pt>
                  <c:pt idx="12">
                    <c:v>240</c:v>
                  </c:pt>
                  <c:pt idx="13">
                    <c:v>260</c:v>
                  </c:pt>
                  <c:pt idx="14">
                    <c:v>280</c:v>
                  </c:pt>
                  <c:pt idx="15">
                    <c:v>300</c:v>
                  </c:pt>
                  <c:pt idx="16">
                    <c:v>320</c:v>
                  </c:pt>
                  <c:pt idx="17">
                    <c:v>340</c:v>
                  </c:pt>
                  <c:pt idx="18">
                    <c:v>360</c:v>
                  </c:pt>
                  <c:pt idx="19">
                    <c:v>380</c:v>
                  </c:pt>
                  <c:pt idx="20">
                    <c:v>400</c:v>
                  </c:pt>
                </c:lvl>
              </c:multiLvlStrCache>
            </c:multiLvlStrRef>
          </c:cat>
          <c:val>
            <c:numRef>
              <c:f>Sheet1!$C$2:$C$22</c:f>
              <c:numCache>
                <c:formatCode>General</c:formatCode>
                <c:ptCount val="21"/>
                <c:pt idx="0">
                  <c:v>0</c:v>
                </c:pt>
                <c:pt idx="1">
                  <c:v>0</c:v>
                </c:pt>
                <c:pt idx="2">
                  <c:v>0</c:v>
                </c:pt>
                <c:pt idx="3">
                  <c:v>0</c:v>
                </c:pt>
                <c:pt idx="4">
                  <c:v>0</c:v>
                </c:pt>
                <c:pt idx="5">
                  <c:v>0</c:v>
                </c:pt>
                <c:pt idx="6">
                  <c:v>0</c:v>
                </c:pt>
                <c:pt idx="7">
                  <c:v>0</c:v>
                </c:pt>
                <c:pt idx="8">
                  <c:v>20</c:v>
                </c:pt>
                <c:pt idx="9">
                  <c:v>36</c:v>
                </c:pt>
                <c:pt idx="10">
                  <c:v>40</c:v>
                </c:pt>
                <c:pt idx="11">
                  <c:v>44</c:v>
                </c:pt>
                <c:pt idx="12">
                  <c:v>48</c:v>
                </c:pt>
                <c:pt idx="13">
                  <c:v>52</c:v>
                </c:pt>
                <c:pt idx="14">
                  <c:v>56</c:v>
                </c:pt>
                <c:pt idx="15">
                  <c:v>60</c:v>
                </c:pt>
                <c:pt idx="16">
                  <c:v>64</c:v>
                </c:pt>
                <c:pt idx="17">
                  <c:v>68</c:v>
                </c:pt>
                <c:pt idx="18">
                  <c:v>72</c:v>
                </c:pt>
                <c:pt idx="19">
                  <c:v>76</c:v>
                </c:pt>
                <c:pt idx="20">
                  <c:v>80</c:v>
                </c:pt>
              </c:numCache>
            </c:numRef>
          </c:val>
          <c:smooth val="0"/>
        </c:ser>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8E9C9B"/>
                    </a:solidFill>
                    <a:latin typeface="Arial"/>
                  </a:defRPr>
                </a:pPr>
                <a:r>
                  <a:rPr sz="1000" b="0" i="0" u="none" strike="noStrike">
                    <a:solidFill>
                      <a:srgbClr val="8E9C9B"/>
                    </a:solidFill>
                    <a:latin typeface="Arial"/>
                  </a:rPr>
                  <a:t>Bruttogewinn des Fonds (Mio. €)</a:t>
                </a:r>
              </a:p>
            </c:rich>
          </c:tx>
          <c:layout/>
          <c:overlay val="0"/>
        </c:title>
        <c:numFmt formatCode="General" sourceLinked="1"/>
        <c:majorTickMark val="out"/>
        <c:minorTickMark val="none"/>
        <c:tickLblPos val="low"/>
        <c:spPr>
          <a:ln w="12700" cap="flat">
            <a:solidFill>
              <a:srgbClr val="243033"/>
            </a:solidFill>
            <a:prstDash val="solid"/>
            <a:round/>
          </a:ln>
        </c:spPr>
        <c:txPr>
          <a:bodyPr/>
          <a:lstStyle/>
          <a:p>
            <a:pPr>
              <a:defRPr sz="10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6350" cap="flat">
              <a:solidFill>
                <a:srgbClr val="243033"/>
              </a:solidFill>
              <a:prstDash val="solid"/>
              <a:round/>
            </a:ln>
          </c:spPr>
        </c:majorGridlines>
        <c:title>
          <c:tx>
            <c:rich>
              <a:bodyPr/>
              <a:lstStyle/>
              <a:p>
                <a:pPr>
                  <a:defRPr sz="1000" b="0" i="0" u="none" strike="noStrike">
                    <a:solidFill>
                      <a:srgbClr val="8E9C9B"/>
                    </a:solidFill>
                    <a:latin typeface="Arial"/>
                  </a:defRPr>
                </a:pPr>
                <a:r>
                  <a:rPr sz="1000" b="0" i="0" u="none" strike="noStrike">
                    <a:solidFill>
                      <a:srgbClr val="8E9C9B"/>
                    </a:solidFill>
                    <a:latin typeface="Arial"/>
                  </a:rPr>
                  <a:t>Mio. €</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legend>
      <c:legendPos val="b"/>
      <c:overlay val="0"/>
      <c:txPr>
        <a:bodyPr/>
        <a:lstStyle/>
        <a:p>
          <a:pPr>
            <a:defRPr sz="1000">
              <a:solidFill>
                <a:srgbClr val="8E9C9B"/>
              </a:solidFill>
              <a:latin typeface="Calibri"/>
              <a:cs typeface="Calibri"/>
            </a:defRPr>
          </a:pPr>
          <a:endParaRPr lang="en-US"/>
        </a:p>
      </c:txPr>
    </c:legend>
    <c:plotVisOnly val="1"/>
    <c:dispBlanksAs val="span"/>
  </c:chart>
  <c:spPr>
    <a:solidFill>
      <a:srgbClr val="161F22"/>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EDF1EE"/>
                </a:solidFill>
                <a:latin typeface="Calibri"/>
              </a:defRPr>
            </a:pPr>
            <a:r>
              <a:rPr sz="1200" b="0" i="0" u="none" strike="noStrike">
                <a:solidFill>
                  <a:srgbClr val="EDF1EE"/>
                </a:solidFill>
                <a:latin typeface="Calibri"/>
              </a:rPr>
              <a:t>Marktwachstum (% p. a.)</a:t>
            </a:r>
          </a:p>
        </c:rich>
      </c:tx>
      <c:layout/>
      <c:overlay val="0"/>
    </c:title>
    <c:autoTitleDeleted val="0"/>
    <c:plotArea>
      <c:layout/>
      <c:barChart>
        <c:barDir val="bar"/>
        <c:grouping val="clustered"/>
        <c:varyColors val="0"/>
        <c:ser>
          <c:idx val="0"/>
          <c:order val="0"/>
          <c:tx>
            <c:strRef>
              <c:f>Sheet1!$B$1</c:f>
              <c:strCache>
                <c:ptCount val="1"/>
                <c:pt idx="0">
                  <c:v>Marktwachstum % p. a.</c:v>
                </c:pt>
              </c:strCache>
            </c:strRef>
          </c:tx>
          <c:spPr>
            <a:solidFill>
              <a:srgbClr val="D2A03F"/>
            </a:solidFill>
            <a:effectLst/>
          </c:spPr>
          <c:invertIfNegative val="0"/>
          <c:dLbls>
            <c:numFmt formatCode="0.0" sourceLinked="0"/>
            <c:txPr>
              <a:bodyPr/>
              <a:lstStyle/>
              <a:p>
                <a:pPr>
                  <a:defRPr b="0" i="0" strike="noStrike" sz="1000" u="none">
                    <a:solidFill>
                      <a:srgbClr val="EDF1EE"/>
                    </a:solidFill>
                    <a:latin typeface="Calibri"/>
                  </a:defRPr>
                </a:pPr>
              </a:p>
            </c:txPr>
            <c:showLegendKey val="0"/>
            <c:showVal val="1"/>
            <c:showCatName val="0"/>
            <c:showSerName val="0"/>
            <c:showPercent val="0"/>
            <c:showBubbleSize val="0"/>
            <c:showLeaderLines val="0"/>
          </c:dLbls>
          <c:dPt>
            <c:idx val="0"/>
            <c:invertIfNegative val="0"/>
            <c:bubble3D val="0"/>
            <c:spPr>
              <a:solidFill>
                <a:srgbClr val="D2A03F"/>
              </a:solidFill>
              <a:effectLst/>
            </c:spPr>
          </c:dPt>
          <c:dPt>
            <c:idx val="1"/>
            <c:invertIfNegative val="0"/>
            <c:bubble3D val="0"/>
            <c:spPr>
              <a:solidFill>
                <a:srgbClr val="12B886"/>
              </a:solidFill>
              <a:effectLst/>
            </c:spPr>
          </c:dPt>
          <c:dPt>
            <c:idx val="2"/>
            <c:invertIfNegative val="0"/>
            <c:bubble3D val="0"/>
            <c:spPr>
              <a:solidFill>
                <a:srgbClr val="3B82F6"/>
              </a:solidFill>
              <a:effectLst/>
            </c:spPr>
          </c:dPt>
          <c:dPt>
            <c:idx val="3"/>
            <c:invertIfNegative val="0"/>
            <c:bubble3D val="0"/>
            <c:spPr>
              <a:solidFill>
                <a:srgbClr val="D9538E"/>
              </a:solidFill>
              <a:effectLst/>
            </c:spPr>
          </c:dPt>
          <c:dPt>
            <c:idx val="4"/>
            <c:invertIfNegative val="0"/>
            <c:bubble3D val="0"/>
            <c:spPr>
              <a:solidFill>
                <a:srgbClr val="A855F7"/>
              </a:solidFill>
              <a:effectLst/>
            </c:spPr>
          </c:dPt>
          <c:cat>
            <c:multiLvlStrRef>
              <c:f>Sheet1!$A$2:$A$6</c:f>
              <c:multiLvlStrCache>
                <c:ptCount val="5"/>
                <c:lvl>
                  <c:pt idx="0">
                    <c:v>Industrials</c:v>
                  </c:pt>
                  <c:pt idx="1">
                    <c:v>Healthcare</c:v>
                  </c:pt>
                  <c:pt idx="2">
                    <c:v>Software</c:v>
                  </c:pt>
                  <c:pt idx="3">
                    <c:v>Services</c:v>
                  </c:pt>
                  <c:pt idx="4">
                    <c:v>Consumer</c:v>
                  </c:pt>
                </c:lvl>
              </c:multiLvlStrCache>
            </c:multiLvlStrRef>
          </c:cat>
          <c:val>
            <c:numRef>
              <c:f>Sheet1!$B$2:$B$6</c:f>
              <c:numCache>
                <c:formatCode>General</c:formatCode>
                <c:ptCount val="5"/>
                <c:pt idx="0">
                  <c:v>4</c:v>
                </c:pt>
                <c:pt idx="1">
                  <c:v>6</c:v>
                </c:pt>
                <c:pt idx="2">
                  <c:v>9</c:v>
                </c:pt>
                <c:pt idx="3">
                  <c:v>4.5</c:v>
                </c:pt>
                <c:pt idx="4">
                  <c:v>3</c:v>
                </c:pt>
              </c:numCache>
            </c:numRef>
          </c:val>
        </c:ser>
        <c:dLbls>
          <c:numFmt formatCode="0.0" sourceLinked="0"/>
          <c:txPr>
            <a:bodyPr/>
            <a:lstStyle/>
            <a:p>
              <a:pPr>
                <a:defRPr b="0" i="0" strike="noStrike" sz="1000" u="none">
                  <a:solidFill>
                    <a:srgbClr val="EDF1EE"/>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243033"/>
            </a:solidFill>
            <a:prstDash val="solid"/>
            <a:round/>
          </a:ln>
        </c:spPr>
        <c:txPr>
          <a:bodyPr/>
          <a:lstStyle/>
          <a:p>
            <a:pPr>
              <a:defRPr sz="10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max val="11"/>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plotVisOnly val="1"/>
    <c:dispBlanksAs val="span"/>
  </c:chart>
  <c:spPr>
    <a:solidFill>
      <a:srgbClr val="161F22"/>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EDF1EE"/>
                </a:solidFill>
                <a:latin typeface="Calibri"/>
              </a:defRPr>
            </a:pPr>
            <a:r>
              <a:rPr sz="1200" b="0" i="0" u="none" strike="noStrike">
                <a:solidFill>
                  <a:srgbClr val="EDF1EE"/>
                </a:solidFill>
                <a:latin typeface="Calibri"/>
              </a:rPr>
              <a:t>Typisches Einstiegsmultiple (×)</a:t>
            </a:r>
          </a:p>
        </c:rich>
      </c:tx>
      <c:layout/>
      <c:overlay val="0"/>
    </c:title>
    <c:autoTitleDeleted val="0"/>
    <c:plotArea>
      <c:layout/>
      <c:barChart>
        <c:barDir val="bar"/>
        <c:grouping val="clustered"/>
        <c:varyColors val="0"/>
        <c:ser>
          <c:idx val="0"/>
          <c:order val="0"/>
          <c:tx>
            <c:strRef>
              <c:f>Sheet1!$B$1</c:f>
              <c:strCache>
                <c:ptCount val="1"/>
                <c:pt idx="0">
                  <c:v>Basis-Multiple</c:v>
                </c:pt>
              </c:strCache>
            </c:strRef>
          </c:tx>
          <c:spPr>
            <a:solidFill>
              <a:srgbClr val="D2A03F"/>
            </a:solidFill>
            <a:effectLst/>
          </c:spPr>
          <c:invertIfNegative val="0"/>
          <c:dLbls>
            <c:numFmt formatCode="0.0" sourceLinked="0"/>
            <c:txPr>
              <a:bodyPr/>
              <a:lstStyle/>
              <a:p>
                <a:pPr>
                  <a:defRPr b="0" i="0" strike="noStrike" sz="1000" u="none">
                    <a:solidFill>
                      <a:srgbClr val="EDF1EE"/>
                    </a:solidFill>
                    <a:latin typeface="Calibri"/>
                  </a:defRPr>
                </a:pPr>
              </a:p>
            </c:txPr>
            <c:showLegendKey val="0"/>
            <c:showVal val="1"/>
            <c:showCatName val="0"/>
            <c:showSerName val="0"/>
            <c:showPercent val="0"/>
            <c:showBubbleSize val="0"/>
            <c:showLeaderLines val="0"/>
          </c:dLbls>
          <c:dPt>
            <c:idx val="0"/>
            <c:invertIfNegative val="0"/>
            <c:bubble3D val="0"/>
            <c:spPr>
              <a:solidFill>
                <a:srgbClr val="D2A03F"/>
              </a:solidFill>
              <a:effectLst/>
            </c:spPr>
          </c:dPt>
          <c:dPt>
            <c:idx val="1"/>
            <c:invertIfNegative val="0"/>
            <c:bubble3D val="0"/>
            <c:spPr>
              <a:solidFill>
                <a:srgbClr val="12B886"/>
              </a:solidFill>
              <a:effectLst/>
            </c:spPr>
          </c:dPt>
          <c:dPt>
            <c:idx val="2"/>
            <c:invertIfNegative val="0"/>
            <c:bubble3D val="0"/>
            <c:spPr>
              <a:solidFill>
                <a:srgbClr val="3B82F6"/>
              </a:solidFill>
              <a:effectLst/>
            </c:spPr>
          </c:dPt>
          <c:dPt>
            <c:idx val="3"/>
            <c:invertIfNegative val="0"/>
            <c:bubble3D val="0"/>
            <c:spPr>
              <a:solidFill>
                <a:srgbClr val="D9538E"/>
              </a:solidFill>
              <a:effectLst/>
            </c:spPr>
          </c:dPt>
          <c:dPt>
            <c:idx val="4"/>
            <c:invertIfNegative val="0"/>
            <c:bubble3D val="0"/>
            <c:spPr>
              <a:solidFill>
                <a:srgbClr val="A855F7"/>
              </a:solidFill>
              <a:effectLst/>
            </c:spPr>
          </c:dPt>
          <c:cat>
            <c:multiLvlStrRef>
              <c:f>Sheet1!$A$2:$A$6</c:f>
              <c:multiLvlStrCache>
                <c:ptCount val="5"/>
                <c:lvl>
                  <c:pt idx="0">
                    <c:v>Industrials</c:v>
                  </c:pt>
                  <c:pt idx="1">
                    <c:v>Healthcare</c:v>
                  </c:pt>
                  <c:pt idx="2">
                    <c:v>Software</c:v>
                  </c:pt>
                  <c:pt idx="3">
                    <c:v>Services</c:v>
                  </c:pt>
                  <c:pt idx="4">
                    <c:v>Consumer</c:v>
                  </c:pt>
                </c:lvl>
              </c:multiLvlStrCache>
            </c:multiLvlStrRef>
          </c:cat>
          <c:val>
            <c:numRef>
              <c:f>Sheet1!$B$2:$B$6</c:f>
              <c:numCache>
                <c:formatCode>General</c:formatCode>
                <c:ptCount val="5"/>
                <c:pt idx="0">
                  <c:v>8.5</c:v>
                </c:pt>
                <c:pt idx="1">
                  <c:v>11</c:v>
                </c:pt>
                <c:pt idx="2">
                  <c:v>13</c:v>
                </c:pt>
                <c:pt idx="3">
                  <c:v>9</c:v>
                </c:pt>
                <c:pt idx="4">
                  <c:v>8</c:v>
                </c:pt>
              </c:numCache>
            </c:numRef>
          </c:val>
        </c:ser>
        <c:dLbls>
          <c:numFmt formatCode="0.0" sourceLinked="0"/>
          <c:txPr>
            <a:bodyPr/>
            <a:lstStyle/>
            <a:p>
              <a:pPr>
                <a:defRPr b="0" i="0" strike="noStrike" sz="1000" u="none">
                  <a:solidFill>
                    <a:srgbClr val="EDF1EE"/>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243033"/>
            </a:solidFill>
            <a:prstDash val="solid"/>
            <a:round/>
          </a:ln>
        </c:spPr>
        <c:txPr>
          <a:bodyPr/>
          <a:lstStyle/>
          <a:p>
            <a:pPr>
              <a:defRPr sz="10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max val="16"/>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plotVisOnly val="1"/>
    <c:dispBlanksAs val="span"/>
  </c:chart>
  <c:spPr>
    <a:solidFill>
      <a:srgbClr val="161F22"/>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Zinssatz % p. a.</c:v>
                </c:pt>
              </c:strCache>
            </c:strRef>
          </c:tx>
          <c:spPr>
            <a:solidFill>
              <a:srgbClr val="DCB264"/>
            </a:solidFill>
            <a:ln w="31750" cap="flat">
              <a:solidFill>
                <a:srgbClr val="DCB264"/>
              </a:solidFill>
              <a:prstDash val="solid"/>
              <a:round/>
            </a:ln>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c:symbol val="circle"/>
            <c:size val="5"/>
            <c:spPr>
              <a:solidFill>
                <a:srgbClr val="DCB264"/>
              </a:solidFill>
              <a:ln w="9525" cap="flat">
                <a:solidFill>
                  <a:srgbClr val="DCB264"/>
                </a:solidFill>
                <a:prstDash val="solid"/>
                <a:round/>
              </a:ln>
              <a:effectLst/>
            </c:spPr>
          </c:marker>
          <c:cat>
            <c:multiLvlStrRef>
              <c:f>Sheet1!$A$2:$A$11</c:f>
              <c:multiLvlStrCache>
                <c:ptCount val="10"/>
                <c:lvl>
                  <c:pt idx="0">
                    <c:v>1,0×</c:v>
                  </c:pt>
                  <c:pt idx="1">
                    <c:v>1,5×</c:v>
                  </c:pt>
                  <c:pt idx="2">
                    <c:v>2,0×</c:v>
                  </c:pt>
                  <c:pt idx="3">
                    <c:v>2,5×</c:v>
                  </c:pt>
                  <c:pt idx="4">
                    <c:v>3,0×</c:v>
                  </c:pt>
                  <c:pt idx="5">
                    <c:v>3,5×</c:v>
                  </c:pt>
                  <c:pt idx="6">
                    <c:v>4,0×</c:v>
                  </c:pt>
                  <c:pt idx="7">
                    <c:v>4,5×</c:v>
                  </c:pt>
                  <c:pt idx="8">
                    <c:v>5,0×</c:v>
                  </c:pt>
                  <c:pt idx="9">
                    <c:v>5,5×</c:v>
                  </c:pt>
                </c:lvl>
              </c:multiLvlStrCache>
            </c:multiLvlStrRef>
          </c:cat>
          <c:val>
            <c:numRef>
              <c:f>Sheet1!$B$2:$B$11</c:f>
              <c:numCache>
                <c:formatCode>General</c:formatCode>
                <c:ptCount val="10"/>
                <c:pt idx="0">
                  <c:v>6</c:v>
                </c:pt>
                <c:pt idx="1">
                  <c:v>6</c:v>
                </c:pt>
                <c:pt idx="2">
                  <c:v>6</c:v>
                </c:pt>
                <c:pt idx="3">
                  <c:v>6</c:v>
                </c:pt>
                <c:pt idx="4">
                  <c:v>6</c:v>
                </c:pt>
                <c:pt idx="5">
                  <c:v>6.42</c:v>
                </c:pt>
                <c:pt idx="6">
                  <c:v>6.85</c:v>
                </c:pt>
                <c:pt idx="7">
                  <c:v>7.28</c:v>
                </c:pt>
                <c:pt idx="8">
                  <c:v>7.7</c:v>
                </c:pt>
                <c:pt idx="9">
                  <c:v>8.13</c:v>
                </c:pt>
              </c:numCache>
            </c:numRef>
          </c:val>
          <c:smooth val="0"/>
        </c:ser>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8E9C9B"/>
                    </a:solidFill>
                    <a:latin typeface="Arial"/>
                  </a:defRPr>
                </a:pPr>
                <a:r>
                  <a:rPr sz="1000" b="0" i="0" u="none" strike="noStrike">
                    <a:solidFill>
                      <a:srgbClr val="8E9C9B"/>
                    </a:solidFill>
                    <a:latin typeface="Arial"/>
                  </a:rPr>
                  <a:t>Nettoverschuldung / EBITDA</a:t>
                </a:r>
              </a:p>
            </c:rich>
          </c:tx>
          <c:layout/>
          <c:overlay val="0"/>
        </c:title>
        <c:numFmt formatCode="General" sourceLinked="1"/>
        <c:majorTickMark val="out"/>
        <c:minorTickMark val="none"/>
        <c:tickLblPos val="low"/>
        <c:spPr>
          <a:ln w="12700" cap="flat">
            <a:solidFill>
              <a:srgbClr val="243033"/>
            </a:solidFill>
            <a:prstDash val="solid"/>
            <a:round/>
          </a:ln>
        </c:spPr>
        <c:txPr>
          <a:bodyPr/>
          <a:lstStyle/>
          <a:p>
            <a:pPr>
              <a:defRPr sz="9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max val="9"/>
          <c:min val="5"/>
        </c:scaling>
        <c:delete val="0"/>
        <c:axPos val="l"/>
        <c:majorGridlines>
          <c:spPr>
            <a:ln w="6350" cap="flat">
              <a:solidFill>
                <a:srgbClr val="24303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plotVisOnly val="1"/>
    <c:dispBlanksAs val="span"/>
  </c:chart>
  <c:spPr>
    <a:solidFill>
      <a:srgbClr val="161F22"/>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Steuerersparnis</c:v>
                </c:pt>
              </c:strCache>
            </c:strRef>
          </c:tx>
          <c:spPr>
            <a:solidFill>
              <a:srgbClr val="5FC4B1"/>
            </a:solidFill>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cat>
            <c:multiLvlStrRef>
              <c:f>Sheet1!$A$2:$A$11</c:f>
              <c:multiLvlStrCache>
                <c:ptCount val="10"/>
                <c:lvl>
                  <c:pt idx="0">
                    <c:v>1,0×</c:v>
                  </c:pt>
                  <c:pt idx="1">
                    <c:v>1,5×</c:v>
                  </c:pt>
                  <c:pt idx="2">
                    <c:v>2,0×</c:v>
                  </c:pt>
                  <c:pt idx="3">
                    <c:v>2,5×</c:v>
                  </c:pt>
                  <c:pt idx="4">
                    <c:v>3,0×</c:v>
                  </c:pt>
                  <c:pt idx="5">
                    <c:v>3,5×</c:v>
                  </c:pt>
                  <c:pt idx="6">
                    <c:v>4,0×</c:v>
                  </c:pt>
                  <c:pt idx="7">
                    <c:v>4,5×</c:v>
                  </c:pt>
                  <c:pt idx="8">
                    <c:v>5,0×</c:v>
                  </c:pt>
                  <c:pt idx="9">
                    <c:v>5,5×</c:v>
                  </c:pt>
                </c:lvl>
              </c:multiLvlStrCache>
            </c:multiLvlStrRef>
          </c:cat>
          <c:val>
            <c:numRef>
              <c:f>Sheet1!$B$2:$B$11</c:f>
              <c:numCache>
                <c:formatCode>General</c:formatCode>
                <c:ptCount val="10"/>
                <c:pt idx="0">
                  <c:v>0.18</c:v>
                </c:pt>
                <c:pt idx="1">
                  <c:v>0.27</c:v>
                </c:pt>
                <c:pt idx="2">
                  <c:v>0.36</c:v>
                </c:pt>
                <c:pt idx="3">
                  <c:v>0.45</c:v>
                </c:pt>
                <c:pt idx="4">
                  <c:v>0.54</c:v>
                </c:pt>
                <c:pt idx="5">
                  <c:v>0.67</c:v>
                </c:pt>
                <c:pt idx="6">
                  <c:v>0.82</c:v>
                </c:pt>
                <c:pt idx="7">
                  <c:v>0.9</c:v>
                </c:pt>
                <c:pt idx="8">
                  <c:v>0.9</c:v>
                </c:pt>
                <c:pt idx="9">
                  <c:v>0.9</c:v>
                </c:pt>
              </c:numCache>
            </c:numRef>
          </c:val>
        </c:ser>
        <c:ser>
          <c:idx val="1"/>
          <c:order val="1"/>
          <c:tx>
            <c:strRef>
              <c:f>Sheet1!$C$1</c:f>
              <c:strCache>
                <c:ptCount val="1"/>
                <c:pt idx="0">
                  <c:v>verloren durch Zinsschranke</c:v>
                </c:pt>
              </c:strCache>
            </c:strRef>
          </c:tx>
          <c:spPr>
            <a:solidFill>
              <a:srgbClr val="E3897F"/>
            </a:solidFill>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cat>
            <c:multiLvlStrRef>
              <c:f>Sheet1!$A$2:$A$11</c:f>
              <c:multiLvlStrCache>
                <c:ptCount val="10"/>
                <c:lvl>
                  <c:pt idx="0">
                    <c:v>1,0×</c:v>
                  </c:pt>
                  <c:pt idx="1">
                    <c:v>1,5×</c:v>
                  </c:pt>
                  <c:pt idx="2">
                    <c:v>2,0×</c:v>
                  </c:pt>
                  <c:pt idx="3">
                    <c:v>2,5×</c:v>
                  </c:pt>
                  <c:pt idx="4">
                    <c:v>3,0×</c:v>
                  </c:pt>
                  <c:pt idx="5">
                    <c:v>3,5×</c:v>
                  </c:pt>
                  <c:pt idx="6">
                    <c:v>4,0×</c:v>
                  </c:pt>
                  <c:pt idx="7">
                    <c:v>4,5×</c:v>
                  </c:pt>
                  <c:pt idx="8">
                    <c:v>5,0×</c:v>
                  </c:pt>
                  <c:pt idx="9">
                    <c:v>5,5×</c:v>
                  </c:pt>
                </c:lvl>
              </c:multiLvlStrCache>
            </c:multiLvlStrRef>
          </c:cat>
          <c:val>
            <c:numRef>
              <c:f>Sheet1!$C$2:$C$11</c:f>
              <c:numCache>
                <c:formatCode>General</c:formatCode>
                <c:ptCount val="10"/>
                <c:pt idx="0">
                  <c:v>0</c:v>
                </c:pt>
                <c:pt idx="1">
                  <c:v>0</c:v>
                </c:pt>
                <c:pt idx="2">
                  <c:v>0</c:v>
                </c:pt>
                <c:pt idx="3">
                  <c:v>0</c:v>
                </c:pt>
                <c:pt idx="4">
                  <c:v>0</c:v>
                </c:pt>
                <c:pt idx="5">
                  <c:v>0</c:v>
                </c:pt>
                <c:pt idx="6">
                  <c:v>0</c:v>
                </c:pt>
                <c:pt idx="7">
                  <c:v>0.08</c:v>
                </c:pt>
                <c:pt idx="8">
                  <c:v>0.26</c:v>
                </c:pt>
                <c:pt idx="9">
                  <c:v>0.44</c:v>
                </c:pt>
              </c:numCache>
            </c:numRef>
          </c:val>
        </c:ser>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43033"/>
            </a:solidFill>
            <a:prstDash val="solid"/>
            <a:round/>
          </a:ln>
        </c:spPr>
        <c:txPr>
          <a:bodyPr/>
          <a:lstStyle/>
          <a:p>
            <a:pPr>
              <a:defRPr sz="9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243033"/>
              </a:solidFill>
              <a:prstDash val="solid"/>
              <a:round/>
            </a:ln>
          </c:spPr>
        </c:majorGridlines>
        <c:numFmt formatCode="0.0" sourceLinked="0"/>
        <c:majorTickMark val="out"/>
        <c:minorTickMark val="none"/>
        <c:tickLblPos val="nextTo"/>
        <c:spPr>
          <a:ln w="12700" cap="flat">
            <a:noFill/>
            <a:prstDash val="solid"/>
            <a:round/>
          </a:ln>
        </c:spPr>
        <c:txPr>
          <a:bodyPr/>
          <a:lstStyle/>
          <a:p>
            <a:pPr>
              <a:defRPr sz="9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legend>
      <c:legendPos val="b"/>
      <c:overlay val="0"/>
      <c:txPr>
        <a:bodyPr/>
        <a:lstStyle/>
        <a:p>
          <a:pPr>
            <a:defRPr sz="900">
              <a:solidFill>
                <a:srgbClr val="8E9C9B"/>
              </a:solidFill>
              <a:latin typeface="Calibri"/>
              <a:cs typeface="Calibri"/>
            </a:defRPr>
          </a:pPr>
          <a:endParaRPr lang="en-US"/>
        </a:p>
      </c:txPr>
    </c:legend>
    <c:plotVisOnly val="1"/>
    <c:dispBlanksAs val="span"/>
  </c:chart>
  <c:spPr>
    <a:solidFill>
      <a:srgbClr val="161F22"/>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Equity MOIC</c:v>
                </c:pt>
              </c:strCache>
            </c:strRef>
          </c:tx>
          <c:spPr>
            <a:solidFill>
              <a:srgbClr val="3B82F6"/>
            </a:solidFill>
            <a:effectLst/>
          </c:spPr>
          <c:invertIfNegative val="0"/>
          <c:dLbls>
            <c:numFmt formatCode="0.00&quot;×&quot;" sourceLinked="0"/>
            <c:txPr>
              <a:bodyPr/>
              <a:lstStyle/>
              <a:p>
                <a:pPr>
                  <a:defRPr b="0" i="0" strike="noStrike" sz="900" u="none">
                    <a:solidFill>
                      <a:srgbClr val="EDF1EE"/>
                    </a:solidFill>
                    <a:latin typeface="Calibri"/>
                  </a:defRPr>
                </a:pPr>
              </a:p>
            </c:txPr>
            <c:showLegendKey val="0"/>
            <c:showVal val="1"/>
            <c:showCatName val="0"/>
            <c:showSerName val="0"/>
            <c:showPercent val="0"/>
            <c:showBubbleSize val="0"/>
            <c:showLeaderLines val="0"/>
          </c:dLbls>
          <c:cat>
            <c:multiLvlStrRef>
              <c:f>Sheet1!$A$2:$A$8</c:f>
              <c:multiLvlStrCache>
                <c:ptCount val="7"/>
                <c:lvl>
                  <c:pt idx="0">
                    <c:v>0,0×</c:v>
                  </c:pt>
                  <c:pt idx="1">
                    <c:v>1,0×</c:v>
                  </c:pt>
                  <c:pt idx="2">
                    <c:v>2,0×</c:v>
                  </c:pt>
                  <c:pt idx="3">
                    <c:v>3,0×</c:v>
                  </c:pt>
                  <c:pt idx="4">
                    <c:v>4,0×</c:v>
                  </c:pt>
                  <c:pt idx="5">
                    <c:v>5,0×</c:v>
                  </c:pt>
                  <c:pt idx="6">
                    <c:v>5,5×</c:v>
                  </c:pt>
                </c:lvl>
              </c:multiLvlStrCache>
            </c:multiLvlStrRef>
          </c:cat>
          <c:val>
            <c:numRef>
              <c:f>Sheet1!$B$2:$B$8</c:f>
              <c:numCache>
                <c:formatCode>General</c:formatCode>
                <c:ptCount val="7"/>
                <c:pt idx="0">
                  <c:v>1.63</c:v>
                </c:pt>
                <c:pt idx="1">
                  <c:v>1.7</c:v>
                </c:pt>
                <c:pt idx="2">
                  <c:v>1.78</c:v>
                </c:pt>
                <c:pt idx="3">
                  <c:v>1.88</c:v>
                </c:pt>
                <c:pt idx="4">
                  <c:v>2</c:v>
                </c:pt>
                <c:pt idx="5">
                  <c:v>2.15</c:v>
                </c:pt>
                <c:pt idx="6">
                  <c:v>2.25</c:v>
                </c:pt>
              </c:numCache>
            </c:numRef>
          </c:val>
        </c:ser>
        <c:dLbls>
          <c:numFmt formatCode="0.00&quot;×&quot;" sourceLinked="0"/>
          <c:txPr>
            <a:bodyPr/>
            <a:lstStyle/>
            <a:p>
              <a:pPr>
                <a:defRPr b="0" i="0" strike="noStrike" sz="900" u="none">
                  <a:solidFill>
                    <a:srgbClr val="EDF1EE"/>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8E9C9B"/>
                    </a:solidFill>
                    <a:latin typeface="Arial"/>
                  </a:defRPr>
                </a:pPr>
                <a:r>
                  <a:rPr sz="1000" b="0" i="0" u="none" strike="noStrike">
                    <a:solidFill>
                      <a:srgbClr val="8E9C9B"/>
                    </a:solidFill>
                    <a:latin typeface="Arial"/>
                  </a:rPr>
                  <a:t>Leverage beim Einstieg</a:t>
                </a:r>
              </a:p>
            </c:rich>
          </c:tx>
          <c:layout/>
          <c:overlay val="0"/>
        </c:title>
        <c:numFmt formatCode="General" sourceLinked="1"/>
        <c:majorTickMark val="out"/>
        <c:minorTickMark val="none"/>
        <c:tickLblPos val="low"/>
        <c:spPr>
          <a:ln w="12700" cap="flat">
            <a:solidFill>
              <a:srgbClr val="243033"/>
            </a:solidFill>
            <a:prstDash val="solid"/>
            <a:round/>
          </a:ln>
        </c:spPr>
        <c:txPr>
          <a:bodyPr/>
          <a:lstStyle/>
          <a:p>
            <a:pPr>
              <a:defRPr sz="9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max val="2.6"/>
          <c:min val="0"/>
        </c:scaling>
        <c:delete val="1"/>
        <c:axPos val="l"/>
        <c:numFmt formatCode="General" sourceLinked="0"/>
        <c:majorTickMark val="out"/>
        <c:minorTickMark val="none"/>
        <c:tickLblPos val="nextTo"/>
        <c:spPr>
          <a:ln w="12700" cap="flat">
            <a:noFill/>
            <a:prstDash val="solid"/>
            <a:round/>
          </a:ln>
        </c:spPr>
        <c:txPr>
          <a:bodyPr/>
          <a:lstStyle/>
          <a:p>
            <a:pPr>
              <a:defRPr sz="9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plotVisOnly val="1"/>
    <c:dispBlanksAs val="span"/>
  </c:chart>
  <c:spPr>
    <a:solidFill>
      <a:srgbClr val="161F22"/>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EDF1EE"/>
                </a:solidFill>
                <a:latin typeface="Calibri"/>
              </a:defRPr>
            </a:pPr>
            <a:r>
              <a:rPr sz="1200" b="0" i="0" u="none" strike="noStrike">
                <a:solidFill>
                  <a:srgbClr val="EDF1EE"/>
                </a:solidFill>
                <a:latin typeface="Calibri"/>
              </a:rPr>
              <a:t>Verteilung der Deal-MOICs (% der Deals)</a:t>
            </a:r>
          </a:p>
        </c:rich>
      </c:tx>
      <c:layout/>
      <c:overlay val="0"/>
    </c:title>
    <c:autoTitleDeleted val="0"/>
    <c:plotArea>
      <c:layout/>
      <c:barChart>
        <c:barDir val="col"/>
        <c:grouping val="clustered"/>
        <c:varyColors val="0"/>
        <c:ser>
          <c:idx val="0"/>
          <c:order val="0"/>
          <c:tx>
            <c:strRef>
              <c:f>Sheet1!$B$1</c:f>
              <c:strCache>
                <c:ptCount val="1"/>
                <c:pt idx="0">
                  <c:v>Anteil Deals</c:v>
                </c:pt>
              </c:strCache>
            </c:strRef>
          </c:tx>
          <c:spPr>
            <a:solidFill>
              <a:srgbClr val="E3897F"/>
            </a:solidFill>
            <a:effectLst/>
          </c:spPr>
          <c:invertIfNegative val="0"/>
          <c:dLbls>
            <c:numFmt formatCode="0&quot;%&quot;" sourceLinked="0"/>
            <c:txPr>
              <a:bodyPr/>
              <a:lstStyle/>
              <a:p>
                <a:pPr>
                  <a:defRPr b="0" i="0" strike="noStrike" sz="1000" u="none">
                    <a:solidFill>
                      <a:srgbClr val="EDF1EE"/>
                    </a:solidFill>
                    <a:latin typeface="Calibri"/>
                  </a:defRPr>
                </a:pPr>
              </a:p>
            </c:txPr>
            <c:showLegendKey val="0"/>
            <c:showVal val="1"/>
            <c:showCatName val="0"/>
            <c:showSerName val="0"/>
            <c:showPercent val="0"/>
            <c:showBubbleSize val="0"/>
            <c:showLeaderLines val="0"/>
          </c:dLbls>
          <c:dPt>
            <c:idx val="0"/>
            <c:invertIfNegative val="0"/>
            <c:bubble3D val="0"/>
            <c:spPr>
              <a:solidFill>
                <a:srgbClr val="E3897F"/>
              </a:solidFill>
              <a:effectLst/>
            </c:spPr>
          </c:dPt>
          <c:dPt>
            <c:idx val="1"/>
            <c:invertIfNegative val="0"/>
            <c:bubble3D val="0"/>
            <c:spPr>
              <a:solidFill>
                <a:srgbClr val="E3897F"/>
              </a:solidFill>
              <a:effectLst/>
            </c:spPr>
          </c:dPt>
          <c:dPt>
            <c:idx val="2"/>
            <c:invertIfNegative val="0"/>
            <c:bubble3D val="0"/>
            <c:spPr>
              <a:solidFill>
                <a:srgbClr val="5FC4B1"/>
              </a:solidFill>
              <a:effectLst/>
            </c:spPr>
          </c:dPt>
          <c:dPt>
            <c:idx val="3"/>
            <c:invertIfNegative val="0"/>
            <c:bubble3D val="0"/>
            <c:spPr>
              <a:solidFill>
                <a:srgbClr val="5FC4B1"/>
              </a:solidFill>
              <a:effectLst/>
            </c:spPr>
          </c:dPt>
          <c:dPt>
            <c:idx val="4"/>
            <c:invertIfNegative val="0"/>
            <c:bubble3D val="0"/>
            <c:spPr>
              <a:solidFill>
                <a:srgbClr val="5FC4B1"/>
              </a:solidFill>
              <a:effectLst/>
            </c:spPr>
          </c:dPt>
          <c:dPt>
            <c:idx val="5"/>
            <c:invertIfNegative val="0"/>
            <c:bubble3D val="0"/>
            <c:spPr>
              <a:solidFill>
                <a:srgbClr val="5FC4B1"/>
              </a:solidFill>
              <a:effectLst/>
            </c:spPr>
          </c:dPt>
          <c:dPt>
            <c:idx val="6"/>
            <c:invertIfNegative val="0"/>
            <c:bubble3D val="0"/>
            <c:spPr>
              <a:solidFill>
                <a:srgbClr val="5FC4B1"/>
              </a:solidFill>
              <a:effectLst/>
            </c:spPr>
          </c:dPt>
          <c:dPt>
            <c:idx val="7"/>
            <c:invertIfNegative val="0"/>
            <c:bubble3D val="0"/>
            <c:spPr>
              <a:solidFill>
                <a:srgbClr val="5FC4B1"/>
              </a:solidFill>
              <a:effectLst/>
            </c:spPr>
          </c:dPt>
          <c:cat>
            <c:multiLvlStrRef>
              <c:f>Sheet1!$A$2:$A$9</c:f>
              <c:multiLvlStrCache>
                <c:ptCount val="8"/>
                <c:lvl>
                  <c:pt idx="0">
                    <c:v>&lt;0,5</c:v>
                  </c:pt>
                  <c:pt idx="1">
                    <c:v>0,5–1</c:v>
                  </c:pt>
                  <c:pt idx="2">
                    <c:v>1–1,5</c:v>
                  </c:pt>
                  <c:pt idx="3">
                    <c:v>1,5–2</c:v>
                  </c:pt>
                  <c:pt idx="4">
                    <c:v>2–2,5</c:v>
                  </c:pt>
                  <c:pt idx="5">
                    <c:v>2,5–3</c:v>
                  </c:pt>
                  <c:pt idx="6">
                    <c:v>3–4</c:v>
                  </c:pt>
                  <c:pt idx="7">
                    <c:v>&gt;4</c:v>
                  </c:pt>
                </c:lvl>
              </c:multiLvlStrCache>
            </c:multiLvlStrRef>
          </c:cat>
          <c:val>
            <c:numRef>
              <c:f>Sheet1!$B$2:$B$9</c:f>
              <c:numCache>
                <c:formatCode>General</c:formatCode>
                <c:ptCount val="8"/>
                <c:pt idx="0">
                  <c:v>5</c:v>
                </c:pt>
                <c:pt idx="1">
                  <c:v>9</c:v>
                </c:pt>
                <c:pt idx="2">
                  <c:v>17</c:v>
                </c:pt>
                <c:pt idx="3">
                  <c:v>34</c:v>
                </c:pt>
                <c:pt idx="4">
                  <c:v>22</c:v>
                </c:pt>
                <c:pt idx="5">
                  <c:v>9</c:v>
                </c:pt>
                <c:pt idx="6">
                  <c:v>4</c:v>
                </c:pt>
                <c:pt idx="7">
                  <c:v>1</c:v>
                </c:pt>
              </c:numCache>
            </c:numRef>
          </c:val>
        </c:ser>
        <c:dLbls>
          <c:numFmt formatCode="0&quot;%&quot;" sourceLinked="0"/>
          <c:txPr>
            <a:bodyPr/>
            <a:lstStyle/>
            <a:p>
              <a:pPr>
                <a:defRPr b="0" i="0" strike="noStrike" sz="1000" u="none">
                  <a:solidFill>
                    <a:srgbClr val="EDF1EE"/>
                  </a:solidFill>
                  <a:latin typeface="Calibri"/>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8E9C9B"/>
                    </a:solidFill>
                    <a:latin typeface="Arial"/>
                  </a:defRPr>
                </a:pPr>
                <a:r>
                  <a:rPr sz="1000" b="0" i="0" u="none" strike="noStrike">
                    <a:solidFill>
                      <a:srgbClr val="8E9C9B"/>
                    </a:solidFill>
                    <a:latin typeface="Arial"/>
                  </a:rPr>
                  <a:t>MOIC je Deal</a:t>
                </a:r>
              </a:p>
            </c:rich>
          </c:tx>
          <c:layout/>
          <c:overlay val="0"/>
        </c:title>
        <c:numFmt formatCode="General" sourceLinked="1"/>
        <c:majorTickMark val="out"/>
        <c:minorTickMark val="none"/>
        <c:tickLblPos val="low"/>
        <c:spPr>
          <a:ln w="12700" cap="flat">
            <a:solidFill>
              <a:srgbClr val="243033"/>
            </a:solidFill>
            <a:prstDash val="solid"/>
            <a:round/>
          </a:ln>
        </c:spPr>
        <c:txPr>
          <a:bodyPr/>
          <a:lstStyle/>
          <a:p>
            <a:pPr>
              <a:defRPr sz="10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max val="35"/>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plotVisOnly val="1"/>
    <c:dispBlanksAs val="span"/>
  </c:chart>
  <c:spPr>
    <a:solidFill>
      <a:srgbClr val="161F22"/>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EDF1EE"/>
                </a:solidFill>
                <a:latin typeface="Calibri"/>
              </a:defRPr>
            </a:pPr>
            <a:r>
              <a:rPr sz="1200" b="0" i="0" u="none" strike="noStrike">
                <a:solidFill>
                  <a:srgbClr val="EDF1EE"/>
                </a:solidFill>
                <a:latin typeface="Calibri"/>
              </a:rPr>
              <a:t>Erfolgsquote nach effektiver Kompetenz</a:t>
            </a:r>
          </a:p>
        </c:rich>
      </c:tx>
      <c:layout/>
      <c:overlay val="0"/>
    </c:title>
    <c:autoTitleDeleted val="0"/>
    <c:plotArea>
      <c:layout/>
      <c:lineChart>
        <c:varyColors val="0"/>
        <c:ser>
          <c:idx val="0"/>
          <c:order val="0"/>
          <c:tx>
            <c:strRef>
              <c:f>Sheet1!$B$1</c:f>
              <c:strCache>
                <c:ptCount val="1"/>
                <c:pt idx="0">
                  <c:v>verlässlich</c:v>
                </c:pt>
              </c:strCache>
            </c:strRef>
          </c:tx>
          <c:spPr>
            <a:solidFill>
              <a:srgbClr val="5FC4B1"/>
            </a:solidFill>
            <a:ln w="31750" cap="flat">
              <a:solidFill>
                <a:srgbClr val="5FC4B1"/>
              </a:solidFill>
              <a:prstDash val="solid"/>
              <a:round/>
            </a:ln>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c:symbol val="circle"/>
            <c:size val="5"/>
            <c:spPr>
              <a:solidFill>
                <a:srgbClr val="5FC4B1"/>
              </a:solidFill>
              <a:ln w="9525" cap="flat">
                <a:solidFill>
                  <a:srgbClr val="5FC4B1"/>
                </a:solidFill>
                <a:prstDash val="solid"/>
                <a:round/>
              </a:ln>
              <a:effectLst/>
            </c:spPr>
          </c:marker>
          <c:cat>
            <c:multiLvlStrRef>
              <c:f>Sheet1!$A$2:$A$8</c:f>
              <c:multiLvlStrCache>
                <c:ptCount val="7"/>
                <c:lvl>
                  <c:pt idx="0">
                    <c:v>0</c:v>
                  </c:pt>
                  <c:pt idx="1">
                    <c:v>1</c:v>
                  </c:pt>
                  <c:pt idx="2">
                    <c:v>2</c:v>
                  </c:pt>
                  <c:pt idx="3">
                    <c:v>3</c:v>
                  </c:pt>
                  <c:pt idx="4">
                    <c:v>4</c:v>
                  </c:pt>
                  <c:pt idx="5">
                    <c:v>5</c:v>
                  </c:pt>
                  <c:pt idx="6">
                    <c:v>6</c:v>
                  </c:pt>
                </c:lvl>
              </c:multiLvlStrCache>
            </c:multiLvlStrRef>
          </c:cat>
          <c:val>
            <c:numRef>
              <c:f>Sheet1!$B$2:$B$8</c:f>
              <c:numCache>
                <c:formatCode>General</c:formatCode>
                <c:ptCount val="7"/>
                <c:pt idx="0">
                  <c:v>60</c:v>
                </c:pt>
                <c:pt idx="1">
                  <c:v>66</c:v>
                </c:pt>
                <c:pt idx="2">
                  <c:v>71</c:v>
                </c:pt>
                <c:pt idx="3">
                  <c:v>77</c:v>
                </c:pt>
                <c:pt idx="4">
                  <c:v>82</c:v>
                </c:pt>
                <c:pt idx="5">
                  <c:v>88</c:v>
                </c:pt>
                <c:pt idx="6">
                  <c:v>93</c:v>
                </c:pt>
              </c:numCache>
            </c:numRef>
          </c:val>
          <c:smooth val="0"/>
        </c:ser>
        <c:ser>
          <c:idx val="1"/>
          <c:order val="1"/>
          <c:tx>
            <c:strRef>
              <c:f>Sheet1!$C$1</c:f>
              <c:strCache>
                <c:ptCount val="1"/>
                <c:pt idx="0">
                  <c:v>Transformation</c:v>
                </c:pt>
              </c:strCache>
            </c:strRef>
          </c:tx>
          <c:spPr>
            <a:solidFill>
              <a:srgbClr val="DCB264"/>
            </a:solidFill>
            <a:ln w="31750" cap="flat">
              <a:solidFill>
                <a:srgbClr val="DCB264"/>
              </a:solidFill>
              <a:prstDash val="solid"/>
              <a:round/>
            </a:ln>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c:symbol val="circle"/>
            <c:size val="5"/>
            <c:spPr>
              <a:solidFill>
                <a:srgbClr val="DCB264"/>
              </a:solidFill>
              <a:ln w="9525" cap="flat">
                <a:solidFill>
                  <a:srgbClr val="DCB264"/>
                </a:solidFill>
                <a:prstDash val="solid"/>
                <a:round/>
              </a:ln>
              <a:effectLst/>
            </c:spPr>
          </c:marker>
          <c:cat>
            <c:multiLvlStrRef>
              <c:f>Sheet1!$A$2:$A$8</c:f>
              <c:multiLvlStrCache>
                <c:ptCount val="7"/>
                <c:lvl>
                  <c:pt idx="0">
                    <c:v>0</c:v>
                  </c:pt>
                  <c:pt idx="1">
                    <c:v>1</c:v>
                  </c:pt>
                  <c:pt idx="2">
                    <c:v>2</c:v>
                  </c:pt>
                  <c:pt idx="3">
                    <c:v>3</c:v>
                  </c:pt>
                  <c:pt idx="4">
                    <c:v>4</c:v>
                  </c:pt>
                  <c:pt idx="5">
                    <c:v>5</c:v>
                  </c:pt>
                  <c:pt idx="6">
                    <c:v>6</c:v>
                  </c:pt>
                </c:lvl>
              </c:multiLvlStrCache>
            </c:multiLvlStrRef>
          </c:cat>
          <c:val>
            <c:numRef>
              <c:f>Sheet1!$C$2:$C$8</c:f>
              <c:numCache>
                <c:formatCode>General</c:formatCode>
                <c:ptCount val="7"/>
                <c:pt idx="0">
                  <c:v>56</c:v>
                </c:pt>
                <c:pt idx="1">
                  <c:v>61</c:v>
                </c:pt>
                <c:pt idx="2">
                  <c:v>66</c:v>
                </c:pt>
                <c:pt idx="3">
                  <c:v>70</c:v>
                </c:pt>
                <c:pt idx="4">
                  <c:v>75</c:v>
                </c:pt>
                <c:pt idx="5">
                  <c:v>80</c:v>
                </c:pt>
                <c:pt idx="6">
                  <c:v>85</c:v>
                </c:pt>
              </c:numCache>
            </c:numRef>
          </c:val>
          <c:smooth val="0"/>
        </c:ser>
        <c:ser>
          <c:idx val="2"/>
          <c:order val="2"/>
          <c:tx>
            <c:strRef>
              <c:f>Sheet1!$D$1</c:f>
              <c:strCache>
                <c:ptCount val="1"/>
                <c:pt idx="0">
                  <c:v>marktabhängig</c:v>
                </c:pt>
              </c:strCache>
            </c:strRef>
          </c:tx>
          <c:spPr>
            <a:solidFill>
              <a:srgbClr val="E3897F"/>
            </a:solidFill>
            <a:ln w="31750" cap="flat">
              <a:solidFill>
                <a:srgbClr val="E3897F"/>
              </a:solidFill>
              <a:prstDash val="solid"/>
              <a:round/>
            </a:ln>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c:symbol val="circle"/>
            <c:size val="5"/>
            <c:spPr>
              <a:solidFill>
                <a:srgbClr val="E3897F"/>
              </a:solidFill>
              <a:ln w="9525" cap="flat">
                <a:solidFill>
                  <a:srgbClr val="E3897F"/>
                </a:solidFill>
                <a:prstDash val="solid"/>
                <a:round/>
              </a:ln>
              <a:effectLst/>
            </c:spPr>
          </c:marker>
          <c:cat>
            <c:multiLvlStrRef>
              <c:f>Sheet1!$A$2:$A$8</c:f>
              <c:multiLvlStrCache>
                <c:ptCount val="7"/>
                <c:lvl>
                  <c:pt idx="0">
                    <c:v>0</c:v>
                  </c:pt>
                  <c:pt idx="1">
                    <c:v>1</c:v>
                  </c:pt>
                  <c:pt idx="2">
                    <c:v>2</c:v>
                  </c:pt>
                  <c:pt idx="3">
                    <c:v>3</c:v>
                  </c:pt>
                  <c:pt idx="4">
                    <c:v>4</c:v>
                  </c:pt>
                  <c:pt idx="5">
                    <c:v>5</c:v>
                  </c:pt>
                  <c:pt idx="6">
                    <c:v>6</c:v>
                  </c:pt>
                </c:lvl>
              </c:multiLvlStrCache>
            </c:multiLvlStrRef>
          </c:cat>
          <c:val>
            <c:numRef>
              <c:f>Sheet1!$D$2:$D$8</c:f>
              <c:numCache>
                <c:formatCode>General</c:formatCode>
                <c:ptCount val="7"/>
                <c:pt idx="0">
                  <c:v>20</c:v>
                </c:pt>
                <c:pt idx="1">
                  <c:v>27</c:v>
                </c:pt>
                <c:pt idx="2">
                  <c:v>34</c:v>
                </c:pt>
                <c:pt idx="3">
                  <c:v>42</c:v>
                </c:pt>
                <c:pt idx="4">
                  <c:v>49</c:v>
                </c:pt>
                <c:pt idx="5">
                  <c:v>56</c:v>
                </c:pt>
                <c:pt idx="6">
                  <c:v>63</c:v>
                </c:pt>
              </c:numCache>
            </c:numRef>
          </c:val>
          <c:smooth val="0"/>
        </c:ser>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8E9C9B"/>
                    </a:solidFill>
                    <a:latin typeface="Arial"/>
                  </a:defRPr>
                </a:pPr>
                <a:r>
                  <a:rPr sz="1000" b="0" i="0" u="none" strike="noStrike">
                    <a:solidFill>
                      <a:srgbClr val="8E9C9B"/>
                    </a:solidFill>
                    <a:latin typeface="Arial"/>
                  </a:rPr>
                  <a:t>effektive Kompetenz E</a:t>
                </a:r>
              </a:p>
            </c:rich>
          </c:tx>
          <c:layout/>
          <c:overlay val="0"/>
        </c:title>
        <c:numFmt formatCode="General" sourceLinked="1"/>
        <c:majorTickMark val="out"/>
        <c:minorTickMark val="none"/>
        <c:tickLblPos val="low"/>
        <c:spPr>
          <a:ln w="12700" cap="flat">
            <a:solidFill>
              <a:srgbClr val="243033"/>
            </a:solidFill>
            <a:prstDash val="solid"/>
            <a:round/>
          </a:ln>
        </c:spPr>
        <c:txPr>
          <a:bodyPr/>
          <a:lstStyle/>
          <a:p>
            <a:pPr>
              <a:defRPr sz="10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4303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legend>
      <c:legendPos val="b"/>
      <c:overlay val="0"/>
      <c:txPr>
        <a:bodyPr/>
        <a:lstStyle/>
        <a:p>
          <a:pPr>
            <a:defRPr sz="1000">
              <a:solidFill>
                <a:srgbClr val="8E9C9B"/>
              </a:solidFill>
              <a:latin typeface="Calibri"/>
              <a:cs typeface="Calibri"/>
            </a:defRPr>
          </a:pPr>
          <a:endParaRPr lang="en-US"/>
        </a:p>
      </c:txPr>
    </c:legend>
    <c:plotVisOnly val="1"/>
    <c:dispBlanksAs val="span"/>
  </c:chart>
  <c:spPr>
    <a:solidFill>
      <a:srgbClr val="161F22"/>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EDF1EE"/>
                </a:solidFill>
                <a:latin typeface="Calibri"/>
              </a:defRPr>
            </a:pPr>
            <a:r>
              <a:rPr sz="1200" b="0" i="0" u="none" strike="noStrike">
                <a:solidFill>
                  <a:srgbClr val="EDF1EE"/>
                </a:solidFill>
                <a:latin typeface="Calibri"/>
              </a:rPr>
              <a:t>Abwerberisiko mit MEP in % des Risikos ohne MEP</a:t>
            </a:r>
          </a:p>
        </c:rich>
      </c:tx>
      <c:layout/>
      <c:overlay val="0"/>
    </c:title>
    <c:autoTitleDeleted val="0"/>
    <c:plotArea>
      <c:layout/>
      <c:lineChart>
        <c:varyColors val="0"/>
        <c:ser>
          <c:idx val="0"/>
          <c:order val="0"/>
          <c:tx>
            <c:strRef>
              <c:f>Sheet1!$B$1</c:f>
              <c:strCache>
                <c:ptCount val="1"/>
                <c:pt idx="0">
                  <c:v>Abwerberisiko vs. ohne MEP</c:v>
                </c:pt>
              </c:strCache>
            </c:strRef>
          </c:tx>
          <c:spPr>
            <a:solidFill>
              <a:srgbClr val="5FC4B1"/>
            </a:solidFill>
            <a:ln w="38100" cap="flat">
              <a:solidFill>
                <a:srgbClr val="5FC4B1"/>
              </a:solidFill>
              <a:prstDash val="solid"/>
              <a:round/>
            </a:ln>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c:symbol val="circle"/>
            <c:size val="6"/>
            <c:spPr>
              <a:solidFill>
                <a:srgbClr val="5FC4B1"/>
              </a:solidFill>
              <a:ln w="9525" cap="flat">
                <a:solidFill>
                  <a:srgbClr val="5FC4B1"/>
                </a:solidFill>
                <a:prstDash val="solid"/>
                <a:round/>
              </a:ln>
              <a:effectLst/>
            </c:spPr>
          </c:marker>
          <c:cat>
            <c:multiLvlStrRef>
              <c:f>Sheet1!$A$2:$A$10</c:f>
              <c:multiLvlStrCache>
                <c:ptCount val="9"/>
                <c:lvl>
                  <c:pt idx="0">
                    <c:v>0,50×</c:v>
                  </c:pt>
                  <c:pt idx="1">
                    <c:v>0,75×</c:v>
                  </c:pt>
                  <c:pt idx="2">
                    <c:v>1,00×</c:v>
                  </c:pt>
                  <c:pt idx="3">
                    <c:v>1,25×</c:v>
                  </c:pt>
                  <c:pt idx="4">
                    <c:v>1,50×</c:v>
                  </c:pt>
                  <c:pt idx="5">
                    <c:v>1,75×</c:v>
                  </c:pt>
                  <c:pt idx="6">
                    <c:v>2,00×</c:v>
                  </c:pt>
                  <c:pt idx="7">
                    <c:v>2,25×</c:v>
                  </c:pt>
                  <c:pt idx="8">
                    <c:v>2,50×</c:v>
                  </c:pt>
                </c:lvl>
              </c:multiLvlStrCache>
            </c:multiLvlStrRef>
          </c:cat>
          <c:val>
            <c:numRef>
              <c:f>Sheet1!$B$2:$B$10</c:f>
              <c:numCache>
                <c:formatCode>General</c:formatCode>
                <c:ptCount val="9"/>
                <c:pt idx="0">
                  <c:v>68</c:v>
                </c:pt>
                <c:pt idx="1">
                  <c:v>59</c:v>
                </c:pt>
                <c:pt idx="2">
                  <c:v>50</c:v>
                </c:pt>
                <c:pt idx="3">
                  <c:v>41</c:v>
                </c:pt>
                <c:pt idx="4">
                  <c:v>33</c:v>
                </c:pt>
                <c:pt idx="5">
                  <c:v>24</c:v>
                </c:pt>
                <c:pt idx="6">
                  <c:v>15</c:v>
                </c:pt>
                <c:pt idx="7">
                  <c:v>8</c:v>
                </c:pt>
                <c:pt idx="8">
                  <c:v>8</c:v>
                </c:pt>
              </c:numCache>
            </c:numRef>
          </c:val>
          <c:smooth val="0"/>
        </c:ser>
        <c:ser>
          <c:idx val="1"/>
          <c:order val="1"/>
          <c:tx>
            <c:strRef>
              <c:f>Sheet1!$C$1</c:f>
              <c:strCache>
                <c:ptCount val="1"/>
                <c:pt idx="0">
                  <c:v>ohne MEP</c:v>
                </c:pt>
              </c:strCache>
            </c:strRef>
          </c:tx>
          <c:spPr>
            <a:solidFill>
              <a:srgbClr val="8E9C9B"/>
            </a:solidFill>
            <a:ln w="38100" cap="flat">
              <a:solidFill>
                <a:srgbClr val="8E9C9B"/>
              </a:solidFill>
              <a:prstDash val="solid"/>
              <a:round/>
            </a:ln>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c:symbol val="circle"/>
            <c:size val="6"/>
            <c:spPr>
              <a:solidFill>
                <a:srgbClr val="8E9C9B"/>
              </a:solidFill>
              <a:ln w="9525" cap="flat">
                <a:solidFill>
                  <a:srgbClr val="8E9C9B"/>
                </a:solidFill>
                <a:prstDash val="solid"/>
                <a:round/>
              </a:ln>
              <a:effectLst/>
            </c:spPr>
          </c:marker>
          <c:cat>
            <c:multiLvlStrRef>
              <c:f>Sheet1!$A$2:$A$10</c:f>
              <c:multiLvlStrCache>
                <c:ptCount val="9"/>
                <c:lvl>
                  <c:pt idx="0">
                    <c:v>0,50×</c:v>
                  </c:pt>
                  <c:pt idx="1">
                    <c:v>0,75×</c:v>
                  </c:pt>
                  <c:pt idx="2">
                    <c:v>1,00×</c:v>
                  </c:pt>
                  <c:pt idx="3">
                    <c:v>1,25×</c:v>
                  </c:pt>
                  <c:pt idx="4">
                    <c:v>1,50×</c:v>
                  </c:pt>
                  <c:pt idx="5">
                    <c:v>1,75×</c:v>
                  </c:pt>
                  <c:pt idx="6">
                    <c:v>2,00×</c:v>
                  </c:pt>
                  <c:pt idx="7">
                    <c:v>2,25×</c:v>
                  </c:pt>
                  <c:pt idx="8">
                    <c:v>2,50×</c:v>
                  </c:pt>
                </c:lvl>
              </c:multiLvlStrCache>
            </c:multiLvlStrRef>
          </c:cat>
          <c:val>
            <c:numRef>
              <c:f>Sheet1!$C$2:$C$10</c:f>
              <c:numCache>
                <c:formatCode>General</c:formatCode>
                <c:ptCount val="9"/>
                <c:pt idx="0">
                  <c:v>100</c:v>
                </c:pt>
                <c:pt idx="1">
                  <c:v>100</c:v>
                </c:pt>
                <c:pt idx="2">
                  <c:v>100</c:v>
                </c:pt>
                <c:pt idx="3">
                  <c:v>100</c:v>
                </c:pt>
                <c:pt idx="4">
                  <c:v>100</c:v>
                </c:pt>
                <c:pt idx="5">
                  <c:v>100</c:v>
                </c:pt>
                <c:pt idx="6">
                  <c:v>100</c:v>
                </c:pt>
                <c:pt idx="7">
                  <c:v>100</c:v>
                </c:pt>
                <c:pt idx="8">
                  <c:v>100</c:v>
                </c:pt>
              </c:numCache>
            </c:numRef>
          </c:val>
          <c:smooth val="0"/>
        </c:ser>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8E9C9B"/>
                    </a:solidFill>
                    <a:latin typeface="Arial"/>
                  </a:defRPr>
                </a:pPr>
                <a:r>
                  <a:rPr sz="1000" b="0" i="0" u="none" strike="noStrike">
                    <a:solidFill>
                      <a:srgbClr val="8E9C9B"/>
                    </a:solidFill>
                    <a:latin typeface="Arial"/>
                  </a:rPr>
                  <a:t>Wert der Beteiligung je Euro Einstand (MOIC)</a:t>
                </a:r>
              </a:p>
            </c:rich>
          </c:tx>
          <c:layout/>
          <c:overlay val="0"/>
        </c:title>
        <c:numFmt formatCode="General" sourceLinked="1"/>
        <c:majorTickMark val="out"/>
        <c:minorTickMark val="none"/>
        <c:tickLblPos val="low"/>
        <c:spPr>
          <a:ln w="12700" cap="flat">
            <a:solidFill>
              <a:srgbClr val="243033"/>
            </a:solidFill>
            <a:prstDash val="solid"/>
            <a:round/>
          </a:ln>
        </c:spPr>
        <c:txPr>
          <a:bodyPr/>
          <a:lstStyle/>
          <a:p>
            <a:pPr>
              <a:defRPr sz="10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24303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legend>
      <c:legendPos val="b"/>
      <c:overlay val="0"/>
      <c:txPr>
        <a:bodyPr/>
        <a:lstStyle/>
        <a:p>
          <a:pPr>
            <a:defRPr sz="1000">
              <a:solidFill>
                <a:srgbClr val="8E9C9B"/>
              </a:solidFill>
              <a:latin typeface="Calibri"/>
              <a:cs typeface="Calibri"/>
            </a:defRPr>
          </a:pPr>
          <a:endParaRPr lang="en-US"/>
        </a:p>
      </c:txPr>
    </c:legend>
    <c:plotVisOnly val="1"/>
    <c:dispBlanksAs val="span"/>
  </c:chart>
  <c:spPr>
    <a:solidFill>
      <a:srgbClr val="161F22"/>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EDF1EE"/>
                </a:solidFill>
                <a:latin typeface="Calibri"/>
              </a:defRPr>
            </a:pPr>
            <a:r>
              <a:rPr sz="1200" b="0" i="0" u="none" strike="noStrike">
                <a:solidFill>
                  <a:srgbClr val="EDF1EE"/>
                </a:solidFill>
                <a:latin typeface="Calibri"/>
              </a:rPr>
              <a:t>Abschlag in Turns – Asset mit 10× Multiple, gekauft in HJ 2</a:t>
            </a:r>
          </a:p>
        </c:rich>
      </c:tx>
      <c:layout/>
      <c:overlay val="0"/>
    </c:title>
    <c:autoTitleDeleted val="0"/>
    <c:plotArea>
      <c:layout/>
      <c:barChart>
        <c:barDir val="col"/>
        <c:grouping val="stacked"/>
        <c:varyColors val="0"/>
        <c:ser>
          <c:idx val="0"/>
          <c:order val="0"/>
          <c:tx>
            <c:strRef>
              <c:f>Sheet1!$B$1</c:f>
              <c:strCache>
                <c:ptCount val="1"/>
                <c:pt idx="0">
                  <c:v>Altbestandsabschlag</c:v>
                </c:pt>
              </c:strCache>
            </c:strRef>
          </c:tx>
          <c:spPr>
            <a:solidFill>
              <a:srgbClr val="DCB264"/>
            </a:solidFill>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cat>
            <c:multiLvlStrRef>
              <c:f>Sheet1!$A$2:$A$20</c:f>
              <c:multiLvlStrCache>
                <c:ptCount val="19"/>
                <c:lvl>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lvl>
              </c:multiLvlStrCache>
            </c:multiLvlStrRef>
          </c:cat>
          <c:val>
            <c:numRef>
              <c:f>Sheet1!$B$2:$B$20</c:f>
              <c:numCache>
                <c:formatCode>General</c:formatCode>
                <c:ptCount val="19"/>
                <c:pt idx="0">
                  <c:v>0</c:v>
                </c:pt>
                <c:pt idx="1">
                  <c:v>0</c:v>
                </c:pt>
                <c:pt idx="2">
                  <c:v>0</c:v>
                </c:pt>
                <c:pt idx="3">
                  <c:v>0</c:v>
                </c:pt>
                <c:pt idx="4">
                  <c:v>0</c:v>
                </c:pt>
                <c:pt idx="5">
                  <c:v>0</c:v>
                </c:pt>
                <c:pt idx="6">
                  <c:v>0</c:v>
                </c:pt>
                <c:pt idx="7">
                  <c:v>0</c:v>
                </c:pt>
                <c:pt idx="8">
                  <c:v>0</c:v>
                </c:pt>
                <c:pt idx="9">
                  <c:v>0.2</c:v>
                </c:pt>
                <c:pt idx="10">
                  <c:v>0.4</c:v>
                </c:pt>
                <c:pt idx="11">
                  <c:v>0.6</c:v>
                </c:pt>
                <c:pt idx="12">
                  <c:v>0.8</c:v>
                </c:pt>
                <c:pt idx="13">
                  <c:v>1</c:v>
                </c:pt>
                <c:pt idx="14">
                  <c:v>1.2</c:v>
                </c:pt>
                <c:pt idx="15">
                  <c:v>1.4</c:v>
                </c:pt>
                <c:pt idx="16">
                  <c:v>1.6</c:v>
                </c:pt>
                <c:pt idx="17">
                  <c:v>1.8</c:v>
                </c:pt>
                <c:pt idx="18">
                  <c:v>2</c:v>
                </c:pt>
              </c:numCache>
            </c:numRef>
          </c:val>
        </c:ser>
        <c:ser>
          <c:idx val="1"/>
          <c:order val="1"/>
          <c:tx>
            <c:strRef>
              <c:f>Sheet1!$C$1</c:f>
              <c:strCache>
                <c:ptCount val="1"/>
                <c:pt idx="0">
                  <c:v>Endfälligkeitsdruck</c:v>
                </c:pt>
              </c:strCache>
            </c:strRef>
          </c:tx>
          <c:spPr>
            <a:solidFill>
              <a:srgbClr val="E3897F"/>
            </a:solidFill>
            <a:effectLst/>
          </c:spPr>
          <c:invertIfNegative val="0"/>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cat>
            <c:multiLvlStrRef>
              <c:f>Sheet1!$A$2:$A$20</c:f>
              <c:multiLvlStrCache>
                <c:ptCount val="19"/>
                <c:lvl>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lvl>
              </c:multiLvlStrCache>
            </c:multiLvlStrRef>
          </c:cat>
          <c:val>
            <c:numRef>
              <c:f>Sheet1!$C$2:$C$20</c:f>
              <c:numCache>
                <c:formatCode>General</c:formatCode>
                <c:ptCount val="1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0.65</c:v>
                </c:pt>
                <c:pt idx="16">
                  <c:v>1.3</c:v>
                </c:pt>
                <c:pt idx="17">
                  <c:v>1.95</c:v>
                </c:pt>
                <c:pt idx="18">
                  <c:v>2.6</c:v>
                </c:pt>
              </c:numCache>
            </c:numRef>
          </c:val>
        </c:ser>
        <c:dLbls>
          <c:numFmt formatCode="#,##0" sourceLinked="0"/>
          <c:txPr>
            <a:bodyPr/>
            <a:lstStyle/>
            <a:p>
              <a:pPr>
                <a:defRPr b="0" i="0" strike="noStrike" sz="1000" u="none">
                  <a:solidFill>
                    <a:srgbClr val="EDF1EE"/>
                  </a:solidFill>
                  <a:latin typeface="Calibri"/>
                </a:defRPr>
              </a:pPr>
            </a:p>
          </c:txPr>
          <c:showLegendKey val="0"/>
          <c:showVal val="0"/>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b"/>
        <c:title>
          <c:tx>
            <c:rich>
              <a:bodyPr/>
              <a:lstStyle/>
              <a:p>
                <a:pPr>
                  <a:defRPr sz="1000" b="0" i="0" u="none" strike="noStrike">
                    <a:solidFill>
                      <a:srgbClr val="8E9C9B"/>
                    </a:solidFill>
                    <a:latin typeface="Arial"/>
                  </a:defRPr>
                </a:pPr>
                <a:r>
                  <a:rPr sz="1000" b="0" i="0" u="none" strike="noStrike">
                    <a:solidFill>
                      <a:srgbClr val="8E9C9B"/>
                    </a:solidFill>
                    <a:latin typeface="Arial"/>
                  </a:rPr>
                  <a:t>Halbjahr</a:t>
                </a:r>
              </a:p>
            </c:rich>
          </c:tx>
          <c:layout/>
          <c:overlay val="0"/>
        </c:title>
        <c:numFmt formatCode="General" sourceLinked="1"/>
        <c:majorTickMark val="out"/>
        <c:minorTickMark val="none"/>
        <c:tickLblPos val="low"/>
        <c:spPr>
          <a:ln w="12700" cap="flat">
            <a:solidFill>
              <a:srgbClr val="243033"/>
            </a:solidFill>
            <a:prstDash val="solid"/>
            <a:round/>
          </a:ln>
        </c:spPr>
        <c:txPr>
          <a:bodyPr/>
          <a:lstStyle/>
          <a:p>
            <a:pPr>
              <a:defRPr sz="1000" b="0" i="0" u="none" strike="noStrike">
                <a:solidFill>
                  <a:srgbClr val="8E9C9B"/>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243033"/>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8E9C9B"/>
                </a:solidFill>
                <a:latin typeface="Calibri"/>
              </a:defRPr>
            </a:pPr>
            <a:endParaRPr lang="en-US"/>
          </a:p>
        </c:txPr>
        <c:crossAx val="2094734554"/>
        <c:crosses val="autoZero"/>
        <c:crossBetween val="between"/>
      </c:valAx>
      <c:spPr>
        <a:solidFill>
          <a:srgbClr val="161F22"/>
        </a:solidFill>
        <a:ln>
          <a:noFill/>
        </a:ln>
        <a:effectLst/>
      </c:spPr>
    </c:plotArea>
    <c:legend>
      <c:legendPos val="b"/>
      <c:overlay val="0"/>
      <c:txPr>
        <a:bodyPr/>
        <a:lstStyle/>
        <a:p>
          <a:pPr>
            <a:defRPr sz="1000">
              <a:solidFill>
                <a:srgbClr val="8E9C9B"/>
              </a:solidFill>
              <a:latin typeface="Calibri"/>
              <a:cs typeface="Calibri"/>
            </a:defRPr>
          </a:pPr>
          <a:endParaRPr lang="en-US"/>
        </a:p>
      </c:txPr>
    </c:legend>
    <c:plotVisOnly val="1"/>
    <c:dispBlanksAs val="span"/>
  </c:chart>
  <c:spPr>
    <a:solidFill>
      <a:srgbClr val="161F2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Diese Präsentation erklärt, wie PE Leagues die wichtigsten Mechaniken von Private Equity abbildet. Jede Zahl auf den folgenden Folien stammt direkt aus der Spiel-Engine (lib/engine) – das Spiel ist also ein rechnendes Lehrmodell, kein Ratespiel.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vier Blöcke folgen dem Lebenszyklus eines Buyout-Fonds. Jeder Block endet mit Kernaussagen. Wer die Parameter nachschlagen will, findet am Ende ein Glossar mit Fundstellen im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Eine Runde ist ein Halbjahr. In jeder Runde trifft der Spieler Entscheidungen in drei Feldern: Er kauft (Deal Execution), entwickelt seine Beteiligungen (Value Creation) und verkauft (Exit). Erst wenn er das Halbjahr abschließt, rechnet die Engine: Jede Beteiligung entwickelt sich, der Markt schwankt, Ereignisse treten ein, danach werden NAV, TVCC, TVPI und IRR neu bewertet. Zu Beginn des nächsten Halbjahres fasst der Halbjahresbericht zusammen, was passiert ist. Das wiederholt sich 20-mal. Die Wertung am Ende ist nichts anderes als das Ergebnis dieser Kette.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Beim Beitritt zu einer Partie verteilt jeder Fonds 12 Punkte auf fünf Fähigkeiten; bis zum Start lässt sich das Profil in der Lobby noch ändern. Das ist seine Investmentstrategie – so wie ein echter Fonds bei den Investoren mit einem bestimmten Ansatz wirbt: als Sourcing-Spezialist, als operativer Investor oder als Finanzierungsprofi. Das Profil gilt für die gesamte Laufzeit. Jede Fähigkeit hat eine Entsprechung in der Realität und wirkt in der Engine auf konkrete Parameter. Wo genau, fasst die Synthese-Folie 40 zusammen.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Fonds erhält sein Kapital nicht am ersten Tag. Die Investoren sagen 500 Mio. € zu (Commitment), der Fonds ruft Geld erst ab, wenn er es braucht. Wichtig: Die Management Fee wird ebenfalls aus dem Commitment bezahlt. Deshalb reserviert die Engine die künftigen Gebühren vorab – investierbar sind zum Start nur rund 450 Mio.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Gebühr läuft in der Investitionsperiode auf das volle Commitment – auch wenn noch nichts investiert ist. Danach nur noch auf den Einstand des Restportfolios. Im Mittel der Simulation kosten Fees rund 54 Mio. €, Transaktionskosten 12 Mio. € und Carry 6 Mio. € je Fonds.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zeigt einen echten Fondsverlauf aus der Simulation: In den ersten Jahren fließt nur Geld ab (Deals, Gebühren), der kumulierte Cashflow wird tief negativ – die J-Curve. Ab etwa Halbjahr 8 kommen die Exits, der Cashflow dreht ins Positive. TVPI und TVCC messen denselben Wert, aber gegen verschiedene Nenner: der TVPI je abgerufenem, der TVCC je zugesagtem Euro. Solange wenig abgerufen ist, liegt der TVCC deutlich darunter; es gilt TVCC = TVPI × Deployment Rate. Der Merksatz: Ein hoher Zwischen-IRR bei niedrigem DPI ist eine Bewertung, keine Rendite.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jedem Exit entscheidet der Spieler, wie viel des Erlöses im Fonds bleibt – über die ganze Laufzeit, nicht nur in der Investitionsperiode. Recycling lässt das Geld weiterarbeiten, verschiebt aber den Rückfluss an die Investoren und kostet damit verlässlich IRR. Den Multiple (TVCC) hebt es nur, wenn mit dem Geld ein guter Folgedeal oder Zukauf gelingt; ein kleinerer Nenner hilft nicht, weil der TVCC auf das ganze Commitment rechnet. Was am Laufzeitende nicht reinvestiert ist, wird an die Investoren ausgeschüttet.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GP bekommt Carry erst, wenn die Investoren ihre Vorzugsrendite von 8 % p. a. erhalten haben. Danach holt der GP im Catch-up auf, bis er 20 % des gesamten Gewinns hat. Wichtig für Studierende: Der Übergang ist stetig – ein Fonds knapp über der Hurdle steht für die Investoren nie schlechter da als einer knapp darunter.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Multiple allein belohnt Sitzenbleiben: Wer lange hält, sammelt Wert. IRR allein belohnt schnelles Drehen kleiner Deals. Erst zusammen bilden sie die Kernfrage ab: Wann verkauft man ein Asset, das noch weiterläuft? Als Multiple zählt der TVCC, also der Wert je zugesagtem Euro. Der TVPI belohnte, Kapital gar nicht erst abzurufen: Wer ein Drittel seines Commitments gut investiert und den Rest liegen lässt, hat einen glänzenden TVPI, aber einen mäßigen TVCC. Die Marken 1,6× und 18 % sind an der Engine gemessen und beschreiben denselben Fonds: Die Fonds um TVCC 1,6 erreichen im Median rund 18 % IRR. Der TVPI wird im Spiel weiter angezeigt, geht aber nicht mehr in die Wertung 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Fund Value Bridge zerlegt den Gewinn eines Fonds in Treiber, Durchschnitt über 240 KI-Fonds in 60 simulierten Partien. Links steht die Wertsteigerung im Portfolio bis zum Gross Return, rechts die Fondskosten bis zum Net Return, also dem, was bei den Investoren ankommt. Der größte Hebel ist das EBITDA-Wachstum, dann die Multiple-Veränderung. Die Entschuldung aus dem Cashflow ist positiv. Zukäufe und Sonderkosten werden aber meist mit Fremdkapital bezahlt; sie stehen als eigener Balken, weil sie die Schulden wieder erhöhen. Gebühren, Transaktionskosten und Carry kosten zusammen rund 72 Mio.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fünf Sektoren unterscheiden sich in Wachstum und typischem Einstiegsmultiple. Software wächst schnell, ist aber teuer; Consumer ist günstig, wächst aber kaum. Zusätzlich schwankt jedes Sektor-Multiple jedes Halbjahr. Wer stark gehebelt in einem Sektor sitzt, der abstürzt, spürt das doppelt – Umsatz und Marge fallen mit dem Leverage stärker.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Jedes Halbjahr kommen vier Auktionsdeals, die alle Fonds sehen. Dazu kommen proprietäre Deals – ihre Zahl hängt an der Origination. Proprietäre Deals sind günstiger, weil man früher mit dem Verkäufer spricht. Einmal pro Partie kommt ein Trophy Asset: groß, hochwertig und heiß umkämpft.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Jedes Unternehmen wird aus einem von 35 Geschäftsmodellen des DACH-Mittelstands gezogen – sieben je Sektor. Das Geschäftsmodell legt die Bandbreiten fest, der Zufall die konkrete Ausprägung. Die Größe ist gekappt: Ein Target wird so gezogen, dass sein Equity Ticket zum Angebotspreis höchstens rund 18 % des Fonds bindet (TICKET_MAX). Ein Fonds braucht damit mindestens vier, eher fünf Deals, um auszuinvestieren. Der Sektor ist die erste Eigenschaft eines Targets: Er legt Marktwachstum, Bewertungsniveau und die sektorspezifische Fachrolle im Management fest. Die Risikoflaggen beschreiben, wo das Geschäftsmodell verwundbar ist; nur die Buy-&amp;-Build-Plattform ist eine These, keine Warnung.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Preis folgt dem Sektor-Multiple, korrigiert um die Qualität. Wichtig ist die Designentscheidung: Kaufpreis und Bewertung nutzen denselben Qualitätsfaktor. Am Tag des Closings ist ein Deal also genau so viel wert, wie er gekostet hat. Jede Aufwertung muss danach verdient werden – durch EBITDA, Wachstum oder den Markt.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der Realität kennt der Verkäufer sein Unternehmen besser als jeder Käufer, und der Business Plan im Datenraum ist naturgemäß optimistisch. Die wichtigste unbekannte Größe ist das künftige Wachstum. Im Spiel ist das der Drift: der dauerhafte Wachstumsvorsprung gegenüber dem Sektor. Er ist verdeckt. Die Karte zeigt nur die Wachstumshistorie, die etwa die Hälfte davon erklärt. Eine durchgeführte Due Diligence liefert eine Schätzung mit Band; je mehr Punkte in Due Diligence, desto enger das Band. Der Fehler wird kleiner, verschwindet aber 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 der Targets tragen eine Flagge; welche, hängt am Geschäftsmodell. Vier Flaggen sind Risiken, eine ist eine Investmentthese. Wichtig für das Verständnis: Die Flagge selbst verändert keine Zahl. Sie benennt das Risiko, das in den Kennzahlen des Geschäftsmodells steckt, und passt zu einem Ereignis, das während der Haltedauer eintreten kann. Ausnahme ist die Nachfolgesituation: Sie hat eine eigene Mechanik. Ohne durchgeführte Due Diligence und mit weniger als 3 Punkten in Due Diligence bleibt die Flagge verdeckt.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Auktion läuft in fünf Schritten. Häufigster Fehler von Einsteigern: ein Gebot, das am eigenen Kapital scheitert – das Eigenkapital-Ticket ist größer als das investierbare Kapital. Die Engine sagt jedem Bieter, woran es lag. Die vier KI-Fonds bieten nach Archetyp: Der Leverage-Fonds zahlt am meisten und hebelt am stärksten.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Fremdkapital wirkt über drei Kanäle. Erstens kostet es: Über 3,0× Nettoverschuldung zu EBITDA steigt der Zins mit jedem Turn um 0,85 Prozentpunkte (Margin Grid). Zweitens spart es Steuern, denn Zinsen mindern den Gewinn – aber nur bis 30 % des EBITDA (Zinsschranke). Drittens hebelt es die Eigenkapitalrendite: Für denselben Kaufpreis setzt der Fonds weniger Eigenkapital ein, und die Tilgung aus dem Cashflow wächst ihm als Wert zu. Die Kehrseite: Jeder Abschwung trifft gehebelte Beteiligungen härter, und zwei Covenant-Brüche in Folge bedeuten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 jedem Gebot steht die Frage: Wie viel Geld wird gebraucht, und woher kommt es? Die Mittelverwendung (Uses) ist der Kaufpreis, also der Enterprise Value, plus die Transaktionskosten (Entry Fee). Die Mittelherkunft (Sources) ist Fremdkapital plus Eigenkapital. Beide Seiten sind gleich groß – das Eigenkapital ist die Restgröße. Dazu rechnet die Karte den Implied Money Multiple, einen konservativen 5-Jahres-Base-Case ohne Maßnahmen und mit Exit zum Einstiegsmultiple. Wer ihn später schlägt, hat das über Portfolioarbeit verdient.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Deal-Phase entscheidet über den Einstand – und der Einstand ist die Messlatte für jede spätere Rendite. Diese sechs Aussagen fassen die Mechaniken zusammen.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Wert des Eigenkapitals ist EBITDA mal Multiple minus Nettoverschuldung. Daraus folgen genau drei Hebel: EBITDA steigern, Multiple erhöhen, Schulden abbauen. Die Grafik rechts zeigt, wie unterschiedlich 1.609 realisierte Deals der Simulation ausgingen: Median 1,8×, aber 14 % der Deals verlieren Geld.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Jedes Halbjahr durchläuft jede Beteiligung dieselbe Rechnung (stepCompany). Wachstum und Marge laufen auf Zielwerte zu, die von Sektor, Drift und Reifegraden abhängen. Daraus entsteht der Free Cashflow, der die Schulden tilgt. Die Financial Statements im Spiel zeigen genau diese Zahlen als GuV, Bilanz und Cashflow.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 Beteiligung hat drei Reifegrade von 0 bis 5; Stufe 2 ist Branchenniveau. Frisch gekaufte Unternehmen starten meist darunter. Die wichtigste Regel: Growth wirkt nur so weit, wie People und Performance es tragen. Wer nur auf Wachstum setzt, überdehnt die Organisation – das kostet Marge und Qualität. Oberhalb der Benchmark verfallen Reifegrade, solange kein Programm läuft.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Performance-Programme treibt der CFO, Growth-Programme die Fachrolle. Je Beteiligung läuft ein Programm pro Dimension parallel. Der Ertrag hängt am konkreten Defizit: Cost-out lohnt nur, wenn die Marge unter Branchenniveau liegt. Die Erfolgsquote hängt an der effektiven Kompetenz der verantwortlichen Rolle – und an der Risikoklasse: Verlässliche Maßnahmen liefern im Fehlschlag noch 35 %, Transformationen und Markteintritte nichts.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 Beteiligung hat drei Schlüsselpositionen: CEO, CFO und eine sektorspezifische Fachfunktion. Jede Position trägt drei Kompetenzen im Vokabular von Executive Search und Management Due Diligence. Jedes Programm greift auf genau eine davon zu; der CEO wirkt über die Kompetenz der Programmfamilie mit, und seine Leadership deckelt das Team: Eine Fachkraft wirkt höchstens bis Leadership + 1,5. Dazu kommt die laufende Wirkung: Jede Kompetenz bewegt ihren Werttreiber auch ohne Programm, gewichtet mit dem Bedarf des Cases. Zwischen passender und falscher Besetzung liegen bei gleichem Assessment-Score rund 0,65× MOIC. Der Team-Score fasst das zusammen und ist zugleich der People-Reifegrad.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Search-Mandat liefert im folgenden Halbjahr eine Shortlist als Deck mit fünf Battle Cards: die drei Spezialisten der Position, dazu zwei aus Branchen-Insider, Serial PE und Step-up. Vor der Verpflichtung sind die Kompetenzen nur als Bandbreite sichtbar, danach steht das wahre Profil fest. Jede Führungskraft hat eine Farbe; sind alle drei Positionen besetzt und gleich gefärbt, ist das Team eingespielt und jede Kompetenz wirkt um 0,2 besser. Gemischte Farben kosten nichts. Wer eine besetzte Position ersetzen will, startet eine Suche: Die bisherige Person geht sofort, bis zur Verpflichtung führt ein Interim.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MEP gibt dem Management 6 % Sweet Equity an jedem Rückfluss – beim Exit und beim Cash Sweep. Dafür steigt die effektive Kompetenz aller Rollen um 0,5, und das Abwerberisiko sinkt. Die Bindung hängt am Wert des Pakets: Steht es tief im Geld, geht niemand; liegt es unter Einstand, verpufft die Wirkung.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Beim Zukauf erteilt der Spieler ein Mandat: Wie groß soll das Ziel sein, und bis zu welchem Multiple darf geboten werden? Kleine Ziele sind billiger – das ist die Multiple-Arbitrage des Buy-and-Build. Aber: Ein großer Bissen ist schwer zu verdauen, und wer unter der Preisvorstellung bleibt, bekommt nicht denselben Zukauf billiger, sondern einen schlechteren. Die Heatmap zeigt das Scheiterungsrisiko für eine Referenzplattform.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Bewertungsmultiple einer Beteiligung wird jedes Halbjahr neu berechnet. Drei Faktoren wirken multiplikativ: der Markt des Sektors, die Qualität des Assets und eine Wachstumsprämie für realisiertes Wachstum über dem Sektor. Qualität ist dabei ein Bestandskonto, das jedes Halbjahr durch Performance, People und Finanzierung bewegt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 Beteiligung hat je Halbjahr eine Chance von 10 % auf ein Sonderereignis. Die meisten sind negativ, einige positiv. Ein Fonds mit mindestens 4 Punkten in der passenden Fähigkeit wehrt die Hälfte ab. Das größte Risiko ist aber hausgemacht: Wer zu hoch hebelt und dann ein Ereignis oder einen Abschwung erlebt, reißt den Covenant. Die Equity Cure rettet die Beteiligung – auf Kosten eines höheren Einstands.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im echten Portfolio-Review bewertet das Spiel jede Beteiligung nach festen Kriterien und zeigt den wichtigsten Befund als Etikett. Ab Gewicht 55 heißt es 'Needs Attention'. Die Detailansicht vergleicht Umsatz, EBITDA und Marge seit Einstieg und zerlegt den Wertbeitrag in EBITDA, Multiple und Entschuldung.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Value Creation ist der Teil, den der Spieler am stärksten steuert – und der im Mittel den größten Beitrag zur Rendite liefert.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Verkaufen lässt sich eine Beteiligung frühestens nach vier Halbjahren, also zwei Jahren Haltedauer; bis Oktober 2026 waren es sechs. Halten ist danach aber nicht kostenlos. Ab vier Jahren Haltedauer sinkt das Multiple um 2 % je Halbjahr, weil Käufer wissen, dass die naheliegenden Hebel gezogen sind. In den letzten zwei Jahren der Fondslaufzeit kommt der Endfälligkeitsdruck dazu. Und was bis Halbjahr 20 nicht verkauft ist, wird zwangsweise 2,6 Turns unter Bewertung verwertet. Dazu kommt der IRR: Jedes Halbjahr länger drückt die Verzinsung.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Spiel gibt es drei Wege aus einer Beteiligung. Die Auktion über einen Verkaufsprozess bringt meist den besten Preis, braucht aber drei Halbjahre, bis die Gebote vorliegen. Der bilaterale Verkauf ist sofort und sicher, kostet aber einen halben Turn – und er bleibt auch dann möglich, wenn ein abgebrochener Prozess die Beteiligung für einen neuen Verkaufsprozess sperrt. Was bis Halbjahr 20 nicht verkauft ist, wird als Tail-End zwangsverwertet. Teilexits über ein Continuation Vehicle oder einen Börsengang sind in der Engine angelegt, im Spiel derzeit aber nicht wählbar. Höchstens drei Verkaufsprozesse laufen gleichzeitig.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 Ende eines Verkaufsprozesses liegen Gebote von drei Käufertypen vor. Der Stratege zahlt am meisten, wenn er Synergien sieht, hat aber ein Vollzugsrisiko wegen der Fusionskontrolle. Ein Finanzinvestor von außerhalb der Kohorte bietet über ein Secondary Buyout; die anderen Fonds der Partie kaufen nicht mit. Das Family Office zahlt am wenigsten, vollzieht aber sicher. Die Wahl ist ein klassischer Trade-off zwischen Preis und Sicherheit.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Zahlen stammen aus einer gespielten Partie im Übungsmodus: Ein Stratege bietet 170 Mio. € Enterprise Value, also 8,4× auf 20,3 Mio. € EBITDA. Davon gehen die Nettoverschuldung von 64,6 Mio. € und 3 % Transaktionskosten ab – hätte das Management ein MEP, zusätzlich 6 %. Übrig bleiben 102 Mio. € für den Fonds, bei einem Einsatz von 48,8 Mio. € ein MOIC von 2,09×. Rechts die Value Bridge des Deals, wie das Spiel sie nach dem Exit im Exit-Fenster zeigt; im Track Record lässt sie sich für jeden Deal wieder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den letzten Halbjahren zeigt der NAV eine Bewertung, die niemand mehr bezahlt – denn am Laufzeitende muss verkauft werden, und die Käufer wissen das. Die Kopfzeile zeigt deshalb ab Halbjahr 16 zusätzlich, was ohne weiteren Exit bliebe. Im Beispiel: 1,41× TVPI auf dem Papier, aber nur 1,02× nach Zwangsverwertung. Wer das ignoriert, verschenkt fast 0,4× TVPI.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Exit entscheidet, wie viel des geschaffenen Werts tatsächlich beim Investor ankommt – und wann.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Matrix fasst zusammen, wo die zwölf Profilpunkte in der Engine wirken. Es gibt keine dominante Verteilung: Jede Fähigkeit hilft in einer Phase und fehlt in einer anderen. Eine gute Übung für Studierende: Eine Strategie formulieren und daraus das passende Profil ableiten.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Jedes Modell vereinfacht. PE Leagues tut es bewusst und dokumentiert, wo – im Dokument docs/reality-checks.md sind 24 Prüfungen durch einen Praktiker festgehalten. Für die Diskussion mit Studierenden eignet sich die Frage: Welche dieser Vereinfachungen würde das Ergebnis am stärksten verändern?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Werte stehen in lib/engine/engine.ts. Wer mit dem Spiel experimentieren oder eigene Übungsaufgaben stellen will, findet hier die wichtigsten Stellschrauben auf einen Blick.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image" Target="../media/image-12-1.jp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chart" Target="/ppt/charts/chart9.xml"/><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jp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jp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1.png"/><Relationship Id="rId3" Type="http://schemas.openxmlformats.org/officeDocument/2006/relationships/image" Target="../media/image-41-1.png"/><Relationship Id="rId4" Type="http://schemas.openxmlformats.org/officeDocument/2006/relationships/image" Target="../media/image-41-1.png"/><Relationship Id="rId5" Type="http://schemas.openxmlformats.org/officeDocument/2006/relationships/image" Target="../media/image-41-1.png"/><Relationship Id="rId6" Type="http://schemas.openxmlformats.org/officeDocument/2006/relationships/image" Target="../media/image-41-1.png"/><Relationship Id="rId7" Type="http://schemas.openxmlformats.org/officeDocument/2006/relationships/slideLayout" Target="../slideLayouts/slideLayout1.xml"/><Relationship Id="rId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214"/>
        </a:solidFill>
      </p:bgPr>
    </p:bg>
    <p:spTree>
      <p:nvGrpSpPr>
        <p:cNvPr id="1" name=""/>
        <p:cNvGrpSpPr/>
        <p:nvPr/>
      </p:nvGrpSpPr>
      <p:grpSpPr>
        <a:xfrm>
          <a:off x="0" y="0"/>
          <a:ext cx="0" cy="0"/>
          <a:chOff x="0" y="0"/>
          <a:chExt cx="0" cy="0"/>
        </a:xfrm>
      </p:grpSpPr>
      <p:sp>
        <p:nvSpPr>
          <p:cNvPr id="2" name="Shape 0"/>
          <p:cNvSpPr/>
          <p:nvPr/>
        </p:nvSpPr>
        <p:spPr>
          <a:xfrm>
            <a:off x="8899855" y="365760"/>
            <a:ext cx="2788920" cy="310896"/>
          </a:xfrm>
          <a:prstGeom prst="roundRect">
            <a:avLst>
              <a:gd name="adj" fmla="val 50000"/>
            </a:avLst>
          </a:prstGeom>
          <a:solidFill>
            <a:srgbClr val="161F22"/>
          </a:solidFill>
          <a:ln w="12700">
            <a:solidFill>
              <a:srgbClr val="8E9C9B"/>
            </a:solidFill>
            <a:prstDash val="solid"/>
          </a:ln>
        </p:spPr>
      </p:sp>
      <p:sp>
        <p:nvSpPr>
          <p:cNvPr id="3" name="Text 1"/>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8E9C9B"/>
                </a:solidFill>
                <a:latin typeface="Calibri" pitchFamily="34" charset="0"/>
                <a:ea typeface="Calibri" pitchFamily="34" charset="-122"/>
                <a:cs typeface="Calibri" pitchFamily="34" charset="-120"/>
              </a:rPr>
              <a:t>EINFÜHRUNG</a:t>
            </a:r>
            <a:endParaRPr lang="en-US" sz="900" dirty="0"/>
          </a:p>
        </p:txBody>
      </p:sp>
      <p:sp>
        <p:nvSpPr>
          <p:cNvPr id="4" name="Text 2"/>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5" name="Text 3"/>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1</a:t>
            </a:r>
            <a:endParaRPr lang="en-US" sz="900" dirty="0"/>
          </a:p>
        </p:txBody>
      </p:sp>
      <p:pic>
        <p:nvPicPr>
          <p:cNvPr id="7" name="Image 0" descr="/tmp/claude-0/deck/img/logo.png">    </p:cNvPr>
          <p:cNvPicPr>
            <a:picLocks noChangeAspect="1"/>
          </p:cNvPicPr>
          <p:nvPr/>
        </p:nvPicPr>
        <p:blipFill>
          <a:blip r:embed="rId1"/>
          <a:stretch>
            <a:fillRect/>
          </a:stretch>
        </p:blipFill>
        <p:spPr>
          <a:xfrm>
            <a:off x="502920" y="1234440"/>
            <a:ext cx="1005840" cy="1005840"/>
          </a:xfrm>
          <a:prstGeom prst="rect">
            <a:avLst/>
          </a:prstGeom>
        </p:spPr>
      </p:pic>
      <p:sp>
        <p:nvSpPr>
          <p:cNvPr id="8" name="Text 4"/>
          <p:cNvSpPr txBox="1"/>
          <p:nvPr/>
        </p:nvSpPr>
        <p:spPr>
          <a:xfrm>
            <a:off x="1737360" y="1417320"/>
            <a:ext cx="5486400" cy="365760"/>
          </a:xfrm>
          <a:prstGeom prst="rect">
            <a:avLst/>
          </a:prstGeom>
          <a:noFill/>
          <a:ln/>
        </p:spPr>
        <p:txBody>
          <a:bodyPr wrap="square" lIns="0" tIns="0" rIns="0" bIns="0" rtlCol="0" anchor="t"/>
          <a:lstStyle/>
          <a:p>
            <a:pPr algn="l" indent="0" marL="0">
              <a:buNone/>
            </a:pPr>
            <a:r>
              <a:rPr lang="en-US" sz="1600" b="1" spc="400" kern="0" dirty="0">
                <a:solidFill>
                  <a:srgbClr val="DCB264"/>
                </a:solidFill>
                <a:latin typeface="Calibri" pitchFamily="34" charset="0"/>
                <a:ea typeface="Calibri" pitchFamily="34" charset="-122"/>
                <a:cs typeface="Calibri" pitchFamily="34" charset="-120"/>
              </a:rPr>
              <a:t>PE LEAGUES</a:t>
            </a:r>
            <a:endParaRPr lang="en-US" sz="1600" dirty="0"/>
          </a:p>
        </p:txBody>
      </p:sp>
      <p:sp>
        <p:nvSpPr>
          <p:cNvPr id="9" name="Text 5"/>
          <p:cNvSpPr txBox="1"/>
          <p:nvPr/>
        </p:nvSpPr>
        <p:spPr>
          <a:xfrm>
            <a:off x="502920" y="2377440"/>
            <a:ext cx="7680960" cy="2377440"/>
          </a:xfrm>
          <a:prstGeom prst="rect">
            <a:avLst/>
          </a:prstGeom>
          <a:noFill/>
          <a:ln/>
        </p:spPr>
        <p:txBody>
          <a:bodyPr wrap="square" lIns="0" tIns="0" rIns="0" bIns="0" rtlCol="0" anchor="t"/>
          <a:lstStyle/>
          <a:p>
            <a:pPr algn="l" indent="0" marL="0">
              <a:buNone/>
            </a:pPr>
            <a:r>
              <a:rPr lang="en-US" sz="4400" b="1" dirty="0">
                <a:solidFill>
                  <a:srgbClr val="EDF1EE"/>
                </a:solidFill>
                <a:latin typeface="Calibri" pitchFamily="34" charset="0"/>
                <a:ea typeface="Calibri" pitchFamily="34" charset="-122"/>
                <a:cs typeface="Calibri" pitchFamily="34" charset="-120"/>
              </a:rPr>
              <a:t>Private Equity –</a:t>
            </a:r>
            <a:endParaRPr lang="en-US" sz="4400" dirty="0"/>
          </a:p>
          <a:p>
            <a:pPr algn="l" indent="0" marL="0">
              <a:buNone/>
            </a:pPr>
            <a:r>
              <a:rPr lang="en-US" sz="4400" b="1" dirty="0">
                <a:solidFill>
                  <a:srgbClr val="EDF1EE"/>
                </a:solidFill>
                <a:latin typeface="Calibri" pitchFamily="34" charset="0"/>
                <a:ea typeface="Calibri" pitchFamily="34" charset="-122"/>
                <a:cs typeface="Calibri" pitchFamily="34" charset="-120"/>
              </a:rPr>
              <a:t>Einführung in das</a:t>
            </a:r>
            <a:endParaRPr lang="en-US" sz="4400" dirty="0"/>
          </a:p>
          <a:p>
            <a:pPr algn="l" indent="0" marL="0">
              <a:buNone/>
            </a:pPr>
            <a:r>
              <a:rPr lang="en-US" sz="4400" b="1" dirty="0">
                <a:solidFill>
                  <a:srgbClr val="EDF1EE"/>
                </a:solidFill>
                <a:latin typeface="Calibri" pitchFamily="34" charset="0"/>
                <a:ea typeface="Calibri" pitchFamily="34" charset="-122"/>
                <a:cs typeface="Calibri" pitchFamily="34" charset="-120"/>
              </a:rPr>
              <a:t>Simulationsmodell</a:t>
            </a:r>
            <a:endParaRPr lang="en-US" sz="4400" dirty="0"/>
          </a:p>
        </p:txBody>
      </p:sp>
      <p:sp>
        <p:nvSpPr>
          <p:cNvPr id="10" name="Text 6"/>
          <p:cNvSpPr txBox="1"/>
          <p:nvPr/>
        </p:nvSpPr>
        <p:spPr>
          <a:xfrm>
            <a:off x="502920" y="4892040"/>
            <a:ext cx="7498080" cy="731520"/>
          </a:xfrm>
          <a:prstGeom prst="rect">
            <a:avLst/>
          </a:prstGeom>
          <a:noFill/>
          <a:ln/>
        </p:spPr>
        <p:txBody>
          <a:bodyPr wrap="square" lIns="0" tIns="0" rIns="0" bIns="0" rtlCol="0" anchor="t"/>
          <a:lstStyle/>
          <a:p>
            <a:pPr algn="l" indent="0" marL="0">
              <a:buNone/>
            </a:pPr>
            <a:r>
              <a:rPr lang="en-US" sz="1800" dirty="0">
                <a:solidFill>
                  <a:srgbClr val="8E9C9B"/>
                </a:solidFill>
                <a:latin typeface="Calibri" pitchFamily="34" charset="0"/>
                <a:ea typeface="Calibri" pitchFamily="34" charset="-122"/>
                <a:cs typeface="Calibri" pitchFamily="34" charset="-120"/>
              </a:rPr>
              <a:t>Fund Economics · Deal Selection · Value Creation · Exit — und die Parameter dahinter</a:t>
            </a:r>
            <a:endParaRPr lang="en-US" sz="1800" dirty="0"/>
          </a:p>
        </p:txBody>
      </p:sp>
      <p:sp>
        <p:nvSpPr>
          <p:cNvPr id="11" name="Shape 7"/>
          <p:cNvSpPr/>
          <p:nvPr/>
        </p:nvSpPr>
        <p:spPr>
          <a:xfrm>
            <a:off x="8458200" y="1828800"/>
            <a:ext cx="1481328" cy="1481328"/>
          </a:xfrm>
          <a:prstGeom prst="roundRect">
            <a:avLst>
              <a:gd name="adj" fmla="val 4938"/>
            </a:avLst>
          </a:prstGeom>
          <a:solidFill>
            <a:srgbClr val="161F22"/>
          </a:solidFill>
          <a:ln w="12700">
            <a:solidFill>
              <a:srgbClr val="DCB264"/>
            </a:solidFill>
            <a:prstDash val="solid"/>
          </a:ln>
        </p:spPr>
      </p:sp>
      <p:pic>
        <p:nvPicPr>
          <p:cNvPr id="12" name="Image 1" descr="/tmp/claude-0/deck/img/i_fund_gold.png">    </p:cNvPr>
          <p:cNvPicPr>
            <a:picLocks noChangeAspect="1"/>
          </p:cNvPicPr>
          <p:nvPr/>
        </p:nvPicPr>
        <p:blipFill>
          <a:blip r:embed="rId2"/>
          <a:stretch>
            <a:fillRect/>
          </a:stretch>
        </p:blipFill>
        <p:spPr>
          <a:xfrm>
            <a:off x="8970264" y="2103120"/>
            <a:ext cx="457200" cy="457200"/>
          </a:xfrm>
          <a:prstGeom prst="rect">
            <a:avLst/>
          </a:prstGeom>
        </p:spPr>
      </p:pic>
      <p:sp>
        <p:nvSpPr>
          <p:cNvPr id="13" name="Text 8"/>
          <p:cNvSpPr txBox="1"/>
          <p:nvPr/>
        </p:nvSpPr>
        <p:spPr>
          <a:xfrm>
            <a:off x="8458200" y="2606040"/>
            <a:ext cx="1481328" cy="274320"/>
          </a:xfrm>
          <a:prstGeom prst="rect">
            <a:avLst/>
          </a:prstGeom>
          <a:noFill/>
          <a:ln/>
        </p:spPr>
        <p:txBody>
          <a:bodyPr wrap="square" lIns="0" tIns="0" rIns="0" bIns="0" rtlCol="0" anchor="t"/>
          <a:lstStyle/>
          <a:p>
            <a:pPr algn="ctr" indent="0" marL="0">
              <a:buNone/>
            </a:pPr>
            <a:r>
              <a:rPr lang="en-US" sz="1300" b="1" dirty="0">
                <a:solidFill>
                  <a:srgbClr val="DCB264"/>
                </a:solidFill>
                <a:latin typeface="Calibri" pitchFamily="34" charset="0"/>
                <a:ea typeface="Calibri" pitchFamily="34" charset="-122"/>
                <a:cs typeface="Calibri" pitchFamily="34" charset="-120"/>
              </a:rPr>
              <a:t>A</a:t>
            </a:r>
            <a:endParaRPr lang="en-US" sz="1300" dirty="0"/>
          </a:p>
        </p:txBody>
      </p:sp>
      <p:sp>
        <p:nvSpPr>
          <p:cNvPr id="14" name="Text 9"/>
          <p:cNvSpPr txBox="1"/>
          <p:nvPr/>
        </p:nvSpPr>
        <p:spPr>
          <a:xfrm>
            <a:off x="8458200" y="2852928"/>
            <a:ext cx="1481328" cy="274320"/>
          </a:xfrm>
          <a:prstGeom prst="rect">
            <a:avLst/>
          </a:prstGeom>
          <a:noFill/>
          <a:ln/>
        </p:spPr>
        <p:txBody>
          <a:bodyPr wrap="square" lIns="0" tIns="0" rIns="0" bIns="0" rtlCol="0" anchor="t"/>
          <a:lstStyle/>
          <a:p>
            <a:pPr algn="ctr" indent="0" marL="0">
              <a:buNone/>
            </a:pPr>
            <a:r>
              <a:rPr lang="en-US" sz="1100" dirty="0">
                <a:solidFill>
                  <a:srgbClr val="8E9C9B"/>
                </a:solidFill>
                <a:latin typeface="Calibri" pitchFamily="34" charset="0"/>
                <a:ea typeface="Calibri" pitchFamily="34" charset="-122"/>
                <a:cs typeface="Calibri" pitchFamily="34" charset="-120"/>
              </a:rPr>
              <a:t>Fund Economics</a:t>
            </a:r>
            <a:endParaRPr lang="en-US" sz="1100" dirty="0"/>
          </a:p>
        </p:txBody>
      </p:sp>
      <p:sp>
        <p:nvSpPr>
          <p:cNvPr id="15" name="Shape 10"/>
          <p:cNvSpPr/>
          <p:nvPr/>
        </p:nvSpPr>
        <p:spPr>
          <a:xfrm>
            <a:off x="10104120" y="1828800"/>
            <a:ext cx="1481328" cy="1481328"/>
          </a:xfrm>
          <a:prstGeom prst="roundRect">
            <a:avLst>
              <a:gd name="adj" fmla="val 4938"/>
            </a:avLst>
          </a:prstGeom>
          <a:solidFill>
            <a:srgbClr val="161F22"/>
          </a:solidFill>
          <a:ln w="12700">
            <a:solidFill>
              <a:srgbClr val="3B82F6"/>
            </a:solidFill>
            <a:prstDash val="solid"/>
          </a:ln>
        </p:spPr>
      </p:sp>
      <p:pic>
        <p:nvPicPr>
          <p:cNvPr id="16" name="Image 2" descr="/tmp/claude-0/deck/img/i_deal_blue.png">    </p:cNvPr>
          <p:cNvPicPr>
            <a:picLocks noChangeAspect="1"/>
          </p:cNvPicPr>
          <p:nvPr/>
        </p:nvPicPr>
        <p:blipFill>
          <a:blip r:embed="rId3"/>
          <a:stretch>
            <a:fillRect/>
          </a:stretch>
        </p:blipFill>
        <p:spPr>
          <a:xfrm>
            <a:off x="10616184" y="2103120"/>
            <a:ext cx="457200" cy="457200"/>
          </a:xfrm>
          <a:prstGeom prst="rect">
            <a:avLst/>
          </a:prstGeom>
        </p:spPr>
      </p:pic>
      <p:sp>
        <p:nvSpPr>
          <p:cNvPr id="17" name="Text 11"/>
          <p:cNvSpPr txBox="1"/>
          <p:nvPr/>
        </p:nvSpPr>
        <p:spPr>
          <a:xfrm>
            <a:off x="10104120" y="2606040"/>
            <a:ext cx="1481328" cy="274320"/>
          </a:xfrm>
          <a:prstGeom prst="rect">
            <a:avLst/>
          </a:prstGeom>
          <a:noFill/>
          <a:ln/>
        </p:spPr>
        <p:txBody>
          <a:bodyPr wrap="square" lIns="0" tIns="0" rIns="0" bIns="0" rtlCol="0" anchor="t"/>
          <a:lstStyle/>
          <a:p>
            <a:pPr algn="ctr" indent="0" marL="0">
              <a:buNone/>
            </a:pPr>
            <a:r>
              <a:rPr lang="en-US" sz="1300" b="1" dirty="0">
                <a:solidFill>
                  <a:srgbClr val="3B82F6"/>
                </a:solidFill>
                <a:latin typeface="Calibri" pitchFamily="34" charset="0"/>
                <a:ea typeface="Calibri" pitchFamily="34" charset="-122"/>
                <a:cs typeface="Calibri" pitchFamily="34" charset="-120"/>
              </a:rPr>
              <a:t>B</a:t>
            </a:r>
            <a:endParaRPr lang="en-US" sz="1300" dirty="0"/>
          </a:p>
        </p:txBody>
      </p:sp>
      <p:sp>
        <p:nvSpPr>
          <p:cNvPr id="18" name="Text 12"/>
          <p:cNvSpPr txBox="1"/>
          <p:nvPr/>
        </p:nvSpPr>
        <p:spPr>
          <a:xfrm>
            <a:off x="10104120" y="2852928"/>
            <a:ext cx="1481328" cy="274320"/>
          </a:xfrm>
          <a:prstGeom prst="rect">
            <a:avLst/>
          </a:prstGeom>
          <a:noFill/>
          <a:ln/>
        </p:spPr>
        <p:txBody>
          <a:bodyPr wrap="square" lIns="0" tIns="0" rIns="0" bIns="0" rtlCol="0" anchor="t"/>
          <a:lstStyle/>
          <a:p>
            <a:pPr algn="ctr" indent="0" marL="0">
              <a:buNone/>
            </a:pPr>
            <a:r>
              <a:rPr lang="en-US" sz="1100" dirty="0">
                <a:solidFill>
                  <a:srgbClr val="8E9C9B"/>
                </a:solidFill>
                <a:latin typeface="Calibri" pitchFamily="34" charset="0"/>
                <a:ea typeface="Calibri" pitchFamily="34" charset="-122"/>
                <a:cs typeface="Calibri" pitchFamily="34" charset="-120"/>
              </a:rPr>
              <a:t>Deal Selection</a:t>
            </a:r>
            <a:endParaRPr lang="en-US" sz="1100" dirty="0"/>
          </a:p>
        </p:txBody>
      </p:sp>
      <p:sp>
        <p:nvSpPr>
          <p:cNvPr id="19" name="Shape 13"/>
          <p:cNvSpPr/>
          <p:nvPr/>
        </p:nvSpPr>
        <p:spPr>
          <a:xfrm>
            <a:off x="8458200" y="3474720"/>
            <a:ext cx="1481328" cy="1481328"/>
          </a:xfrm>
          <a:prstGeom prst="roundRect">
            <a:avLst>
              <a:gd name="adj" fmla="val 4938"/>
            </a:avLst>
          </a:prstGeom>
          <a:solidFill>
            <a:srgbClr val="161F22"/>
          </a:solidFill>
          <a:ln w="12700">
            <a:solidFill>
              <a:srgbClr val="5FC4B1"/>
            </a:solidFill>
            <a:prstDash val="solid"/>
          </a:ln>
        </p:spPr>
      </p:sp>
      <p:pic>
        <p:nvPicPr>
          <p:cNvPr id="20" name="Image 3" descr="/tmp/claude-0/deck/img/i_vc_teal.png">    </p:cNvPr>
          <p:cNvPicPr>
            <a:picLocks noChangeAspect="1"/>
          </p:cNvPicPr>
          <p:nvPr/>
        </p:nvPicPr>
        <p:blipFill>
          <a:blip r:embed="rId4"/>
          <a:stretch>
            <a:fillRect/>
          </a:stretch>
        </p:blipFill>
        <p:spPr>
          <a:xfrm>
            <a:off x="8970264" y="3749040"/>
            <a:ext cx="457200" cy="457200"/>
          </a:xfrm>
          <a:prstGeom prst="rect">
            <a:avLst/>
          </a:prstGeom>
        </p:spPr>
      </p:pic>
      <p:sp>
        <p:nvSpPr>
          <p:cNvPr id="21" name="Text 14"/>
          <p:cNvSpPr txBox="1"/>
          <p:nvPr/>
        </p:nvSpPr>
        <p:spPr>
          <a:xfrm>
            <a:off x="8458200" y="4251960"/>
            <a:ext cx="1481328" cy="274320"/>
          </a:xfrm>
          <a:prstGeom prst="rect">
            <a:avLst/>
          </a:prstGeom>
          <a:noFill/>
          <a:ln/>
        </p:spPr>
        <p:txBody>
          <a:bodyPr wrap="square" lIns="0" tIns="0" rIns="0" bIns="0" rtlCol="0" anchor="t"/>
          <a:lstStyle/>
          <a:p>
            <a:pPr algn="ctr" indent="0" marL="0">
              <a:buNone/>
            </a:pPr>
            <a:r>
              <a:rPr lang="en-US" sz="1300" b="1" dirty="0">
                <a:solidFill>
                  <a:srgbClr val="5FC4B1"/>
                </a:solidFill>
                <a:latin typeface="Calibri" pitchFamily="34" charset="0"/>
                <a:ea typeface="Calibri" pitchFamily="34" charset="-122"/>
                <a:cs typeface="Calibri" pitchFamily="34" charset="-120"/>
              </a:rPr>
              <a:t>C</a:t>
            </a:r>
            <a:endParaRPr lang="en-US" sz="1300" dirty="0"/>
          </a:p>
        </p:txBody>
      </p:sp>
      <p:sp>
        <p:nvSpPr>
          <p:cNvPr id="22" name="Text 15"/>
          <p:cNvSpPr txBox="1"/>
          <p:nvPr/>
        </p:nvSpPr>
        <p:spPr>
          <a:xfrm>
            <a:off x="8458200" y="4498848"/>
            <a:ext cx="1481328" cy="274320"/>
          </a:xfrm>
          <a:prstGeom prst="rect">
            <a:avLst/>
          </a:prstGeom>
          <a:noFill/>
          <a:ln/>
        </p:spPr>
        <p:txBody>
          <a:bodyPr wrap="square" lIns="0" tIns="0" rIns="0" bIns="0" rtlCol="0" anchor="t"/>
          <a:lstStyle/>
          <a:p>
            <a:pPr algn="ctr" indent="0" marL="0">
              <a:buNone/>
            </a:pPr>
            <a:r>
              <a:rPr lang="en-US" sz="1100" dirty="0">
                <a:solidFill>
                  <a:srgbClr val="8E9C9B"/>
                </a:solidFill>
                <a:latin typeface="Calibri" pitchFamily="34" charset="0"/>
                <a:ea typeface="Calibri" pitchFamily="34" charset="-122"/>
                <a:cs typeface="Calibri" pitchFamily="34" charset="-120"/>
              </a:rPr>
              <a:t>Value Creation</a:t>
            </a:r>
            <a:endParaRPr lang="en-US" sz="1100" dirty="0"/>
          </a:p>
        </p:txBody>
      </p:sp>
      <p:sp>
        <p:nvSpPr>
          <p:cNvPr id="23" name="Shape 16"/>
          <p:cNvSpPr/>
          <p:nvPr/>
        </p:nvSpPr>
        <p:spPr>
          <a:xfrm>
            <a:off x="10104120" y="3474720"/>
            <a:ext cx="1481328" cy="1481328"/>
          </a:xfrm>
          <a:prstGeom prst="roundRect">
            <a:avLst>
              <a:gd name="adj" fmla="val 4938"/>
            </a:avLst>
          </a:prstGeom>
          <a:solidFill>
            <a:srgbClr val="161F22"/>
          </a:solidFill>
          <a:ln w="12700">
            <a:solidFill>
              <a:srgbClr val="D9538E"/>
            </a:solidFill>
            <a:prstDash val="solid"/>
          </a:ln>
        </p:spPr>
      </p:sp>
      <p:pic>
        <p:nvPicPr>
          <p:cNvPr id="24" name="Image 4" descr="/tmp/claude-0/deck/img/i_exit_rose.png">    </p:cNvPr>
          <p:cNvPicPr>
            <a:picLocks noChangeAspect="1"/>
          </p:cNvPicPr>
          <p:nvPr/>
        </p:nvPicPr>
        <p:blipFill>
          <a:blip r:embed="rId5"/>
          <a:stretch>
            <a:fillRect/>
          </a:stretch>
        </p:blipFill>
        <p:spPr>
          <a:xfrm>
            <a:off x="10616184" y="3749040"/>
            <a:ext cx="457200" cy="457200"/>
          </a:xfrm>
          <a:prstGeom prst="rect">
            <a:avLst/>
          </a:prstGeom>
        </p:spPr>
      </p:pic>
      <p:sp>
        <p:nvSpPr>
          <p:cNvPr id="25" name="Text 17"/>
          <p:cNvSpPr txBox="1"/>
          <p:nvPr/>
        </p:nvSpPr>
        <p:spPr>
          <a:xfrm>
            <a:off x="10104120" y="4251960"/>
            <a:ext cx="1481328" cy="274320"/>
          </a:xfrm>
          <a:prstGeom prst="rect">
            <a:avLst/>
          </a:prstGeom>
          <a:noFill/>
          <a:ln/>
        </p:spPr>
        <p:txBody>
          <a:bodyPr wrap="square" lIns="0" tIns="0" rIns="0" bIns="0" rtlCol="0" anchor="t"/>
          <a:lstStyle/>
          <a:p>
            <a:pPr algn="ctr" indent="0" marL="0">
              <a:buNone/>
            </a:pPr>
            <a:r>
              <a:rPr lang="en-US" sz="1300" b="1" dirty="0">
                <a:solidFill>
                  <a:srgbClr val="D9538E"/>
                </a:solidFill>
                <a:latin typeface="Calibri" pitchFamily="34" charset="0"/>
                <a:ea typeface="Calibri" pitchFamily="34" charset="-122"/>
                <a:cs typeface="Calibri" pitchFamily="34" charset="-120"/>
              </a:rPr>
              <a:t>D</a:t>
            </a:r>
            <a:endParaRPr lang="en-US" sz="1300" dirty="0"/>
          </a:p>
        </p:txBody>
      </p:sp>
      <p:sp>
        <p:nvSpPr>
          <p:cNvPr id="26" name="Text 18"/>
          <p:cNvSpPr txBox="1"/>
          <p:nvPr/>
        </p:nvSpPr>
        <p:spPr>
          <a:xfrm>
            <a:off x="10104120" y="4498848"/>
            <a:ext cx="1481328" cy="274320"/>
          </a:xfrm>
          <a:prstGeom prst="rect">
            <a:avLst/>
          </a:prstGeom>
          <a:noFill/>
          <a:ln/>
        </p:spPr>
        <p:txBody>
          <a:bodyPr wrap="square" lIns="0" tIns="0" rIns="0" bIns="0" rtlCol="0" anchor="t"/>
          <a:lstStyle/>
          <a:p>
            <a:pPr algn="ctr" indent="0" marL="0">
              <a:buNone/>
            </a:pPr>
            <a:r>
              <a:rPr lang="en-US" sz="1100" dirty="0">
                <a:solidFill>
                  <a:srgbClr val="8E9C9B"/>
                </a:solidFill>
                <a:latin typeface="Calibri" pitchFamily="34" charset="0"/>
                <a:ea typeface="Calibri" pitchFamily="34" charset="-122"/>
                <a:cs typeface="Calibri" pitchFamily="34" charset="-120"/>
              </a:rPr>
              <a:t>Exit</a:t>
            </a:r>
            <a:endParaRPr lang="en-US" sz="1100" dirty="0"/>
          </a:p>
        </p:txBody>
      </p:sp>
      <p:sp>
        <p:nvSpPr>
          <p:cNvPr id="27" name="Text 19"/>
          <p:cNvSpPr txBox="1"/>
          <p:nvPr/>
        </p:nvSpPr>
        <p:spPr>
          <a:xfrm>
            <a:off x="8458200" y="5257800"/>
            <a:ext cx="3200400" cy="457200"/>
          </a:xfrm>
          <a:prstGeom prst="rect">
            <a:avLst/>
          </a:prstGeom>
          <a:noFill/>
          <a:ln/>
        </p:spPr>
        <p:txBody>
          <a:bodyPr wrap="square" lIns="0" tIns="0" rIns="0" bIns="0" rtlCol="0" anchor="t"/>
          <a:lstStyle/>
          <a:p>
            <a:pPr algn="ctr" indent="0" marL="0">
              <a:buNone/>
            </a:pPr>
            <a:r>
              <a:rPr lang="en-US" sz="1050" dirty="0">
                <a:solidFill>
                  <a:srgbClr val="8E9C9B"/>
                </a:solidFill>
                <a:latin typeface="Calibri" pitchFamily="34" charset="0"/>
                <a:ea typeface="Calibri" pitchFamily="34" charset="-122"/>
                <a:cs typeface="Calibri" pitchFamily="34" charset="-120"/>
              </a:rPr>
              <a:t>500 Mio. € Commitment. Invest. Build. Exit. Outperform.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8E9C9B"/>
                </a:solidFill>
                <a:latin typeface="Calibri" pitchFamily="34" charset="0"/>
                <a:ea typeface="Calibri" pitchFamily="34" charset="-122"/>
                <a:cs typeface="Calibri" pitchFamily="34" charset="-120"/>
              </a:rPr>
              <a:t>ÜBERBLICK</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Lernziele und Agenda</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8E9C9B"/>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8E9C9B"/>
                </a:solidFill>
                <a:latin typeface="Calibri" pitchFamily="34" charset="0"/>
                <a:ea typeface="Calibri" pitchFamily="34" charset="-122"/>
                <a:cs typeface="Calibri" pitchFamily="34" charset="-120"/>
              </a:rPr>
              <a:t>EINFÜHRUNG</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2</a:t>
            </a:r>
            <a:endParaRPr lang="en-US" sz="900" dirty="0"/>
          </a:p>
        </p:txBody>
      </p:sp>
      <p:sp>
        <p:nvSpPr>
          <p:cNvPr id="9" name="Text 6"/>
          <p:cNvSpPr txBox="1"/>
          <p:nvPr/>
        </p:nvSpPr>
        <p:spPr>
          <a:xfrm>
            <a:off x="502920" y="1600200"/>
            <a:ext cx="5029200" cy="228600"/>
          </a:xfrm>
          <a:prstGeom prst="rect">
            <a:avLst/>
          </a:prstGeom>
          <a:noFill/>
          <a:ln/>
        </p:spPr>
        <p:txBody>
          <a:bodyPr wrap="square" lIns="0" tIns="0" rIns="0" bIns="0" rtlCol="0" anchor="t"/>
          <a:lstStyle/>
          <a:p>
            <a:pPr algn="l" indent="0" marL="0">
              <a:buNone/>
            </a:pPr>
            <a:r>
              <a:rPr lang="en-US" sz="1000" b="1" spc="150" kern="0" dirty="0">
                <a:solidFill>
                  <a:srgbClr val="DCB264"/>
                </a:solidFill>
                <a:latin typeface="Calibri" pitchFamily="34" charset="0"/>
                <a:ea typeface="Calibri" pitchFamily="34" charset="-122"/>
                <a:cs typeface="Calibri" pitchFamily="34" charset="-120"/>
              </a:rPr>
              <a:t>NACH DIESER EINHEIT KANNST DU …</a:t>
            </a:r>
            <a:endParaRPr lang="en-US" sz="1000" dirty="0"/>
          </a:p>
        </p:txBody>
      </p:sp>
      <p:sp>
        <p:nvSpPr>
          <p:cNvPr id="10" name="Text 7"/>
          <p:cNvSpPr txBox="1"/>
          <p:nvPr/>
        </p:nvSpPr>
        <p:spPr>
          <a:xfrm>
            <a:off x="502920" y="1920240"/>
            <a:ext cx="5120640" cy="3840480"/>
          </a:xfrm>
          <a:prstGeom prst="rect">
            <a:avLst/>
          </a:prstGeom>
          <a:noFill/>
          <a:ln/>
        </p:spPr>
        <p:txBody>
          <a:bodyPr wrap="square" lIns="0" tIns="0" rIns="0" bIns="0" rtlCol="0" anchor="t"/>
          <a:lstStyle/>
          <a:p>
            <a:pPr marL="177800" indent="-177800">
              <a:spcAft>
                <a:spcPts val="1200"/>
              </a:spcAft>
              <a:buSzPct val="100000"/>
              <a:buChar char="•"/>
            </a:pPr>
            <a:r>
              <a:rPr lang="en-US" sz="1500" b="1" dirty="0">
                <a:solidFill>
                  <a:srgbClr val="DCB264"/>
                </a:solidFill>
                <a:latin typeface="Calibri" pitchFamily="34" charset="0"/>
                <a:ea typeface="Calibri" pitchFamily="34" charset="-122"/>
                <a:cs typeface="Calibri" pitchFamily="34" charset="-120"/>
              </a:rPr>
              <a:t>erklären, </a:t>
            </a:r>
            <a:pPr indent="0" marL="0">
              <a:buNone/>
            </a:pPr>
            <a:r>
              <a:rPr lang="en-US" sz="1500" dirty="0">
                <a:solidFill>
                  <a:srgbClr val="EDF1EE"/>
                </a:solidFill>
                <a:latin typeface="Calibri" pitchFamily="34" charset="0"/>
                <a:ea typeface="Calibri" pitchFamily="34" charset="-122"/>
                <a:cs typeface="Calibri" pitchFamily="34" charset="-120"/>
              </a:rPr>
              <a:t>wie TVCC, TVPI, IRR, DPI und Carry zusammenhängen und warum ein Fonds diese Kennzahlen braucht.</a:t>
            </a:r>
            <a:endParaRPr lang="en-US" sz="1500" dirty="0"/>
          </a:p>
          <a:p>
            <a:pPr marL="177800" indent="-177800">
              <a:spcAft>
                <a:spcPts val="1200"/>
              </a:spcAft>
              <a:buSzPct val="100000"/>
              <a:buChar char="•"/>
            </a:pPr>
            <a:r>
              <a:rPr lang="en-US" sz="1500" b="1" dirty="0">
                <a:solidFill>
                  <a:srgbClr val="DCB264"/>
                </a:solidFill>
                <a:latin typeface="Calibri" pitchFamily="34" charset="0"/>
                <a:ea typeface="Calibri" pitchFamily="34" charset="-122"/>
                <a:cs typeface="Calibri" pitchFamily="34" charset="-120"/>
              </a:rPr>
              <a:t>begründen, </a:t>
            </a:r>
            <a:pPr indent="0" marL="0">
              <a:buNone/>
            </a:pPr>
            <a:r>
              <a:rPr lang="en-US" sz="1500" dirty="0">
                <a:solidFill>
                  <a:srgbClr val="EDF1EE"/>
                </a:solidFill>
                <a:latin typeface="Calibri" pitchFamily="34" charset="0"/>
                <a:ea typeface="Calibri" pitchFamily="34" charset="-122"/>
                <a:cs typeface="Calibri" pitchFamily="34" charset="-120"/>
              </a:rPr>
              <a:t>warum Preis, Leverage und Due Diligence über die Rendite eines Deals mitentscheiden.</a:t>
            </a:r>
            <a:endParaRPr lang="en-US" sz="1500" dirty="0"/>
          </a:p>
          <a:p>
            <a:pPr marL="177800" indent="-177800">
              <a:spcAft>
                <a:spcPts val="1200"/>
              </a:spcAft>
              <a:buSzPct val="100000"/>
              <a:buChar char="•"/>
            </a:pPr>
            <a:r>
              <a:rPr lang="en-US" sz="1500" b="1" dirty="0">
                <a:solidFill>
                  <a:srgbClr val="DCB264"/>
                </a:solidFill>
                <a:latin typeface="Calibri" pitchFamily="34" charset="0"/>
                <a:ea typeface="Calibri" pitchFamily="34" charset="-122"/>
                <a:cs typeface="Calibri" pitchFamily="34" charset="-120"/>
              </a:rPr>
              <a:t>zerlegen, </a:t>
            </a:r>
            <a:pPr indent="0" marL="0">
              <a:buNone/>
            </a:pPr>
            <a:r>
              <a:rPr lang="en-US" sz="1500" dirty="0">
                <a:solidFill>
                  <a:srgbClr val="EDF1EE"/>
                </a:solidFill>
                <a:latin typeface="Calibri" pitchFamily="34" charset="0"/>
                <a:ea typeface="Calibri" pitchFamily="34" charset="-122"/>
                <a:cs typeface="Calibri" pitchFamily="34" charset="-120"/>
              </a:rPr>
              <a:t>woher Wert entsteht: EBITDA-Wachstum, Multiple-Veränderung und Entschuldung.</a:t>
            </a:r>
            <a:endParaRPr lang="en-US" sz="1500" dirty="0"/>
          </a:p>
          <a:p>
            <a:pPr marL="177800" indent="-177800">
              <a:spcAft>
                <a:spcPts val="1200"/>
              </a:spcAft>
              <a:buSzPct val="100000"/>
              <a:buChar char="•"/>
            </a:pPr>
            <a:r>
              <a:rPr lang="en-US" sz="1500" b="1" dirty="0">
                <a:solidFill>
                  <a:srgbClr val="DCB264"/>
                </a:solidFill>
                <a:latin typeface="Calibri" pitchFamily="34" charset="0"/>
                <a:ea typeface="Calibri" pitchFamily="34" charset="-122"/>
                <a:cs typeface="Calibri" pitchFamily="34" charset="-120"/>
              </a:rPr>
              <a:t>abwägen, </a:t>
            </a:r>
            <a:pPr indent="0" marL="0">
              <a:buNone/>
            </a:pPr>
            <a:r>
              <a:rPr lang="en-US" sz="1500" dirty="0">
                <a:solidFill>
                  <a:srgbClr val="EDF1EE"/>
                </a:solidFill>
                <a:latin typeface="Calibri" pitchFamily="34" charset="0"/>
                <a:ea typeface="Calibri" pitchFamily="34" charset="-122"/>
                <a:cs typeface="Calibri" pitchFamily="34" charset="-120"/>
              </a:rPr>
              <a:t>wann und über welchen Weg ein Asset verkauft werden sollte.</a:t>
            </a:r>
            <a:endParaRPr lang="en-US" sz="1500" dirty="0"/>
          </a:p>
        </p:txBody>
      </p:sp>
      <p:sp>
        <p:nvSpPr>
          <p:cNvPr id="11" name="Shape 8"/>
          <p:cNvSpPr/>
          <p:nvPr/>
        </p:nvSpPr>
        <p:spPr>
          <a:xfrm>
            <a:off x="6172200" y="1600200"/>
            <a:ext cx="5513832" cy="786384"/>
          </a:xfrm>
          <a:prstGeom prst="roundRect">
            <a:avLst>
              <a:gd name="adj" fmla="val 9302"/>
            </a:avLst>
          </a:prstGeom>
          <a:solidFill>
            <a:srgbClr val="161F22"/>
          </a:solidFill>
          <a:ln w="9525">
            <a:solidFill>
              <a:srgbClr val="243033"/>
            </a:solidFill>
            <a:prstDash val="solid"/>
          </a:ln>
        </p:spPr>
      </p:sp>
      <p:sp>
        <p:nvSpPr>
          <p:cNvPr id="12" name="Shape 9"/>
          <p:cNvSpPr/>
          <p:nvPr/>
        </p:nvSpPr>
        <p:spPr>
          <a:xfrm>
            <a:off x="6355080" y="1737360"/>
            <a:ext cx="512064" cy="512064"/>
          </a:xfrm>
          <a:prstGeom prst="ellipse">
            <a:avLst/>
          </a:prstGeom>
          <a:solidFill>
            <a:srgbClr val="1C282B"/>
          </a:solidFill>
          <a:ln w="12700">
            <a:solidFill>
              <a:srgbClr val="DCB264"/>
            </a:solidFill>
            <a:prstDash val="solid"/>
          </a:ln>
        </p:spPr>
      </p:sp>
      <p:pic>
        <p:nvPicPr>
          <p:cNvPr id="13" name="Image 0" descr="/tmp/claude-0/deck/img/i_fund_gold.png">    </p:cNvPr>
          <p:cNvPicPr>
            <a:picLocks noChangeAspect="1"/>
          </p:cNvPicPr>
          <p:nvPr/>
        </p:nvPicPr>
        <p:blipFill>
          <a:blip r:embed="rId1"/>
          <a:stretch>
            <a:fillRect/>
          </a:stretch>
        </p:blipFill>
        <p:spPr>
          <a:xfrm>
            <a:off x="6477975" y="1860255"/>
            <a:ext cx="266273" cy="266273"/>
          </a:xfrm>
          <a:prstGeom prst="rect">
            <a:avLst/>
          </a:prstGeom>
        </p:spPr>
      </p:pic>
      <p:sp>
        <p:nvSpPr>
          <p:cNvPr id="14" name="Text 10"/>
          <p:cNvSpPr txBox="1"/>
          <p:nvPr/>
        </p:nvSpPr>
        <p:spPr>
          <a:xfrm>
            <a:off x="7086600" y="1709928"/>
            <a:ext cx="3566160" cy="329184"/>
          </a:xfrm>
          <a:prstGeom prst="rect">
            <a:avLst/>
          </a:prstGeom>
          <a:noFill/>
          <a:ln/>
        </p:spPr>
        <p:txBody>
          <a:bodyPr wrap="square" lIns="0" tIns="0" rIns="0" bIns="0" rtlCol="0" anchor="t"/>
          <a:lstStyle/>
          <a:p>
            <a:pPr algn="l" indent="0" marL="0">
              <a:buNone/>
            </a:pPr>
            <a:r>
              <a:rPr lang="en-US" sz="1600" b="1" dirty="0">
                <a:solidFill>
                  <a:srgbClr val="EDF1EE"/>
                </a:solidFill>
                <a:latin typeface="Calibri" pitchFamily="34" charset="0"/>
                <a:ea typeface="Calibri" pitchFamily="34" charset="-122"/>
                <a:cs typeface="Calibri" pitchFamily="34" charset="-120"/>
              </a:rPr>
              <a:t>A · Fund Economics</a:t>
            </a:r>
            <a:endParaRPr lang="en-US" sz="1600" dirty="0"/>
          </a:p>
        </p:txBody>
      </p:sp>
      <p:sp>
        <p:nvSpPr>
          <p:cNvPr id="15" name="Text 11"/>
          <p:cNvSpPr txBox="1"/>
          <p:nvPr/>
        </p:nvSpPr>
        <p:spPr>
          <a:xfrm>
            <a:off x="7086600" y="2039112"/>
            <a:ext cx="3566160" cy="274320"/>
          </a:xfrm>
          <a:prstGeom prst="rect">
            <a:avLst/>
          </a:prstGeom>
          <a:noFill/>
          <a:ln/>
        </p:spPr>
        <p:txBody>
          <a:bodyPr wrap="square" lIns="0" tIns="0" rIns="0" bIns="0" rtlCol="0" anchor="t"/>
          <a:lstStyle/>
          <a:p>
            <a:pPr algn="l" indent="0" marL="0">
              <a:buNone/>
            </a:pPr>
            <a:r>
              <a:rPr lang="en-US" sz="1100" dirty="0">
                <a:solidFill>
                  <a:srgbClr val="8E9C9B"/>
                </a:solidFill>
                <a:latin typeface="Calibri" pitchFamily="34" charset="0"/>
                <a:ea typeface="Calibri" pitchFamily="34" charset="-122"/>
                <a:cs typeface="Calibri" pitchFamily="34" charset="-120"/>
              </a:rPr>
              <a:t>Folien 5–11</a:t>
            </a:r>
            <a:endParaRPr lang="en-US" sz="1100" dirty="0"/>
          </a:p>
        </p:txBody>
      </p:sp>
      <p:sp>
        <p:nvSpPr>
          <p:cNvPr id="16" name="Shape 12"/>
          <p:cNvSpPr/>
          <p:nvPr/>
        </p:nvSpPr>
        <p:spPr>
          <a:xfrm>
            <a:off x="11201400" y="1901952"/>
            <a:ext cx="182880" cy="182880"/>
          </a:xfrm>
          <a:prstGeom prst="roundRect">
            <a:avLst>
              <a:gd name="adj" fmla="val 50000"/>
            </a:avLst>
          </a:prstGeom>
          <a:solidFill>
            <a:srgbClr val="DCB264"/>
          </a:solidFill>
          <a:ln/>
        </p:spPr>
      </p:sp>
      <p:sp>
        <p:nvSpPr>
          <p:cNvPr id="17" name="Shape 13"/>
          <p:cNvSpPr/>
          <p:nvPr/>
        </p:nvSpPr>
        <p:spPr>
          <a:xfrm>
            <a:off x="6172200" y="2532888"/>
            <a:ext cx="5513832" cy="786384"/>
          </a:xfrm>
          <a:prstGeom prst="roundRect">
            <a:avLst>
              <a:gd name="adj" fmla="val 9302"/>
            </a:avLst>
          </a:prstGeom>
          <a:solidFill>
            <a:srgbClr val="161F22"/>
          </a:solidFill>
          <a:ln w="9525">
            <a:solidFill>
              <a:srgbClr val="243033"/>
            </a:solidFill>
            <a:prstDash val="solid"/>
          </a:ln>
        </p:spPr>
      </p:sp>
      <p:sp>
        <p:nvSpPr>
          <p:cNvPr id="18" name="Shape 14"/>
          <p:cNvSpPr/>
          <p:nvPr/>
        </p:nvSpPr>
        <p:spPr>
          <a:xfrm>
            <a:off x="6355080" y="2670048"/>
            <a:ext cx="512064" cy="512064"/>
          </a:xfrm>
          <a:prstGeom prst="ellipse">
            <a:avLst/>
          </a:prstGeom>
          <a:solidFill>
            <a:srgbClr val="1C282B"/>
          </a:solidFill>
          <a:ln w="12700">
            <a:solidFill>
              <a:srgbClr val="3B82F6"/>
            </a:solidFill>
            <a:prstDash val="solid"/>
          </a:ln>
        </p:spPr>
      </p:sp>
      <p:pic>
        <p:nvPicPr>
          <p:cNvPr id="19" name="Image 1" descr="/tmp/claude-0/deck/img/i_deal_blue.png">    </p:cNvPr>
          <p:cNvPicPr>
            <a:picLocks noChangeAspect="1"/>
          </p:cNvPicPr>
          <p:nvPr/>
        </p:nvPicPr>
        <p:blipFill>
          <a:blip r:embed="rId2"/>
          <a:stretch>
            <a:fillRect/>
          </a:stretch>
        </p:blipFill>
        <p:spPr>
          <a:xfrm>
            <a:off x="6477975" y="2792943"/>
            <a:ext cx="266273" cy="266273"/>
          </a:xfrm>
          <a:prstGeom prst="rect">
            <a:avLst/>
          </a:prstGeom>
        </p:spPr>
      </p:pic>
      <p:sp>
        <p:nvSpPr>
          <p:cNvPr id="20" name="Text 15"/>
          <p:cNvSpPr txBox="1"/>
          <p:nvPr/>
        </p:nvSpPr>
        <p:spPr>
          <a:xfrm>
            <a:off x="7086600" y="2642616"/>
            <a:ext cx="3566160" cy="329184"/>
          </a:xfrm>
          <a:prstGeom prst="rect">
            <a:avLst/>
          </a:prstGeom>
          <a:noFill/>
          <a:ln/>
        </p:spPr>
        <p:txBody>
          <a:bodyPr wrap="square" lIns="0" tIns="0" rIns="0" bIns="0" rtlCol="0" anchor="t"/>
          <a:lstStyle/>
          <a:p>
            <a:pPr algn="l" indent="0" marL="0">
              <a:buNone/>
            </a:pPr>
            <a:r>
              <a:rPr lang="en-US" sz="1600" b="1" dirty="0">
                <a:solidFill>
                  <a:srgbClr val="EDF1EE"/>
                </a:solidFill>
                <a:latin typeface="Calibri" pitchFamily="34" charset="0"/>
                <a:ea typeface="Calibri" pitchFamily="34" charset="-122"/>
                <a:cs typeface="Calibri" pitchFamily="34" charset="-120"/>
              </a:rPr>
              <a:t>B · Deal Selection &amp; Execution</a:t>
            </a:r>
            <a:endParaRPr lang="en-US" sz="1600" dirty="0"/>
          </a:p>
        </p:txBody>
      </p:sp>
      <p:sp>
        <p:nvSpPr>
          <p:cNvPr id="21" name="Text 16"/>
          <p:cNvSpPr txBox="1"/>
          <p:nvPr/>
        </p:nvSpPr>
        <p:spPr>
          <a:xfrm>
            <a:off x="7086600" y="2971800"/>
            <a:ext cx="3566160" cy="274320"/>
          </a:xfrm>
          <a:prstGeom prst="rect">
            <a:avLst/>
          </a:prstGeom>
          <a:noFill/>
          <a:ln/>
        </p:spPr>
        <p:txBody>
          <a:bodyPr wrap="square" lIns="0" tIns="0" rIns="0" bIns="0" rtlCol="0" anchor="t"/>
          <a:lstStyle/>
          <a:p>
            <a:pPr algn="l" indent="0" marL="0">
              <a:buNone/>
            </a:pPr>
            <a:r>
              <a:rPr lang="en-US" sz="1100" dirty="0">
                <a:solidFill>
                  <a:srgbClr val="8E9C9B"/>
                </a:solidFill>
                <a:latin typeface="Calibri" pitchFamily="34" charset="0"/>
                <a:ea typeface="Calibri" pitchFamily="34" charset="-122"/>
                <a:cs typeface="Calibri" pitchFamily="34" charset="-120"/>
              </a:rPr>
              <a:t>Folien 12–21</a:t>
            </a:r>
            <a:endParaRPr lang="en-US" sz="1100" dirty="0"/>
          </a:p>
        </p:txBody>
      </p:sp>
      <p:sp>
        <p:nvSpPr>
          <p:cNvPr id="22" name="Shape 17"/>
          <p:cNvSpPr/>
          <p:nvPr/>
        </p:nvSpPr>
        <p:spPr>
          <a:xfrm>
            <a:off x="11201400" y="2834640"/>
            <a:ext cx="182880" cy="182880"/>
          </a:xfrm>
          <a:prstGeom prst="roundRect">
            <a:avLst>
              <a:gd name="adj" fmla="val 50000"/>
            </a:avLst>
          </a:prstGeom>
          <a:solidFill>
            <a:srgbClr val="3B82F6"/>
          </a:solidFill>
          <a:ln/>
        </p:spPr>
      </p:sp>
      <p:sp>
        <p:nvSpPr>
          <p:cNvPr id="23" name="Shape 18"/>
          <p:cNvSpPr/>
          <p:nvPr/>
        </p:nvSpPr>
        <p:spPr>
          <a:xfrm>
            <a:off x="6172200" y="3465576"/>
            <a:ext cx="5513832" cy="786384"/>
          </a:xfrm>
          <a:prstGeom prst="roundRect">
            <a:avLst>
              <a:gd name="adj" fmla="val 9302"/>
            </a:avLst>
          </a:prstGeom>
          <a:solidFill>
            <a:srgbClr val="161F22"/>
          </a:solidFill>
          <a:ln w="9525">
            <a:solidFill>
              <a:srgbClr val="243033"/>
            </a:solidFill>
            <a:prstDash val="solid"/>
          </a:ln>
        </p:spPr>
      </p:sp>
      <p:sp>
        <p:nvSpPr>
          <p:cNvPr id="24" name="Shape 19"/>
          <p:cNvSpPr/>
          <p:nvPr/>
        </p:nvSpPr>
        <p:spPr>
          <a:xfrm>
            <a:off x="6355080" y="3602736"/>
            <a:ext cx="512064" cy="512064"/>
          </a:xfrm>
          <a:prstGeom prst="ellipse">
            <a:avLst/>
          </a:prstGeom>
          <a:solidFill>
            <a:srgbClr val="1C282B"/>
          </a:solidFill>
          <a:ln w="12700">
            <a:solidFill>
              <a:srgbClr val="5FC4B1"/>
            </a:solidFill>
            <a:prstDash val="solid"/>
          </a:ln>
        </p:spPr>
      </p:sp>
      <p:pic>
        <p:nvPicPr>
          <p:cNvPr id="25" name="Image 2" descr="/tmp/claude-0/deck/img/i_vc_teal.png">    </p:cNvPr>
          <p:cNvPicPr>
            <a:picLocks noChangeAspect="1"/>
          </p:cNvPicPr>
          <p:nvPr/>
        </p:nvPicPr>
        <p:blipFill>
          <a:blip r:embed="rId3"/>
          <a:stretch>
            <a:fillRect/>
          </a:stretch>
        </p:blipFill>
        <p:spPr>
          <a:xfrm>
            <a:off x="6477975" y="3725631"/>
            <a:ext cx="266273" cy="266273"/>
          </a:xfrm>
          <a:prstGeom prst="rect">
            <a:avLst/>
          </a:prstGeom>
        </p:spPr>
      </p:pic>
      <p:sp>
        <p:nvSpPr>
          <p:cNvPr id="26" name="Text 20"/>
          <p:cNvSpPr txBox="1"/>
          <p:nvPr/>
        </p:nvSpPr>
        <p:spPr>
          <a:xfrm>
            <a:off x="7086600" y="3575304"/>
            <a:ext cx="3566160" cy="329184"/>
          </a:xfrm>
          <a:prstGeom prst="rect">
            <a:avLst/>
          </a:prstGeom>
          <a:noFill/>
          <a:ln/>
        </p:spPr>
        <p:txBody>
          <a:bodyPr wrap="square" lIns="0" tIns="0" rIns="0" bIns="0" rtlCol="0" anchor="t"/>
          <a:lstStyle/>
          <a:p>
            <a:pPr algn="l" indent="0" marL="0">
              <a:buNone/>
            </a:pPr>
            <a:r>
              <a:rPr lang="en-US" sz="1600" b="1" dirty="0">
                <a:solidFill>
                  <a:srgbClr val="EDF1EE"/>
                </a:solidFill>
                <a:latin typeface="Calibri" pitchFamily="34" charset="0"/>
                <a:ea typeface="Calibri" pitchFamily="34" charset="-122"/>
                <a:cs typeface="Calibri" pitchFamily="34" charset="-120"/>
              </a:rPr>
              <a:t>C · Value Creation</a:t>
            </a:r>
            <a:endParaRPr lang="en-US" sz="1600" dirty="0"/>
          </a:p>
        </p:txBody>
      </p:sp>
      <p:sp>
        <p:nvSpPr>
          <p:cNvPr id="27" name="Text 21"/>
          <p:cNvSpPr txBox="1"/>
          <p:nvPr/>
        </p:nvSpPr>
        <p:spPr>
          <a:xfrm>
            <a:off x="7086600" y="3904488"/>
            <a:ext cx="3566160" cy="274320"/>
          </a:xfrm>
          <a:prstGeom prst="rect">
            <a:avLst/>
          </a:prstGeom>
          <a:noFill/>
          <a:ln/>
        </p:spPr>
        <p:txBody>
          <a:bodyPr wrap="square" lIns="0" tIns="0" rIns="0" bIns="0" rtlCol="0" anchor="t"/>
          <a:lstStyle/>
          <a:p>
            <a:pPr algn="l" indent="0" marL="0">
              <a:buNone/>
            </a:pPr>
            <a:r>
              <a:rPr lang="en-US" sz="1100" dirty="0">
                <a:solidFill>
                  <a:srgbClr val="8E9C9B"/>
                </a:solidFill>
                <a:latin typeface="Calibri" pitchFamily="34" charset="0"/>
                <a:ea typeface="Calibri" pitchFamily="34" charset="-122"/>
                <a:cs typeface="Calibri" pitchFamily="34" charset="-120"/>
              </a:rPr>
              <a:t>Folien 22–33</a:t>
            </a:r>
            <a:endParaRPr lang="en-US" sz="1100" dirty="0"/>
          </a:p>
        </p:txBody>
      </p:sp>
      <p:sp>
        <p:nvSpPr>
          <p:cNvPr id="28" name="Shape 22"/>
          <p:cNvSpPr/>
          <p:nvPr/>
        </p:nvSpPr>
        <p:spPr>
          <a:xfrm>
            <a:off x="11201400" y="3767328"/>
            <a:ext cx="182880" cy="182880"/>
          </a:xfrm>
          <a:prstGeom prst="roundRect">
            <a:avLst>
              <a:gd name="adj" fmla="val 50000"/>
            </a:avLst>
          </a:prstGeom>
          <a:solidFill>
            <a:srgbClr val="5FC4B1"/>
          </a:solidFill>
          <a:ln/>
        </p:spPr>
      </p:sp>
      <p:sp>
        <p:nvSpPr>
          <p:cNvPr id="29" name="Shape 23"/>
          <p:cNvSpPr/>
          <p:nvPr/>
        </p:nvSpPr>
        <p:spPr>
          <a:xfrm>
            <a:off x="6172200" y="4398264"/>
            <a:ext cx="5513832" cy="786384"/>
          </a:xfrm>
          <a:prstGeom prst="roundRect">
            <a:avLst>
              <a:gd name="adj" fmla="val 9302"/>
            </a:avLst>
          </a:prstGeom>
          <a:solidFill>
            <a:srgbClr val="161F22"/>
          </a:solidFill>
          <a:ln w="9525">
            <a:solidFill>
              <a:srgbClr val="243033"/>
            </a:solidFill>
            <a:prstDash val="solid"/>
          </a:ln>
        </p:spPr>
      </p:sp>
      <p:sp>
        <p:nvSpPr>
          <p:cNvPr id="30" name="Shape 24"/>
          <p:cNvSpPr/>
          <p:nvPr/>
        </p:nvSpPr>
        <p:spPr>
          <a:xfrm>
            <a:off x="6355080" y="4535424"/>
            <a:ext cx="512064" cy="512064"/>
          </a:xfrm>
          <a:prstGeom prst="ellipse">
            <a:avLst/>
          </a:prstGeom>
          <a:solidFill>
            <a:srgbClr val="1C282B"/>
          </a:solidFill>
          <a:ln w="12700">
            <a:solidFill>
              <a:srgbClr val="D9538E"/>
            </a:solidFill>
            <a:prstDash val="solid"/>
          </a:ln>
        </p:spPr>
      </p:sp>
      <p:pic>
        <p:nvPicPr>
          <p:cNvPr id="31" name="Image 3" descr="/tmp/claude-0/deck/img/i_exit_rose.png">    </p:cNvPr>
          <p:cNvPicPr>
            <a:picLocks noChangeAspect="1"/>
          </p:cNvPicPr>
          <p:nvPr/>
        </p:nvPicPr>
        <p:blipFill>
          <a:blip r:embed="rId4"/>
          <a:stretch>
            <a:fillRect/>
          </a:stretch>
        </p:blipFill>
        <p:spPr>
          <a:xfrm>
            <a:off x="6477975" y="4658319"/>
            <a:ext cx="266273" cy="266273"/>
          </a:xfrm>
          <a:prstGeom prst="rect">
            <a:avLst/>
          </a:prstGeom>
        </p:spPr>
      </p:pic>
      <p:sp>
        <p:nvSpPr>
          <p:cNvPr id="32" name="Text 25"/>
          <p:cNvSpPr txBox="1"/>
          <p:nvPr/>
        </p:nvSpPr>
        <p:spPr>
          <a:xfrm>
            <a:off x="7086600" y="4507992"/>
            <a:ext cx="3566160" cy="329184"/>
          </a:xfrm>
          <a:prstGeom prst="rect">
            <a:avLst/>
          </a:prstGeom>
          <a:noFill/>
          <a:ln/>
        </p:spPr>
        <p:txBody>
          <a:bodyPr wrap="square" lIns="0" tIns="0" rIns="0" bIns="0" rtlCol="0" anchor="t"/>
          <a:lstStyle/>
          <a:p>
            <a:pPr algn="l" indent="0" marL="0">
              <a:buNone/>
            </a:pPr>
            <a:r>
              <a:rPr lang="en-US" sz="1600" b="1" dirty="0">
                <a:solidFill>
                  <a:srgbClr val="EDF1EE"/>
                </a:solidFill>
                <a:latin typeface="Calibri" pitchFamily="34" charset="0"/>
                <a:ea typeface="Calibri" pitchFamily="34" charset="-122"/>
                <a:cs typeface="Calibri" pitchFamily="34" charset="-120"/>
              </a:rPr>
              <a:t>D · Exit</a:t>
            </a:r>
            <a:endParaRPr lang="en-US" sz="1600" dirty="0"/>
          </a:p>
        </p:txBody>
      </p:sp>
      <p:sp>
        <p:nvSpPr>
          <p:cNvPr id="33" name="Text 26"/>
          <p:cNvSpPr txBox="1"/>
          <p:nvPr/>
        </p:nvSpPr>
        <p:spPr>
          <a:xfrm>
            <a:off x="7086600" y="4837176"/>
            <a:ext cx="3566160" cy="274320"/>
          </a:xfrm>
          <a:prstGeom prst="rect">
            <a:avLst/>
          </a:prstGeom>
          <a:noFill/>
          <a:ln/>
        </p:spPr>
        <p:txBody>
          <a:bodyPr wrap="square" lIns="0" tIns="0" rIns="0" bIns="0" rtlCol="0" anchor="t"/>
          <a:lstStyle/>
          <a:p>
            <a:pPr algn="l" indent="0" marL="0">
              <a:buNone/>
            </a:pPr>
            <a:r>
              <a:rPr lang="en-US" sz="1100" dirty="0">
                <a:solidFill>
                  <a:srgbClr val="8E9C9B"/>
                </a:solidFill>
                <a:latin typeface="Calibri" pitchFamily="34" charset="0"/>
                <a:ea typeface="Calibri" pitchFamily="34" charset="-122"/>
                <a:cs typeface="Calibri" pitchFamily="34" charset="-120"/>
              </a:rPr>
              <a:t>Folien 34–39</a:t>
            </a:r>
            <a:endParaRPr lang="en-US" sz="1100" dirty="0"/>
          </a:p>
        </p:txBody>
      </p:sp>
      <p:sp>
        <p:nvSpPr>
          <p:cNvPr id="34" name="Shape 27"/>
          <p:cNvSpPr/>
          <p:nvPr/>
        </p:nvSpPr>
        <p:spPr>
          <a:xfrm>
            <a:off x="11201400" y="4700016"/>
            <a:ext cx="182880" cy="182880"/>
          </a:xfrm>
          <a:prstGeom prst="roundRect">
            <a:avLst>
              <a:gd name="adj" fmla="val 50000"/>
            </a:avLst>
          </a:prstGeom>
          <a:solidFill>
            <a:srgbClr val="D9538E"/>
          </a:solidFill>
          <a:ln/>
        </p:spPr>
      </p:sp>
      <p:sp>
        <p:nvSpPr>
          <p:cNvPr id="35" name="Shape 28"/>
          <p:cNvSpPr/>
          <p:nvPr/>
        </p:nvSpPr>
        <p:spPr>
          <a:xfrm>
            <a:off x="6172200" y="5330952"/>
            <a:ext cx="5513832" cy="786384"/>
          </a:xfrm>
          <a:prstGeom prst="roundRect">
            <a:avLst>
              <a:gd name="adj" fmla="val 9302"/>
            </a:avLst>
          </a:prstGeom>
          <a:solidFill>
            <a:srgbClr val="161F22"/>
          </a:solidFill>
          <a:ln w="9525">
            <a:solidFill>
              <a:srgbClr val="243033"/>
            </a:solidFill>
            <a:prstDash val="solid"/>
          </a:ln>
        </p:spPr>
      </p:sp>
      <p:sp>
        <p:nvSpPr>
          <p:cNvPr id="36" name="Shape 29"/>
          <p:cNvSpPr/>
          <p:nvPr/>
        </p:nvSpPr>
        <p:spPr>
          <a:xfrm>
            <a:off x="6355080" y="5468112"/>
            <a:ext cx="512064" cy="512064"/>
          </a:xfrm>
          <a:prstGeom prst="ellipse">
            <a:avLst/>
          </a:prstGeom>
          <a:solidFill>
            <a:srgbClr val="1C282B"/>
          </a:solidFill>
          <a:ln w="12700">
            <a:solidFill>
              <a:srgbClr val="8E9C9B"/>
            </a:solidFill>
            <a:prstDash val="solid"/>
          </a:ln>
        </p:spPr>
      </p:sp>
      <p:pic>
        <p:nvPicPr>
          <p:cNvPr id="37" name="Image 4" descr="/tmp/claude-0/deck/img/i_sitemap_ink.png">    </p:cNvPr>
          <p:cNvPicPr>
            <a:picLocks noChangeAspect="1"/>
          </p:cNvPicPr>
          <p:nvPr/>
        </p:nvPicPr>
        <p:blipFill>
          <a:blip r:embed="rId5"/>
          <a:stretch>
            <a:fillRect/>
          </a:stretch>
        </p:blipFill>
        <p:spPr>
          <a:xfrm>
            <a:off x="6477975" y="5591007"/>
            <a:ext cx="266273" cy="266273"/>
          </a:xfrm>
          <a:prstGeom prst="rect">
            <a:avLst/>
          </a:prstGeom>
        </p:spPr>
      </p:pic>
      <p:sp>
        <p:nvSpPr>
          <p:cNvPr id="38" name="Text 30"/>
          <p:cNvSpPr txBox="1"/>
          <p:nvPr/>
        </p:nvSpPr>
        <p:spPr>
          <a:xfrm>
            <a:off x="7086600" y="5440680"/>
            <a:ext cx="3566160" cy="329184"/>
          </a:xfrm>
          <a:prstGeom prst="rect">
            <a:avLst/>
          </a:prstGeom>
          <a:noFill/>
          <a:ln/>
        </p:spPr>
        <p:txBody>
          <a:bodyPr wrap="square" lIns="0" tIns="0" rIns="0" bIns="0" rtlCol="0" anchor="t"/>
          <a:lstStyle/>
          <a:p>
            <a:pPr algn="l" indent="0" marL="0">
              <a:buNone/>
            </a:pPr>
            <a:r>
              <a:rPr lang="en-US" sz="1600" b="1" dirty="0">
                <a:solidFill>
                  <a:srgbClr val="EDF1EE"/>
                </a:solidFill>
                <a:latin typeface="Calibri" pitchFamily="34" charset="0"/>
                <a:ea typeface="Calibri" pitchFamily="34" charset="-122"/>
                <a:cs typeface="Calibri" pitchFamily="34" charset="-120"/>
              </a:rPr>
              <a:t>Synthese, Grenzen, Glossar</a:t>
            </a:r>
            <a:endParaRPr lang="en-US" sz="1600" dirty="0"/>
          </a:p>
        </p:txBody>
      </p:sp>
      <p:sp>
        <p:nvSpPr>
          <p:cNvPr id="39" name="Text 31"/>
          <p:cNvSpPr txBox="1"/>
          <p:nvPr/>
        </p:nvSpPr>
        <p:spPr>
          <a:xfrm>
            <a:off x="7086600" y="5769864"/>
            <a:ext cx="3566160" cy="274320"/>
          </a:xfrm>
          <a:prstGeom prst="rect">
            <a:avLst/>
          </a:prstGeom>
          <a:noFill/>
          <a:ln/>
        </p:spPr>
        <p:txBody>
          <a:bodyPr wrap="square" lIns="0" tIns="0" rIns="0" bIns="0" rtlCol="0" anchor="t"/>
          <a:lstStyle/>
          <a:p>
            <a:pPr algn="l" indent="0" marL="0">
              <a:buNone/>
            </a:pPr>
            <a:r>
              <a:rPr lang="en-US" sz="1100" dirty="0">
                <a:solidFill>
                  <a:srgbClr val="8E9C9B"/>
                </a:solidFill>
                <a:latin typeface="Calibri" pitchFamily="34" charset="0"/>
                <a:ea typeface="Calibri" pitchFamily="34" charset="-122"/>
                <a:cs typeface="Calibri" pitchFamily="34" charset="-120"/>
              </a:rPr>
              <a:t>Folien 40–42</a:t>
            </a:r>
            <a:endParaRPr lang="en-US" sz="1100" dirty="0"/>
          </a:p>
        </p:txBody>
      </p:sp>
      <p:sp>
        <p:nvSpPr>
          <p:cNvPr id="40" name="Shape 32"/>
          <p:cNvSpPr/>
          <p:nvPr/>
        </p:nvSpPr>
        <p:spPr>
          <a:xfrm>
            <a:off x="11201400" y="5632704"/>
            <a:ext cx="182880" cy="182880"/>
          </a:xfrm>
          <a:prstGeom prst="roundRect">
            <a:avLst>
              <a:gd name="adj" fmla="val 50000"/>
            </a:avLst>
          </a:prstGeom>
          <a:solidFill>
            <a:srgbClr val="8E9C9B"/>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8E9C9B"/>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Das Spiel in einer Folie</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8E9C9B"/>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8E9C9B"/>
                </a:solidFill>
                <a:latin typeface="Calibri" pitchFamily="34" charset="0"/>
                <a:ea typeface="Calibri" pitchFamily="34" charset="-122"/>
                <a:cs typeface="Calibri" pitchFamily="34" charset="-120"/>
              </a:rPr>
              <a:t>EINFÜHRUNG</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3</a:t>
            </a:r>
            <a:endParaRPr lang="en-US" sz="900" dirty="0"/>
          </a:p>
        </p:txBody>
      </p:sp>
      <p:sp>
        <p:nvSpPr>
          <p:cNvPr id="9" name="Shape 6"/>
          <p:cNvSpPr/>
          <p:nvPr/>
        </p:nvSpPr>
        <p:spPr>
          <a:xfrm>
            <a:off x="502920" y="1508760"/>
            <a:ext cx="2659304" cy="658368"/>
          </a:xfrm>
          <a:prstGeom prst="roundRect">
            <a:avLst>
              <a:gd name="adj" fmla="val 11111"/>
            </a:avLst>
          </a:prstGeom>
          <a:solidFill>
            <a:srgbClr val="161F22"/>
          </a:solidFill>
          <a:ln w="9525">
            <a:solidFill>
              <a:srgbClr val="243033"/>
            </a:solidFill>
            <a:prstDash val="solid"/>
          </a:ln>
        </p:spPr>
      </p:sp>
      <p:sp>
        <p:nvSpPr>
          <p:cNvPr id="10" name="Text 7"/>
          <p:cNvSpPr txBox="1"/>
          <p:nvPr/>
        </p:nvSpPr>
        <p:spPr>
          <a:xfrm>
            <a:off x="667512" y="1508760"/>
            <a:ext cx="822960" cy="658368"/>
          </a:xfrm>
          <a:prstGeom prst="rect">
            <a:avLst/>
          </a:prstGeom>
          <a:noFill/>
          <a:ln/>
        </p:spPr>
        <p:txBody>
          <a:bodyPr wrap="square" lIns="0" tIns="0" rIns="0" bIns="0" rtlCol="0" anchor="ctr"/>
          <a:lstStyle/>
          <a:p>
            <a:pPr algn="l" indent="0" marL="0">
              <a:buNone/>
            </a:pPr>
            <a:r>
              <a:rPr lang="en-US" sz="2600" b="1" dirty="0">
                <a:solidFill>
                  <a:srgbClr val="DCB264"/>
                </a:solidFill>
                <a:latin typeface="Calibri" pitchFamily="34" charset="0"/>
                <a:ea typeface="Calibri" pitchFamily="34" charset="-122"/>
                <a:cs typeface="Calibri" pitchFamily="34" charset="-120"/>
              </a:rPr>
              <a:t>500</a:t>
            </a:r>
            <a:endParaRPr lang="en-US" sz="2600" dirty="0"/>
          </a:p>
        </p:txBody>
      </p:sp>
      <p:sp>
        <p:nvSpPr>
          <p:cNvPr id="11" name="Text 8"/>
          <p:cNvSpPr txBox="1"/>
          <p:nvPr/>
        </p:nvSpPr>
        <p:spPr>
          <a:xfrm>
            <a:off x="1463040" y="1508760"/>
            <a:ext cx="1607744" cy="658368"/>
          </a:xfrm>
          <a:prstGeom prst="rect">
            <a:avLst/>
          </a:prstGeom>
          <a:noFill/>
          <a:ln/>
        </p:spPr>
        <p:txBody>
          <a:bodyPr wrap="square" lIns="0" tIns="0" rIns="0" bIns="0" rtlCol="0" anchor="ctr"/>
          <a:lstStyle/>
          <a:p>
            <a:pPr algn="l" indent="0" marL="0">
              <a:buNone/>
            </a:pPr>
            <a:r>
              <a:rPr lang="en-US" sz="1150" dirty="0">
                <a:solidFill>
                  <a:srgbClr val="8E9C9B"/>
                </a:solidFill>
                <a:latin typeface="Calibri" pitchFamily="34" charset="0"/>
                <a:ea typeface="Calibri" pitchFamily="34" charset="-122"/>
                <a:cs typeface="Calibri" pitchFamily="34" charset="-120"/>
              </a:rPr>
              <a:t>Mio. € Commitment je Fonds</a:t>
            </a:r>
            <a:endParaRPr lang="en-US" sz="1150" dirty="0"/>
          </a:p>
        </p:txBody>
      </p:sp>
      <p:sp>
        <p:nvSpPr>
          <p:cNvPr id="12" name="Shape 9"/>
          <p:cNvSpPr/>
          <p:nvPr/>
        </p:nvSpPr>
        <p:spPr>
          <a:xfrm>
            <a:off x="3345104" y="1508760"/>
            <a:ext cx="2659304" cy="658368"/>
          </a:xfrm>
          <a:prstGeom prst="roundRect">
            <a:avLst>
              <a:gd name="adj" fmla="val 11111"/>
            </a:avLst>
          </a:prstGeom>
          <a:solidFill>
            <a:srgbClr val="161F22"/>
          </a:solidFill>
          <a:ln w="9525">
            <a:solidFill>
              <a:srgbClr val="243033"/>
            </a:solidFill>
            <a:prstDash val="solid"/>
          </a:ln>
        </p:spPr>
      </p:sp>
      <p:sp>
        <p:nvSpPr>
          <p:cNvPr id="13" name="Text 10"/>
          <p:cNvSpPr txBox="1"/>
          <p:nvPr/>
        </p:nvSpPr>
        <p:spPr>
          <a:xfrm>
            <a:off x="3509696" y="1508760"/>
            <a:ext cx="822960" cy="658368"/>
          </a:xfrm>
          <a:prstGeom prst="rect">
            <a:avLst/>
          </a:prstGeom>
          <a:noFill/>
          <a:ln/>
        </p:spPr>
        <p:txBody>
          <a:bodyPr wrap="square" lIns="0" tIns="0" rIns="0" bIns="0" rtlCol="0" anchor="ctr"/>
          <a:lstStyle/>
          <a:p>
            <a:pPr algn="l" indent="0" marL="0">
              <a:buNone/>
            </a:pPr>
            <a:r>
              <a:rPr lang="en-US" sz="2600" b="1" dirty="0">
                <a:solidFill>
                  <a:srgbClr val="5FC4B1"/>
                </a:solidFill>
                <a:latin typeface="Calibri" pitchFamily="34" charset="0"/>
                <a:ea typeface="Calibri" pitchFamily="34" charset="-122"/>
                <a:cs typeface="Calibri" pitchFamily="34" charset="-120"/>
              </a:rPr>
              <a:t>20</a:t>
            </a:r>
            <a:endParaRPr lang="en-US" sz="2600" dirty="0"/>
          </a:p>
        </p:txBody>
      </p:sp>
      <p:sp>
        <p:nvSpPr>
          <p:cNvPr id="14" name="Text 11"/>
          <p:cNvSpPr txBox="1"/>
          <p:nvPr/>
        </p:nvSpPr>
        <p:spPr>
          <a:xfrm>
            <a:off x="4305224" y="1508760"/>
            <a:ext cx="1607744" cy="658368"/>
          </a:xfrm>
          <a:prstGeom prst="rect">
            <a:avLst/>
          </a:prstGeom>
          <a:noFill/>
          <a:ln/>
        </p:spPr>
        <p:txBody>
          <a:bodyPr wrap="square" lIns="0" tIns="0" rIns="0" bIns="0" rtlCol="0" anchor="ctr"/>
          <a:lstStyle/>
          <a:p>
            <a:pPr algn="l" indent="0" marL="0">
              <a:buNone/>
            </a:pPr>
            <a:r>
              <a:rPr lang="en-US" sz="1150" dirty="0">
                <a:solidFill>
                  <a:srgbClr val="8E9C9B"/>
                </a:solidFill>
                <a:latin typeface="Calibri" pitchFamily="34" charset="0"/>
                <a:ea typeface="Calibri" pitchFamily="34" charset="-122"/>
                <a:cs typeface="Calibri" pitchFamily="34" charset="-120"/>
              </a:rPr>
              <a:t>Runden = Halbjahre = 10 Jahre</a:t>
            </a:r>
            <a:endParaRPr lang="en-US" sz="1150" dirty="0"/>
          </a:p>
        </p:txBody>
      </p:sp>
      <p:sp>
        <p:nvSpPr>
          <p:cNvPr id="15" name="Shape 12"/>
          <p:cNvSpPr/>
          <p:nvPr/>
        </p:nvSpPr>
        <p:spPr>
          <a:xfrm>
            <a:off x="6187288" y="1508760"/>
            <a:ext cx="2659304" cy="658368"/>
          </a:xfrm>
          <a:prstGeom prst="roundRect">
            <a:avLst>
              <a:gd name="adj" fmla="val 11111"/>
            </a:avLst>
          </a:prstGeom>
          <a:solidFill>
            <a:srgbClr val="161F22"/>
          </a:solidFill>
          <a:ln w="9525">
            <a:solidFill>
              <a:srgbClr val="243033"/>
            </a:solidFill>
            <a:prstDash val="solid"/>
          </a:ln>
        </p:spPr>
      </p:sp>
      <p:sp>
        <p:nvSpPr>
          <p:cNvPr id="16" name="Text 13"/>
          <p:cNvSpPr txBox="1"/>
          <p:nvPr/>
        </p:nvSpPr>
        <p:spPr>
          <a:xfrm>
            <a:off x="6351880" y="1508760"/>
            <a:ext cx="822960" cy="658368"/>
          </a:xfrm>
          <a:prstGeom prst="rect">
            <a:avLst/>
          </a:prstGeom>
          <a:noFill/>
          <a:ln/>
        </p:spPr>
        <p:txBody>
          <a:bodyPr wrap="square" lIns="0" tIns="0" rIns="0" bIns="0" rtlCol="0" anchor="ctr"/>
          <a:lstStyle/>
          <a:p>
            <a:pPr algn="l" indent="0" marL="0">
              <a:buNone/>
            </a:pPr>
            <a:r>
              <a:rPr lang="en-US" sz="2600" b="1" dirty="0">
                <a:solidFill>
                  <a:srgbClr val="3B82F6"/>
                </a:solidFill>
                <a:latin typeface="Calibri" pitchFamily="34" charset="0"/>
                <a:ea typeface="Calibri" pitchFamily="34" charset="-122"/>
                <a:cs typeface="Calibri" pitchFamily="34" charset="-120"/>
              </a:rPr>
              <a:t>5</a:t>
            </a:r>
            <a:endParaRPr lang="en-US" sz="2600" dirty="0"/>
          </a:p>
        </p:txBody>
      </p:sp>
      <p:sp>
        <p:nvSpPr>
          <p:cNvPr id="17" name="Text 14"/>
          <p:cNvSpPr txBox="1"/>
          <p:nvPr/>
        </p:nvSpPr>
        <p:spPr>
          <a:xfrm>
            <a:off x="7147408" y="1508760"/>
            <a:ext cx="1607744" cy="658368"/>
          </a:xfrm>
          <a:prstGeom prst="rect">
            <a:avLst/>
          </a:prstGeom>
          <a:noFill/>
          <a:ln/>
        </p:spPr>
        <p:txBody>
          <a:bodyPr wrap="square" lIns="0" tIns="0" rIns="0" bIns="0" rtlCol="0" anchor="ctr"/>
          <a:lstStyle/>
          <a:p>
            <a:pPr algn="l" indent="0" marL="0">
              <a:buNone/>
            </a:pPr>
            <a:r>
              <a:rPr lang="en-US" sz="1150" dirty="0">
                <a:solidFill>
                  <a:srgbClr val="8E9C9B"/>
                </a:solidFill>
                <a:latin typeface="Calibri" pitchFamily="34" charset="0"/>
                <a:ea typeface="Calibri" pitchFamily="34" charset="-122"/>
                <a:cs typeface="Calibri" pitchFamily="34" charset="-120"/>
              </a:rPr>
              <a:t>Fonds im Wettbewerb (davon KI)</a:t>
            </a:r>
            <a:endParaRPr lang="en-US" sz="1150" dirty="0"/>
          </a:p>
        </p:txBody>
      </p:sp>
      <p:sp>
        <p:nvSpPr>
          <p:cNvPr id="18" name="Shape 15"/>
          <p:cNvSpPr/>
          <p:nvPr/>
        </p:nvSpPr>
        <p:spPr>
          <a:xfrm>
            <a:off x="9029471" y="1508760"/>
            <a:ext cx="2659304" cy="658368"/>
          </a:xfrm>
          <a:prstGeom prst="roundRect">
            <a:avLst>
              <a:gd name="adj" fmla="val 11111"/>
            </a:avLst>
          </a:prstGeom>
          <a:solidFill>
            <a:srgbClr val="161F22"/>
          </a:solidFill>
          <a:ln w="9525">
            <a:solidFill>
              <a:srgbClr val="243033"/>
            </a:solidFill>
            <a:prstDash val="solid"/>
          </a:ln>
        </p:spPr>
      </p:sp>
      <p:sp>
        <p:nvSpPr>
          <p:cNvPr id="19" name="Text 16"/>
          <p:cNvSpPr txBox="1"/>
          <p:nvPr/>
        </p:nvSpPr>
        <p:spPr>
          <a:xfrm>
            <a:off x="9194063" y="1508760"/>
            <a:ext cx="822960" cy="658368"/>
          </a:xfrm>
          <a:prstGeom prst="rect">
            <a:avLst/>
          </a:prstGeom>
          <a:noFill/>
          <a:ln/>
        </p:spPr>
        <p:txBody>
          <a:bodyPr wrap="square" lIns="0" tIns="0" rIns="0" bIns="0" rtlCol="0" anchor="ctr"/>
          <a:lstStyle/>
          <a:p>
            <a:pPr algn="l" indent="0" marL="0">
              <a:buNone/>
            </a:pPr>
            <a:r>
              <a:rPr lang="en-US" sz="2600" b="1" dirty="0">
                <a:solidFill>
                  <a:srgbClr val="D9538E"/>
                </a:solidFill>
                <a:latin typeface="Calibri" pitchFamily="34" charset="0"/>
                <a:ea typeface="Calibri" pitchFamily="34" charset="-122"/>
                <a:cs typeface="Calibri" pitchFamily="34" charset="-120"/>
              </a:rPr>
              <a:t>6</a:t>
            </a:r>
            <a:endParaRPr lang="en-US" sz="2600" dirty="0"/>
          </a:p>
        </p:txBody>
      </p:sp>
      <p:sp>
        <p:nvSpPr>
          <p:cNvPr id="20" name="Text 17"/>
          <p:cNvSpPr txBox="1"/>
          <p:nvPr/>
        </p:nvSpPr>
        <p:spPr>
          <a:xfrm>
            <a:off x="9989591" y="1508760"/>
            <a:ext cx="1607744" cy="658368"/>
          </a:xfrm>
          <a:prstGeom prst="rect">
            <a:avLst/>
          </a:prstGeom>
          <a:noFill/>
          <a:ln/>
        </p:spPr>
        <p:txBody>
          <a:bodyPr wrap="square" lIns="0" tIns="0" rIns="0" bIns="0" rtlCol="0" anchor="ctr"/>
          <a:lstStyle/>
          <a:p>
            <a:pPr algn="l" indent="0" marL="0">
              <a:buNone/>
            </a:pPr>
            <a:r>
              <a:rPr lang="en-US" sz="1150" dirty="0">
                <a:solidFill>
                  <a:srgbClr val="8E9C9B"/>
                </a:solidFill>
                <a:latin typeface="Calibri" pitchFamily="34" charset="0"/>
                <a:ea typeface="Calibri" pitchFamily="34" charset="-122"/>
                <a:cs typeface="Calibri" pitchFamily="34" charset="-120"/>
              </a:rPr>
              <a:t>Beteiligungen gleichzeitig max.</a:t>
            </a:r>
            <a:endParaRPr lang="en-US" sz="1150" dirty="0"/>
          </a:p>
        </p:txBody>
      </p:sp>
      <p:sp>
        <p:nvSpPr>
          <p:cNvPr id="21" name="Text 18"/>
          <p:cNvSpPr txBox="1"/>
          <p:nvPr/>
        </p:nvSpPr>
        <p:spPr>
          <a:xfrm>
            <a:off x="502920" y="2377440"/>
            <a:ext cx="7315200" cy="228600"/>
          </a:xfrm>
          <a:prstGeom prst="rect">
            <a:avLst/>
          </a:prstGeom>
          <a:noFill/>
          <a:ln/>
        </p:spPr>
        <p:txBody>
          <a:bodyPr wrap="square" lIns="0" tIns="0" rIns="0" bIns="0" rtlCol="0" anchor="t"/>
          <a:lstStyle/>
          <a:p>
            <a:pPr algn="l" indent="0" marL="0">
              <a:buNone/>
            </a:pPr>
            <a:r>
              <a:rPr lang="en-US" sz="1000" b="1" spc="150" kern="0" dirty="0">
                <a:solidFill>
                  <a:srgbClr val="DCB264"/>
                </a:solidFill>
                <a:latin typeface="Calibri" pitchFamily="34" charset="0"/>
                <a:ea typeface="Calibri" pitchFamily="34" charset="-122"/>
                <a:cs typeface="Calibri" pitchFamily="34" charset="-120"/>
              </a:rPr>
              <a:t>IN JEDER RUNDE ENTSCHEIDEST DU IN DREI FELDERN</a:t>
            </a:r>
            <a:endParaRPr lang="en-US" sz="1000" dirty="0"/>
          </a:p>
        </p:txBody>
      </p:sp>
      <p:sp>
        <p:nvSpPr>
          <p:cNvPr id="22" name="Shape 19"/>
          <p:cNvSpPr/>
          <p:nvPr/>
        </p:nvSpPr>
        <p:spPr>
          <a:xfrm>
            <a:off x="502920" y="2697480"/>
            <a:ext cx="3496970" cy="2514600"/>
          </a:xfrm>
          <a:prstGeom prst="roundRect">
            <a:avLst>
              <a:gd name="adj" fmla="val 2909"/>
            </a:avLst>
          </a:prstGeom>
          <a:solidFill>
            <a:srgbClr val="161F22"/>
          </a:solidFill>
          <a:ln w="15875">
            <a:solidFill>
              <a:srgbClr val="3B82F6"/>
            </a:solidFill>
            <a:prstDash val="solid"/>
          </a:ln>
        </p:spPr>
      </p:sp>
      <p:sp>
        <p:nvSpPr>
          <p:cNvPr id="23" name="Shape 20"/>
          <p:cNvSpPr/>
          <p:nvPr/>
        </p:nvSpPr>
        <p:spPr>
          <a:xfrm>
            <a:off x="685800" y="2862072"/>
            <a:ext cx="548640" cy="548640"/>
          </a:xfrm>
          <a:prstGeom prst="ellipse">
            <a:avLst/>
          </a:prstGeom>
          <a:solidFill>
            <a:srgbClr val="1C282B"/>
          </a:solidFill>
          <a:ln w="12700">
            <a:solidFill>
              <a:srgbClr val="3B82F6"/>
            </a:solidFill>
            <a:prstDash val="solid"/>
          </a:ln>
        </p:spPr>
      </p:sp>
      <p:pic>
        <p:nvPicPr>
          <p:cNvPr id="24" name="Image 0" descr="/tmp/claude-0/deck/img/i_deal_blue.png">    </p:cNvPr>
          <p:cNvPicPr>
            <a:picLocks noChangeAspect="1"/>
          </p:cNvPicPr>
          <p:nvPr/>
        </p:nvPicPr>
        <p:blipFill>
          <a:blip r:embed="rId1"/>
          <a:stretch>
            <a:fillRect/>
          </a:stretch>
        </p:blipFill>
        <p:spPr>
          <a:xfrm>
            <a:off x="817474" y="2993746"/>
            <a:ext cx="285293" cy="285293"/>
          </a:xfrm>
          <a:prstGeom prst="rect">
            <a:avLst/>
          </a:prstGeom>
        </p:spPr>
      </p:pic>
      <p:sp>
        <p:nvSpPr>
          <p:cNvPr id="25" name="Text 21"/>
          <p:cNvSpPr txBox="1"/>
          <p:nvPr/>
        </p:nvSpPr>
        <p:spPr>
          <a:xfrm>
            <a:off x="1371600" y="2843784"/>
            <a:ext cx="2491130" cy="329184"/>
          </a:xfrm>
          <a:prstGeom prst="rect">
            <a:avLst/>
          </a:prstGeom>
          <a:noFill/>
          <a:ln/>
        </p:spPr>
        <p:txBody>
          <a:bodyPr wrap="square" lIns="0" tIns="0" rIns="0" bIns="0" rtlCol="0" anchor="t"/>
          <a:lstStyle/>
          <a:p>
            <a:pPr algn="l" indent="0" marL="0">
              <a:buNone/>
            </a:pPr>
            <a:r>
              <a:rPr lang="en-US" sz="1700" b="1" dirty="0">
                <a:solidFill>
                  <a:srgbClr val="3B82F6"/>
                </a:solidFill>
                <a:latin typeface="Calibri" pitchFamily="34" charset="0"/>
                <a:ea typeface="Calibri" pitchFamily="34" charset="-122"/>
                <a:cs typeface="Calibri" pitchFamily="34" charset="-120"/>
              </a:rPr>
              <a:t>Deal Execution</a:t>
            </a:r>
            <a:endParaRPr lang="en-US" sz="1700" dirty="0"/>
          </a:p>
        </p:txBody>
      </p:sp>
      <p:sp>
        <p:nvSpPr>
          <p:cNvPr id="26" name="Text 22"/>
          <p:cNvSpPr txBox="1"/>
          <p:nvPr/>
        </p:nvSpPr>
        <p:spPr>
          <a:xfrm>
            <a:off x="1371600" y="3154680"/>
            <a:ext cx="2491130" cy="256032"/>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kaufen</a:t>
            </a:r>
            <a:endParaRPr lang="en-US" sz="1150" dirty="0"/>
          </a:p>
        </p:txBody>
      </p:sp>
      <p:sp>
        <p:nvSpPr>
          <p:cNvPr id="27" name="Text 23"/>
          <p:cNvSpPr txBox="1"/>
          <p:nvPr/>
        </p:nvSpPr>
        <p:spPr>
          <a:xfrm>
            <a:off x="685800" y="3593592"/>
            <a:ext cx="3131210" cy="15544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EDF1EE"/>
                </a:solidFill>
                <a:latin typeface="Calibri" pitchFamily="34" charset="0"/>
                <a:ea typeface="Calibri" pitchFamily="34" charset="-122"/>
                <a:cs typeface="Calibri" pitchFamily="34" charset="-120"/>
              </a:rPr>
              <a:t>Dealflow sichten: Auktionen, proprietäre Deals, Trophy Asset</a:t>
            </a:r>
            <a:endParaRPr lang="en-US" sz="1200" dirty="0"/>
          </a:p>
          <a:p>
            <a:pPr marL="177800" indent="-177800">
              <a:spcAft>
                <a:spcPts val="500"/>
              </a:spcAft>
              <a:buSzPct val="100000"/>
              <a:buChar char="•"/>
            </a:pPr>
            <a:r>
              <a:rPr lang="en-US" sz="1200" dirty="0">
                <a:solidFill>
                  <a:srgbClr val="EDF1EE"/>
                </a:solidFill>
                <a:latin typeface="Calibri" pitchFamily="34" charset="0"/>
                <a:ea typeface="Calibri" pitchFamily="34" charset="-122"/>
                <a:cs typeface="Calibri" pitchFamily="34" charset="-120"/>
              </a:rPr>
              <a:t>Due Diligence durchführen</a:t>
            </a:r>
            <a:endParaRPr lang="en-US" sz="1200" dirty="0"/>
          </a:p>
          <a:p>
            <a:pPr marL="177800" indent="-177800">
              <a:spcAft>
                <a:spcPts val="500"/>
              </a:spcAft>
              <a:buSzPct val="100000"/>
              <a:buChar char="•"/>
            </a:pPr>
            <a:r>
              <a:rPr lang="en-US" sz="1200" dirty="0">
                <a:solidFill>
                  <a:srgbClr val="EDF1EE"/>
                </a:solidFill>
                <a:latin typeface="Calibri" pitchFamily="34" charset="0"/>
                <a:ea typeface="Calibri" pitchFamily="34" charset="-122"/>
                <a:cs typeface="Calibri" pitchFamily="34" charset="-120"/>
              </a:rPr>
              <a:t>Gebot abgeben: Multiple und Leverage</a:t>
            </a:r>
            <a:endParaRPr lang="en-US" sz="1200" dirty="0"/>
          </a:p>
          <a:p>
            <a:pPr marL="177800" indent="-177800">
              <a:spcAft>
                <a:spcPts val="500"/>
              </a:spcAft>
              <a:buSzPct val="100000"/>
              <a:buChar char="•"/>
            </a:pPr>
            <a:r>
              <a:rPr lang="en-US" sz="1200" dirty="0">
                <a:solidFill>
                  <a:srgbClr val="EDF1EE"/>
                </a:solidFill>
                <a:latin typeface="Calibri" pitchFamily="34" charset="0"/>
                <a:ea typeface="Calibri" pitchFamily="34" charset="-122"/>
                <a:cs typeface="Calibri" pitchFamily="34" charset="-120"/>
              </a:rPr>
              <a:t>Base Case und Dry Powder prüfen</a:t>
            </a:r>
            <a:endParaRPr lang="en-US" sz="1200" dirty="0"/>
          </a:p>
        </p:txBody>
      </p:sp>
      <p:sp>
        <p:nvSpPr>
          <p:cNvPr id="28" name="Shape 24"/>
          <p:cNvSpPr/>
          <p:nvPr/>
        </p:nvSpPr>
        <p:spPr>
          <a:xfrm>
            <a:off x="4045610" y="3954780"/>
            <a:ext cx="256032" cy="0"/>
          </a:xfrm>
          <a:prstGeom prst="line">
            <a:avLst/>
          </a:prstGeom>
          <a:noFill/>
          <a:ln w="19050">
            <a:solidFill>
              <a:srgbClr val="8E9C9B"/>
            </a:solidFill>
            <a:prstDash val="solid"/>
            <a:tailEnd type="triangle"/>
          </a:ln>
        </p:spPr>
      </p:sp>
      <p:sp>
        <p:nvSpPr>
          <p:cNvPr id="29" name="Shape 25"/>
          <p:cNvSpPr/>
          <p:nvPr/>
        </p:nvSpPr>
        <p:spPr>
          <a:xfrm>
            <a:off x="4347362" y="2697480"/>
            <a:ext cx="3496970" cy="2514600"/>
          </a:xfrm>
          <a:prstGeom prst="roundRect">
            <a:avLst>
              <a:gd name="adj" fmla="val 2909"/>
            </a:avLst>
          </a:prstGeom>
          <a:solidFill>
            <a:srgbClr val="161F22"/>
          </a:solidFill>
          <a:ln w="15875">
            <a:solidFill>
              <a:srgbClr val="5FC4B1"/>
            </a:solidFill>
            <a:prstDash val="solid"/>
          </a:ln>
        </p:spPr>
      </p:sp>
      <p:sp>
        <p:nvSpPr>
          <p:cNvPr id="30" name="Shape 26"/>
          <p:cNvSpPr/>
          <p:nvPr/>
        </p:nvSpPr>
        <p:spPr>
          <a:xfrm>
            <a:off x="4530242" y="2862072"/>
            <a:ext cx="548640" cy="548640"/>
          </a:xfrm>
          <a:prstGeom prst="ellipse">
            <a:avLst/>
          </a:prstGeom>
          <a:solidFill>
            <a:srgbClr val="1C282B"/>
          </a:solidFill>
          <a:ln w="12700">
            <a:solidFill>
              <a:srgbClr val="5FC4B1"/>
            </a:solidFill>
            <a:prstDash val="solid"/>
          </a:ln>
        </p:spPr>
      </p:sp>
      <p:pic>
        <p:nvPicPr>
          <p:cNvPr id="31" name="Image 1" descr="/tmp/claude-0/deck/img/i_vc_teal.png">    </p:cNvPr>
          <p:cNvPicPr>
            <a:picLocks noChangeAspect="1"/>
          </p:cNvPicPr>
          <p:nvPr/>
        </p:nvPicPr>
        <p:blipFill>
          <a:blip r:embed="rId2"/>
          <a:stretch>
            <a:fillRect/>
          </a:stretch>
        </p:blipFill>
        <p:spPr>
          <a:xfrm>
            <a:off x="4661916" y="2993746"/>
            <a:ext cx="285293" cy="285293"/>
          </a:xfrm>
          <a:prstGeom prst="rect">
            <a:avLst/>
          </a:prstGeom>
        </p:spPr>
      </p:pic>
      <p:sp>
        <p:nvSpPr>
          <p:cNvPr id="32" name="Text 27"/>
          <p:cNvSpPr txBox="1"/>
          <p:nvPr/>
        </p:nvSpPr>
        <p:spPr>
          <a:xfrm>
            <a:off x="5216042" y="2843784"/>
            <a:ext cx="2491130" cy="329184"/>
          </a:xfrm>
          <a:prstGeom prst="rect">
            <a:avLst/>
          </a:prstGeom>
          <a:noFill/>
          <a:ln/>
        </p:spPr>
        <p:txBody>
          <a:bodyPr wrap="square" lIns="0" tIns="0" rIns="0" bIns="0" rtlCol="0" anchor="t"/>
          <a:lstStyle/>
          <a:p>
            <a:pPr algn="l" indent="0" marL="0">
              <a:buNone/>
            </a:pPr>
            <a:r>
              <a:rPr lang="en-US" sz="1700" b="1" dirty="0">
                <a:solidFill>
                  <a:srgbClr val="5FC4B1"/>
                </a:solidFill>
                <a:latin typeface="Calibri" pitchFamily="34" charset="0"/>
                <a:ea typeface="Calibri" pitchFamily="34" charset="-122"/>
                <a:cs typeface="Calibri" pitchFamily="34" charset="-120"/>
              </a:rPr>
              <a:t>Value Creation</a:t>
            </a:r>
            <a:endParaRPr lang="en-US" sz="1700" dirty="0"/>
          </a:p>
        </p:txBody>
      </p:sp>
      <p:sp>
        <p:nvSpPr>
          <p:cNvPr id="33" name="Text 28"/>
          <p:cNvSpPr txBox="1"/>
          <p:nvPr/>
        </p:nvSpPr>
        <p:spPr>
          <a:xfrm>
            <a:off x="5216042" y="3154680"/>
            <a:ext cx="2491130" cy="256032"/>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entwickeln</a:t>
            </a:r>
            <a:endParaRPr lang="en-US" sz="1150" dirty="0"/>
          </a:p>
        </p:txBody>
      </p:sp>
      <p:sp>
        <p:nvSpPr>
          <p:cNvPr id="34" name="Text 29"/>
          <p:cNvSpPr txBox="1"/>
          <p:nvPr/>
        </p:nvSpPr>
        <p:spPr>
          <a:xfrm>
            <a:off x="4530242" y="3593592"/>
            <a:ext cx="3131210" cy="15544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EDF1EE"/>
                </a:solidFill>
                <a:latin typeface="Calibri" pitchFamily="34" charset="0"/>
                <a:ea typeface="Calibri" pitchFamily="34" charset="-122"/>
                <a:cs typeface="Calibri" pitchFamily="34" charset="-120"/>
              </a:rPr>
              <a:t>Maßnahmen starten (Performance, Growth)</a:t>
            </a:r>
            <a:endParaRPr lang="en-US" sz="1200" dirty="0"/>
          </a:p>
          <a:p>
            <a:pPr marL="177800" indent="-177800">
              <a:spcAft>
                <a:spcPts val="500"/>
              </a:spcAft>
              <a:buSzPct val="100000"/>
              <a:buChar char="•"/>
            </a:pPr>
            <a:r>
              <a:rPr lang="en-US" sz="1200" dirty="0">
                <a:solidFill>
                  <a:srgbClr val="EDF1EE"/>
                </a:solidFill>
                <a:latin typeface="Calibri" pitchFamily="34" charset="0"/>
                <a:ea typeface="Calibri" pitchFamily="34" charset="-122"/>
                <a:cs typeface="Calibri" pitchFamily="34" charset="-120"/>
              </a:rPr>
              <a:t>Manager hiren, MEP aufsetzen</a:t>
            </a:r>
            <a:endParaRPr lang="en-US" sz="1200" dirty="0"/>
          </a:p>
          <a:p>
            <a:pPr marL="177800" indent="-177800">
              <a:spcAft>
                <a:spcPts val="500"/>
              </a:spcAft>
              <a:buSzPct val="100000"/>
              <a:buChar char="•"/>
            </a:pPr>
            <a:r>
              <a:rPr lang="en-US" sz="1200" dirty="0">
                <a:solidFill>
                  <a:srgbClr val="EDF1EE"/>
                </a:solidFill>
                <a:latin typeface="Calibri" pitchFamily="34" charset="0"/>
                <a:ea typeface="Calibri" pitchFamily="34" charset="-122"/>
                <a:cs typeface="Calibri" pitchFamily="34" charset="-120"/>
              </a:rPr>
              <a:t>Add-on-Mandat für Buy-and-Build</a:t>
            </a:r>
            <a:endParaRPr lang="en-US" sz="1200" dirty="0"/>
          </a:p>
          <a:p>
            <a:pPr marL="177800" indent="-177800">
              <a:spcAft>
                <a:spcPts val="500"/>
              </a:spcAft>
              <a:buSzPct val="100000"/>
              <a:buChar char="•"/>
            </a:pPr>
            <a:r>
              <a:rPr lang="en-US" sz="1200" dirty="0">
                <a:solidFill>
                  <a:srgbClr val="EDF1EE"/>
                </a:solidFill>
                <a:latin typeface="Calibri" pitchFamily="34" charset="0"/>
                <a:ea typeface="Calibri" pitchFamily="34" charset="-122"/>
                <a:cs typeface="Calibri" pitchFamily="34" charset="-120"/>
              </a:rPr>
              <a:t>Bei Covenant-Bruch: Equity Cure</a:t>
            </a:r>
            <a:endParaRPr lang="en-US" sz="1200" dirty="0"/>
          </a:p>
        </p:txBody>
      </p:sp>
      <p:sp>
        <p:nvSpPr>
          <p:cNvPr id="35" name="Shape 30"/>
          <p:cNvSpPr/>
          <p:nvPr/>
        </p:nvSpPr>
        <p:spPr>
          <a:xfrm>
            <a:off x="7890053" y="3954780"/>
            <a:ext cx="256032" cy="0"/>
          </a:xfrm>
          <a:prstGeom prst="line">
            <a:avLst/>
          </a:prstGeom>
          <a:noFill/>
          <a:ln w="19050">
            <a:solidFill>
              <a:srgbClr val="8E9C9B"/>
            </a:solidFill>
            <a:prstDash val="solid"/>
            <a:tailEnd type="triangle"/>
          </a:ln>
        </p:spPr>
      </p:sp>
      <p:sp>
        <p:nvSpPr>
          <p:cNvPr id="36" name="Shape 31"/>
          <p:cNvSpPr/>
          <p:nvPr/>
        </p:nvSpPr>
        <p:spPr>
          <a:xfrm>
            <a:off x="8191805" y="2697480"/>
            <a:ext cx="3496970" cy="2514600"/>
          </a:xfrm>
          <a:prstGeom prst="roundRect">
            <a:avLst>
              <a:gd name="adj" fmla="val 2909"/>
            </a:avLst>
          </a:prstGeom>
          <a:solidFill>
            <a:srgbClr val="161F22"/>
          </a:solidFill>
          <a:ln w="15875">
            <a:solidFill>
              <a:srgbClr val="D9538E"/>
            </a:solidFill>
            <a:prstDash val="solid"/>
          </a:ln>
        </p:spPr>
      </p:sp>
      <p:sp>
        <p:nvSpPr>
          <p:cNvPr id="37" name="Shape 32"/>
          <p:cNvSpPr/>
          <p:nvPr/>
        </p:nvSpPr>
        <p:spPr>
          <a:xfrm>
            <a:off x="8374685" y="2862072"/>
            <a:ext cx="548640" cy="548640"/>
          </a:xfrm>
          <a:prstGeom prst="ellipse">
            <a:avLst/>
          </a:prstGeom>
          <a:solidFill>
            <a:srgbClr val="1C282B"/>
          </a:solidFill>
          <a:ln w="12700">
            <a:solidFill>
              <a:srgbClr val="D9538E"/>
            </a:solidFill>
            <a:prstDash val="solid"/>
          </a:ln>
        </p:spPr>
      </p:sp>
      <p:pic>
        <p:nvPicPr>
          <p:cNvPr id="38" name="Image 2" descr="/tmp/claude-0/deck/img/i_exit_rose.png">    </p:cNvPr>
          <p:cNvPicPr>
            <a:picLocks noChangeAspect="1"/>
          </p:cNvPicPr>
          <p:nvPr/>
        </p:nvPicPr>
        <p:blipFill>
          <a:blip r:embed="rId3"/>
          <a:stretch>
            <a:fillRect/>
          </a:stretch>
        </p:blipFill>
        <p:spPr>
          <a:xfrm>
            <a:off x="8506358" y="2993746"/>
            <a:ext cx="285293" cy="285293"/>
          </a:xfrm>
          <a:prstGeom prst="rect">
            <a:avLst/>
          </a:prstGeom>
        </p:spPr>
      </p:pic>
      <p:sp>
        <p:nvSpPr>
          <p:cNvPr id="39" name="Text 33"/>
          <p:cNvSpPr txBox="1"/>
          <p:nvPr/>
        </p:nvSpPr>
        <p:spPr>
          <a:xfrm>
            <a:off x="9060485" y="2843784"/>
            <a:ext cx="2491130" cy="329184"/>
          </a:xfrm>
          <a:prstGeom prst="rect">
            <a:avLst/>
          </a:prstGeom>
          <a:noFill/>
          <a:ln/>
        </p:spPr>
        <p:txBody>
          <a:bodyPr wrap="square" lIns="0" tIns="0" rIns="0" bIns="0" rtlCol="0" anchor="t"/>
          <a:lstStyle/>
          <a:p>
            <a:pPr algn="l" indent="0" marL="0">
              <a:buNone/>
            </a:pPr>
            <a:r>
              <a:rPr lang="en-US" sz="1700" b="1" dirty="0">
                <a:solidFill>
                  <a:srgbClr val="D9538E"/>
                </a:solidFill>
                <a:latin typeface="Calibri" pitchFamily="34" charset="0"/>
                <a:ea typeface="Calibri" pitchFamily="34" charset="-122"/>
                <a:cs typeface="Calibri" pitchFamily="34" charset="-120"/>
              </a:rPr>
              <a:t>Exit</a:t>
            </a:r>
            <a:endParaRPr lang="en-US" sz="1700" dirty="0"/>
          </a:p>
        </p:txBody>
      </p:sp>
      <p:sp>
        <p:nvSpPr>
          <p:cNvPr id="40" name="Text 34"/>
          <p:cNvSpPr txBox="1"/>
          <p:nvPr/>
        </p:nvSpPr>
        <p:spPr>
          <a:xfrm>
            <a:off x="9060485" y="3154680"/>
            <a:ext cx="2491130" cy="256032"/>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verkaufen</a:t>
            </a:r>
            <a:endParaRPr lang="en-US" sz="1150" dirty="0"/>
          </a:p>
        </p:txBody>
      </p:sp>
      <p:sp>
        <p:nvSpPr>
          <p:cNvPr id="41" name="Text 35"/>
          <p:cNvSpPr txBox="1"/>
          <p:nvPr/>
        </p:nvSpPr>
        <p:spPr>
          <a:xfrm>
            <a:off x="8374685" y="3593592"/>
            <a:ext cx="3131210" cy="15544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EDF1EE"/>
                </a:solidFill>
                <a:latin typeface="Calibri" pitchFamily="34" charset="0"/>
                <a:ea typeface="Calibri" pitchFamily="34" charset="-122"/>
                <a:cs typeface="Calibri" pitchFamily="34" charset="-120"/>
              </a:rPr>
              <a:t>Verkaufsprozess starten (Gebote nach 3 Halbjahren)</a:t>
            </a:r>
            <a:endParaRPr lang="en-US" sz="1200" dirty="0"/>
          </a:p>
          <a:p>
            <a:pPr marL="177800" indent="-177800">
              <a:spcAft>
                <a:spcPts val="500"/>
              </a:spcAft>
              <a:buSzPct val="100000"/>
              <a:buChar char="•"/>
            </a:pPr>
            <a:r>
              <a:rPr lang="en-US" sz="1200" dirty="0">
                <a:solidFill>
                  <a:srgbClr val="EDF1EE"/>
                </a:solidFill>
                <a:latin typeface="Calibri" pitchFamily="34" charset="0"/>
                <a:ea typeface="Calibri" pitchFamily="34" charset="-122"/>
                <a:cs typeface="Calibri" pitchFamily="34" charset="-120"/>
              </a:rPr>
              <a:t>Oder bilateral sofort verkaufen</a:t>
            </a:r>
            <a:endParaRPr lang="en-US" sz="1200" dirty="0"/>
          </a:p>
          <a:p>
            <a:pPr marL="177800" indent="-177800">
              <a:spcAft>
                <a:spcPts val="500"/>
              </a:spcAft>
              <a:buSzPct val="100000"/>
              <a:buChar char="•"/>
            </a:pPr>
            <a:r>
              <a:rPr lang="en-US" sz="1200" dirty="0">
                <a:solidFill>
                  <a:srgbClr val="EDF1EE"/>
                </a:solidFill>
                <a:latin typeface="Calibri" pitchFamily="34" charset="0"/>
                <a:ea typeface="Calibri" pitchFamily="34" charset="-122"/>
                <a:cs typeface="Calibri" pitchFamily="34" charset="-120"/>
              </a:rPr>
              <a:t>Gebote annehmen, nachverhandeln, ablehnen</a:t>
            </a:r>
            <a:endParaRPr lang="en-US" sz="1200" dirty="0"/>
          </a:p>
          <a:p>
            <a:pPr marL="177800" indent="-177800">
              <a:spcAft>
                <a:spcPts val="500"/>
              </a:spcAft>
              <a:buSzPct val="100000"/>
              <a:buChar char="•"/>
            </a:pPr>
            <a:r>
              <a:rPr lang="en-US" sz="1200" dirty="0">
                <a:solidFill>
                  <a:srgbClr val="EDF1EE"/>
                </a:solidFill>
                <a:latin typeface="Calibri" pitchFamily="34" charset="0"/>
                <a:ea typeface="Calibri" pitchFamily="34" charset="-122"/>
                <a:cs typeface="Calibri" pitchFamily="34" charset="-120"/>
              </a:rPr>
              <a:t>Erlöse recyceln oder ausschütten</a:t>
            </a:r>
            <a:endParaRPr lang="en-US" sz="1200" dirty="0"/>
          </a:p>
        </p:txBody>
      </p:sp>
      <p:sp>
        <p:nvSpPr>
          <p:cNvPr id="42" name="Shape 36"/>
          <p:cNvSpPr/>
          <p:nvPr/>
        </p:nvSpPr>
        <p:spPr>
          <a:xfrm>
            <a:off x="502920" y="5394960"/>
            <a:ext cx="11185855" cy="868680"/>
          </a:xfrm>
          <a:prstGeom prst="roundRect">
            <a:avLst>
              <a:gd name="adj" fmla="val 8421"/>
            </a:avLst>
          </a:prstGeom>
          <a:solidFill>
            <a:srgbClr val="080D0F"/>
          </a:solidFill>
          <a:ln w="9525">
            <a:solidFill>
              <a:srgbClr val="DCB264"/>
            </a:solidFill>
            <a:prstDash val="solid"/>
          </a:ln>
        </p:spPr>
      </p:sp>
      <p:pic>
        <p:nvPicPr>
          <p:cNvPr id="43" name="Image 3" descr="/tmp/claude-0/deck/img/i_clock_gold.png">    </p:cNvPr>
          <p:cNvPicPr>
            <a:picLocks noChangeAspect="1"/>
          </p:cNvPicPr>
          <p:nvPr/>
        </p:nvPicPr>
        <p:blipFill>
          <a:blip r:embed="rId4"/>
          <a:stretch>
            <a:fillRect/>
          </a:stretch>
        </p:blipFill>
        <p:spPr>
          <a:xfrm>
            <a:off x="731520" y="5596128"/>
            <a:ext cx="457200" cy="457200"/>
          </a:xfrm>
          <a:prstGeom prst="rect">
            <a:avLst/>
          </a:prstGeom>
        </p:spPr>
      </p:pic>
      <p:sp>
        <p:nvSpPr>
          <p:cNvPr id="44" name="Text 37"/>
          <p:cNvSpPr txBox="1"/>
          <p:nvPr/>
        </p:nvSpPr>
        <p:spPr>
          <a:xfrm>
            <a:off x="1371600" y="5394960"/>
            <a:ext cx="8412480" cy="868680"/>
          </a:xfrm>
          <a:prstGeom prst="rect">
            <a:avLst/>
          </a:prstGeom>
          <a:noFill/>
          <a:ln/>
        </p:spPr>
        <p:txBody>
          <a:bodyPr wrap="square" lIns="0" tIns="0" rIns="0" bIns="0" rtlCol="0" anchor="ctr"/>
          <a:lstStyle/>
          <a:p>
            <a:pPr algn="l" indent="0" marL="0">
              <a:spcAft>
                <a:spcPts val="400"/>
              </a:spcAft>
              <a:buNone/>
            </a:pPr>
            <a:r>
              <a:rPr lang="en-US" sz="1250" b="1" dirty="0">
                <a:solidFill>
                  <a:srgbClr val="DCB264"/>
                </a:solidFill>
                <a:latin typeface="Calibri" pitchFamily="34" charset="0"/>
                <a:ea typeface="Calibri" pitchFamily="34" charset="-122"/>
                <a:cs typeface="Calibri" pitchFamily="34" charset="-120"/>
              </a:rPr>
              <a:t>Halbjahr abschließen: </a:t>
            </a:r>
            <a:pPr algn="l" indent="0" marL="0">
              <a:spcAft>
                <a:spcPts val="400"/>
              </a:spcAft>
              <a:buNone/>
            </a:pPr>
            <a:r>
              <a:rPr lang="en-US" sz="1250" dirty="0">
                <a:solidFill>
                  <a:srgbClr val="EDF1EE"/>
                </a:solidFill>
                <a:latin typeface="Calibri" pitchFamily="34" charset="0"/>
                <a:ea typeface="Calibri" pitchFamily="34" charset="-122"/>
                <a:cs typeface="Calibri" pitchFamily="34" charset="-120"/>
              </a:rPr>
              <a:t>Die Engine rechnet jede Beteiligung fort, der Markt schwankt, Ereignisse treten ein – dann werden NAV, TVCC und IRR neu bewertet. Der Halbjahresbericht fasst alles zusammen.</a:t>
            </a:r>
            <a:endParaRPr lang="en-US" sz="1250" dirty="0"/>
          </a:p>
        </p:txBody>
      </p:sp>
      <p:sp>
        <p:nvSpPr>
          <p:cNvPr id="45" name="Text 38"/>
          <p:cNvSpPr txBox="1"/>
          <p:nvPr/>
        </p:nvSpPr>
        <p:spPr>
          <a:xfrm>
            <a:off x="9859975" y="5394960"/>
            <a:ext cx="1645920" cy="868680"/>
          </a:xfrm>
          <a:prstGeom prst="rect">
            <a:avLst/>
          </a:prstGeom>
          <a:noFill/>
          <a:ln/>
        </p:spPr>
        <p:txBody>
          <a:bodyPr wrap="square" lIns="0" tIns="0" rIns="0" bIns="0" rtlCol="0" anchor="ctr"/>
          <a:lstStyle/>
          <a:p>
            <a:pPr algn="r" indent="0" marL="0">
              <a:buNone/>
            </a:pPr>
            <a:r>
              <a:rPr lang="en-US" sz="2000" b="1" dirty="0">
                <a:solidFill>
                  <a:srgbClr val="DCB264"/>
                </a:solidFill>
                <a:latin typeface="Calibri" pitchFamily="34" charset="0"/>
                <a:ea typeface="Calibri" pitchFamily="34" charset="-122"/>
                <a:cs typeface="Calibri" pitchFamily="34" charset="-120"/>
              </a:rPr>
              <a:t>↻ 20 Runden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8E9C9B"/>
                </a:solidFill>
                <a:latin typeface="Calibri" pitchFamily="34" charset="0"/>
                <a:ea typeface="Calibri" pitchFamily="34" charset="-122"/>
                <a:cs typeface="Calibri" pitchFamily="34" charset="-120"/>
              </a:rPr>
              <a:t>SETUP · FONDSPROFIL</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Das Fondsprofil: die Strategie des Fonds</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8E9C9B"/>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8E9C9B"/>
                </a:solidFill>
                <a:latin typeface="Calibri" pitchFamily="34" charset="0"/>
                <a:ea typeface="Calibri" pitchFamily="34" charset="-122"/>
                <a:cs typeface="Calibri" pitchFamily="34" charset="-120"/>
              </a:rPr>
              <a:t>EINFÜHRUNG</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4</a:t>
            </a:r>
            <a:endParaRPr lang="en-US" sz="900" dirty="0"/>
          </a:p>
        </p:txBody>
      </p:sp>
      <p:sp>
        <p:nvSpPr>
          <p:cNvPr id="9" name="Text 6"/>
          <p:cNvSpPr txBox="1"/>
          <p:nvPr/>
        </p:nvSpPr>
        <p:spPr>
          <a:xfrm>
            <a:off x="502920" y="1508760"/>
            <a:ext cx="7223760" cy="548640"/>
          </a:xfrm>
          <a:prstGeom prst="rect">
            <a:avLst/>
          </a:prstGeom>
          <a:noFill/>
          <a:ln/>
        </p:spPr>
        <p:txBody>
          <a:bodyPr wrap="square" lIns="0" tIns="0" rIns="0" bIns="0" rtlCol="0" anchor="t"/>
          <a:lstStyle/>
          <a:p>
            <a:pPr algn="l" indent="0" marL="0">
              <a:buNone/>
            </a:pPr>
            <a:r>
              <a:rPr lang="en-US" sz="1350" dirty="0">
                <a:solidFill>
                  <a:srgbClr val="EDF1EE"/>
                </a:solidFill>
                <a:latin typeface="Calibri" pitchFamily="34" charset="0"/>
                <a:ea typeface="Calibri" pitchFamily="34" charset="-122"/>
                <a:cs typeface="Calibri" pitchFamily="34" charset="-120"/>
              </a:rPr>
              <a:t>Beim Beitritt zu einer Partie verteilst du 12 Punkte auf fünf Fähigkeiten (im Übungsmodus beim Start). Das Profil ist die Investmentstrategie deines Fonds und gilt für die gesamte Laufzeit.</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2148840"/>
          <a:ext cx="7223760" cy="914400"/>
        </p:xfrm>
        <a:graphic>
          <a:graphicData uri="http://schemas.openxmlformats.org/drawingml/2006/table">
            <a:tbl>
              <a:tblPr/>
              <a:tblGrid>
                <a:gridCol w="1600200"/>
                <a:gridCol w="2514600"/>
                <a:gridCol w="3108960"/>
              </a:tblGrid>
              <a:tr h="512064">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Fähigkeit</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Entspricht in der Realität</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Wirkung im Spiel je Punkt</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r>
              <a:tr h="512064">
                <a:tc>
                  <a:txBody>
                    <a:bodyPr/>
                    <a:lstStyle/>
                    <a:p>
                      <a:pPr algn="l" indent="0" marL="0">
                        <a:buNone/>
                      </a:pPr>
                      <a:r>
                        <a:rPr lang="en-US" sz="1150" b="1" dirty="0">
                          <a:solidFill>
                            <a:srgbClr val="DCB264"/>
                          </a:solidFill>
                          <a:latin typeface="Calibri" pitchFamily="34" charset="0"/>
                          <a:ea typeface="Calibri" pitchFamily="34" charset="-122"/>
                          <a:cs typeface="Calibri" pitchFamily="34" charset="-120"/>
                        </a:rPr>
                        <a:t>Origination</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Netzwerk zu Unternehmern, Beratern und M&amp;A-Häusern</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+0,55 proprietäre Deals je Halbjahr; Preisabschlag +0,12 Turns</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512064">
                <a:tc>
                  <a:txBody>
                    <a:bodyPr/>
                    <a:lstStyle/>
                    <a:p>
                      <a:pPr algn="l" indent="0" marL="0">
                        <a:buNone/>
                      </a:pPr>
                      <a:r>
                        <a:rPr lang="en-US" sz="1150" b="1" dirty="0">
                          <a:solidFill>
                            <a:srgbClr val="DCB264"/>
                          </a:solidFill>
                          <a:latin typeface="Calibri" pitchFamily="34" charset="0"/>
                          <a:ea typeface="Calibri" pitchFamily="34" charset="-122"/>
                          <a:cs typeface="Calibri" pitchFamily="34" charset="-120"/>
                        </a:rPr>
                        <a:t>Due Diligence</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Analyse-Team, Datenraum, externe Berater</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Schätzfehler −0,9 pp; mehr parallele DD-Prozesse; Risikoflaggen ab 3 sichtbar</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512064">
                <a:tc>
                  <a:txBody>
                    <a:bodyPr/>
                    <a:lstStyle/>
                    <a:p>
                      <a:pPr algn="l" indent="0" marL="0">
                        <a:buNone/>
                      </a:pPr>
                      <a:r>
                        <a:rPr lang="en-US" sz="1150" b="1" dirty="0">
                          <a:solidFill>
                            <a:srgbClr val="DCB264"/>
                          </a:solidFill>
                          <a:latin typeface="Calibri" pitchFamily="34" charset="0"/>
                          <a:ea typeface="Calibri" pitchFamily="34" charset="-122"/>
                          <a:cs typeface="Calibri" pitchFamily="34" charset="-120"/>
                        </a:rPr>
                        <a:t>Execution</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Verhandlungs- und Transaktionsstärke</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−1 % Kaufpreis, +2 % Verkaufspreis; gewinnt bei Gleichstand</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512064">
                <a:tc>
                  <a:txBody>
                    <a:bodyPr/>
                    <a:lstStyle/>
                    <a:p>
                      <a:pPr algn="l" indent="0" marL="0">
                        <a:buNone/>
                      </a:pPr>
                      <a:r>
                        <a:rPr lang="en-US" sz="1150" b="1" dirty="0">
                          <a:solidFill>
                            <a:srgbClr val="DCB264"/>
                          </a:solidFill>
                          <a:latin typeface="Calibri" pitchFamily="34" charset="0"/>
                          <a:ea typeface="Calibri" pitchFamily="34" charset="-122"/>
                          <a:cs typeface="Calibri" pitchFamily="34" charset="-120"/>
                        </a:rPr>
                        <a:t>Value Creation</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Operating Partner, Portfolio-Team</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+10 % Wirkung und Tempo der Maßnahmen; +1 Maßnahmenplatz je 2 Punkte</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512064">
                <a:tc>
                  <a:txBody>
                    <a:bodyPr/>
                    <a:lstStyle/>
                    <a:p>
                      <a:pPr algn="l" indent="0" marL="0">
                        <a:buNone/>
                      </a:pPr>
                      <a:r>
                        <a:rPr lang="en-US" sz="1150" b="1" dirty="0">
                          <a:solidFill>
                            <a:srgbClr val="DCB264"/>
                          </a:solidFill>
                          <a:latin typeface="Calibri" pitchFamily="34" charset="0"/>
                          <a:ea typeface="Calibri" pitchFamily="34" charset="-122"/>
                          <a:cs typeface="Calibri" pitchFamily="34" charset="-120"/>
                        </a:rPr>
                        <a:t>Financing</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Bankbeziehungen, Debt Advisory</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−0,25 pp Zins; +0,1× Covenant-Luft</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bl>
          </a:graphicData>
        </a:graphic>
      </p:graphicFrame>
      <p:sp>
        <p:nvSpPr>
          <p:cNvPr id="11" name="Text 7"/>
          <p:cNvSpPr txBox="1"/>
          <p:nvPr/>
        </p:nvSpPr>
        <p:spPr>
          <a:xfrm>
            <a:off x="502920" y="5760720"/>
            <a:ext cx="7223760" cy="548640"/>
          </a:xfrm>
          <a:prstGeom prst="rect">
            <a:avLst/>
          </a:prstGeom>
          <a:noFill/>
          <a:ln/>
        </p:spPr>
        <p:txBody>
          <a:bodyPr wrap="square" lIns="0" tIns="0" rIns="0" bIns="0" rtlCol="0" anchor="t"/>
          <a:lstStyle/>
          <a:p>
            <a:pPr algn="l" indent="0" marL="0">
              <a:buNone/>
            </a:pPr>
            <a:r>
              <a:rPr lang="en-US" sz="1100" dirty="0">
                <a:solidFill>
                  <a:srgbClr val="8E9C9B"/>
                </a:solidFill>
                <a:latin typeface="Calibri" pitchFamily="34" charset="0"/>
                <a:ea typeface="Calibri" pitchFamily="34" charset="-122"/>
                <a:cs typeface="Calibri" pitchFamily="34" charset="-120"/>
              </a:rPr>
              <a:t>Standard: 2 · 3 · 2 · 3 · 2 Punkte · Ab 4 Punkten wehrt eine Fähigkeit passende Ereignisse zur Hälfte ab · Die KI-Fonds setzen je einen Schwerpunkt mit 5 Punkten.</a:t>
            </a:r>
            <a:endParaRPr lang="en-US" sz="1100" dirty="0"/>
          </a:p>
        </p:txBody>
      </p:sp>
      <p:pic>
        <p:nvPicPr>
          <p:cNvPr id="12" name="Image 0" descr="/tmp/claude-0/deck/img/profile.jpg">    </p:cNvPr>
          <p:cNvPicPr>
            <a:picLocks noChangeAspect="1"/>
          </p:cNvPicPr>
          <p:nvPr/>
        </p:nvPicPr>
        <p:blipFill>
          <a:blip r:embed="rId1"/>
          <a:stretch>
            <a:fillRect/>
          </a:stretch>
        </p:blipFill>
        <p:spPr>
          <a:xfrm>
            <a:off x="8187158" y="1508760"/>
            <a:ext cx="3498874" cy="4754880"/>
          </a:xfrm>
          <a:prstGeom prst="rect">
            <a:avLst/>
          </a:prstGeom>
        </p:spPr>
      </p:pic>
      <p:sp>
        <p:nvSpPr>
          <p:cNvPr id="13" name="Shape 8"/>
          <p:cNvSpPr/>
          <p:nvPr/>
        </p:nvSpPr>
        <p:spPr>
          <a:xfrm>
            <a:off x="8187158" y="1508760"/>
            <a:ext cx="3498874" cy="4754880"/>
          </a:xfrm>
          <a:prstGeom prst="rect">
            <a:avLst/>
          </a:prstGeom>
          <a:ln w="9525">
            <a:solidFill>
              <a:srgbClr val="33474B"/>
            </a:solidFill>
            <a:prstDash val="solid"/>
          </a:ln>
        </p:spPr>
      </p:sp>
      <p:sp>
        <p:nvSpPr>
          <p:cNvPr id="14" name="Text 9"/>
          <p:cNvSpPr txBox="1"/>
          <p:nvPr/>
        </p:nvSpPr>
        <p:spPr>
          <a:xfrm>
            <a:off x="7912838" y="6318504"/>
            <a:ext cx="4047514"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Fondsprofil (hier im Übungsmodus)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CB264"/>
                </a:solidFill>
                <a:latin typeface="Calibri" pitchFamily="34" charset="0"/>
                <a:ea typeface="Calibri" pitchFamily="34" charset="-122"/>
                <a:cs typeface="Calibri" pitchFamily="34" charset="-120"/>
              </a:rPr>
              <a:t>FONDSÖKONOMIE</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Commitment, Kapitalabrufe und Dry Powder</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CB264"/>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CB264"/>
                </a:solidFill>
                <a:latin typeface="Calibri" pitchFamily="34" charset="0"/>
                <a:ea typeface="Calibri" pitchFamily="34" charset="-122"/>
                <a:cs typeface="Calibri" pitchFamily="34" charset="-120"/>
              </a:rPr>
              <a:t>A · FUND ECONOMICS</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5</a:t>
            </a:r>
            <a:endParaRPr lang="en-US" sz="900" dirty="0"/>
          </a:p>
        </p:txBody>
      </p:sp>
      <p:sp>
        <p:nvSpPr>
          <p:cNvPr id="9" name="Shape 6"/>
          <p:cNvSpPr/>
          <p:nvPr/>
        </p:nvSpPr>
        <p:spPr>
          <a:xfrm>
            <a:off x="711403" y="2128520"/>
            <a:ext cx="680314" cy="3175000"/>
          </a:xfrm>
          <a:prstGeom prst="rect">
            <a:avLst/>
          </a:prstGeom>
          <a:solidFill>
            <a:srgbClr val="DCB264"/>
          </a:solidFill>
          <a:ln/>
        </p:spPr>
      </p:sp>
      <p:sp>
        <p:nvSpPr>
          <p:cNvPr id="10" name="Text 7"/>
          <p:cNvSpPr txBox="1"/>
          <p:nvPr/>
        </p:nvSpPr>
        <p:spPr>
          <a:xfrm>
            <a:off x="528523" y="1881632"/>
            <a:ext cx="1046074" cy="228600"/>
          </a:xfrm>
          <a:prstGeom prst="rect">
            <a:avLst/>
          </a:prstGeom>
          <a:noFill/>
          <a:ln/>
        </p:spPr>
        <p:txBody>
          <a:bodyPr wrap="square" lIns="0" tIns="0" rIns="0" bIns="0" rtlCol="0" anchor="t"/>
          <a:lstStyle/>
          <a:p>
            <a:pPr algn="ctr" indent="0" marL="0">
              <a:buNone/>
            </a:pPr>
            <a:r>
              <a:rPr lang="en-US" sz="1100" b="1" dirty="0">
                <a:solidFill>
                  <a:srgbClr val="DCB264"/>
                </a:solidFill>
                <a:latin typeface="Calibri" pitchFamily="34" charset="0"/>
                <a:ea typeface="Calibri" pitchFamily="34" charset="-122"/>
                <a:cs typeface="Calibri" pitchFamily="34" charset="-120"/>
              </a:rPr>
              <a:t>500</a:t>
            </a:r>
            <a:endParaRPr lang="en-US" sz="1100" dirty="0"/>
          </a:p>
        </p:txBody>
      </p:sp>
      <p:sp>
        <p:nvSpPr>
          <p:cNvPr id="11" name="Shape 8"/>
          <p:cNvSpPr/>
          <p:nvPr/>
        </p:nvSpPr>
        <p:spPr>
          <a:xfrm>
            <a:off x="1391717" y="2128520"/>
            <a:ext cx="416966" cy="0"/>
          </a:xfrm>
          <a:prstGeom prst="line">
            <a:avLst/>
          </a:prstGeom>
          <a:noFill/>
          <a:ln w="9525">
            <a:solidFill>
              <a:srgbClr val="4A5C5F"/>
            </a:solidFill>
            <a:prstDash val="dash"/>
          </a:ln>
        </p:spPr>
      </p:sp>
      <p:sp>
        <p:nvSpPr>
          <p:cNvPr id="12" name="Text 9"/>
          <p:cNvSpPr txBox="1"/>
          <p:nvPr/>
        </p:nvSpPr>
        <p:spPr>
          <a:xfrm>
            <a:off x="502920" y="5358384"/>
            <a:ext cx="1097280" cy="50292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Commitment</a:t>
            </a:r>
            <a:endParaRPr lang="en-US" sz="1000" dirty="0"/>
          </a:p>
        </p:txBody>
      </p:sp>
      <p:sp>
        <p:nvSpPr>
          <p:cNvPr id="13" name="Shape 10"/>
          <p:cNvSpPr/>
          <p:nvPr/>
        </p:nvSpPr>
        <p:spPr>
          <a:xfrm>
            <a:off x="1808683" y="2128520"/>
            <a:ext cx="680314" cy="317500"/>
          </a:xfrm>
          <a:prstGeom prst="rect">
            <a:avLst/>
          </a:prstGeom>
          <a:solidFill>
            <a:srgbClr val="E3897F"/>
          </a:solidFill>
          <a:ln/>
        </p:spPr>
      </p:sp>
      <p:sp>
        <p:nvSpPr>
          <p:cNvPr id="14" name="Text 11"/>
          <p:cNvSpPr txBox="1"/>
          <p:nvPr/>
        </p:nvSpPr>
        <p:spPr>
          <a:xfrm>
            <a:off x="1625803" y="1881632"/>
            <a:ext cx="1046074" cy="228600"/>
          </a:xfrm>
          <a:prstGeom prst="rect">
            <a:avLst/>
          </a:prstGeom>
          <a:noFill/>
          <a:ln/>
        </p:spPr>
        <p:txBody>
          <a:bodyPr wrap="square" lIns="0" tIns="0" rIns="0" bIns="0" rtlCol="0" anchor="t"/>
          <a:lstStyle/>
          <a:p>
            <a:pPr algn="ctr" indent="0" marL="0">
              <a:buNone/>
            </a:pPr>
            <a:r>
              <a:rPr lang="en-US" sz="1100" b="1" dirty="0">
                <a:solidFill>
                  <a:srgbClr val="E3897F"/>
                </a:solidFill>
                <a:latin typeface="Calibri" pitchFamily="34" charset="0"/>
                <a:ea typeface="Calibri" pitchFamily="34" charset="-122"/>
                <a:cs typeface="Calibri" pitchFamily="34" charset="-120"/>
              </a:rPr>
              <a:t>−50</a:t>
            </a:r>
            <a:endParaRPr lang="en-US" sz="1100" dirty="0"/>
          </a:p>
        </p:txBody>
      </p:sp>
      <p:sp>
        <p:nvSpPr>
          <p:cNvPr id="15" name="Shape 12"/>
          <p:cNvSpPr/>
          <p:nvPr/>
        </p:nvSpPr>
        <p:spPr>
          <a:xfrm>
            <a:off x="2488997" y="2446020"/>
            <a:ext cx="416966" cy="0"/>
          </a:xfrm>
          <a:prstGeom prst="line">
            <a:avLst/>
          </a:prstGeom>
          <a:noFill/>
          <a:ln w="9525">
            <a:solidFill>
              <a:srgbClr val="4A5C5F"/>
            </a:solidFill>
            <a:prstDash val="dash"/>
          </a:ln>
        </p:spPr>
      </p:sp>
      <p:sp>
        <p:nvSpPr>
          <p:cNvPr id="16" name="Text 13"/>
          <p:cNvSpPr txBox="1"/>
          <p:nvPr/>
        </p:nvSpPr>
        <p:spPr>
          <a:xfrm>
            <a:off x="1600200" y="5358384"/>
            <a:ext cx="1097280" cy="50292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Gebühren-</a:t>
            </a:r>
            <a:endParaRPr lang="en-US" sz="1000" dirty="0"/>
          </a:p>
          <a:p>
            <a:pPr algn="ctr" indent="0" marL="0">
              <a:buNone/>
            </a:pPr>
            <a:r>
              <a:rPr lang="en-US" sz="1000" dirty="0">
                <a:solidFill>
                  <a:srgbClr val="8E9C9B"/>
                </a:solidFill>
                <a:latin typeface="Calibri" pitchFamily="34" charset="0"/>
                <a:ea typeface="Calibri" pitchFamily="34" charset="-122"/>
                <a:cs typeface="Calibri" pitchFamily="34" charset="-120"/>
              </a:rPr>
              <a:t>reserve</a:t>
            </a:r>
            <a:endParaRPr lang="en-US" sz="1000" dirty="0"/>
          </a:p>
        </p:txBody>
      </p:sp>
      <p:sp>
        <p:nvSpPr>
          <p:cNvPr id="17" name="Shape 14"/>
          <p:cNvSpPr/>
          <p:nvPr/>
        </p:nvSpPr>
        <p:spPr>
          <a:xfrm>
            <a:off x="2905963" y="2446020"/>
            <a:ext cx="680314" cy="2857500"/>
          </a:xfrm>
          <a:prstGeom prst="rect">
            <a:avLst/>
          </a:prstGeom>
          <a:solidFill>
            <a:srgbClr val="5FC4B1"/>
          </a:solidFill>
          <a:ln/>
        </p:spPr>
      </p:sp>
      <p:sp>
        <p:nvSpPr>
          <p:cNvPr id="18" name="Text 15"/>
          <p:cNvSpPr txBox="1"/>
          <p:nvPr/>
        </p:nvSpPr>
        <p:spPr>
          <a:xfrm>
            <a:off x="2723083" y="2199132"/>
            <a:ext cx="1046074" cy="228600"/>
          </a:xfrm>
          <a:prstGeom prst="rect">
            <a:avLst/>
          </a:prstGeom>
          <a:noFill/>
          <a:ln/>
        </p:spPr>
        <p:txBody>
          <a:bodyPr wrap="square" lIns="0" tIns="0" rIns="0" bIns="0" rtlCol="0" anchor="t"/>
          <a:lstStyle/>
          <a:p>
            <a:pPr algn="ctr" indent="0" marL="0">
              <a:buNone/>
            </a:pPr>
            <a:r>
              <a:rPr lang="en-US" sz="1100" b="1" dirty="0">
                <a:solidFill>
                  <a:srgbClr val="5FC4B1"/>
                </a:solidFill>
                <a:latin typeface="Calibri" pitchFamily="34" charset="0"/>
                <a:ea typeface="Calibri" pitchFamily="34" charset="-122"/>
                <a:cs typeface="Calibri" pitchFamily="34" charset="-120"/>
              </a:rPr>
              <a:t>450</a:t>
            </a:r>
            <a:endParaRPr lang="en-US" sz="1100" dirty="0"/>
          </a:p>
        </p:txBody>
      </p:sp>
      <p:sp>
        <p:nvSpPr>
          <p:cNvPr id="19" name="Shape 16"/>
          <p:cNvSpPr/>
          <p:nvPr/>
        </p:nvSpPr>
        <p:spPr>
          <a:xfrm>
            <a:off x="3586277" y="2446020"/>
            <a:ext cx="416966" cy="0"/>
          </a:xfrm>
          <a:prstGeom prst="line">
            <a:avLst/>
          </a:prstGeom>
          <a:noFill/>
          <a:ln w="9525">
            <a:solidFill>
              <a:srgbClr val="4A5C5F"/>
            </a:solidFill>
            <a:prstDash val="dash"/>
          </a:ln>
        </p:spPr>
      </p:sp>
      <p:sp>
        <p:nvSpPr>
          <p:cNvPr id="20" name="Text 17"/>
          <p:cNvSpPr txBox="1"/>
          <p:nvPr/>
        </p:nvSpPr>
        <p:spPr>
          <a:xfrm>
            <a:off x="2697480" y="5358384"/>
            <a:ext cx="1097280" cy="50292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investierbar</a:t>
            </a:r>
            <a:endParaRPr lang="en-US" sz="1000" dirty="0"/>
          </a:p>
          <a:p>
            <a:pPr algn="ctr" indent="0" marL="0">
              <a:buNone/>
            </a:pPr>
            <a:r>
              <a:rPr lang="en-US" sz="1000" dirty="0">
                <a:solidFill>
                  <a:srgbClr val="8E9C9B"/>
                </a:solidFill>
                <a:latin typeface="Calibri" pitchFamily="34" charset="0"/>
                <a:ea typeface="Calibri" pitchFamily="34" charset="-122"/>
                <a:cs typeface="Calibri" pitchFamily="34" charset="-120"/>
              </a:rPr>
              <a:t>zum Start</a:t>
            </a:r>
            <a:endParaRPr lang="en-US" sz="1000" dirty="0"/>
          </a:p>
        </p:txBody>
      </p:sp>
      <p:sp>
        <p:nvSpPr>
          <p:cNvPr id="21" name="Shape 18"/>
          <p:cNvSpPr/>
          <p:nvPr/>
        </p:nvSpPr>
        <p:spPr>
          <a:xfrm>
            <a:off x="4003243" y="2446020"/>
            <a:ext cx="680314" cy="2095500"/>
          </a:xfrm>
          <a:prstGeom prst="rect">
            <a:avLst/>
          </a:prstGeom>
          <a:solidFill>
            <a:srgbClr val="E3897F"/>
          </a:solidFill>
          <a:ln/>
        </p:spPr>
      </p:sp>
      <p:sp>
        <p:nvSpPr>
          <p:cNvPr id="22" name="Text 19"/>
          <p:cNvSpPr txBox="1"/>
          <p:nvPr/>
        </p:nvSpPr>
        <p:spPr>
          <a:xfrm>
            <a:off x="3820363" y="2199132"/>
            <a:ext cx="1046074" cy="228600"/>
          </a:xfrm>
          <a:prstGeom prst="rect">
            <a:avLst/>
          </a:prstGeom>
          <a:noFill/>
          <a:ln/>
        </p:spPr>
        <p:txBody>
          <a:bodyPr wrap="square" lIns="0" tIns="0" rIns="0" bIns="0" rtlCol="0" anchor="t"/>
          <a:lstStyle/>
          <a:p>
            <a:pPr algn="ctr" indent="0" marL="0">
              <a:buNone/>
            </a:pPr>
            <a:r>
              <a:rPr lang="en-US" sz="1100" b="1" dirty="0">
                <a:solidFill>
                  <a:srgbClr val="E3897F"/>
                </a:solidFill>
                <a:latin typeface="Calibri" pitchFamily="34" charset="0"/>
                <a:ea typeface="Calibri" pitchFamily="34" charset="-122"/>
                <a:cs typeface="Calibri" pitchFamily="34" charset="-120"/>
              </a:rPr>
              <a:t>−330</a:t>
            </a:r>
            <a:endParaRPr lang="en-US" sz="1100" dirty="0"/>
          </a:p>
        </p:txBody>
      </p:sp>
      <p:sp>
        <p:nvSpPr>
          <p:cNvPr id="23" name="Shape 20"/>
          <p:cNvSpPr/>
          <p:nvPr/>
        </p:nvSpPr>
        <p:spPr>
          <a:xfrm>
            <a:off x="4683557" y="4541520"/>
            <a:ext cx="416966" cy="0"/>
          </a:xfrm>
          <a:prstGeom prst="line">
            <a:avLst/>
          </a:prstGeom>
          <a:noFill/>
          <a:ln w="9525">
            <a:solidFill>
              <a:srgbClr val="4A5C5F"/>
            </a:solidFill>
            <a:prstDash val="dash"/>
          </a:ln>
        </p:spPr>
      </p:sp>
      <p:sp>
        <p:nvSpPr>
          <p:cNvPr id="24" name="Text 21"/>
          <p:cNvSpPr txBox="1"/>
          <p:nvPr/>
        </p:nvSpPr>
        <p:spPr>
          <a:xfrm>
            <a:off x="3794760" y="5358384"/>
            <a:ext cx="1097280" cy="50292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 abgerufen</a:t>
            </a:r>
            <a:endParaRPr lang="en-US" sz="1000" dirty="0"/>
          </a:p>
          <a:p>
            <a:pPr algn="ctr" indent="0" marL="0">
              <a:buNone/>
            </a:pPr>
            <a:r>
              <a:rPr lang="en-US" sz="1000" dirty="0">
                <a:solidFill>
                  <a:srgbClr val="8E9C9B"/>
                </a:solidFill>
                <a:latin typeface="Calibri" pitchFamily="34" charset="0"/>
                <a:ea typeface="Calibri" pitchFamily="34" charset="-122"/>
                <a:cs typeface="Calibri" pitchFamily="34" charset="-120"/>
              </a:rPr>
              <a:t>für Deals</a:t>
            </a:r>
            <a:endParaRPr lang="en-US" sz="1000" dirty="0"/>
          </a:p>
        </p:txBody>
      </p:sp>
      <p:sp>
        <p:nvSpPr>
          <p:cNvPr id="25" name="Shape 22"/>
          <p:cNvSpPr/>
          <p:nvPr/>
        </p:nvSpPr>
        <p:spPr>
          <a:xfrm>
            <a:off x="5100523" y="4160520"/>
            <a:ext cx="680314" cy="381000"/>
          </a:xfrm>
          <a:prstGeom prst="rect">
            <a:avLst/>
          </a:prstGeom>
          <a:solidFill>
            <a:srgbClr val="5FC4B1"/>
          </a:solidFill>
          <a:ln/>
        </p:spPr>
      </p:sp>
      <p:sp>
        <p:nvSpPr>
          <p:cNvPr id="26" name="Text 23"/>
          <p:cNvSpPr txBox="1"/>
          <p:nvPr/>
        </p:nvSpPr>
        <p:spPr>
          <a:xfrm>
            <a:off x="4917643" y="3913632"/>
            <a:ext cx="1046074" cy="228600"/>
          </a:xfrm>
          <a:prstGeom prst="rect">
            <a:avLst/>
          </a:prstGeom>
          <a:noFill/>
          <a:ln/>
        </p:spPr>
        <p:txBody>
          <a:bodyPr wrap="square" lIns="0" tIns="0" rIns="0" bIns="0" rtlCol="0" anchor="t"/>
          <a:lstStyle/>
          <a:p>
            <a:pPr algn="ctr" indent="0" marL="0">
              <a:buNone/>
            </a:pPr>
            <a:r>
              <a:rPr lang="en-US" sz="1100" b="1" dirty="0">
                <a:solidFill>
                  <a:srgbClr val="5FC4B1"/>
                </a:solidFill>
                <a:latin typeface="Calibri" pitchFamily="34" charset="0"/>
                <a:ea typeface="Calibri" pitchFamily="34" charset="-122"/>
                <a:cs typeface="Calibri" pitchFamily="34" charset="-120"/>
              </a:rPr>
              <a:t>+60</a:t>
            </a:r>
            <a:endParaRPr lang="en-US" sz="1100" dirty="0"/>
          </a:p>
        </p:txBody>
      </p:sp>
      <p:sp>
        <p:nvSpPr>
          <p:cNvPr id="27" name="Shape 24"/>
          <p:cNvSpPr/>
          <p:nvPr/>
        </p:nvSpPr>
        <p:spPr>
          <a:xfrm>
            <a:off x="5780837" y="4160520"/>
            <a:ext cx="416966" cy="0"/>
          </a:xfrm>
          <a:prstGeom prst="line">
            <a:avLst/>
          </a:prstGeom>
          <a:noFill/>
          <a:ln w="9525">
            <a:solidFill>
              <a:srgbClr val="4A5C5F"/>
            </a:solidFill>
            <a:prstDash val="dash"/>
          </a:ln>
        </p:spPr>
      </p:sp>
      <p:sp>
        <p:nvSpPr>
          <p:cNvPr id="28" name="Text 25"/>
          <p:cNvSpPr txBox="1"/>
          <p:nvPr/>
        </p:nvSpPr>
        <p:spPr>
          <a:xfrm>
            <a:off x="4892040" y="5358384"/>
            <a:ext cx="1097280" cy="50292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 einbehaltene</a:t>
            </a:r>
            <a:endParaRPr lang="en-US" sz="1000" dirty="0"/>
          </a:p>
          <a:p>
            <a:pPr algn="ctr" indent="0" marL="0">
              <a:buNone/>
            </a:pPr>
            <a:r>
              <a:rPr lang="en-US" sz="1000" dirty="0">
                <a:solidFill>
                  <a:srgbClr val="8E9C9B"/>
                </a:solidFill>
                <a:latin typeface="Calibri" pitchFamily="34" charset="0"/>
                <a:ea typeface="Calibri" pitchFamily="34" charset="-122"/>
                <a:cs typeface="Calibri" pitchFamily="34" charset="-120"/>
              </a:rPr>
              <a:t>Erlöse</a:t>
            </a:r>
            <a:endParaRPr lang="en-US" sz="1000" dirty="0"/>
          </a:p>
        </p:txBody>
      </p:sp>
      <p:sp>
        <p:nvSpPr>
          <p:cNvPr id="29" name="Shape 26"/>
          <p:cNvSpPr/>
          <p:nvPr/>
        </p:nvSpPr>
        <p:spPr>
          <a:xfrm>
            <a:off x="6197803" y="4160520"/>
            <a:ext cx="680314" cy="1143000"/>
          </a:xfrm>
          <a:prstGeom prst="rect">
            <a:avLst/>
          </a:prstGeom>
          <a:solidFill>
            <a:srgbClr val="DCB264"/>
          </a:solidFill>
          <a:ln/>
        </p:spPr>
      </p:sp>
      <p:sp>
        <p:nvSpPr>
          <p:cNvPr id="30" name="Text 27"/>
          <p:cNvSpPr txBox="1"/>
          <p:nvPr/>
        </p:nvSpPr>
        <p:spPr>
          <a:xfrm>
            <a:off x="6014923" y="3913632"/>
            <a:ext cx="1046074" cy="228600"/>
          </a:xfrm>
          <a:prstGeom prst="rect">
            <a:avLst/>
          </a:prstGeom>
          <a:noFill/>
          <a:ln/>
        </p:spPr>
        <p:txBody>
          <a:bodyPr wrap="square" lIns="0" tIns="0" rIns="0" bIns="0" rtlCol="0" anchor="t"/>
          <a:lstStyle/>
          <a:p>
            <a:pPr algn="ctr" indent="0" marL="0">
              <a:buNone/>
            </a:pPr>
            <a:r>
              <a:rPr lang="en-US" sz="1100" b="1" dirty="0">
                <a:solidFill>
                  <a:srgbClr val="DCB264"/>
                </a:solidFill>
                <a:latin typeface="Calibri" pitchFamily="34" charset="0"/>
                <a:ea typeface="Calibri" pitchFamily="34" charset="-122"/>
                <a:cs typeface="Calibri" pitchFamily="34" charset="-120"/>
              </a:rPr>
              <a:t>180</a:t>
            </a:r>
            <a:endParaRPr lang="en-US" sz="1100" dirty="0"/>
          </a:p>
        </p:txBody>
      </p:sp>
      <p:sp>
        <p:nvSpPr>
          <p:cNvPr id="31" name="Text 28"/>
          <p:cNvSpPr txBox="1"/>
          <p:nvPr/>
        </p:nvSpPr>
        <p:spPr>
          <a:xfrm>
            <a:off x="5989320" y="5358384"/>
            <a:ext cx="1097280" cy="50292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Dry Powder</a:t>
            </a:r>
            <a:endParaRPr lang="en-US" sz="1000" dirty="0"/>
          </a:p>
          <a:p>
            <a:pPr algn="ctr" indent="0" marL="0">
              <a:buNone/>
            </a:pPr>
            <a:r>
              <a:rPr lang="en-US" sz="1000" dirty="0">
                <a:solidFill>
                  <a:srgbClr val="8E9C9B"/>
                </a:solidFill>
                <a:latin typeface="Calibri" pitchFamily="34" charset="0"/>
                <a:ea typeface="Calibri" pitchFamily="34" charset="-122"/>
                <a:cs typeface="Calibri" pitchFamily="34" charset="-120"/>
              </a:rPr>
              <a:t>(Beispiel)</a:t>
            </a:r>
            <a:endParaRPr lang="en-US" sz="1000" dirty="0"/>
          </a:p>
        </p:txBody>
      </p:sp>
      <p:sp>
        <p:nvSpPr>
          <p:cNvPr id="32" name="Shape 29"/>
          <p:cNvSpPr/>
          <p:nvPr/>
        </p:nvSpPr>
        <p:spPr>
          <a:xfrm>
            <a:off x="502920" y="5303520"/>
            <a:ext cx="6583680" cy="0"/>
          </a:xfrm>
          <a:prstGeom prst="line">
            <a:avLst/>
          </a:prstGeom>
          <a:noFill/>
          <a:ln w="9525">
            <a:solidFill>
              <a:srgbClr val="243033"/>
            </a:solidFill>
            <a:prstDash val="solid"/>
          </a:ln>
        </p:spPr>
      </p:sp>
      <p:sp>
        <p:nvSpPr>
          <p:cNvPr id="33" name="Text 30"/>
          <p:cNvSpPr txBox="1"/>
          <p:nvPr/>
        </p:nvSpPr>
        <p:spPr>
          <a:xfrm>
            <a:off x="502920" y="5897880"/>
            <a:ext cx="6583680" cy="274320"/>
          </a:xfrm>
          <a:prstGeom prst="rect">
            <a:avLst/>
          </a:prstGeom>
          <a:noFill/>
          <a:ln/>
        </p:spPr>
        <p:txBody>
          <a:bodyPr wrap="square" lIns="0" tIns="0" rIns="0" bIns="0" rtlCol="0" anchor="t"/>
          <a:lstStyle/>
          <a:p>
            <a:pPr algn="l" indent="0" marL="0">
              <a:buNone/>
            </a:pPr>
            <a:r>
              <a:rPr lang="en-US" sz="1000" dirty="0">
                <a:solidFill>
                  <a:srgbClr val="8E9C9B"/>
                </a:solidFill>
                <a:latin typeface="Calibri" pitchFamily="34" charset="0"/>
                <a:ea typeface="Calibri" pitchFamily="34" charset="-122"/>
                <a:cs typeface="Calibri" pitchFamily="34" charset="-120"/>
              </a:rPr>
              <a:t>Beispielrechnung in Mio. €; Reserve = 10 Halbjahre × 2 % × 500 / 2</a:t>
            </a:r>
            <a:endParaRPr lang="en-US" sz="1000" dirty="0"/>
          </a:p>
        </p:txBody>
      </p:sp>
      <p:sp>
        <p:nvSpPr>
          <p:cNvPr id="34" name="Shape 31"/>
          <p:cNvSpPr/>
          <p:nvPr/>
        </p:nvSpPr>
        <p:spPr>
          <a:xfrm>
            <a:off x="7406640" y="1600200"/>
            <a:ext cx="4279392" cy="868680"/>
          </a:xfrm>
          <a:prstGeom prst="roundRect">
            <a:avLst>
              <a:gd name="adj" fmla="val 8421"/>
            </a:avLst>
          </a:prstGeom>
          <a:solidFill>
            <a:srgbClr val="1C282B"/>
          </a:solidFill>
          <a:ln w="12700">
            <a:solidFill>
              <a:srgbClr val="DCB264"/>
            </a:solidFill>
            <a:prstDash val="solid"/>
          </a:ln>
        </p:spPr>
      </p:sp>
      <p:sp>
        <p:nvSpPr>
          <p:cNvPr id="35" name="Text 32"/>
          <p:cNvSpPr txBox="1"/>
          <p:nvPr/>
        </p:nvSpPr>
        <p:spPr>
          <a:xfrm>
            <a:off x="7589520" y="1600200"/>
            <a:ext cx="3913632" cy="868680"/>
          </a:xfrm>
          <a:prstGeom prst="rect">
            <a:avLst/>
          </a:prstGeom>
          <a:noFill/>
          <a:ln/>
        </p:spPr>
        <p:txBody>
          <a:bodyPr wrap="square" lIns="0" tIns="0" rIns="0" bIns="0" rtlCol="0" anchor="ctr"/>
          <a:lstStyle/>
          <a:p>
            <a:pPr algn="ctr" indent="0" marL="0">
              <a:buNone/>
            </a:pPr>
            <a:r>
              <a:rPr lang="en-US" sz="1350" b="1" dirty="0">
                <a:solidFill>
                  <a:srgbClr val="DCB264"/>
                </a:solidFill>
                <a:latin typeface="Calibri" pitchFamily="34" charset="0"/>
                <a:ea typeface="Calibri" pitchFamily="34" charset="-122"/>
                <a:cs typeface="Calibri" pitchFamily="34" charset="-120"/>
              </a:rPr>
              <a:t>Investierbar = offenes Commitment + einbehaltene Erlöse − Gebührenreserve</a:t>
            </a:r>
            <a:endParaRPr lang="en-US" sz="1350" dirty="0"/>
          </a:p>
        </p:txBody>
      </p:sp>
      <p:sp>
        <p:nvSpPr>
          <p:cNvPr id="36" name="Text 33"/>
          <p:cNvSpPr txBox="1"/>
          <p:nvPr/>
        </p:nvSpPr>
        <p:spPr>
          <a:xfrm>
            <a:off x="7406640" y="2697480"/>
            <a:ext cx="4279392" cy="219456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DCB264"/>
                </a:solidFill>
                <a:latin typeface="Calibri" pitchFamily="34" charset="0"/>
                <a:ea typeface="Calibri" pitchFamily="34" charset="-122"/>
                <a:cs typeface="Calibri" pitchFamily="34" charset="-120"/>
              </a:rPr>
              <a:t>Kapitalabruf: </a:t>
            </a:r>
            <a:pPr indent="0" marL="0">
              <a:buNone/>
            </a:pPr>
            <a:r>
              <a:rPr lang="en-US" sz="1250" dirty="0">
                <a:solidFill>
                  <a:srgbClr val="EDF1EE"/>
                </a:solidFill>
                <a:latin typeface="Calibri" pitchFamily="34" charset="0"/>
                <a:ea typeface="Calibri" pitchFamily="34" charset="-122"/>
                <a:cs typeface="Calibri" pitchFamily="34" charset="-120"/>
              </a:rPr>
              <a:t>Jeder Abfluss (Equity, Fees, Due Diligence) nutzt zuerst einbehaltene Erlöse, danach das Commitment.</a:t>
            </a:r>
            <a:endParaRPr lang="en-US" sz="1250" dirty="0"/>
          </a:p>
          <a:p>
            <a:pPr marL="177800" indent="-177800">
              <a:spcAft>
                <a:spcPts val="700"/>
              </a:spcAft>
              <a:buSzPct val="100000"/>
              <a:buChar char="•"/>
            </a:pPr>
            <a:r>
              <a:rPr lang="en-US" sz="1250" b="1" dirty="0">
                <a:solidFill>
                  <a:srgbClr val="DCB264"/>
                </a:solidFill>
                <a:latin typeface="Calibri" pitchFamily="34" charset="0"/>
                <a:ea typeface="Calibri" pitchFamily="34" charset="-122"/>
                <a:cs typeface="Calibri" pitchFamily="34" charset="-120"/>
              </a:rPr>
              <a:t>Harte Grenze: </a:t>
            </a:r>
            <a:pPr indent="0" marL="0">
              <a:buNone/>
            </a:pPr>
            <a:r>
              <a:rPr lang="en-US" sz="1250" dirty="0">
                <a:solidFill>
                  <a:srgbClr val="EDF1EE"/>
                </a:solidFill>
                <a:latin typeface="Calibri" pitchFamily="34" charset="0"/>
                <a:ea typeface="Calibri" pitchFamily="34" charset="-122"/>
                <a:cs typeface="Calibri" pitchFamily="34" charset="-120"/>
              </a:rPr>
              <a:t>Über das Commitment hinaus wird nie abgerufen; ungedeckte Gebühren laufen als Verbindlichkeit auf.</a:t>
            </a:r>
            <a:endParaRPr lang="en-US" sz="1250" dirty="0"/>
          </a:p>
          <a:p>
            <a:pPr marL="177800" indent="-177800">
              <a:spcAft>
                <a:spcPts val="700"/>
              </a:spcAft>
              <a:buSzPct val="100000"/>
              <a:buChar char="•"/>
            </a:pPr>
            <a:r>
              <a:rPr lang="en-US" sz="1250" b="1" dirty="0">
                <a:solidFill>
                  <a:srgbClr val="DCB264"/>
                </a:solidFill>
                <a:latin typeface="Calibri" pitchFamily="34" charset="0"/>
                <a:ea typeface="Calibri" pitchFamily="34" charset="-122"/>
                <a:cs typeface="Calibri" pitchFamily="34" charset="-120"/>
              </a:rPr>
              <a:t>Dry Powder </a:t>
            </a:r>
            <a:pPr indent="0" marL="0">
              <a:buNone/>
            </a:pPr>
            <a:r>
              <a:rPr lang="en-US" sz="1250" dirty="0">
                <a:solidFill>
                  <a:srgbClr val="EDF1EE"/>
                </a:solidFill>
                <a:latin typeface="Calibri" pitchFamily="34" charset="0"/>
                <a:ea typeface="Calibri" pitchFamily="34" charset="-122"/>
                <a:cs typeface="Calibri" pitchFamily="34" charset="-120"/>
              </a:rPr>
              <a:t>steht in der Kopfzeile des Spiels – daran scheitern Gebote mit zu viel Eigenkapital.</a:t>
            </a:r>
            <a:endParaRPr lang="en-US" sz="1250" dirty="0"/>
          </a:p>
        </p:txBody>
      </p:sp>
      <p:pic>
        <p:nvPicPr>
          <p:cNvPr id="37" name="Image 0" descr="/tmp/claude-0/deck/img/kpi_header.jpg">    </p:cNvPr>
          <p:cNvPicPr>
            <a:picLocks noChangeAspect="1"/>
          </p:cNvPicPr>
          <p:nvPr/>
        </p:nvPicPr>
        <p:blipFill>
          <a:blip r:embed="rId1"/>
          <a:stretch>
            <a:fillRect/>
          </a:stretch>
        </p:blipFill>
        <p:spPr>
          <a:xfrm>
            <a:off x="7406640" y="4892040"/>
            <a:ext cx="2488019" cy="1371600"/>
          </a:xfrm>
          <a:prstGeom prst="rect">
            <a:avLst/>
          </a:prstGeom>
        </p:spPr>
      </p:pic>
      <p:sp>
        <p:nvSpPr>
          <p:cNvPr id="38" name="Shape 34"/>
          <p:cNvSpPr/>
          <p:nvPr/>
        </p:nvSpPr>
        <p:spPr>
          <a:xfrm>
            <a:off x="7406640" y="4892040"/>
            <a:ext cx="2488019" cy="1371600"/>
          </a:xfrm>
          <a:prstGeom prst="rect">
            <a:avLst/>
          </a:prstGeom>
          <a:ln w="9525">
            <a:solidFill>
              <a:srgbClr val="33474B"/>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CB264"/>
                </a:solidFill>
                <a:latin typeface="Calibri" pitchFamily="34" charset="0"/>
                <a:ea typeface="Calibri" pitchFamily="34" charset="-122"/>
                <a:cs typeface="Calibri" pitchFamily="34" charset="-120"/>
              </a:rPr>
              <a:t>KOSTENSTRUKTUR</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Management Fee und Transaktionskosten</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CB264"/>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CB264"/>
                </a:solidFill>
                <a:latin typeface="Calibri" pitchFamily="34" charset="0"/>
                <a:ea typeface="Calibri" pitchFamily="34" charset="-122"/>
                <a:cs typeface="Calibri" pitchFamily="34" charset="-120"/>
              </a:rPr>
              <a:t>A · FUND ECONOMICS</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6</a:t>
            </a:r>
            <a:endParaRPr lang="en-US" sz="900" dirty="0"/>
          </a:p>
        </p:txBody>
      </p:sp>
      <p:sp>
        <p:nvSpPr>
          <p:cNvPr id="9" name="Text 6"/>
          <p:cNvSpPr txBox="1"/>
          <p:nvPr/>
        </p:nvSpPr>
        <p:spPr>
          <a:xfrm>
            <a:off x="502920" y="1600200"/>
            <a:ext cx="6858000" cy="228600"/>
          </a:xfrm>
          <a:prstGeom prst="rect">
            <a:avLst/>
          </a:prstGeom>
          <a:noFill/>
          <a:ln/>
        </p:spPr>
        <p:txBody>
          <a:bodyPr wrap="square" lIns="0" tIns="0" rIns="0" bIns="0" rtlCol="0" anchor="t"/>
          <a:lstStyle/>
          <a:p>
            <a:pPr algn="l" indent="0" marL="0">
              <a:buNone/>
            </a:pPr>
            <a:r>
              <a:rPr lang="en-US" sz="1000" b="1" spc="150" kern="0" dirty="0">
                <a:solidFill>
                  <a:srgbClr val="DCB264"/>
                </a:solidFill>
                <a:latin typeface="Calibri" pitchFamily="34" charset="0"/>
                <a:ea typeface="Calibri" pitchFamily="34" charset="-122"/>
                <a:cs typeface="Calibri" pitchFamily="34" charset="-120"/>
              </a:rPr>
              <a:t>MANAGEMENT FEE ÜBER DIE LAUFZEIT (MIO. € JE HALBJAHR)</a:t>
            </a:r>
            <a:endParaRPr lang="en-US" sz="1000" dirty="0"/>
          </a:p>
        </p:txBody>
      </p:sp>
      <p:graphicFrame>
        <p:nvGraphicFramePr>
          <p:cNvPr id="10" name="Chart 0" descr=""/>
          <p:cNvGraphicFramePr/>
          <p:nvPr/>
        </p:nvGraphicFramePr>
        <p:xfrm>
          <a:off x="502920" y="1874520"/>
          <a:ext cx="6858000" cy="3017520"/>
        </p:xfrm>
        <a:graphic xmlns:a="http://schemas.openxmlformats.org/drawingml/2006/main">
          <a:graphicData uri="http://schemas.openxmlformats.org/drawingml/2006/chart">
            <c:chart xmlns:c="http://schemas.openxmlformats.org/drawingml/2006/chart" r:id="rId1"/>
          </a:graphicData>
        </a:graphic>
      </p:graphicFrame>
      <p:sp>
        <p:nvSpPr>
          <p:cNvPr id="11" name="Text 7"/>
          <p:cNvSpPr txBox="1"/>
          <p:nvPr/>
        </p:nvSpPr>
        <p:spPr>
          <a:xfrm>
            <a:off x="685800" y="4983480"/>
            <a:ext cx="3291840" cy="274320"/>
          </a:xfrm>
          <a:prstGeom prst="rect">
            <a:avLst/>
          </a:prstGeom>
          <a:noFill/>
          <a:ln/>
        </p:spPr>
        <p:txBody>
          <a:bodyPr wrap="square" lIns="0" tIns="0" rIns="0" bIns="0" rtlCol="0" anchor="t"/>
          <a:lstStyle/>
          <a:p>
            <a:pPr algn="l" indent="0" marL="0">
              <a:buNone/>
            </a:pPr>
            <a:r>
              <a:rPr lang="en-US" sz="1100" b="1" dirty="0">
                <a:solidFill>
                  <a:srgbClr val="DCB264"/>
                </a:solidFill>
                <a:latin typeface="Calibri" pitchFamily="34" charset="0"/>
                <a:ea typeface="Calibri" pitchFamily="34" charset="-122"/>
                <a:cs typeface="Calibri" pitchFamily="34" charset="-120"/>
              </a:rPr>
              <a:t>HJ 1–10: 2 % p. a. auf 500 Mio. € Commitment</a:t>
            </a:r>
            <a:endParaRPr lang="en-US" sz="1100" dirty="0"/>
          </a:p>
        </p:txBody>
      </p:sp>
      <p:sp>
        <p:nvSpPr>
          <p:cNvPr id="12" name="Text 8"/>
          <p:cNvSpPr txBox="1"/>
          <p:nvPr/>
        </p:nvSpPr>
        <p:spPr>
          <a:xfrm>
            <a:off x="3977640" y="4983480"/>
            <a:ext cx="3383280" cy="457200"/>
          </a:xfrm>
          <a:prstGeom prst="rect">
            <a:avLst/>
          </a:prstGeom>
          <a:noFill/>
          <a:ln/>
        </p:spPr>
        <p:txBody>
          <a:bodyPr wrap="square" lIns="0" tIns="0" rIns="0" bIns="0" rtlCol="0" anchor="t"/>
          <a:lstStyle/>
          <a:p>
            <a:pPr algn="l" indent="0" marL="0">
              <a:buNone/>
            </a:pPr>
            <a:r>
              <a:rPr lang="en-US" sz="1100" dirty="0">
                <a:solidFill>
                  <a:srgbClr val="8E9C9B"/>
                </a:solidFill>
                <a:latin typeface="Calibri" pitchFamily="34" charset="0"/>
                <a:ea typeface="Calibri" pitchFamily="34" charset="-122"/>
                <a:cs typeface="Calibri" pitchFamily="34" charset="-120"/>
              </a:rPr>
              <a:t>HJ 11–20: 2 % p. a. auf den Einstand des Restportfolios (Beispielverlauf)</a:t>
            </a:r>
            <a:endParaRPr lang="en-US" sz="1100" dirty="0"/>
          </a:p>
        </p:txBody>
      </p:sp>
      <p:sp>
        <p:nvSpPr>
          <p:cNvPr id="13" name="Shape 9"/>
          <p:cNvSpPr/>
          <p:nvPr/>
        </p:nvSpPr>
        <p:spPr>
          <a:xfrm>
            <a:off x="7680960" y="1600200"/>
            <a:ext cx="4005072" cy="777240"/>
          </a:xfrm>
          <a:prstGeom prst="roundRect">
            <a:avLst>
              <a:gd name="adj" fmla="val 9412"/>
            </a:avLst>
          </a:prstGeom>
          <a:solidFill>
            <a:srgbClr val="161F22"/>
          </a:solidFill>
          <a:ln w="9525">
            <a:solidFill>
              <a:srgbClr val="243033"/>
            </a:solidFill>
            <a:prstDash val="solid"/>
          </a:ln>
        </p:spPr>
      </p:sp>
      <p:sp>
        <p:nvSpPr>
          <p:cNvPr id="14" name="Text 10"/>
          <p:cNvSpPr txBox="1"/>
          <p:nvPr/>
        </p:nvSpPr>
        <p:spPr>
          <a:xfrm>
            <a:off x="7818120" y="1600200"/>
            <a:ext cx="1234440" cy="777240"/>
          </a:xfrm>
          <a:prstGeom prst="rect">
            <a:avLst/>
          </a:prstGeom>
          <a:noFill/>
          <a:ln/>
        </p:spPr>
        <p:txBody>
          <a:bodyPr wrap="square" lIns="0" tIns="0" rIns="0" bIns="0" rtlCol="0" anchor="ctr"/>
          <a:lstStyle/>
          <a:p>
            <a:pPr algn="l" indent="0" marL="0">
              <a:buNone/>
            </a:pPr>
            <a:r>
              <a:rPr lang="en-US" sz="2000" b="1" dirty="0">
                <a:solidFill>
                  <a:srgbClr val="E3897F"/>
                </a:solidFill>
                <a:latin typeface="Calibri" pitchFamily="34" charset="0"/>
                <a:ea typeface="Calibri" pitchFamily="34" charset="-122"/>
                <a:cs typeface="Calibri" pitchFamily="34" charset="-120"/>
              </a:rPr>
              <a:t>2 %</a:t>
            </a:r>
            <a:endParaRPr lang="en-US" sz="2000" dirty="0"/>
          </a:p>
        </p:txBody>
      </p:sp>
      <p:sp>
        <p:nvSpPr>
          <p:cNvPr id="15" name="Text 11"/>
          <p:cNvSpPr txBox="1"/>
          <p:nvPr/>
        </p:nvSpPr>
        <p:spPr>
          <a:xfrm>
            <a:off x="9098280" y="1600200"/>
            <a:ext cx="2468880" cy="777240"/>
          </a:xfrm>
          <a:prstGeom prst="rect">
            <a:avLst/>
          </a:prstGeom>
          <a:noFill/>
          <a:ln/>
        </p:spPr>
        <p:txBody>
          <a:bodyPr wrap="square" lIns="0" tIns="0" rIns="0" bIns="0" rtlCol="0" anchor="ctr"/>
          <a:lstStyle/>
          <a:p>
            <a:pPr algn="l" indent="0" marL="0">
              <a:buNone/>
            </a:pPr>
            <a:r>
              <a:rPr lang="en-US" sz="1150" dirty="0">
                <a:solidFill>
                  <a:srgbClr val="EDF1EE"/>
                </a:solidFill>
                <a:latin typeface="Calibri" pitchFamily="34" charset="0"/>
                <a:ea typeface="Calibri" pitchFamily="34" charset="-122"/>
                <a:cs typeface="Calibri" pitchFamily="34" charset="-120"/>
              </a:rPr>
              <a:t>Entry Fee auf den EV – steckt im Equity Ticket</a:t>
            </a:r>
            <a:endParaRPr lang="en-US" sz="1150" dirty="0"/>
          </a:p>
        </p:txBody>
      </p:sp>
      <p:sp>
        <p:nvSpPr>
          <p:cNvPr id="16" name="Shape 12"/>
          <p:cNvSpPr/>
          <p:nvPr/>
        </p:nvSpPr>
        <p:spPr>
          <a:xfrm>
            <a:off x="7680960" y="2496312"/>
            <a:ext cx="4005072" cy="777240"/>
          </a:xfrm>
          <a:prstGeom prst="roundRect">
            <a:avLst>
              <a:gd name="adj" fmla="val 9412"/>
            </a:avLst>
          </a:prstGeom>
          <a:solidFill>
            <a:srgbClr val="161F22"/>
          </a:solidFill>
          <a:ln w="9525">
            <a:solidFill>
              <a:srgbClr val="243033"/>
            </a:solidFill>
            <a:prstDash val="solid"/>
          </a:ln>
        </p:spPr>
      </p:sp>
      <p:sp>
        <p:nvSpPr>
          <p:cNvPr id="17" name="Text 13"/>
          <p:cNvSpPr txBox="1"/>
          <p:nvPr/>
        </p:nvSpPr>
        <p:spPr>
          <a:xfrm>
            <a:off x="7818120" y="2496312"/>
            <a:ext cx="1234440" cy="777240"/>
          </a:xfrm>
          <a:prstGeom prst="rect">
            <a:avLst/>
          </a:prstGeom>
          <a:noFill/>
          <a:ln/>
        </p:spPr>
        <p:txBody>
          <a:bodyPr wrap="square" lIns="0" tIns="0" rIns="0" bIns="0" rtlCol="0" anchor="ctr"/>
          <a:lstStyle/>
          <a:p>
            <a:pPr algn="l" indent="0" marL="0">
              <a:buNone/>
            </a:pPr>
            <a:r>
              <a:rPr lang="en-US" sz="2000" b="1" dirty="0">
                <a:solidFill>
                  <a:srgbClr val="E3897F"/>
                </a:solidFill>
                <a:latin typeface="Calibri" pitchFamily="34" charset="0"/>
                <a:ea typeface="Calibri" pitchFamily="34" charset="-122"/>
                <a:cs typeface="Calibri" pitchFamily="34" charset="-120"/>
              </a:rPr>
              <a:t>0,6–3,5</a:t>
            </a:r>
            <a:endParaRPr lang="en-US" sz="2000" dirty="0"/>
          </a:p>
        </p:txBody>
      </p:sp>
      <p:sp>
        <p:nvSpPr>
          <p:cNvPr id="18" name="Text 14"/>
          <p:cNvSpPr txBox="1"/>
          <p:nvPr/>
        </p:nvSpPr>
        <p:spPr>
          <a:xfrm>
            <a:off x="9098280" y="2496312"/>
            <a:ext cx="2468880" cy="777240"/>
          </a:xfrm>
          <a:prstGeom prst="rect">
            <a:avLst/>
          </a:prstGeom>
          <a:noFill/>
          <a:ln/>
        </p:spPr>
        <p:txBody>
          <a:bodyPr wrap="square" lIns="0" tIns="0" rIns="0" bIns="0" rtlCol="0" anchor="ctr"/>
          <a:lstStyle/>
          <a:p>
            <a:pPr algn="l" indent="0" marL="0">
              <a:buNone/>
            </a:pPr>
            <a:r>
              <a:rPr lang="en-US" sz="1150" dirty="0">
                <a:solidFill>
                  <a:srgbClr val="EDF1EE"/>
                </a:solidFill>
                <a:latin typeface="Calibri" pitchFamily="34" charset="0"/>
                <a:ea typeface="Calibri" pitchFamily="34" charset="-122"/>
                <a:cs typeface="Calibri" pitchFamily="34" charset="-120"/>
              </a:rPr>
              <a:t>Mio. € je Due Diligence – auch bei verlorenem Deal</a:t>
            </a:r>
            <a:endParaRPr lang="en-US" sz="1150" dirty="0"/>
          </a:p>
        </p:txBody>
      </p:sp>
      <p:sp>
        <p:nvSpPr>
          <p:cNvPr id="19" name="Shape 15"/>
          <p:cNvSpPr/>
          <p:nvPr/>
        </p:nvSpPr>
        <p:spPr>
          <a:xfrm>
            <a:off x="7680960" y="3392424"/>
            <a:ext cx="4005072" cy="777240"/>
          </a:xfrm>
          <a:prstGeom prst="roundRect">
            <a:avLst>
              <a:gd name="adj" fmla="val 9412"/>
            </a:avLst>
          </a:prstGeom>
          <a:solidFill>
            <a:srgbClr val="161F22"/>
          </a:solidFill>
          <a:ln w="9525">
            <a:solidFill>
              <a:srgbClr val="243033"/>
            </a:solidFill>
            <a:prstDash val="solid"/>
          </a:ln>
        </p:spPr>
      </p:sp>
      <p:sp>
        <p:nvSpPr>
          <p:cNvPr id="20" name="Text 16"/>
          <p:cNvSpPr txBox="1"/>
          <p:nvPr/>
        </p:nvSpPr>
        <p:spPr>
          <a:xfrm>
            <a:off x="7818120" y="3392424"/>
            <a:ext cx="1234440" cy="777240"/>
          </a:xfrm>
          <a:prstGeom prst="rect">
            <a:avLst/>
          </a:prstGeom>
          <a:noFill/>
          <a:ln/>
        </p:spPr>
        <p:txBody>
          <a:bodyPr wrap="square" lIns="0" tIns="0" rIns="0" bIns="0" rtlCol="0" anchor="ctr"/>
          <a:lstStyle/>
          <a:p>
            <a:pPr algn="l" indent="0" marL="0">
              <a:buNone/>
            </a:pPr>
            <a:r>
              <a:rPr lang="en-US" sz="2000" b="1" dirty="0">
                <a:solidFill>
                  <a:srgbClr val="E3897F"/>
                </a:solidFill>
                <a:latin typeface="Calibri" pitchFamily="34" charset="0"/>
                <a:ea typeface="Calibri" pitchFamily="34" charset="-122"/>
                <a:cs typeface="Calibri" pitchFamily="34" charset="-120"/>
              </a:rPr>
              <a:t>1,5–4 %</a:t>
            </a:r>
            <a:endParaRPr lang="en-US" sz="2000" dirty="0"/>
          </a:p>
        </p:txBody>
      </p:sp>
      <p:sp>
        <p:nvSpPr>
          <p:cNvPr id="21" name="Text 17"/>
          <p:cNvSpPr txBox="1"/>
          <p:nvPr/>
        </p:nvSpPr>
        <p:spPr>
          <a:xfrm>
            <a:off x="9098280" y="3392424"/>
            <a:ext cx="2468880" cy="777240"/>
          </a:xfrm>
          <a:prstGeom prst="rect">
            <a:avLst/>
          </a:prstGeom>
          <a:noFill/>
          <a:ln/>
        </p:spPr>
        <p:txBody>
          <a:bodyPr wrap="square" lIns="0" tIns="0" rIns="0" bIns="0" rtlCol="0" anchor="ctr"/>
          <a:lstStyle/>
          <a:p>
            <a:pPr algn="l" indent="0" marL="0">
              <a:buNone/>
            </a:pPr>
            <a:r>
              <a:rPr lang="en-US" sz="1150" dirty="0">
                <a:solidFill>
                  <a:srgbClr val="EDF1EE"/>
                </a:solidFill>
                <a:latin typeface="Calibri" pitchFamily="34" charset="0"/>
                <a:ea typeface="Calibri" pitchFamily="34" charset="-122"/>
                <a:cs typeface="Calibri" pitchFamily="34" charset="-120"/>
              </a:rPr>
              <a:t>Exit-Kosten je nach Route</a:t>
            </a:r>
            <a:endParaRPr lang="en-US" sz="1150" dirty="0"/>
          </a:p>
        </p:txBody>
      </p:sp>
      <p:sp>
        <p:nvSpPr>
          <p:cNvPr id="22" name="Shape 18"/>
          <p:cNvSpPr/>
          <p:nvPr/>
        </p:nvSpPr>
        <p:spPr>
          <a:xfrm>
            <a:off x="7680960" y="4288536"/>
            <a:ext cx="4005072" cy="777240"/>
          </a:xfrm>
          <a:prstGeom prst="roundRect">
            <a:avLst>
              <a:gd name="adj" fmla="val 9412"/>
            </a:avLst>
          </a:prstGeom>
          <a:solidFill>
            <a:srgbClr val="161F22"/>
          </a:solidFill>
          <a:ln w="9525">
            <a:solidFill>
              <a:srgbClr val="243033"/>
            </a:solidFill>
            <a:prstDash val="solid"/>
          </a:ln>
        </p:spPr>
      </p:sp>
      <p:sp>
        <p:nvSpPr>
          <p:cNvPr id="23" name="Text 19"/>
          <p:cNvSpPr txBox="1"/>
          <p:nvPr/>
        </p:nvSpPr>
        <p:spPr>
          <a:xfrm>
            <a:off x="7818120" y="4288536"/>
            <a:ext cx="1234440" cy="777240"/>
          </a:xfrm>
          <a:prstGeom prst="rect">
            <a:avLst/>
          </a:prstGeom>
          <a:noFill/>
          <a:ln/>
        </p:spPr>
        <p:txBody>
          <a:bodyPr wrap="square" lIns="0" tIns="0" rIns="0" bIns="0" rtlCol="0" anchor="ctr"/>
          <a:lstStyle/>
          <a:p>
            <a:pPr algn="l" indent="0" marL="0">
              <a:buNone/>
            </a:pPr>
            <a:r>
              <a:rPr lang="en-US" sz="2000" b="1" dirty="0">
                <a:solidFill>
                  <a:srgbClr val="E3897F"/>
                </a:solidFill>
                <a:latin typeface="Calibri" pitchFamily="34" charset="0"/>
                <a:ea typeface="Calibri" pitchFamily="34" charset="-122"/>
                <a:cs typeface="Calibri" pitchFamily="34" charset="-120"/>
              </a:rPr>
              <a:t>6 %</a:t>
            </a:r>
            <a:endParaRPr lang="en-US" sz="2000" dirty="0"/>
          </a:p>
        </p:txBody>
      </p:sp>
      <p:sp>
        <p:nvSpPr>
          <p:cNvPr id="24" name="Text 20"/>
          <p:cNvSpPr txBox="1"/>
          <p:nvPr/>
        </p:nvSpPr>
        <p:spPr>
          <a:xfrm>
            <a:off x="9098280" y="4288536"/>
            <a:ext cx="2468880" cy="777240"/>
          </a:xfrm>
          <a:prstGeom prst="rect">
            <a:avLst/>
          </a:prstGeom>
          <a:noFill/>
          <a:ln/>
        </p:spPr>
        <p:txBody>
          <a:bodyPr wrap="square" lIns="0" tIns="0" rIns="0" bIns="0" rtlCol="0" anchor="ctr"/>
          <a:lstStyle/>
          <a:p>
            <a:pPr algn="l" indent="0" marL="0">
              <a:buNone/>
            </a:pPr>
            <a:r>
              <a:rPr lang="en-US" sz="1150" dirty="0">
                <a:solidFill>
                  <a:srgbClr val="EDF1EE"/>
                </a:solidFill>
                <a:latin typeface="Calibri" pitchFamily="34" charset="0"/>
                <a:ea typeface="Calibri" pitchFamily="34" charset="-122"/>
                <a:cs typeface="Calibri" pitchFamily="34" charset="-120"/>
              </a:rPr>
              <a:t>Sweet Equity des Managements, falls MEP</a:t>
            </a:r>
            <a:endParaRPr lang="en-US" sz="1150" dirty="0"/>
          </a:p>
        </p:txBody>
      </p:sp>
      <p:sp>
        <p:nvSpPr>
          <p:cNvPr id="25" name="Shape 21"/>
          <p:cNvSpPr/>
          <p:nvPr/>
        </p:nvSpPr>
        <p:spPr>
          <a:xfrm>
            <a:off x="7680960" y="5184648"/>
            <a:ext cx="4005072" cy="777240"/>
          </a:xfrm>
          <a:prstGeom prst="roundRect">
            <a:avLst>
              <a:gd name="adj" fmla="val 9412"/>
            </a:avLst>
          </a:prstGeom>
          <a:solidFill>
            <a:srgbClr val="161F22"/>
          </a:solidFill>
          <a:ln w="9525">
            <a:solidFill>
              <a:srgbClr val="243033"/>
            </a:solidFill>
            <a:prstDash val="solid"/>
          </a:ln>
        </p:spPr>
      </p:sp>
      <p:sp>
        <p:nvSpPr>
          <p:cNvPr id="26" name="Text 22"/>
          <p:cNvSpPr txBox="1"/>
          <p:nvPr/>
        </p:nvSpPr>
        <p:spPr>
          <a:xfrm>
            <a:off x="7818120" y="5184648"/>
            <a:ext cx="1234440" cy="777240"/>
          </a:xfrm>
          <a:prstGeom prst="rect">
            <a:avLst/>
          </a:prstGeom>
          <a:noFill/>
          <a:ln/>
        </p:spPr>
        <p:txBody>
          <a:bodyPr wrap="square" lIns="0" tIns="0" rIns="0" bIns="0" rtlCol="0" anchor="ctr"/>
          <a:lstStyle/>
          <a:p>
            <a:pPr algn="l" indent="0" marL="0">
              <a:buNone/>
            </a:pPr>
            <a:r>
              <a:rPr lang="en-US" sz="2000" b="1" dirty="0">
                <a:solidFill>
                  <a:srgbClr val="E3897F"/>
                </a:solidFill>
                <a:latin typeface="Calibri" pitchFamily="34" charset="0"/>
                <a:ea typeface="Calibri" pitchFamily="34" charset="-122"/>
                <a:cs typeface="Calibri" pitchFamily="34" charset="-120"/>
              </a:rPr>
              <a:t>20 %</a:t>
            </a:r>
            <a:endParaRPr lang="en-US" sz="2000" dirty="0"/>
          </a:p>
        </p:txBody>
      </p:sp>
      <p:sp>
        <p:nvSpPr>
          <p:cNvPr id="27" name="Text 23"/>
          <p:cNvSpPr txBox="1"/>
          <p:nvPr/>
        </p:nvSpPr>
        <p:spPr>
          <a:xfrm>
            <a:off x="9098280" y="5184648"/>
            <a:ext cx="2468880" cy="777240"/>
          </a:xfrm>
          <a:prstGeom prst="rect">
            <a:avLst/>
          </a:prstGeom>
          <a:noFill/>
          <a:ln/>
        </p:spPr>
        <p:txBody>
          <a:bodyPr wrap="square" lIns="0" tIns="0" rIns="0" bIns="0" rtlCol="0" anchor="ctr"/>
          <a:lstStyle/>
          <a:p>
            <a:pPr algn="l" indent="0" marL="0">
              <a:buNone/>
            </a:pPr>
            <a:r>
              <a:rPr lang="en-US" sz="1150" dirty="0">
                <a:solidFill>
                  <a:srgbClr val="EDF1EE"/>
                </a:solidFill>
                <a:latin typeface="Calibri" pitchFamily="34" charset="0"/>
                <a:ea typeface="Calibri" pitchFamily="34" charset="-122"/>
                <a:cs typeface="Calibri" pitchFamily="34" charset="-120"/>
              </a:rPr>
              <a:t>Carry über der 8 %-Hurdle</a:t>
            </a:r>
            <a:endParaRPr lang="en-US" sz="1150" dirty="0"/>
          </a:p>
        </p:txBody>
      </p:sp>
      <p:sp>
        <p:nvSpPr>
          <p:cNvPr id="28" name="Text 24"/>
          <p:cNvSpPr txBox="1"/>
          <p:nvPr/>
        </p:nvSpPr>
        <p:spPr>
          <a:xfrm>
            <a:off x="502920" y="5669280"/>
            <a:ext cx="6949440" cy="45720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Ø in 60 simulierten Partien je Fonds: Fees −54 · Transaktionskosten −12 · Carry −6 Mio. €</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CB264"/>
                </a:solidFill>
                <a:latin typeface="Calibri" pitchFamily="34" charset="0"/>
                <a:ea typeface="Calibri" pitchFamily="34" charset="-122"/>
                <a:cs typeface="Calibri" pitchFamily="34" charset="-120"/>
              </a:rPr>
              <a:t>KENNZAHLEN</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TVCC, TVPI, DPI, IRR – und die J-Curve</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CB264"/>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CB264"/>
                </a:solidFill>
                <a:latin typeface="Calibri" pitchFamily="34" charset="0"/>
                <a:ea typeface="Calibri" pitchFamily="34" charset="-122"/>
                <a:cs typeface="Calibri" pitchFamily="34" charset="-120"/>
              </a:rPr>
              <a:t>A · FUND ECONOMICS</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7</a:t>
            </a:r>
            <a:endParaRPr lang="en-US" sz="900" dirty="0"/>
          </a:p>
        </p:txBody>
      </p:sp>
      <p:graphicFrame>
        <p:nvGraphicFramePr>
          <p:cNvPr id="9" name="Chart 0" descr=""/>
          <p:cNvGraphicFramePr/>
          <p:nvPr/>
        </p:nvGraphicFramePr>
        <p:xfrm>
          <a:off x="502920" y="1600200"/>
          <a:ext cx="5760720" cy="278892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hart 1" descr=""/>
          <p:cNvGraphicFramePr/>
          <p:nvPr/>
        </p:nvGraphicFramePr>
        <p:xfrm>
          <a:off x="502920" y="4480560"/>
          <a:ext cx="5760720" cy="1783080"/>
        </p:xfrm>
        <a:graphic xmlns:a="http://schemas.openxmlformats.org/drawingml/2006/main">
          <a:graphicData uri="http://schemas.openxmlformats.org/drawingml/2006/chart">
            <c:chart xmlns:c="http://schemas.openxmlformats.org/drawingml/2006/chart" r:id="rId2"/>
          </a:graphicData>
        </a:graphic>
      </p:graphicFrame>
      <p:sp>
        <p:nvSpPr>
          <p:cNvPr id="11" name="Shape 6"/>
          <p:cNvSpPr/>
          <p:nvPr/>
        </p:nvSpPr>
        <p:spPr>
          <a:xfrm>
            <a:off x="6492240" y="1600200"/>
            <a:ext cx="5193792" cy="822960"/>
          </a:xfrm>
          <a:prstGeom prst="roundRect">
            <a:avLst>
              <a:gd name="adj" fmla="val 8889"/>
            </a:avLst>
          </a:prstGeom>
          <a:solidFill>
            <a:srgbClr val="161F22"/>
          </a:solidFill>
          <a:ln w="9525">
            <a:solidFill>
              <a:srgbClr val="243033"/>
            </a:solidFill>
            <a:prstDash val="solid"/>
          </a:ln>
        </p:spPr>
      </p:sp>
      <p:sp>
        <p:nvSpPr>
          <p:cNvPr id="12" name="Text 7"/>
          <p:cNvSpPr txBox="1"/>
          <p:nvPr/>
        </p:nvSpPr>
        <p:spPr>
          <a:xfrm>
            <a:off x="6629400" y="1600200"/>
            <a:ext cx="1280160" cy="822960"/>
          </a:xfrm>
          <a:prstGeom prst="rect">
            <a:avLst/>
          </a:prstGeom>
          <a:noFill/>
          <a:ln/>
        </p:spPr>
        <p:txBody>
          <a:bodyPr wrap="square" lIns="0" tIns="0" rIns="0" bIns="0" rtlCol="0" anchor="ctr"/>
          <a:lstStyle/>
          <a:p>
            <a:pPr algn="l" indent="0" marL="0">
              <a:buNone/>
            </a:pPr>
            <a:r>
              <a:rPr lang="en-US" sz="1700" b="1" dirty="0">
                <a:solidFill>
                  <a:srgbClr val="DCB264"/>
                </a:solidFill>
                <a:latin typeface="Calibri" pitchFamily="34" charset="0"/>
                <a:ea typeface="Calibri" pitchFamily="34" charset="-122"/>
                <a:cs typeface="Calibri" pitchFamily="34" charset="-120"/>
              </a:rPr>
              <a:t>TVCC</a:t>
            </a:r>
            <a:endParaRPr lang="en-US" sz="1700" dirty="0"/>
          </a:p>
        </p:txBody>
      </p:sp>
      <p:sp>
        <p:nvSpPr>
          <p:cNvPr id="13" name="Text 8"/>
          <p:cNvSpPr txBox="1"/>
          <p:nvPr/>
        </p:nvSpPr>
        <p:spPr>
          <a:xfrm>
            <a:off x="7955280" y="1691640"/>
            <a:ext cx="3611880" cy="411480"/>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(Ausschüttungen + NAV − Carry) / Commitment</a:t>
            </a:r>
            <a:endParaRPr lang="en-US" sz="1150" dirty="0"/>
          </a:p>
        </p:txBody>
      </p:sp>
      <p:sp>
        <p:nvSpPr>
          <p:cNvPr id="14" name="Text 9"/>
          <p:cNvSpPr txBox="1"/>
          <p:nvPr/>
        </p:nvSpPr>
        <p:spPr>
          <a:xfrm>
            <a:off x="7955280" y="2084832"/>
            <a:ext cx="3611880" cy="27432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zählt auch nie abgerufenes Kapital · geht in die Wertung</a:t>
            </a:r>
            <a:endParaRPr lang="en-US" sz="1050" dirty="0"/>
          </a:p>
        </p:txBody>
      </p:sp>
      <p:sp>
        <p:nvSpPr>
          <p:cNvPr id="15" name="Shape 10"/>
          <p:cNvSpPr/>
          <p:nvPr/>
        </p:nvSpPr>
        <p:spPr>
          <a:xfrm>
            <a:off x="6492240" y="2532888"/>
            <a:ext cx="5193792" cy="822960"/>
          </a:xfrm>
          <a:prstGeom prst="roundRect">
            <a:avLst>
              <a:gd name="adj" fmla="val 8889"/>
            </a:avLst>
          </a:prstGeom>
          <a:solidFill>
            <a:srgbClr val="161F22"/>
          </a:solidFill>
          <a:ln w="9525">
            <a:solidFill>
              <a:srgbClr val="243033"/>
            </a:solidFill>
            <a:prstDash val="solid"/>
          </a:ln>
        </p:spPr>
      </p:sp>
      <p:sp>
        <p:nvSpPr>
          <p:cNvPr id="16" name="Text 11"/>
          <p:cNvSpPr txBox="1"/>
          <p:nvPr/>
        </p:nvSpPr>
        <p:spPr>
          <a:xfrm>
            <a:off x="6629400" y="2532888"/>
            <a:ext cx="1280160" cy="822960"/>
          </a:xfrm>
          <a:prstGeom prst="rect">
            <a:avLst/>
          </a:prstGeom>
          <a:noFill/>
          <a:ln/>
        </p:spPr>
        <p:txBody>
          <a:bodyPr wrap="square" lIns="0" tIns="0" rIns="0" bIns="0" rtlCol="0" anchor="ctr"/>
          <a:lstStyle/>
          <a:p>
            <a:pPr algn="l" indent="0" marL="0">
              <a:buNone/>
            </a:pPr>
            <a:r>
              <a:rPr lang="en-US" sz="1700" b="1" dirty="0">
                <a:solidFill>
                  <a:srgbClr val="DCB264"/>
                </a:solidFill>
                <a:latin typeface="Calibri" pitchFamily="34" charset="0"/>
                <a:ea typeface="Calibri" pitchFamily="34" charset="-122"/>
                <a:cs typeface="Calibri" pitchFamily="34" charset="-120"/>
              </a:rPr>
              <a:t>TVPI</a:t>
            </a:r>
            <a:endParaRPr lang="en-US" sz="1700" dirty="0"/>
          </a:p>
        </p:txBody>
      </p:sp>
      <p:sp>
        <p:nvSpPr>
          <p:cNvPr id="17" name="Text 12"/>
          <p:cNvSpPr txBox="1"/>
          <p:nvPr/>
        </p:nvSpPr>
        <p:spPr>
          <a:xfrm>
            <a:off x="7955280" y="2624328"/>
            <a:ext cx="3611880" cy="411480"/>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(Ausschüttungen + NAV − Carry) / abgerufenes Kapital</a:t>
            </a:r>
            <a:endParaRPr lang="en-US" sz="1150" dirty="0"/>
          </a:p>
        </p:txBody>
      </p:sp>
      <p:sp>
        <p:nvSpPr>
          <p:cNvPr id="18" name="Text 13"/>
          <p:cNvSpPr txBox="1"/>
          <p:nvPr/>
        </p:nvSpPr>
        <p:spPr>
          <a:xfrm>
            <a:off x="7955280" y="3017520"/>
            <a:ext cx="3611880" cy="27432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Gesamtwert je abgerufenem Euro</a:t>
            </a:r>
            <a:endParaRPr lang="en-US" sz="1050" dirty="0"/>
          </a:p>
        </p:txBody>
      </p:sp>
      <p:sp>
        <p:nvSpPr>
          <p:cNvPr id="19" name="Shape 14"/>
          <p:cNvSpPr/>
          <p:nvPr/>
        </p:nvSpPr>
        <p:spPr>
          <a:xfrm>
            <a:off x="6492240" y="3465576"/>
            <a:ext cx="5193792" cy="822960"/>
          </a:xfrm>
          <a:prstGeom prst="roundRect">
            <a:avLst>
              <a:gd name="adj" fmla="val 8889"/>
            </a:avLst>
          </a:prstGeom>
          <a:solidFill>
            <a:srgbClr val="161F22"/>
          </a:solidFill>
          <a:ln w="9525">
            <a:solidFill>
              <a:srgbClr val="243033"/>
            </a:solidFill>
            <a:prstDash val="solid"/>
          </a:ln>
        </p:spPr>
      </p:sp>
      <p:sp>
        <p:nvSpPr>
          <p:cNvPr id="20" name="Text 15"/>
          <p:cNvSpPr txBox="1"/>
          <p:nvPr/>
        </p:nvSpPr>
        <p:spPr>
          <a:xfrm>
            <a:off x="6629400" y="3465576"/>
            <a:ext cx="1280160" cy="822960"/>
          </a:xfrm>
          <a:prstGeom prst="rect">
            <a:avLst/>
          </a:prstGeom>
          <a:noFill/>
          <a:ln/>
        </p:spPr>
        <p:txBody>
          <a:bodyPr wrap="square" lIns="0" tIns="0" rIns="0" bIns="0" rtlCol="0" anchor="ctr"/>
          <a:lstStyle/>
          <a:p>
            <a:pPr algn="l" indent="0" marL="0">
              <a:buNone/>
            </a:pPr>
            <a:r>
              <a:rPr lang="en-US" sz="1700" b="1" dirty="0">
                <a:solidFill>
                  <a:srgbClr val="DCB264"/>
                </a:solidFill>
                <a:latin typeface="Calibri" pitchFamily="34" charset="0"/>
                <a:ea typeface="Calibri" pitchFamily="34" charset="-122"/>
                <a:cs typeface="Calibri" pitchFamily="34" charset="-120"/>
              </a:rPr>
              <a:t>DPI</a:t>
            </a:r>
            <a:endParaRPr lang="en-US" sz="1700" dirty="0"/>
          </a:p>
        </p:txBody>
      </p:sp>
      <p:sp>
        <p:nvSpPr>
          <p:cNvPr id="21" name="Text 16"/>
          <p:cNvSpPr txBox="1"/>
          <p:nvPr/>
        </p:nvSpPr>
        <p:spPr>
          <a:xfrm>
            <a:off x="7955280" y="3557016"/>
            <a:ext cx="3611880" cy="411480"/>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Ausschüttungen / abgerufenes Kapital</a:t>
            </a:r>
            <a:endParaRPr lang="en-US" sz="1150" dirty="0"/>
          </a:p>
        </p:txBody>
      </p:sp>
      <p:sp>
        <p:nvSpPr>
          <p:cNvPr id="22" name="Text 17"/>
          <p:cNvSpPr txBox="1"/>
          <p:nvPr/>
        </p:nvSpPr>
        <p:spPr>
          <a:xfrm>
            <a:off x="7955280" y="3950208"/>
            <a:ext cx="3611880" cy="27432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nur echtes Geld (Rest: RVPI = NAV / Abrufe)</a:t>
            </a:r>
            <a:endParaRPr lang="en-US" sz="1050" dirty="0"/>
          </a:p>
        </p:txBody>
      </p:sp>
      <p:sp>
        <p:nvSpPr>
          <p:cNvPr id="23" name="Shape 18"/>
          <p:cNvSpPr/>
          <p:nvPr/>
        </p:nvSpPr>
        <p:spPr>
          <a:xfrm>
            <a:off x="6492240" y="4398264"/>
            <a:ext cx="5193792" cy="822960"/>
          </a:xfrm>
          <a:prstGeom prst="roundRect">
            <a:avLst>
              <a:gd name="adj" fmla="val 8889"/>
            </a:avLst>
          </a:prstGeom>
          <a:solidFill>
            <a:srgbClr val="161F22"/>
          </a:solidFill>
          <a:ln w="9525">
            <a:solidFill>
              <a:srgbClr val="243033"/>
            </a:solidFill>
            <a:prstDash val="solid"/>
          </a:ln>
        </p:spPr>
      </p:sp>
      <p:sp>
        <p:nvSpPr>
          <p:cNvPr id="24" name="Text 19"/>
          <p:cNvSpPr txBox="1"/>
          <p:nvPr/>
        </p:nvSpPr>
        <p:spPr>
          <a:xfrm>
            <a:off x="6629400" y="4398264"/>
            <a:ext cx="1280160" cy="822960"/>
          </a:xfrm>
          <a:prstGeom prst="rect">
            <a:avLst/>
          </a:prstGeom>
          <a:noFill/>
          <a:ln/>
        </p:spPr>
        <p:txBody>
          <a:bodyPr wrap="square" lIns="0" tIns="0" rIns="0" bIns="0" rtlCol="0" anchor="ctr"/>
          <a:lstStyle/>
          <a:p>
            <a:pPr algn="l" indent="0" marL="0">
              <a:buNone/>
            </a:pPr>
            <a:r>
              <a:rPr lang="en-US" sz="1700" b="1" dirty="0">
                <a:solidFill>
                  <a:srgbClr val="DCB264"/>
                </a:solidFill>
                <a:latin typeface="Calibri" pitchFamily="34" charset="0"/>
                <a:ea typeface="Calibri" pitchFamily="34" charset="-122"/>
                <a:cs typeface="Calibri" pitchFamily="34" charset="-120"/>
              </a:rPr>
              <a:t>Gross MOIC</a:t>
            </a:r>
            <a:endParaRPr lang="en-US" sz="1700" dirty="0"/>
          </a:p>
        </p:txBody>
      </p:sp>
      <p:sp>
        <p:nvSpPr>
          <p:cNvPr id="25" name="Text 20"/>
          <p:cNvSpPr txBox="1"/>
          <p:nvPr/>
        </p:nvSpPr>
        <p:spPr>
          <a:xfrm>
            <a:off x="7955280" y="4489704"/>
            <a:ext cx="3611880" cy="411480"/>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(Erlöse + NAV) / investiertes Kapital</a:t>
            </a:r>
            <a:endParaRPr lang="en-US" sz="1150" dirty="0"/>
          </a:p>
        </p:txBody>
      </p:sp>
      <p:sp>
        <p:nvSpPr>
          <p:cNvPr id="26" name="Text 21"/>
          <p:cNvSpPr txBox="1"/>
          <p:nvPr/>
        </p:nvSpPr>
        <p:spPr>
          <a:xfrm>
            <a:off x="7955280" y="4882896"/>
            <a:ext cx="3611880" cy="27432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Deal-Ebene, ohne Fees</a:t>
            </a:r>
            <a:endParaRPr lang="en-US" sz="1050" dirty="0"/>
          </a:p>
        </p:txBody>
      </p:sp>
      <p:sp>
        <p:nvSpPr>
          <p:cNvPr id="27" name="Shape 22"/>
          <p:cNvSpPr/>
          <p:nvPr/>
        </p:nvSpPr>
        <p:spPr>
          <a:xfrm>
            <a:off x="6492240" y="5330952"/>
            <a:ext cx="5193792" cy="822960"/>
          </a:xfrm>
          <a:prstGeom prst="roundRect">
            <a:avLst>
              <a:gd name="adj" fmla="val 8889"/>
            </a:avLst>
          </a:prstGeom>
          <a:solidFill>
            <a:srgbClr val="161F22"/>
          </a:solidFill>
          <a:ln w="9525">
            <a:solidFill>
              <a:srgbClr val="243033"/>
            </a:solidFill>
            <a:prstDash val="solid"/>
          </a:ln>
        </p:spPr>
      </p:sp>
      <p:sp>
        <p:nvSpPr>
          <p:cNvPr id="28" name="Text 23"/>
          <p:cNvSpPr txBox="1"/>
          <p:nvPr/>
        </p:nvSpPr>
        <p:spPr>
          <a:xfrm>
            <a:off x="6629400" y="5330952"/>
            <a:ext cx="1280160" cy="822960"/>
          </a:xfrm>
          <a:prstGeom prst="rect">
            <a:avLst/>
          </a:prstGeom>
          <a:noFill/>
          <a:ln/>
        </p:spPr>
        <p:txBody>
          <a:bodyPr wrap="square" lIns="0" tIns="0" rIns="0" bIns="0" rtlCol="0" anchor="ctr"/>
          <a:lstStyle/>
          <a:p>
            <a:pPr algn="l" indent="0" marL="0">
              <a:buNone/>
            </a:pPr>
            <a:r>
              <a:rPr lang="en-US" sz="1700" b="1" dirty="0">
                <a:solidFill>
                  <a:srgbClr val="DCB264"/>
                </a:solidFill>
                <a:latin typeface="Calibri" pitchFamily="34" charset="0"/>
                <a:ea typeface="Calibri" pitchFamily="34" charset="-122"/>
                <a:cs typeface="Calibri" pitchFamily="34" charset="-120"/>
              </a:rPr>
              <a:t>Net IRR</a:t>
            </a:r>
            <a:endParaRPr lang="en-US" sz="1700" dirty="0"/>
          </a:p>
        </p:txBody>
      </p:sp>
      <p:sp>
        <p:nvSpPr>
          <p:cNvPr id="29" name="Text 24"/>
          <p:cNvSpPr txBox="1"/>
          <p:nvPr/>
        </p:nvSpPr>
        <p:spPr>
          <a:xfrm>
            <a:off x="7955280" y="5422392"/>
            <a:ext cx="3611880" cy="411480"/>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Zins, der Abrufe und Rückflüsse (+ NAV) ausgleicht</a:t>
            </a:r>
            <a:endParaRPr lang="en-US" sz="1150" dirty="0"/>
          </a:p>
        </p:txBody>
      </p:sp>
      <p:sp>
        <p:nvSpPr>
          <p:cNvPr id="30" name="Text 25"/>
          <p:cNvSpPr txBox="1"/>
          <p:nvPr/>
        </p:nvSpPr>
        <p:spPr>
          <a:xfrm>
            <a:off x="7955280" y="5815584"/>
            <a:ext cx="3611880" cy="27432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misst die Zeit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CB264"/>
                </a:solidFill>
                <a:latin typeface="Calibri" pitchFamily="34" charset="0"/>
                <a:ea typeface="Calibri" pitchFamily="34" charset="-122"/>
                <a:cs typeface="Calibri" pitchFamily="34" charset="-120"/>
              </a:rPr>
              <a:t>ERLÖSVERWENDUNG</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Recycling oder Ausschüttung: Multiple gegen IRR</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CB264"/>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CB264"/>
                </a:solidFill>
                <a:latin typeface="Calibri" pitchFamily="34" charset="0"/>
                <a:ea typeface="Calibri" pitchFamily="34" charset="-122"/>
                <a:cs typeface="Calibri" pitchFamily="34" charset="-120"/>
              </a:rPr>
              <a:t>A · FUND ECONOMICS</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8</a:t>
            </a:r>
            <a:endParaRPr lang="en-US" sz="900" dirty="0"/>
          </a:p>
        </p:txBody>
      </p:sp>
      <p:sp>
        <p:nvSpPr>
          <p:cNvPr id="9" name="Shape 6"/>
          <p:cNvSpPr/>
          <p:nvPr/>
        </p:nvSpPr>
        <p:spPr>
          <a:xfrm>
            <a:off x="502920" y="1600200"/>
            <a:ext cx="5394960" cy="3246120"/>
          </a:xfrm>
          <a:prstGeom prst="roundRect">
            <a:avLst>
              <a:gd name="adj" fmla="val 2254"/>
            </a:avLst>
          </a:prstGeom>
          <a:solidFill>
            <a:srgbClr val="161F22"/>
          </a:solidFill>
          <a:ln w="15875">
            <a:solidFill>
              <a:srgbClr val="5FC4B1"/>
            </a:solidFill>
            <a:prstDash val="solid"/>
          </a:ln>
        </p:spPr>
      </p:sp>
      <p:sp>
        <p:nvSpPr>
          <p:cNvPr id="10" name="Shape 7"/>
          <p:cNvSpPr/>
          <p:nvPr/>
        </p:nvSpPr>
        <p:spPr>
          <a:xfrm>
            <a:off x="777240" y="1783080"/>
            <a:ext cx="566928" cy="566928"/>
          </a:xfrm>
          <a:prstGeom prst="ellipse">
            <a:avLst/>
          </a:prstGeom>
          <a:solidFill>
            <a:srgbClr val="1C282B"/>
          </a:solidFill>
          <a:ln w="12700">
            <a:solidFill>
              <a:srgbClr val="5FC4B1"/>
            </a:solidFill>
            <a:prstDash val="solid"/>
          </a:ln>
        </p:spPr>
      </p:sp>
      <p:pic>
        <p:nvPicPr>
          <p:cNvPr id="11" name="Image 0" descr="/tmp/claude-0/deck/img/i_layers_teal.png">    </p:cNvPr>
          <p:cNvPicPr>
            <a:picLocks noChangeAspect="1"/>
          </p:cNvPicPr>
          <p:nvPr/>
        </p:nvPicPr>
        <p:blipFill>
          <a:blip r:embed="rId1"/>
          <a:stretch>
            <a:fillRect/>
          </a:stretch>
        </p:blipFill>
        <p:spPr>
          <a:xfrm>
            <a:off x="913303" y="1919143"/>
            <a:ext cx="294803" cy="294803"/>
          </a:xfrm>
          <a:prstGeom prst="rect">
            <a:avLst/>
          </a:prstGeom>
        </p:spPr>
      </p:pic>
      <p:sp>
        <p:nvSpPr>
          <p:cNvPr id="12" name="Text 8"/>
          <p:cNvSpPr txBox="1"/>
          <p:nvPr/>
        </p:nvSpPr>
        <p:spPr>
          <a:xfrm>
            <a:off x="1508760" y="1828800"/>
            <a:ext cx="4206240" cy="457200"/>
          </a:xfrm>
          <a:prstGeom prst="rect">
            <a:avLst/>
          </a:prstGeom>
          <a:noFill/>
          <a:ln/>
        </p:spPr>
        <p:txBody>
          <a:bodyPr wrap="square" lIns="0" tIns="0" rIns="0" bIns="0" rtlCol="0" anchor="t"/>
          <a:lstStyle/>
          <a:p>
            <a:pPr algn="l" indent="0" marL="0">
              <a:buNone/>
            </a:pPr>
            <a:r>
              <a:rPr lang="en-US" sz="2000" b="1" dirty="0">
                <a:solidFill>
                  <a:srgbClr val="5FC4B1"/>
                </a:solidFill>
                <a:latin typeface="Calibri" pitchFamily="34" charset="0"/>
                <a:ea typeface="Calibri" pitchFamily="34" charset="-122"/>
                <a:cs typeface="Calibri" pitchFamily="34" charset="-120"/>
              </a:rPr>
              <a:t>Einbehalten (Recycling)</a:t>
            </a:r>
            <a:endParaRPr lang="en-US" sz="2000" dirty="0"/>
          </a:p>
        </p:txBody>
      </p:sp>
      <p:sp>
        <p:nvSpPr>
          <p:cNvPr id="13" name="Text 9"/>
          <p:cNvSpPr txBox="1"/>
          <p:nvPr/>
        </p:nvSpPr>
        <p:spPr>
          <a:xfrm>
            <a:off x="777240" y="2560320"/>
            <a:ext cx="4846320" cy="1188720"/>
          </a:xfrm>
          <a:prstGeom prst="rect">
            <a:avLst/>
          </a:prstGeom>
          <a:noFill/>
          <a:ln/>
        </p:spPr>
        <p:txBody>
          <a:bodyPr wrap="square" lIns="0" tIns="0" rIns="0" bIns="0" rtlCol="0" anchor="t"/>
          <a:lstStyle/>
          <a:p>
            <a:pPr marL="177800" indent="-177800">
              <a:spcAft>
                <a:spcPts val="700"/>
              </a:spcAft>
              <a:buSzPct val="100000"/>
              <a:buChar char="•"/>
            </a:pPr>
            <a:r>
              <a:rPr lang="en-US" sz="1350" b="1" dirty="0">
                <a:solidFill>
                  <a:srgbClr val="5FC4B1"/>
                </a:solidFill>
                <a:latin typeface="Calibri" pitchFamily="34" charset="0"/>
                <a:ea typeface="Calibri" pitchFamily="34" charset="-122"/>
                <a:cs typeface="Calibri" pitchFamily="34" charset="-120"/>
              </a:rPr>
              <a:t>+ </a:t>
            </a:r>
            <a:pPr indent="0" marL="0">
              <a:buNone/>
            </a:pPr>
            <a:r>
              <a:rPr lang="en-US" sz="1350" dirty="0">
                <a:solidFill>
                  <a:srgbClr val="EDF1EE"/>
                </a:solidFill>
                <a:latin typeface="Calibri" pitchFamily="34" charset="0"/>
                <a:ea typeface="Calibri" pitchFamily="34" charset="-122"/>
                <a:cs typeface="Calibri" pitchFamily="34" charset="-120"/>
              </a:rPr>
              <a:t>Erlös arbeitet weiter → höherer TVCC, wenn ein guter Folgedeal gelingt</a:t>
            </a:r>
            <a:endParaRPr lang="en-US" sz="1350" dirty="0"/>
          </a:p>
          <a:p>
            <a:pPr marL="177800" indent="-177800">
              <a:spcAft>
                <a:spcPts val="700"/>
              </a:spcAft>
              <a:buSzPct val="100000"/>
              <a:buChar char="•"/>
            </a:pPr>
            <a:r>
              <a:rPr lang="en-US" sz="1350" b="1" dirty="0">
                <a:solidFill>
                  <a:srgbClr val="5FC4B1"/>
                </a:solidFill>
                <a:latin typeface="Calibri" pitchFamily="34" charset="0"/>
                <a:ea typeface="Calibri" pitchFamily="34" charset="-122"/>
                <a:cs typeface="Calibri" pitchFamily="34" charset="-120"/>
              </a:rPr>
              <a:t>+ </a:t>
            </a:r>
            <a:pPr indent="0" marL="0">
              <a:buNone/>
            </a:pPr>
            <a:r>
              <a:rPr lang="en-US" sz="1350" dirty="0">
                <a:solidFill>
                  <a:srgbClr val="EDF1EE"/>
                </a:solidFill>
                <a:latin typeface="Calibri" pitchFamily="34" charset="0"/>
                <a:ea typeface="Calibri" pitchFamily="34" charset="-122"/>
                <a:cs typeface="Calibri" pitchFamily="34" charset="-120"/>
              </a:rPr>
              <a:t>Neue Deals und Zukäufe ohne neuen Kapitalabruf</a:t>
            </a:r>
            <a:endParaRPr lang="en-US" sz="1350" dirty="0"/>
          </a:p>
        </p:txBody>
      </p:sp>
      <p:sp>
        <p:nvSpPr>
          <p:cNvPr id="14" name="Text 10"/>
          <p:cNvSpPr txBox="1"/>
          <p:nvPr/>
        </p:nvSpPr>
        <p:spPr>
          <a:xfrm>
            <a:off x="777240" y="3703320"/>
            <a:ext cx="4846320" cy="1005840"/>
          </a:xfrm>
          <a:prstGeom prst="rect">
            <a:avLst/>
          </a:prstGeom>
          <a:noFill/>
          <a:ln/>
        </p:spPr>
        <p:txBody>
          <a:bodyPr wrap="square" lIns="0" tIns="0" rIns="0" bIns="0" rtlCol="0" anchor="t"/>
          <a:lstStyle/>
          <a:p>
            <a:pPr marL="177800" indent="-177800">
              <a:spcAft>
                <a:spcPts val="700"/>
              </a:spcAft>
              <a:buSzPct val="100000"/>
              <a:buChar char="•"/>
            </a:pPr>
            <a:r>
              <a:rPr lang="en-US" sz="1350" b="1" dirty="0">
                <a:solidFill>
                  <a:srgbClr val="E3897F"/>
                </a:solidFill>
                <a:latin typeface="Calibri" pitchFamily="34" charset="0"/>
                <a:ea typeface="Calibri" pitchFamily="34" charset="-122"/>
                <a:cs typeface="Calibri" pitchFamily="34" charset="-120"/>
              </a:rPr>
              <a:t>− </a:t>
            </a:r>
            <a:pPr indent="0" marL="0">
              <a:buNone/>
            </a:pPr>
            <a:r>
              <a:rPr lang="en-US" sz="1350" dirty="0">
                <a:solidFill>
                  <a:srgbClr val="EDF1EE"/>
                </a:solidFill>
                <a:latin typeface="Calibri" pitchFamily="34" charset="0"/>
                <a:ea typeface="Calibri" pitchFamily="34" charset="-122"/>
                <a:cs typeface="Calibri" pitchFamily="34" charset="-120"/>
              </a:rPr>
              <a:t>Geld kommt später zu den Investoren → niedrigerer IRR</a:t>
            </a:r>
            <a:endParaRPr lang="en-US" sz="1350" dirty="0"/>
          </a:p>
          <a:p>
            <a:pPr marL="177800" indent="-177800">
              <a:spcAft>
                <a:spcPts val="700"/>
              </a:spcAft>
              <a:buSzPct val="100000"/>
              <a:buChar char="•"/>
            </a:pPr>
            <a:r>
              <a:rPr lang="en-US" sz="1350" b="1" dirty="0">
                <a:solidFill>
                  <a:srgbClr val="E3897F"/>
                </a:solidFill>
                <a:latin typeface="Calibri" pitchFamily="34" charset="0"/>
                <a:ea typeface="Calibri" pitchFamily="34" charset="-122"/>
                <a:cs typeface="Calibri" pitchFamily="34" charset="-120"/>
              </a:rPr>
              <a:t>− </a:t>
            </a:r>
            <a:pPr indent="0" marL="0">
              <a:buNone/>
            </a:pPr>
            <a:r>
              <a:rPr lang="en-US" sz="1350" dirty="0">
                <a:solidFill>
                  <a:srgbClr val="EDF1EE"/>
                </a:solidFill>
                <a:latin typeface="Calibri" pitchFamily="34" charset="0"/>
                <a:ea typeface="Calibri" pitchFamily="34" charset="-122"/>
                <a:cs typeface="Calibri" pitchFamily="34" charset="-120"/>
              </a:rPr>
              <a:t>Ohne guten Deal kostet Einbehalten nur Rendite</a:t>
            </a:r>
            <a:endParaRPr lang="en-US" sz="1350" dirty="0"/>
          </a:p>
        </p:txBody>
      </p:sp>
      <p:sp>
        <p:nvSpPr>
          <p:cNvPr id="15" name="Shape 11"/>
          <p:cNvSpPr/>
          <p:nvPr/>
        </p:nvSpPr>
        <p:spPr>
          <a:xfrm>
            <a:off x="6291072" y="1600200"/>
            <a:ext cx="5394960" cy="3246120"/>
          </a:xfrm>
          <a:prstGeom prst="roundRect">
            <a:avLst>
              <a:gd name="adj" fmla="val 2254"/>
            </a:avLst>
          </a:prstGeom>
          <a:solidFill>
            <a:srgbClr val="161F22"/>
          </a:solidFill>
          <a:ln w="15875">
            <a:solidFill>
              <a:srgbClr val="DCB264"/>
            </a:solidFill>
            <a:prstDash val="solid"/>
          </a:ln>
        </p:spPr>
      </p:sp>
      <p:sp>
        <p:nvSpPr>
          <p:cNvPr id="16" name="Shape 12"/>
          <p:cNvSpPr/>
          <p:nvPr/>
        </p:nvSpPr>
        <p:spPr>
          <a:xfrm>
            <a:off x="6565392" y="1783080"/>
            <a:ext cx="566928" cy="566928"/>
          </a:xfrm>
          <a:prstGeom prst="ellipse">
            <a:avLst/>
          </a:prstGeom>
          <a:solidFill>
            <a:srgbClr val="1C282B"/>
          </a:solidFill>
          <a:ln w="12700">
            <a:solidFill>
              <a:srgbClr val="DCB264"/>
            </a:solidFill>
            <a:prstDash val="solid"/>
          </a:ln>
        </p:spPr>
      </p:sp>
      <p:pic>
        <p:nvPicPr>
          <p:cNvPr id="17" name="Image 1" descr="/tmp/claude-0/deck/img/i_coins_gold.png">    </p:cNvPr>
          <p:cNvPicPr>
            <a:picLocks noChangeAspect="1"/>
          </p:cNvPicPr>
          <p:nvPr/>
        </p:nvPicPr>
        <p:blipFill>
          <a:blip r:embed="rId2"/>
          <a:stretch>
            <a:fillRect/>
          </a:stretch>
        </p:blipFill>
        <p:spPr>
          <a:xfrm>
            <a:off x="6701455" y="1919143"/>
            <a:ext cx="294803" cy="294803"/>
          </a:xfrm>
          <a:prstGeom prst="rect">
            <a:avLst/>
          </a:prstGeom>
        </p:spPr>
      </p:pic>
      <p:sp>
        <p:nvSpPr>
          <p:cNvPr id="18" name="Text 13"/>
          <p:cNvSpPr txBox="1"/>
          <p:nvPr/>
        </p:nvSpPr>
        <p:spPr>
          <a:xfrm>
            <a:off x="7296912" y="1828800"/>
            <a:ext cx="4206240" cy="457200"/>
          </a:xfrm>
          <a:prstGeom prst="rect">
            <a:avLst/>
          </a:prstGeom>
          <a:noFill/>
          <a:ln/>
        </p:spPr>
        <p:txBody>
          <a:bodyPr wrap="square" lIns="0" tIns="0" rIns="0" bIns="0" rtlCol="0" anchor="t"/>
          <a:lstStyle/>
          <a:p>
            <a:pPr algn="l" indent="0" marL="0">
              <a:buNone/>
            </a:pPr>
            <a:r>
              <a:rPr lang="en-US" sz="2000" b="1" dirty="0">
                <a:solidFill>
                  <a:srgbClr val="DCB264"/>
                </a:solidFill>
                <a:latin typeface="Calibri" pitchFamily="34" charset="0"/>
                <a:ea typeface="Calibri" pitchFamily="34" charset="-122"/>
                <a:cs typeface="Calibri" pitchFamily="34" charset="-120"/>
              </a:rPr>
              <a:t>Ausschütten</a:t>
            </a:r>
            <a:endParaRPr lang="en-US" sz="2000" dirty="0"/>
          </a:p>
        </p:txBody>
      </p:sp>
      <p:sp>
        <p:nvSpPr>
          <p:cNvPr id="19" name="Text 14"/>
          <p:cNvSpPr txBox="1"/>
          <p:nvPr/>
        </p:nvSpPr>
        <p:spPr>
          <a:xfrm>
            <a:off x="6565392" y="2560320"/>
            <a:ext cx="4846320" cy="1188720"/>
          </a:xfrm>
          <a:prstGeom prst="rect">
            <a:avLst/>
          </a:prstGeom>
          <a:noFill/>
          <a:ln/>
        </p:spPr>
        <p:txBody>
          <a:bodyPr wrap="square" lIns="0" tIns="0" rIns="0" bIns="0" rtlCol="0" anchor="t"/>
          <a:lstStyle/>
          <a:p>
            <a:pPr marL="177800" indent="-177800">
              <a:spcAft>
                <a:spcPts val="700"/>
              </a:spcAft>
              <a:buSzPct val="100000"/>
              <a:buChar char="•"/>
            </a:pPr>
            <a:r>
              <a:rPr lang="en-US" sz="1350" b="1" dirty="0">
                <a:solidFill>
                  <a:srgbClr val="5FC4B1"/>
                </a:solidFill>
                <a:latin typeface="Calibri" pitchFamily="34" charset="0"/>
                <a:ea typeface="Calibri" pitchFamily="34" charset="-122"/>
                <a:cs typeface="Calibri" pitchFamily="34" charset="-120"/>
              </a:rPr>
              <a:t>+ </a:t>
            </a:r>
            <a:pPr indent="0" marL="0">
              <a:buNone/>
            </a:pPr>
            <a:r>
              <a:rPr lang="en-US" sz="1350" dirty="0">
                <a:solidFill>
                  <a:srgbClr val="EDF1EE"/>
                </a:solidFill>
                <a:latin typeface="Calibri" pitchFamily="34" charset="0"/>
                <a:ea typeface="Calibri" pitchFamily="34" charset="-122"/>
                <a:cs typeface="Calibri" pitchFamily="34" charset="-120"/>
              </a:rPr>
              <a:t>Frühe Rückflüsse → höherer IRR und DPI</a:t>
            </a:r>
            <a:endParaRPr lang="en-US" sz="1350" dirty="0"/>
          </a:p>
          <a:p>
            <a:pPr marL="177800" indent="-177800">
              <a:spcAft>
                <a:spcPts val="700"/>
              </a:spcAft>
              <a:buSzPct val="100000"/>
              <a:buChar char="•"/>
            </a:pPr>
            <a:r>
              <a:rPr lang="en-US" sz="1350" b="1" dirty="0">
                <a:solidFill>
                  <a:srgbClr val="5FC4B1"/>
                </a:solidFill>
                <a:latin typeface="Calibri" pitchFamily="34" charset="0"/>
                <a:ea typeface="Calibri" pitchFamily="34" charset="-122"/>
                <a:cs typeface="Calibri" pitchFamily="34" charset="-120"/>
              </a:rPr>
              <a:t>+ </a:t>
            </a:r>
            <a:pPr indent="0" marL="0">
              <a:buNone/>
            </a:pPr>
            <a:r>
              <a:rPr lang="en-US" sz="1350" dirty="0">
                <a:solidFill>
                  <a:srgbClr val="EDF1EE"/>
                </a:solidFill>
                <a:latin typeface="Calibri" pitchFamily="34" charset="0"/>
                <a:ea typeface="Calibri" pitchFamily="34" charset="-122"/>
                <a:cs typeface="Calibri" pitchFamily="34" charset="-120"/>
              </a:rPr>
              <a:t>Realisiert, also keine Bewertung mehr</a:t>
            </a:r>
            <a:endParaRPr lang="en-US" sz="1350" dirty="0"/>
          </a:p>
        </p:txBody>
      </p:sp>
      <p:sp>
        <p:nvSpPr>
          <p:cNvPr id="20" name="Text 15"/>
          <p:cNvSpPr txBox="1"/>
          <p:nvPr/>
        </p:nvSpPr>
        <p:spPr>
          <a:xfrm>
            <a:off x="6565392" y="3703320"/>
            <a:ext cx="4846320" cy="1005840"/>
          </a:xfrm>
          <a:prstGeom prst="rect">
            <a:avLst/>
          </a:prstGeom>
          <a:noFill/>
          <a:ln/>
        </p:spPr>
        <p:txBody>
          <a:bodyPr wrap="square" lIns="0" tIns="0" rIns="0" bIns="0" rtlCol="0" anchor="t"/>
          <a:lstStyle/>
          <a:p>
            <a:pPr marL="177800" indent="-177800">
              <a:spcAft>
                <a:spcPts val="700"/>
              </a:spcAft>
              <a:buSzPct val="100000"/>
              <a:buChar char="•"/>
            </a:pPr>
            <a:r>
              <a:rPr lang="en-US" sz="1350" b="1" dirty="0">
                <a:solidFill>
                  <a:srgbClr val="E3897F"/>
                </a:solidFill>
                <a:latin typeface="Calibri" pitchFamily="34" charset="0"/>
                <a:ea typeface="Calibri" pitchFamily="34" charset="-122"/>
                <a:cs typeface="Calibri" pitchFamily="34" charset="-120"/>
              </a:rPr>
              <a:t>− </a:t>
            </a:r>
            <a:pPr indent="0" marL="0">
              <a:buNone/>
            </a:pPr>
            <a:r>
              <a:rPr lang="en-US" sz="1350" dirty="0">
                <a:solidFill>
                  <a:srgbClr val="EDF1EE"/>
                </a:solidFill>
                <a:latin typeface="Calibri" pitchFamily="34" charset="0"/>
                <a:ea typeface="Calibri" pitchFamily="34" charset="-122"/>
                <a:cs typeface="Calibri" pitchFamily="34" charset="-120"/>
              </a:rPr>
              <a:t>Erlös schafft keinen weiteren Wert für den TVCC</a:t>
            </a:r>
            <a:endParaRPr lang="en-US" sz="1350" dirty="0"/>
          </a:p>
          <a:p>
            <a:pPr marL="177800" indent="-177800">
              <a:spcAft>
                <a:spcPts val="700"/>
              </a:spcAft>
              <a:buSzPct val="100000"/>
              <a:buChar char="•"/>
            </a:pPr>
            <a:r>
              <a:rPr lang="en-US" sz="1350" b="1" dirty="0">
                <a:solidFill>
                  <a:srgbClr val="E3897F"/>
                </a:solidFill>
                <a:latin typeface="Calibri" pitchFamily="34" charset="0"/>
                <a:ea typeface="Calibri" pitchFamily="34" charset="-122"/>
                <a:cs typeface="Calibri" pitchFamily="34" charset="-120"/>
              </a:rPr>
              <a:t>− </a:t>
            </a:r>
            <a:pPr indent="0" marL="0">
              <a:buNone/>
            </a:pPr>
            <a:r>
              <a:rPr lang="en-US" sz="1350" dirty="0">
                <a:solidFill>
                  <a:srgbClr val="EDF1EE"/>
                </a:solidFill>
                <a:latin typeface="Calibri" pitchFamily="34" charset="0"/>
                <a:ea typeface="Calibri" pitchFamily="34" charset="-122"/>
                <a:cs typeface="Calibri" pitchFamily="34" charset="-120"/>
              </a:rPr>
              <a:t>Dry Powder schrumpft</a:t>
            </a:r>
            <a:endParaRPr lang="en-US" sz="1350" dirty="0"/>
          </a:p>
        </p:txBody>
      </p:sp>
      <p:sp>
        <p:nvSpPr>
          <p:cNvPr id="21" name="Text 16"/>
          <p:cNvSpPr txBox="1"/>
          <p:nvPr/>
        </p:nvSpPr>
        <p:spPr>
          <a:xfrm>
            <a:off x="502920" y="5074920"/>
            <a:ext cx="7315200" cy="228600"/>
          </a:xfrm>
          <a:prstGeom prst="rect">
            <a:avLst/>
          </a:prstGeom>
          <a:noFill/>
          <a:ln/>
        </p:spPr>
        <p:txBody>
          <a:bodyPr wrap="square" lIns="0" tIns="0" rIns="0" bIns="0" rtlCol="0" anchor="t"/>
          <a:lstStyle/>
          <a:p>
            <a:pPr algn="l" indent="0" marL="0">
              <a:buNone/>
            </a:pPr>
            <a:r>
              <a:rPr lang="en-US" sz="1000" b="1" spc="150" kern="0" dirty="0">
                <a:solidFill>
                  <a:srgbClr val="DCB264"/>
                </a:solidFill>
                <a:latin typeface="Calibri" pitchFamily="34" charset="0"/>
                <a:ea typeface="Calibri" pitchFamily="34" charset="-122"/>
                <a:cs typeface="Calibri" pitchFamily="34" charset="-120"/>
              </a:rPr>
              <a:t>REGELN AUS DEM LPA, SO IN DER ENGINE (RECYCLEROOM)</a:t>
            </a:r>
            <a:endParaRPr lang="en-US" sz="1000" dirty="0"/>
          </a:p>
        </p:txBody>
      </p:sp>
      <p:sp>
        <p:nvSpPr>
          <p:cNvPr id="22" name="Shape 17"/>
          <p:cNvSpPr/>
          <p:nvPr/>
        </p:nvSpPr>
        <p:spPr>
          <a:xfrm>
            <a:off x="502920" y="5349240"/>
            <a:ext cx="2659304" cy="868680"/>
          </a:xfrm>
          <a:prstGeom prst="roundRect">
            <a:avLst>
              <a:gd name="adj" fmla="val 8421"/>
            </a:avLst>
          </a:prstGeom>
          <a:solidFill>
            <a:srgbClr val="1C282B"/>
          </a:solidFill>
          <a:ln w="9525">
            <a:solidFill>
              <a:srgbClr val="243033"/>
            </a:solidFill>
            <a:prstDash val="solid"/>
          </a:ln>
        </p:spPr>
      </p:sp>
      <p:sp>
        <p:nvSpPr>
          <p:cNvPr id="23" name="Text 18"/>
          <p:cNvSpPr txBox="1"/>
          <p:nvPr/>
        </p:nvSpPr>
        <p:spPr>
          <a:xfrm>
            <a:off x="667512" y="5413248"/>
            <a:ext cx="2384984" cy="347472"/>
          </a:xfrm>
          <a:prstGeom prst="rect">
            <a:avLst/>
          </a:prstGeom>
          <a:noFill/>
          <a:ln/>
        </p:spPr>
        <p:txBody>
          <a:bodyPr wrap="square" lIns="0" tIns="0" rIns="0" bIns="0" rtlCol="0" anchor="t"/>
          <a:lstStyle/>
          <a:p>
            <a:pPr algn="l" indent="0" marL="0">
              <a:buNone/>
            </a:pPr>
            <a:r>
              <a:rPr lang="en-US" sz="1400" b="1" dirty="0">
                <a:solidFill>
                  <a:srgbClr val="DCB264"/>
                </a:solidFill>
                <a:latin typeface="Calibri" pitchFamily="34" charset="0"/>
                <a:ea typeface="Calibri" pitchFamily="34" charset="-122"/>
                <a:cs typeface="Calibri" pitchFamily="34" charset="-120"/>
              </a:rPr>
              <a:t>Ganze Laufzeit</a:t>
            </a:r>
            <a:endParaRPr lang="en-US" sz="1400" dirty="0"/>
          </a:p>
        </p:txBody>
      </p:sp>
      <p:sp>
        <p:nvSpPr>
          <p:cNvPr id="24" name="Text 19"/>
          <p:cNvSpPr txBox="1"/>
          <p:nvPr/>
        </p:nvSpPr>
        <p:spPr>
          <a:xfrm>
            <a:off x="667512" y="5760720"/>
            <a:ext cx="2384984" cy="41148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einbehalten geht bei jedem Exit, auch nach HJ 10</a:t>
            </a:r>
            <a:endParaRPr lang="en-US" sz="1150" dirty="0"/>
          </a:p>
        </p:txBody>
      </p:sp>
      <p:sp>
        <p:nvSpPr>
          <p:cNvPr id="25" name="Shape 20"/>
          <p:cNvSpPr/>
          <p:nvPr/>
        </p:nvSpPr>
        <p:spPr>
          <a:xfrm>
            <a:off x="3345104" y="5349240"/>
            <a:ext cx="2659304" cy="868680"/>
          </a:xfrm>
          <a:prstGeom prst="roundRect">
            <a:avLst>
              <a:gd name="adj" fmla="val 8421"/>
            </a:avLst>
          </a:prstGeom>
          <a:solidFill>
            <a:srgbClr val="1C282B"/>
          </a:solidFill>
          <a:ln w="9525">
            <a:solidFill>
              <a:srgbClr val="243033"/>
            </a:solidFill>
            <a:prstDash val="solid"/>
          </a:ln>
        </p:spPr>
      </p:sp>
      <p:sp>
        <p:nvSpPr>
          <p:cNvPr id="26" name="Text 21"/>
          <p:cNvSpPr txBox="1"/>
          <p:nvPr/>
        </p:nvSpPr>
        <p:spPr>
          <a:xfrm>
            <a:off x="3509696" y="5413248"/>
            <a:ext cx="2384984" cy="347472"/>
          </a:xfrm>
          <a:prstGeom prst="rect">
            <a:avLst/>
          </a:prstGeom>
          <a:noFill/>
          <a:ln/>
        </p:spPr>
        <p:txBody>
          <a:bodyPr wrap="square" lIns="0" tIns="0" rIns="0" bIns="0" rtlCol="0" anchor="t"/>
          <a:lstStyle/>
          <a:p>
            <a:pPr algn="l" indent="0" marL="0">
              <a:buNone/>
            </a:pPr>
            <a:r>
              <a:rPr lang="en-US" sz="1400" b="1" dirty="0">
                <a:solidFill>
                  <a:srgbClr val="DCB264"/>
                </a:solidFill>
                <a:latin typeface="Calibri" pitchFamily="34" charset="0"/>
                <a:ea typeface="Calibri" pitchFamily="34" charset="-122"/>
                <a:cs typeface="Calibri" pitchFamily="34" charset="-120"/>
              </a:rPr>
              <a:t>Deckel 100 %</a:t>
            </a:r>
            <a:endParaRPr lang="en-US" sz="1400" dirty="0"/>
          </a:p>
        </p:txBody>
      </p:sp>
      <p:sp>
        <p:nvSpPr>
          <p:cNvPr id="27" name="Text 22"/>
          <p:cNvSpPr txBox="1"/>
          <p:nvPr/>
        </p:nvSpPr>
        <p:spPr>
          <a:xfrm>
            <a:off x="3509696" y="5760720"/>
            <a:ext cx="2384984" cy="41148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kumuliert höchstens ein Commitment</a:t>
            </a:r>
            <a:endParaRPr lang="en-US" sz="1150" dirty="0"/>
          </a:p>
        </p:txBody>
      </p:sp>
      <p:sp>
        <p:nvSpPr>
          <p:cNvPr id="28" name="Shape 23"/>
          <p:cNvSpPr/>
          <p:nvPr/>
        </p:nvSpPr>
        <p:spPr>
          <a:xfrm>
            <a:off x="6187288" y="5349240"/>
            <a:ext cx="2659304" cy="868680"/>
          </a:xfrm>
          <a:prstGeom prst="roundRect">
            <a:avLst>
              <a:gd name="adj" fmla="val 8421"/>
            </a:avLst>
          </a:prstGeom>
          <a:solidFill>
            <a:srgbClr val="1C282B"/>
          </a:solidFill>
          <a:ln w="9525">
            <a:solidFill>
              <a:srgbClr val="243033"/>
            </a:solidFill>
            <a:prstDash val="solid"/>
          </a:ln>
        </p:spPr>
      </p:sp>
      <p:sp>
        <p:nvSpPr>
          <p:cNvPr id="29" name="Text 24"/>
          <p:cNvSpPr txBox="1"/>
          <p:nvPr/>
        </p:nvSpPr>
        <p:spPr>
          <a:xfrm>
            <a:off x="6351880" y="5413248"/>
            <a:ext cx="2384984" cy="347472"/>
          </a:xfrm>
          <a:prstGeom prst="rect">
            <a:avLst/>
          </a:prstGeom>
          <a:noFill/>
          <a:ln/>
        </p:spPr>
        <p:txBody>
          <a:bodyPr wrap="square" lIns="0" tIns="0" rIns="0" bIns="0" rtlCol="0" anchor="t"/>
          <a:lstStyle/>
          <a:p>
            <a:pPr algn="l" indent="0" marL="0">
              <a:buNone/>
            </a:pPr>
            <a:r>
              <a:rPr lang="en-US" sz="1400" b="1" dirty="0">
                <a:solidFill>
                  <a:srgbClr val="DCB264"/>
                </a:solidFill>
                <a:latin typeface="Calibri" pitchFamily="34" charset="0"/>
                <a:ea typeface="Calibri" pitchFamily="34" charset="-122"/>
                <a:cs typeface="Calibri" pitchFamily="34" charset="-120"/>
              </a:rPr>
              <a:t>Vorgabe 0 %</a:t>
            </a:r>
            <a:endParaRPr lang="en-US" sz="1400" dirty="0"/>
          </a:p>
        </p:txBody>
      </p:sp>
      <p:sp>
        <p:nvSpPr>
          <p:cNvPr id="30" name="Text 25"/>
          <p:cNvSpPr txBox="1"/>
          <p:nvPr/>
        </p:nvSpPr>
        <p:spPr>
          <a:xfrm>
            <a:off x="6351880" y="5760720"/>
            <a:ext cx="2384984" cy="41148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ohne Entscheidung wird ausgeschüttet</a:t>
            </a:r>
            <a:endParaRPr lang="en-US" sz="1150" dirty="0"/>
          </a:p>
        </p:txBody>
      </p:sp>
      <p:sp>
        <p:nvSpPr>
          <p:cNvPr id="31" name="Shape 26"/>
          <p:cNvSpPr/>
          <p:nvPr/>
        </p:nvSpPr>
        <p:spPr>
          <a:xfrm>
            <a:off x="9029471" y="5349240"/>
            <a:ext cx="2659304" cy="868680"/>
          </a:xfrm>
          <a:prstGeom prst="roundRect">
            <a:avLst>
              <a:gd name="adj" fmla="val 8421"/>
            </a:avLst>
          </a:prstGeom>
          <a:solidFill>
            <a:srgbClr val="1C282B"/>
          </a:solidFill>
          <a:ln w="9525">
            <a:solidFill>
              <a:srgbClr val="243033"/>
            </a:solidFill>
            <a:prstDash val="solid"/>
          </a:ln>
        </p:spPr>
      </p:sp>
      <p:sp>
        <p:nvSpPr>
          <p:cNvPr id="32" name="Text 27"/>
          <p:cNvSpPr txBox="1"/>
          <p:nvPr/>
        </p:nvSpPr>
        <p:spPr>
          <a:xfrm>
            <a:off x="9194063" y="5413248"/>
            <a:ext cx="2384984" cy="347472"/>
          </a:xfrm>
          <a:prstGeom prst="rect">
            <a:avLst/>
          </a:prstGeom>
          <a:noFill/>
          <a:ln/>
        </p:spPr>
        <p:txBody>
          <a:bodyPr wrap="square" lIns="0" tIns="0" rIns="0" bIns="0" rtlCol="0" anchor="t"/>
          <a:lstStyle/>
          <a:p>
            <a:pPr algn="l" indent="0" marL="0">
              <a:buNone/>
            </a:pPr>
            <a:r>
              <a:rPr lang="en-US" sz="1400" b="1" dirty="0">
                <a:solidFill>
                  <a:srgbClr val="DCB264"/>
                </a:solidFill>
                <a:latin typeface="Calibri" pitchFamily="34" charset="0"/>
                <a:ea typeface="Calibri" pitchFamily="34" charset="-122"/>
                <a:cs typeface="Calibri" pitchFamily="34" charset="-120"/>
              </a:rPr>
              <a:t>Laufzeitende</a:t>
            </a:r>
            <a:endParaRPr lang="en-US" sz="1400" dirty="0"/>
          </a:p>
        </p:txBody>
      </p:sp>
      <p:sp>
        <p:nvSpPr>
          <p:cNvPr id="33" name="Text 28"/>
          <p:cNvSpPr txBox="1"/>
          <p:nvPr/>
        </p:nvSpPr>
        <p:spPr>
          <a:xfrm>
            <a:off x="9194063" y="5760720"/>
            <a:ext cx="2384984" cy="41148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nicht Reinvestiertes geht an die Investoren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CB264"/>
                </a:solidFill>
                <a:latin typeface="Calibri" pitchFamily="34" charset="0"/>
                <a:ea typeface="Calibri" pitchFamily="34" charset="-122"/>
                <a:cs typeface="Calibri" pitchFamily="34" charset="-120"/>
              </a:rPr>
              <a:t>CARRIED INTEREST · EUROPÄISCHER WASSERFALL MIT CATCH-UP</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Carry-Berechnung</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CB264"/>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CB264"/>
                </a:solidFill>
                <a:latin typeface="Calibri" pitchFamily="34" charset="0"/>
                <a:ea typeface="Calibri" pitchFamily="34" charset="-122"/>
                <a:cs typeface="Calibri" pitchFamily="34" charset="-120"/>
              </a:rPr>
              <a:t>A · FUND ECONOMICS</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9</a:t>
            </a:r>
            <a:endParaRPr lang="en-US" sz="900" dirty="0"/>
          </a:p>
        </p:txBody>
      </p:sp>
      <p:graphicFrame>
        <p:nvGraphicFramePr>
          <p:cNvPr id="9" name="Chart 0" descr=""/>
          <p:cNvGraphicFramePr/>
          <p:nvPr/>
        </p:nvGraphicFramePr>
        <p:xfrm>
          <a:off x="502920" y="160020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02920" y="5806440"/>
            <a:ext cx="6949440" cy="274320"/>
          </a:xfrm>
          <a:prstGeom prst="rect">
            <a:avLst/>
          </a:prstGeom>
          <a:noFill/>
          <a:ln/>
        </p:spPr>
        <p:txBody>
          <a:bodyPr wrap="square" lIns="0" tIns="0" rIns="0" bIns="0" rtlCol="0" anchor="t"/>
          <a:lstStyle/>
          <a:p>
            <a:pPr algn="l" indent="0" marL="0">
              <a:buNone/>
            </a:pPr>
            <a:r>
              <a:rPr lang="en-US" sz="1000" dirty="0">
                <a:solidFill>
                  <a:srgbClr val="8E9C9B"/>
                </a:solidFill>
                <a:latin typeface="Calibri" pitchFamily="34" charset="0"/>
                <a:ea typeface="Calibri" pitchFamily="34" charset="-122"/>
                <a:cs typeface="Calibri" pitchFamily="34" charset="-120"/>
              </a:rPr>
              <a:t>Beispiel: 400 Mio. € abgerufen, aufgelaufene Vorzugsrendite 140 Mio. €</a:t>
            </a:r>
            <a:endParaRPr lang="en-US" sz="1000" dirty="0"/>
          </a:p>
        </p:txBody>
      </p:sp>
      <p:sp>
        <p:nvSpPr>
          <p:cNvPr id="11" name="Shape 7"/>
          <p:cNvSpPr/>
          <p:nvPr/>
        </p:nvSpPr>
        <p:spPr>
          <a:xfrm>
            <a:off x="7772400" y="1600200"/>
            <a:ext cx="3913632" cy="804672"/>
          </a:xfrm>
          <a:prstGeom prst="roundRect">
            <a:avLst>
              <a:gd name="adj" fmla="val 9091"/>
            </a:avLst>
          </a:prstGeom>
          <a:solidFill>
            <a:srgbClr val="161F22"/>
          </a:solidFill>
          <a:ln w="9525">
            <a:solidFill>
              <a:srgbClr val="243033"/>
            </a:solidFill>
            <a:prstDash val="solid"/>
          </a:ln>
        </p:spPr>
      </p:sp>
      <p:sp>
        <p:nvSpPr>
          <p:cNvPr id="12" name="Text 8"/>
          <p:cNvSpPr txBox="1"/>
          <p:nvPr/>
        </p:nvSpPr>
        <p:spPr>
          <a:xfrm>
            <a:off x="7955280" y="1673352"/>
            <a:ext cx="3566160" cy="292608"/>
          </a:xfrm>
          <a:prstGeom prst="rect">
            <a:avLst/>
          </a:prstGeom>
          <a:noFill/>
          <a:ln/>
        </p:spPr>
        <p:txBody>
          <a:bodyPr wrap="square" lIns="0" tIns="0" rIns="0" bIns="0" rtlCol="0" anchor="t"/>
          <a:lstStyle/>
          <a:p>
            <a:pPr algn="l" indent="0" marL="0">
              <a:buNone/>
            </a:pPr>
            <a:r>
              <a:rPr lang="en-US" sz="1350" b="1" dirty="0">
                <a:solidFill>
                  <a:srgbClr val="8E9C9B"/>
                </a:solidFill>
                <a:latin typeface="Calibri" pitchFamily="34" charset="0"/>
                <a:ea typeface="Calibri" pitchFamily="34" charset="-122"/>
                <a:cs typeface="Calibri" pitchFamily="34" charset="-120"/>
              </a:rPr>
              <a:t>Gewinn ≤ Pref</a:t>
            </a:r>
            <a:endParaRPr lang="en-US" sz="1350" dirty="0"/>
          </a:p>
        </p:txBody>
      </p:sp>
      <p:sp>
        <p:nvSpPr>
          <p:cNvPr id="13" name="Text 9"/>
          <p:cNvSpPr txBox="1"/>
          <p:nvPr/>
        </p:nvSpPr>
        <p:spPr>
          <a:xfrm>
            <a:off x="7955280" y="1984248"/>
            <a:ext cx="3566160" cy="384048"/>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Kein Carry – die Vorzugsrendite ist noch nicht verdient.</a:t>
            </a:r>
            <a:endParaRPr lang="en-US" sz="1150" dirty="0"/>
          </a:p>
        </p:txBody>
      </p:sp>
      <p:sp>
        <p:nvSpPr>
          <p:cNvPr id="14" name="Shape 10"/>
          <p:cNvSpPr/>
          <p:nvPr/>
        </p:nvSpPr>
        <p:spPr>
          <a:xfrm>
            <a:off x="7772400" y="2532888"/>
            <a:ext cx="3913632" cy="804672"/>
          </a:xfrm>
          <a:prstGeom prst="roundRect">
            <a:avLst>
              <a:gd name="adj" fmla="val 9091"/>
            </a:avLst>
          </a:prstGeom>
          <a:solidFill>
            <a:srgbClr val="161F22"/>
          </a:solidFill>
          <a:ln w="9525">
            <a:solidFill>
              <a:srgbClr val="243033"/>
            </a:solidFill>
            <a:prstDash val="solid"/>
          </a:ln>
        </p:spPr>
      </p:sp>
      <p:sp>
        <p:nvSpPr>
          <p:cNvPr id="15" name="Text 11"/>
          <p:cNvSpPr txBox="1"/>
          <p:nvPr/>
        </p:nvSpPr>
        <p:spPr>
          <a:xfrm>
            <a:off x="7955280" y="2606040"/>
            <a:ext cx="3566160" cy="292608"/>
          </a:xfrm>
          <a:prstGeom prst="rect">
            <a:avLst/>
          </a:prstGeom>
          <a:noFill/>
          <a:ln/>
        </p:spPr>
        <p:txBody>
          <a:bodyPr wrap="square" lIns="0" tIns="0" rIns="0" bIns="0" rtlCol="0" anchor="t"/>
          <a:lstStyle/>
          <a:p>
            <a:pPr algn="l" indent="0" marL="0">
              <a:buNone/>
            </a:pPr>
            <a:r>
              <a:rPr lang="en-US" sz="1350" b="1" dirty="0">
                <a:solidFill>
                  <a:srgbClr val="DCB264"/>
                </a:solidFill>
                <a:latin typeface="Calibri" pitchFamily="34" charset="0"/>
                <a:ea typeface="Calibri" pitchFamily="34" charset="-122"/>
                <a:cs typeface="Calibri" pitchFamily="34" charset="-120"/>
              </a:rPr>
              <a:t>Pref &lt; Gewinn &lt; Pref / 0,8</a:t>
            </a:r>
            <a:endParaRPr lang="en-US" sz="1350" dirty="0"/>
          </a:p>
        </p:txBody>
      </p:sp>
      <p:sp>
        <p:nvSpPr>
          <p:cNvPr id="16" name="Text 12"/>
          <p:cNvSpPr txBox="1"/>
          <p:nvPr/>
        </p:nvSpPr>
        <p:spPr>
          <a:xfrm>
            <a:off x="7955280" y="2916936"/>
            <a:ext cx="3566160" cy="384048"/>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Catch-up: Jeder weitere Euro geht an den GP.</a:t>
            </a:r>
            <a:endParaRPr lang="en-US" sz="1150" dirty="0"/>
          </a:p>
        </p:txBody>
      </p:sp>
      <p:sp>
        <p:nvSpPr>
          <p:cNvPr id="17" name="Shape 13"/>
          <p:cNvSpPr/>
          <p:nvPr/>
        </p:nvSpPr>
        <p:spPr>
          <a:xfrm>
            <a:off x="7772400" y="3465576"/>
            <a:ext cx="3913632" cy="804672"/>
          </a:xfrm>
          <a:prstGeom prst="roundRect">
            <a:avLst>
              <a:gd name="adj" fmla="val 9091"/>
            </a:avLst>
          </a:prstGeom>
          <a:solidFill>
            <a:srgbClr val="161F22"/>
          </a:solidFill>
          <a:ln w="9525">
            <a:solidFill>
              <a:srgbClr val="243033"/>
            </a:solidFill>
            <a:prstDash val="solid"/>
          </a:ln>
        </p:spPr>
      </p:sp>
      <p:sp>
        <p:nvSpPr>
          <p:cNvPr id="18" name="Text 14"/>
          <p:cNvSpPr txBox="1"/>
          <p:nvPr/>
        </p:nvSpPr>
        <p:spPr>
          <a:xfrm>
            <a:off x="7955280" y="3538728"/>
            <a:ext cx="3566160" cy="292608"/>
          </a:xfrm>
          <a:prstGeom prst="rect">
            <a:avLst/>
          </a:prstGeom>
          <a:noFill/>
          <a:ln/>
        </p:spPr>
        <p:txBody>
          <a:bodyPr wrap="square" lIns="0" tIns="0" rIns="0" bIns="0" rtlCol="0" anchor="t"/>
          <a:lstStyle/>
          <a:p>
            <a:pPr algn="l" indent="0" marL="0">
              <a:buNone/>
            </a:pPr>
            <a:r>
              <a:rPr lang="en-US" sz="1350" b="1" dirty="0">
                <a:solidFill>
                  <a:srgbClr val="5FC4B1"/>
                </a:solidFill>
                <a:latin typeface="Calibri" pitchFamily="34" charset="0"/>
                <a:ea typeface="Calibri" pitchFamily="34" charset="-122"/>
                <a:cs typeface="Calibri" pitchFamily="34" charset="-120"/>
              </a:rPr>
              <a:t>Gewinn ≥ Pref / 0,8</a:t>
            </a:r>
            <a:endParaRPr lang="en-US" sz="1350" dirty="0"/>
          </a:p>
        </p:txBody>
      </p:sp>
      <p:sp>
        <p:nvSpPr>
          <p:cNvPr id="19" name="Text 15"/>
          <p:cNvSpPr txBox="1"/>
          <p:nvPr/>
        </p:nvSpPr>
        <p:spPr>
          <a:xfrm>
            <a:off x="7955280" y="3849624"/>
            <a:ext cx="3566160" cy="384048"/>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20 % des gesamten Gewinns gehen an den GP.</a:t>
            </a:r>
            <a:endParaRPr lang="en-US" sz="1150" dirty="0"/>
          </a:p>
        </p:txBody>
      </p:sp>
      <p:sp>
        <p:nvSpPr>
          <p:cNvPr id="20" name="Shape 16"/>
          <p:cNvSpPr/>
          <p:nvPr/>
        </p:nvSpPr>
        <p:spPr>
          <a:xfrm>
            <a:off x="7772400" y="4526280"/>
            <a:ext cx="3913632" cy="640080"/>
          </a:xfrm>
          <a:prstGeom prst="roundRect">
            <a:avLst>
              <a:gd name="adj" fmla="val 11429"/>
            </a:avLst>
          </a:prstGeom>
          <a:solidFill>
            <a:srgbClr val="1C282B"/>
          </a:solidFill>
          <a:ln w="12700">
            <a:solidFill>
              <a:srgbClr val="DCB264"/>
            </a:solidFill>
            <a:prstDash val="solid"/>
          </a:ln>
        </p:spPr>
      </p:sp>
      <p:sp>
        <p:nvSpPr>
          <p:cNvPr id="21" name="Text 17"/>
          <p:cNvSpPr txBox="1"/>
          <p:nvPr/>
        </p:nvSpPr>
        <p:spPr>
          <a:xfrm>
            <a:off x="7955280" y="4526280"/>
            <a:ext cx="3547872" cy="640080"/>
          </a:xfrm>
          <a:prstGeom prst="rect">
            <a:avLst/>
          </a:prstGeom>
          <a:noFill/>
          <a:ln/>
        </p:spPr>
        <p:txBody>
          <a:bodyPr wrap="square" lIns="0" tIns="0" rIns="0" bIns="0" rtlCol="0" anchor="ctr"/>
          <a:lstStyle/>
          <a:p>
            <a:pPr algn="ctr" indent="0" marL="0">
              <a:buNone/>
            </a:pPr>
            <a:r>
              <a:rPr lang="en-US" sz="1400" b="1" dirty="0">
                <a:solidFill>
                  <a:srgbClr val="DCB264"/>
                </a:solidFill>
                <a:latin typeface="Calibri" pitchFamily="34" charset="0"/>
                <a:ea typeface="Calibri" pitchFamily="34" charset="-122"/>
                <a:cs typeface="Calibri" pitchFamily="34" charset="-120"/>
              </a:rPr>
              <a:t>Carry = min( Gewinn − Pref ; 20 % × Gewinn )</a:t>
            </a:r>
            <a:endParaRPr lang="en-US" sz="1400" dirty="0"/>
          </a:p>
        </p:txBody>
      </p:sp>
      <p:sp>
        <p:nvSpPr>
          <p:cNvPr id="22" name="Text 18"/>
          <p:cNvSpPr txBox="1"/>
          <p:nvPr/>
        </p:nvSpPr>
        <p:spPr>
          <a:xfrm>
            <a:off x="7772400" y="5303520"/>
            <a:ext cx="3913632" cy="82296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Die Hurdle läuft auf die tatsächlichen Abrufe ab ihrem Zeitpunkt: Wer spät abruft, hat eine kleinere Vorzugsrendite zu überspringen.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CB264"/>
                </a:solidFill>
                <a:latin typeface="Calibri" pitchFamily="34" charset="0"/>
                <a:ea typeface="Calibri" pitchFamily="34" charset="-122"/>
                <a:cs typeface="Calibri" pitchFamily="34" charset="-120"/>
              </a:rPr>
              <a:t>WERTUNG</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Warum das Spiel TVCC und IRR je zur Hälfte wertet</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CB264"/>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CB264"/>
                </a:solidFill>
                <a:latin typeface="Calibri" pitchFamily="34" charset="0"/>
                <a:ea typeface="Calibri" pitchFamily="34" charset="-122"/>
                <a:cs typeface="Calibri" pitchFamily="34" charset="-120"/>
              </a:rPr>
              <a:t>A · FUND ECONOMICS</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10</a:t>
            </a:r>
            <a:endParaRPr lang="en-US" sz="900" dirty="0"/>
          </a:p>
        </p:txBody>
      </p:sp>
      <p:sp>
        <p:nvSpPr>
          <p:cNvPr id="9" name="Shape 6"/>
          <p:cNvSpPr/>
          <p:nvPr/>
        </p:nvSpPr>
        <p:spPr>
          <a:xfrm>
            <a:off x="502920" y="1600200"/>
            <a:ext cx="5852160" cy="685800"/>
          </a:xfrm>
          <a:prstGeom prst="roundRect">
            <a:avLst>
              <a:gd name="adj" fmla="val 10667"/>
            </a:avLst>
          </a:prstGeom>
          <a:solidFill>
            <a:srgbClr val="1C282B"/>
          </a:solidFill>
          <a:ln w="12700">
            <a:solidFill>
              <a:srgbClr val="DCB264"/>
            </a:solidFill>
            <a:prstDash val="solid"/>
          </a:ln>
        </p:spPr>
      </p:sp>
      <p:sp>
        <p:nvSpPr>
          <p:cNvPr id="10" name="Text 7"/>
          <p:cNvSpPr txBox="1"/>
          <p:nvPr/>
        </p:nvSpPr>
        <p:spPr>
          <a:xfrm>
            <a:off x="685800" y="1600200"/>
            <a:ext cx="5486400" cy="685800"/>
          </a:xfrm>
          <a:prstGeom prst="rect">
            <a:avLst/>
          </a:prstGeom>
          <a:noFill/>
          <a:ln/>
        </p:spPr>
        <p:txBody>
          <a:bodyPr wrap="square" lIns="0" tIns="0" rIns="0" bIns="0" rtlCol="0" anchor="ctr"/>
          <a:lstStyle/>
          <a:p>
            <a:pPr algn="ctr" indent="0" marL="0">
              <a:buNone/>
            </a:pPr>
            <a:r>
              <a:rPr lang="en-US" sz="1800" b="1" dirty="0">
                <a:solidFill>
                  <a:srgbClr val="DCB264"/>
                </a:solidFill>
                <a:latin typeface="Calibri" pitchFamily="34" charset="0"/>
                <a:ea typeface="Calibri" pitchFamily="34" charset="-122"/>
                <a:cs typeface="Calibri" pitchFamily="34" charset="-120"/>
              </a:rPr>
              <a:t>Wertung = ½ × TVCC / 1,6  +  ½ × IRR / 18 %</a:t>
            </a:r>
            <a:endParaRPr lang="en-US" sz="1800" dirty="0"/>
          </a:p>
        </p:txBody>
      </p:sp>
      <p:sp>
        <p:nvSpPr>
          <p:cNvPr id="11" name="Text 8"/>
          <p:cNvSpPr txBox="1"/>
          <p:nvPr/>
        </p:nvSpPr>
        <p:spPr>
          <a:xfrm>
            <a:off x="1508760" y="2331720"/>
            <a:ext cx="4846320" cy="274320"/>
          </a:xfrm>
          <a:prstGeom prst="rect">
            <a:avLst/>
          </a:prstGeom>
          <a:noFill/>
          <a:ln/>
        </p:spPr>
        <p:txBody>
          <a:bodyPr wrap="square" lIns="0" tIns="0" rIns="0" bIns="0" rtlCol="0" anchor="t"/>
          <a:lstStyle/>
          <a:p>
            <a:pPr algn="ctr" indent="0" marL="0">
              <a:buNone/>
            </a:pPr>
            <a:r>
              <a:rPr lang="en-US" sz="1100" dirty="0">
                <a:solidFill>
                  <a:srgbClr val="8E9C9B"/>
                </a:solidFill>
                <a:latin typeface="Calibri" pitchFamily="34" charset="0"/>
                <a:ea typeface="Calibri" pitchFamily="34" charset="-122"/>
                <a:cs typeface="Calibri" pitchFamily="34" charset="-120"/>
              </a:rPr>
              <a:t>IRR →</a:t>
            </a:r>
            <a:endParaRPr lang="en-US" sz="1100" dirty="0"/>
          </a:p>
        </p:txBody>
      </p:sp>
      <p:sp>
        <p:nvSpPr>
          <p:cNvPr id="12" name="Text 9"/>
          <p:cNvSpPr txBox="1"/>
          <p:nvPr/>
        </p:nvSpPr>
        <p:spPr>
          <a:xfrm>
            <a:off x="1508760" y="2624328"/>
            <a:ext cx="969264" cy="274320"/>
          </a:xfrm>
          <a:prstGeom prst="rect">
            <a:avLst/>
          </a:prstGeom>
          <a:noFill/>
          <a:ln/>
        </p:spPr>
        <p:txBody>
          <a:bodyPr wrap="square" lIns="0" tIns="0" rIns="0" bIns="0" rtlCol="0" anchor="t"/>
          <a:lstStyle/>
          <a:p>
            <a:pPr algn="ctr" indent="0" marL="0">
              <a:buNone/>
            </a:pPr>
            <a:r>
              <a:rPr lang="en-US" sz="1100" b="1" dirty="0">
                <a:solidFill>
                  <a:srgbClr val="8E9C9B"/>
                </a:solidFill>
                <a:latin typeface="Calibri" pitchFamily="34" charset="0"/>
                <a:ea typeface="Calibri" pitchFamily="34" charset="-122"/>
                <a:cs typeface="Calibri" pitchFamily="34" charset="-120"/>
              </a:rPr>
              <a:t>8 %</a:t>
            </a:r>
            <a:endParaRPr lang="en-US" sz="1100" dirty="0"/>
          </a:p>
        </p:txBody>
      </p:sp>
      <p:sp>
        <p:nvSpPr>
          <p:cNvPr id="13" name="Text 10"/>
          <p:cNvSpPr txBox="1"/>
          <p:nvPr/>
        </p:nvSpPr>
        <p:spPr>
          <a:xfrm>
            <a:off x="2478024" y="2624328"/>
            <a:ext cx="969264" cy="274320"/>
          </a:xfrm>
          <a:prstGeom prst="rect">
            <a:avLst/>
          </a:prstGeom>
          <a:noFill/>
          <a:ln/>
        </p:spPr>
        <p:txBody>
          <a:bodyPr wrap="square" lIns="0" tIns="0" rIns="0" bIns="0" rtlCol="0" anchor="t"/>
          <a:lstStyle/>
          <a:p>
            <a:pPr algn="ctr" indent="0" marL="0">
              <a:buNone/>
            </a:pPr>
            <a:r>
              <a:rPr lang="en-US" sz="1100" b="1" dirty="0">
                <a:solidFill>
                  <a:srgbClr val="8E9C9B"/>
                </a:solidFill>
                <a:latin typeface="Calibri" pitchFamily="34" charset="0"/>
                <a:ea typeface="Calibri" pitchFamily="34" charset="-122"/>
                <a:cs typeface="Calibri" pitchFamily="34" charset="-120"/>
              </a:rPr>
              <a:t>12 %</a:t>
            </a:r>
            <a:endParaRPr lang="en-US" sz="1100" dirty="0"/>
          </a:p>
        </p:txBody>
      </p:sp>
      <p:sp>
        <p:nvSpPr>
          <p:cNvPr id="14" name="Text 11"/>
          <p:cNvSpPr txBox="1"/>
          <p:nvPr/>
        </p:nvSpPr>
        <p:spPr>
          <a:xfrm>
            <a:off x="3447288" y="2624328"/>
            <a:ext cx="969264" cy="274320"/>
          </a:xfrm>
          <a:prstGeom prst="rect">
            <a:avLst/>
          </a:prstGeom>
          <a:noFill/>
          <a:ln/>
        </p:spPr>
        <p:txBody>
          <a:bodyPr wrap="square" lIns="0" tIns="0" rIns="0" bIns="0" rtlCol="0" anchor="t"/>
          <a:lstStyle/>
          <a:p>
            <a:pPr algn="ctr" indent="0" marL="0">
              <a:buNone/>
            </a:pPr>
            <a:r>
              <a:rPr lang="en-US" sz="1100" b="1" dirty="0">
                <a:solidFill>
                  <a:srgbClr val="8E9C9B"/>
                </a:solidFill>
                <a:latin typeface="Calibri" pitchFamily="34" charset="0"/>
                <a:ea typeface="Calibri" pitchFamily="34" charset="-122"/>
                <a:cs typeface="Calibri" pitchFamily="34" charset="-120"/>
              </a:rPr>
              <a:t>18 %</a:t>
            </a:r>
            <a:endParaRPr lang="en-US" sz="1100" dirty="0"/>
          </a:p>
        </p:txBody>
      </p:sp>
      <p:sp>
        <p:nvSpPr>
          <p:cNvPr id="15" name="Text 12"/>
          <p:cNvSpPr txBox="1"/>
          <p:nvPr/>
        </p:nvSpPr>
        <p:spPr>
          <a:xfrm>
            <a:off x="4416552" y="2624328"/>
            <a:ext cx="969264" cy="274320"/>
          </a:xfrm>
          <a:prstGeom prst="rect">
            <a:avLst/>
          </a:prstGeom>
          <a:noFill/>
          <a:ln/>
        </p:spPr>
        <p:txBody>
          <a:bodyPr wrap="square" lIns="0" tIns="0" rIns="0" bIns="0" rtlCol="0" anchor="t"/>
          <a:lstStyle/>
          <a:p>
            <a:pPr algn="ctr" indent="0" marL="0">
              <a:buNone/>
            </a:pPr>
            <a:r>
              <a:rPr lang="en-US" sz="1100" b="1" dirty="0">
                <a:solidFill>
                  <a:srgbClr val="8E9C9B"/>
                </a:solidFill>
                <a:latin typeface="Calibri" pitchFamily="34" charset="0"/>
                <a:ea typeface="Calibri" pitchFamily="34" charset="-122"/>
                <a:cs typeface="Calibri" pitchFamily="34" charset="-120"/>
              </a:rPr>
              <a:t>24 %</a:t>
            </a:r>
            <a:endParaRPr lang="en-US" sz="1100" dirty="0"/>
          </a:p>
        </p:txBody>
      </p:sp>
      <p:sp>
        <p:nvSpPr>
          <p:cNvPr id="16" name="Text 13"/>
          <p:cNvSpPr txBox="1"/>
          <p:nvPr/>
        </p:nvSpPr>
        <p:spPr>
          <a:xfrm>
            <a:off x="5385816" y="2624328"/>
            <a:ext cx="969264" cy="274320"/>
          </a:xfrm>
          <a:prstGeom prst="rect">
            <a:avLst/>
          </a:prstGeom>
          <a:noFill/>
          <a:ln/>
        </p:spPr>
        <p:txBody>
          <a:bodyPr wrap="square" lIns="0" tIns="0" rIns="0" bIns="0" rtlCol="0" anchor="t"/>
          <a:lstStyle/>
          <a:p>
            <a:pPr algn="ctr" indent="0" marL="0">
              <a:buNone/>
            </a:pPr>
            <a:r>
              <a:rPr lang="en-US" sz="1100" b="1" dirty="0">
                <a:solidFill>
                  <a:srgbClr val="8E9C9B"/>
                </a:solidFill>
                <a:latin typeface="Calibri" pitchFamily="34" charset="0"/>
                <a:ea typeface="Calibri" pitchFamily="34" charset="-122"/>
                <a:cs typeface="Calibri" pitchFamily="34" charset="-120"/>
              </a:rPr>
              <a:t>30 %</a:t>
            </a:r>
            <a:endParaRPr lang="en-US" sz="1100" dirty="0"/>
          </a:p>
        </p:txBody>
      </p:sp>
      <p:sp>
        <p:nvSpPr>
          <p:cNvPr id="17" name="Text 14"/>
          <p:cNvSpPr txBox="1"/>
          <p:nvPr/>
        </p:nvSpPr>
        <p:spPr>
          <a:xfrm>
            <a:off x="502920" y="2926080"/>
            <a:ext cx="914400" cy="502920"/>
          </a:xfrm>
          <a:prstGeom prst="rect">
            <a:avLst/>
          </a:prstGeom>
          <a:noFill/>
          <a:ln/>
        </p:spPr>
        <p:txBody>
          <a:bodyPr wrap="square" lIns="0" tIns="0" rIns="0" bIns="0" rtlCol="0" anchor="ctr"/>
          <a:lstStyle/>
          <a:p>
            <a:pPr algn="r" indent="0" marL="0">
              <a:buNone/>
            </a:pPr>
            <a:r>
              <a:rPr lang="en-US" sz="1100" b="1" dirty="0">
                <a:solidFill>
                  <a:srgbClr val="8E9C9B"/>
                </a:solidFill>
                <a:latin typeface="Calibri" pitchFamily="34" charset="0"/>
                <a:ea typeface="Calibri" pitchFamily="34" charset="-122"/>
                <a:cs typeface="Calibri" pitchFamily="34" charset="-120"/>
              </a:rPr>
              <a:t>2,2×</a:t>
            </a:r>
            <a:endParaRPr lang="en-US" sz="1100" dirty="0"/>
          </a:p>
        </p:txBody>
      </p:sp>
      <p:sp>
        <p:nvSpPr>
          <p:cNvPr id="18" name="Shape 15"/>
          <p:cNvSpPr/>
          <p:nvPr/>
        </p:nvSpPr>
        <p:spPr>
          <a:xfrm>
            <a:off x="1536192" y="2953512"/>
            <a:ext cx="914400" cy="448056"/>
          </a:xfrm>
          <a:prstGeom prst="roundRect">
            <a:avLst>
              <a:gd name="adj" fmla="val 8163"/>
            </a:avLst>
          </a:prstGeom>
          <a:solidFill>
            <a:srgbClr val="3A4A4D"/>
          </a:solidFill>
          <a:ln/>
        </p:spPr>
      </p:sp>
      <p:sp>
        <p:nvSpPr>
          <p:cNvPr id="19" name="Text 16"/>
          <p:cNvSpPr txBox="1"/>
          <p:nvPr/>
        </p:nvSpPr>
        <p:spPr>
          <a:xfrm>
            <a:off x="1508760" y="292608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0,91</a:t>
            </a:r>
            <a:endParaRPr lang="en-US" sz="1250" dirty="0"/>
          </a:p>
        </p:txBody>
      </p:sp>
      <p:sp>
        <p:nvSpPr>
          <p:cNvPr id="20" name="Shape 17"/>
          <p:cNvSpPr/>
          <p:nvPr/>
        </p:nvSpPr>
        <p:spPr>
          <a:xfrm>
            <a:off x="2505456" y="2953512"/>
            <a:ext cx="914400" cy="448056"/>
          </a:xfrm>
          <a:prstGeom prst="roundRect">
            <a:avLst>
              <a:gd name="adj" fmla="val 8163"/>
            </a:avLst>
          </a:prstGeom>
          <a:solidFill>
            <a:srgbClr val="3E8F80"/>
          </a:solidFill>
          <a:ln/>
        </p:spPr>
      </p:sp>
      <p:sp>
        <p:nvSpPr>
          <p:cNvPr id="21" name="Text 18"/>
          <p:cNvSpPr txBox="1"/>
          <p:nvPr/>
        </p:nvSpPr>
        <p:spPr>
          <a:xfrm>
            <a:off x="2478024" y="292608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1,02</a:t>
            </a:r>
            <a:endParaRPr lang="en-US" sz="1250" dirty="0"/>
          </a:p>
        </p:txBody>
      </p:sp>
      <p:sp>
        <p:nvSpPr>
          <p:cNvPr id="22" name="Shape 19"/>
          <p:cNvSpPr/>
          <p:nvPr/>
        </p:nvSpPr>
        <p:spPr>
          <a:xfrm>
            <a:off x="3474720" y="2953512"/>
            <a:ext cx="914400" cy="448056"/>
          </a:xfrm>
          <a:prstGeom prst="roundRect">
            <a:avLst>
              <a:gd name="adj" fmla="val 8163"/>
            </a:avLst>
          </a:prstGeom>
          <a:solidFill>
            <a:srgbClr val="3E8F80"/>
          </a:solidFill>
          <a:ln/>
        </p:spPr>
      </p:sp>
      <p:sp>
        <p:nvSpPr>
          <p:cNvPr id="23" name="Text 20"/>
          <p:cNvSpPr txBox="1"/>
          <p:nvPr/>
        </p:nvSpPr>
        <p:spPr>
          <a:xfrm>
            <a:off x="3447288" y="292608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1,19</a:t>
            </a:r>
            <a:endParaRPr lang="en-US" sz="1250" dirty="0"/>
          </a:p>
        </p:txBody>
      </p:sp>
      <p:sp>
        <p:nvSpPr>
          <p:cNvPr id="24" name="Shape 21"/>
          <p:cNvSpPr/>
          <p:nvPr/>
        </p:nvSpPr>
        <p:spPr>
          <a:xfrm>
            <a:off x="4443984" y="2953512"/>
            <a:ext cx="914400" cy="448056"/>
          </a:xfrm>
          <a:prstGeom prst="roundRect">
            <a:avLst>
              <a:gd name="adj" fmla="val 8163"/>
            </a:avLst>
          </a:prstGeom>
          <a:solidFill>
            <a:srgbClr val="5FC4B1"/>
          </a:solidFill>
          <a:ln/>
        </p:spPr>
      </p:sp>
      <p:sp>
        <p:nvSpPr>
          <p:cNvPr id="25" name="Text 22"/>
          <p:cNvSpPr txBox="1"/>
          <p:nvPr/>
        </p:nvSpPr>
        <p:spPr>
          <a:xfrm>
            <a:off x="4416552" y="292608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1,35</a:t>
            </a:r>
            <a:endParaRPr lang="en-US" sz="1250" dirty="0"/>
          </a:p>
        </p:txBody>
      </p:sp>
      <p:sp>
        <p:nvSpPr>
          <p:cNvPr id="26" name="Shape 23"/>
          <p:cNvSpPr/>
          <p:nvPr/>
        </p:nvSpPr>
        <p:spPr>
          <a:xfrm>
            <a:off x="5413248" y="2953512"/>
            <a:ext cx="914400" cy="448056"/>
          </a:xfrm>
          <a:prstGeom prst="roundRect">
            <a:avLst>
              <a:gd name="adj" fmla="val 8163"/>
            </a:avLst>
          </a:prstGeom>
          <a:solidFill>
            <a:srgbClr val="5FC4B1"/>
          </a:solidFill>
          <a:ln/>
        </p:spPr>
      </p:sp>
      <p:sp>
        <p:nvSpPr>
          <p:cNvPr id="27" name="Text 24"/>
          <p:cNvSpPr txBox="1"/>
          <p:nvPr/>
        </p:nvSpPr>
        <p:spPr>
          <a:xfrm>
            <a:off x="5385816" y="292608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1,52</a:t>
            </a:r>
            <a:endParaRPr lang="en-US" sz="1250" dirty="0"/>
          </a:p>
        </p:txBody>
      </p:sp>
      <p:sp>
        <p:nvSpPr>
          <p:cNvPr id="28" name="Text 25"/>
          <p:cNvSpPr txBox="1"/>
          <p:nvPr/>
        </p:nvSpPr>
        <p:spPr>
          <a:xfrm>
            <a:off x="502920" y="3429000"/>
            <a:ext cx="914400" cy="502920"/>
          </a:xfrm>
          <a:prstGeom prst="rect">
            <a:avLst/>
          </a:prstGeom>
          <a:noFill/>
          <a:ln/>
        </p:spPr>
        <p:txBody>
          <a:bodyPr wrap="square" lIns="0" tIns="0" rIns="0" bIns="0" rtlCol="0" anchor="ctr"/>
          <a:lstStyle/>
          <a:p>
            <a:pPr algn="r" indent="0" marL="0">
              <a:buNone/>
            </a:pPr>
            <a:r>
              <a:rPr lang="en-US" sz="1100" b="1" dirty="0">
                <a:solidFill>
                  <a:srgbClr val="8E9C9B"/>
                </a:solidFill>
                <a:latin typeface="Calibri" pitchFamily="34" charset="0"/>
                <a:ea typeface="Calibri" pitchFamily="34" charset="-122"/>
                <a:cs typeface="Calibri" pitchFamily="34" charset="-120"/>
              </a:rPr>
              <a:t>1,9×</a:t>
            </a:r>
            <a:endParaRPr lang="en-US" sz="1100" dirty="0"/>
          </a:p>
        </p:txBody>
      </p:sp>
      <p:sp>
        <p:nvSpPr>
          <p:cNvPr id="29" name="Shape 26"/>
          <p:cNvSpPr/>
          <p:nvPr/>
        </p:nvSpPr>
        <p:spPr>
          <a:xfrm>
            <a:off x="1536192" y="3456432"/>
            <a:ext cx="914400" cy="448056"/>
          </a:xfrm>
          <a:prstGeom prst="roundRect">
            <a:avLst>
              <a:gd name="adj" fmla="val 8163"/>
            </a:avLst>
          </a:prstGeom>
          <a:solidFill>
            <a:srgbClr val="3A4A4D"/>
          </a:solidFill>
          <a:ln/>
        </p:spPr>
      </p:sp>
      <p:sp>
        <p:nvSpPr>
          <p:cNvPr id="30" name="Text 27"/>
          <p:cNvSpPr txBox="1"/>
          <p:nvPr/>
        </p:nvSpPr>
        <p:spPr>
          <a:xfrm>
            <a:off x="1508760" y="342900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0,82</a:t>
            </a:r>
            <a:endParaRPr lang="en-US" sz="1250" dirty="0"/>
          </a:p>
        </p:txBody>
      </p:sp>
      <p:sp>
        <p:nvSpPr>
          <p:cNvPr id="31" name="Shape 28"/>
          <p:cNvSpPr/>
          <p:nvPr/>
        </p:nvSpPr>
        <p:spPr>
          <a:xfrm>
            <a:off x="2505456" y="3456432"/>
            <a:ext cx="914400" cy="448056"/>
          </a:xfrm>
          <a:prstGeom prst="roundRect">
            <a:avLst>
              <a:gd name="adj" fmla="val 8163"/>
            </a:avLst>
          </a:prstGeom>
          <a:solidFill>
            <a:srgbClr val="3A4A4D"/>
          </a:solidFill>
          <a:ln/>
        </p:spPr>
      </p:sp>
      <p:sp>
        <p:nvSpPr>
          <p:cNvPr id="32" name="Text 29"/>
          <p:cNvSpPr txBox="1"/>
          <p:nvPr/>
        </p:nvSpPr>
        <p:spPr>
          <a:xfrm>
            <a:off x="2478024" y="342900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0,93</a:t>
            </a:r>
            <a:endParaRPr lang="en-US" sz="1250" dirty="0"/>
          </a:p>
        </p:txBody>
      </p:sp>
      <p:sp>
        <p:nvSpPr>
          <p:cNvPr id="33" name="Shape 30"/>
          <p:cNvSpPr/>
          <p:nvPr/>
        </p:nvSpPr>
        <p:spPr>
          <a:xfrm>
            <a:off x="3474720" y="3456432"/>
            <a:ext cx="914400" cy="448056"/>
          </a:xfrm>
          <a:prstGeom prst="roundRect">
            <a:avLst>
              <a:gd name="adj" fmla="val 8163"/>
            </a:avLst>
          </a:prstGeom>
          <a:solidFill>
            <a:srgbClr val="3E8F80"/>
          </a:solidFill>
          <a:ln/>
        </p:spPr>
      </p:sp>
      <p:sp>
        <p:nvSpPr>
          <p:cNvPr id="34" name="Text 31"/>
          <p:cNvSpPr txBox="1"/>
          <p:nvPr/>
        </p:nvSpPr>
        <p:spPr>
          <a:xfrm>
            <a:off x="3447288" y="342900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1,09</a:t>
            </a:r>
            <a:endParaRPr lang="en-US" sz="1250" dirty="0"/>
          </a:p>
        </p:txBody>
      </p:sp>
      <p:sp>
        <p:nvSpPr>
          <p:cNvPr id="35" name="Shape 32"/>
          <p:cNvSpPr/>
          <p:nvPr/>
        </p:nvSpPr>
        <p:spPr>
          <a:xfrm>
            <a:off x="4443984" y="3456432"/>
            <a:ext cx="914400" cy="448056"/>
          </a:xfrm>
          <a:prstGeom prst="roundRect">
            <a:avLst>
              <a:gd name="adj" fmla="val 8163"/>
            </a:avLst>
          </a:prstGeom>
          <a:solidFill>
            <a:srgbClr val="5FC4B1"/>
          </a:solidFill>
          <a:ln/>
        </p:spPr>
      </p:sp>
      <p:sp>
        <p:nvSpPr>
          <p:cNvPr id="36" name="Text 33"/>
          <p:cNvSpPr txBox="1"/>
          <p:nvPr/>
        </p:nvSpPr>
        <p:spPr>
          <a:xfrm>
            <a:off x="4416552" y="342900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1,26</a:t>
            </a:r>
            <a:endParaRPr lang="en-US" sz="1250" dirty="0"/>
          </a:p>
        </p:txBody>
      </p:sp>
      <p:sp>
        <p:nvSpPr>
          <p:cNvPr id="37" name="Shape 34"/>
          <p:cNvSpPr/>
          <p:nvPr/>
        </p:nvSpPr>
        <p:spPr>
          <a:xfrm>
            <a:off x="5413248" y="3456432"/>
            <a:ext cx="914400" cy="448056"/>
          </a:xfrm>
          <a:prstGeom prst="roundRect">
            <a:avLst>
              <a:gd name="adj" fmla="val 8163"/>
            </a:avLst>
          </a:prstGeom>
          <a:solidFill>
            <a:srgbClr val="5FC4B1"/>
          </a:solidFill>
          <a:ln/>
        </p:spPr>
      </p:sp>
      <p:sp>
        <p:nvSpPr>
          <p:cNvPr id="38" name="Text 35"/>
          <p:cNvSpPr txBox="1"/>
          <p:nvPr/>
        </p:nvSpPr>
        <p:spPr>
          <a:xfrm>
            <a:off x="5385816" y="342900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1,43</a:t>
            </a:r>
            <a:endParaRPr lang="en-US" sz="1250" dirty="0"/>
          </a:p>
        </p:txBody>
      </p:sp>
      <p:sp>
        <p:nvSpPr>
          <p:cNvPr id="39" name="Text 36"/>
          <p:cNvSpPr txBox="1"/>
          <p:nvPr/>
        </p:nvSpPr>
        <p:spPr>
          <a:xfrm>
            <a:off x="502920" y="3931920"/>
            <a:ext cx="914400" cy="502920"/>
          </a:xfrm>
          <a:prstGeom prst="rect">
            <a:avLst/>
          </a:prstGeom>
          <a:noFill/>
          <a:ln/>
        </p:spPr>
        <p:txBody>
          <a:bodyPr wrap="square" lIns="0" tIns="0" rIns="0" bIns="0" rtlCol="0" anchor="ctr"/>
          <a:lstStyle/>
          <a:p>
            <a:pPr algn="r" indent="0" marL="0">
              <a:buNone/>
            </a:pPr>
            <a:r>
              <a:rPr lang="en-US" sz="1100" b="1" dirty="0">
                <a:solidFill>
                  <a:srgbClr val="8E9C9B"/>
                </a:solidFill>
                <a:latin typeface="Calibri" pitchFamily="34" charset="0"/>
                <a:ea typeface="Calibri" pitchFamily="34" charset="-122"/>
                <a:cs typeface="Calibri" pitchFamily="34" charset="-120"/>
              </a:rPr>
              <a:t>1,6×</a:t>
            </a:r>
            <a:endParaRPr lang="en-US" sz="1100" dirty="0"/>
          </a:p>
        </p:txBody>
      </p:sp>
      <p:sp>
        <p:nvSpPr>
          <p:cNvPr id="40" name="Shape 37"/>
          <p:cNvSpPr/>
          <p:nvPr/>
        </p:nvSpPr>
        <p:spPr>
          <a:xfrm>
            <a:off x="1536192" y="3959352"/>
            <a:ext cx="914400" cy="448056"/>
          </a:xfrm>
          <a:prstGeom prst="roundRect">
            <a:avLst>
              <a:gd name="adj" fmla="val 8163"/>
            </a:avLst>
          </a:prstGeom>
          <a:solidFill>
            <a:srgbClr val="3A4A4D"/>
          </a:solidFill>
          <a:ln/>
        </p:spPr>
      </p:sp>
      <p:sp>
        <p:nvSpPr>
          <p:cNvPr id="41" name="Text 38"/>
          <p:cNvSpPr txBox="1"/>
          <p:nvPr/>
        </p:nvSpPr>
        <p:spPr>
          <a:xfrm>
            <a:off x="1508760" y="393192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0,72</a:t>
            </a:r>
            <a:endParaRPr lang="en-US" sz="1250" dirty="0"/>
          </a:p>
        </p:txBody>
      </p:sp>
      <p:sp>
        <p:nvSpPr>
          <p:cNvPr id="42" name="Shape 39"/>
          <p:cNvSpPr/>
          <p:nvPr/>
        </p:nvSpPr>
        <p:spPr>
          <a:xfrm>
            <a:off x="2505456" y="3959352"/>
            <a:ext cx="914400" cy="448056"/>
          </a:xfrm>
          <a:prstGeom prst="roundRect">
            <a:avLst>
              <a:gd name="adj" fmla="val 8163"/>
            </a:avLst>
          </a:prstGeom>
          <a:solidFill>
            <a:srgbClr val="3A4A4D"/>
          </a:solidFill>
          <a:ln/>
        </p:spPr>
      </p:sp>
      <p:sp>
        <p:nvSpPr>
          <p:cNvPr id="43" name="Text 40"/>
          <p:cNvSpPr txBox="1"/>
          <p:nvPr/>
        </p:nvSpPr>
        <p:spPr>
          <a:xfrm>
            <a:off x="2478024" y="393192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0,83</a:t>
            </a:r>
            <a:endParaRPr lang="en-US" sz="1250" dirty="0"/>
          </a:p>
        </p:txBody>
      </p:sp>
      <p:sp>
        <p:nvSpPr>
          <p:cNvPr id="44" name="Shape 41"/>
          <p:cNvSpPr/>
          <p:nvPr/>
        </p:nvSpPr>
        <p:spPr>
          <a:xfrm>
            <a:off x="3474720" y="3959352"/>
            <a:ext cx="914400" cy="448056"/>
          </a:xfrm>
          <a:prstGeom prst="roundRect">
            <a:avLst>
              <a:gd name="adj" fmla="val 8163"/>
            </a:avLst>
          </a:prstGeom>
          <a:solidFill>
            <a:srgbClr val="3E8F80"/>
          </a:solidFill>
          <a:ln/>
        </p:spPr>
      </p:sp>
      <p:sp>
        <p:nvSpPr>
          <p:cNvPr id="45" name="Text 42"/>
          <p:cNvSpPr txBox="1"/>
          <p:nvPr/>
        </p:nvSpPr>
        <p:spPr>
          <a:xfrm>
            <a:off x="3447288" y="393192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1,00</a:t>
            </a:r>
            <a:endParaRPr lang="en-US" sz="1250" dirty="0"/>
          </a:p>
        </p:txBody>
      </p:sp>
      <p:sp>
        <p:nvSpPr>
          <p:cNvPr id="46" name="Shape 43"/>
          <p:cNvSpPr/>
          <p:nvPr/>
        </p:nvSpPr>
        <p:spPr>
          <a:xfrm>
            <a:off x="4443984" y="3959352"/>
            <a:ext cx="914400" cy="448056"/>
          </a:xfrm>
          <a:prstGeom prst="roundRect">
            <a:avLst>
              <a:gd name="adj" fmla="val 8163"/>
            </a:avLst>
          </a:prstGeom>
          <a:solidFill>
            <a:srgbClr val="3E8F80"/>
          </a:solidFill>
          <a:ln/>
        </p:spPr>
      </p:sp>
      <p:sp>
        <p:nvSpPr>
          <p:cNvPr id="47" name="Text 44"/>
          <p:cNvSpPr txBox="1"/>
          <p:nvPr/>
        </p:nvSpPr>
        <p:spPr>
          <a:xfrm>
            <a:off x="4416552" y="393192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1,17</a:t>
            </a:r>
            <a:endParaRPr lang="en-US" sz="1250" dirty="0"/>
          </a:p>
        </p:txBody>
      </p:sp>
      <p:sp>
        <p:nvSpPr>
          <p:cNvPr id="48" name="Shape 45"/>
          <p:cNvSpPr/>
          <p:nvPr/>
        </p:nvSpPr>
        <p:spPr>
          <a:xfrm>
            <a:off x="5413248" y="3959352"/>
            <a:ext cx="914400" cy="448056"/>
          </a:xfrm>
          <a:prstGeom prst="roundRect">
            <a:avLst>
              <a:gd name="adj" fmla="val 8163"/>
            </a:avLst>
          </a:prstGeom>
          <a:solidFill>
            <a:srgbClr val="5FC4B1"/>
          </a:solidFill>
          <a:ln/>
        </p:spPr>
      </p:sp>
      <p:sp>
        <p:nvSpPr>
          <p:cNvPr id="49" name="Text 46"/>
          <p:cNvSpPr txBox="1"/>
          <p:nvPr/>
        </p:nvSpPr>
        <p:spPr>
          <a:xfrm>
            <a:off x="5385816" y="393192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1,33</a:t>
            </a:r>
            <a:endParaRPr lang="en-US" sz="1250" dirty="0"/>
          </a:p>
        </p:txBody>
      </p:sp>
      <p:sp>
        <p:nvSpPr>
          <p:cNvPr id="50" name="Text 47"/>
          <p:cNvSpPr txBox="1"/>
          <p:nvPr/>
        </p:nvSpPr>
        <p:spPr>
          <a:xfrm>
            <a:off x="502920" y="4434840"/>
            <a:ext cx="914400" cy="502920"/>
          </a:xfrm>
          <a:prstGeom prst="rect">
            <a:avLst/>
          </a:prstGeom>
          <a:noFill/>
          <a:ln/>
        </p:spPr>
        <p:txBody>
          <a:bodyPr wrap="square" lIns="0" tIns="0" rIns="0" bIns="0" rtlCol="0" anchor="ctr"/>
          <a:lstStyle/>
          <a:p>
            <a:pPr algn="r" indent="0" marL="0">
              <a:buNone/>
            </a:pPr>
            <a:r>
              <a:rPr lang="en-US" sz="1100" b="1" dirty="0">
                <a:solidFill>
                  <a:srgbClr val="8E9C9B"/>
                </a:solidFill>
                <a:latin typeface="Calibri" pitchFamily="34" charset="0"/>
                <a:ea typeface="Calibri" pitchFamily="34" charset="-122"/>
                <a:cs typeface="Calibri" pitchFamily="34" charset="-120"/>
              </a:rPr>
              <a:t>1,3×</a:t>
            </a:r>
            <a:endParaRPr lang="en-US" sz="1100" dirty="0"/>
          </a:p>
        </p:txBody>
      </p:sp>
      <p:sp>
        <p:nvSpPr>
          <p:cNvPr id="51" name="Shape 48"/>
          <p:cNvSpPr/>
          <p:nvPr/>
        </p:nvSpPr>
        <p:spPr>
          <a:xfrm>
            <a:off x="1536192" y="4462272"/>
            <a:ext cx="914400" cy="448056"/>
          </a:xfrm>
          <a:prstGeom prst="roundRect">
            <a:avLst>
              <a:gd name="adj" fmla="val 8163"/>
            </a:avLst>
          </a:prstGeom>
          <a:solidFill>
            <a:srgbClr val="6B3A36"/>
          </a:solidFill>
          <a:ln/>
        </p:spPr>
      </p:sp>
      <p:sp>
        <p:nvSpPr>
          <p:cNvPr id="52" name="Text 49"/>
          <p:cNvSpPr txBox="1"/>
          <p:nvPr/>
        </p:nvSpPr>
        <p:spPr>
          <a:xfrm>
            <a:off x="1508760" y="443484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0,63</a:t>
            </a:r>
            <a:endParaRPr lang="en-US" sz="1250" dirty="0"/>
          </a:p>
        </p:txBody>
      </p:sp>
      <p:sp>
        <p:nvSpPr>
          <p:cNvPr id="53" name="Shape 50"/>
          <p:cNvSpPr/>
          <p:nvPr/>
        </p:nvSpPr>
        <p:spPr>
          <a:xfrm>
            <a:off x="2505456" y="4462272"/>
            <a:ext cx="914400" cy="448056"/>
          </a:xfrm>
          <a:prstGeom prst="roundRect">
            <a:avLst>
              <a:gd name="adj" fmla="val 8163"/>
            </a:avLst>
          </a:prstGeom>
          <a:solidFill>
            <a:srgbClr val="3A4A4D"/>
          </a:solidFill>
          <a:ln/>
        </p:spPr>
      </p:sp>
      <p:sp>
        <p:nvSpPr>
          <p:cNvPr id="54" name="Text 51"/>
          <p:cNvSpPr txBox="1"/>
          <p:nvPr/>
        </p:nvSpPr>
        <p:spPr>
          <a:xfrm>
            <a:off x="2478024" y="443484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0,74</a:t>
            </a:r>
            <a:endParaRPr lang="en-US" sz="1250" dirty="0"/>
          </a:p>
        </p:txBody>
      </p:sp>
      <p:sp>
        <p:nvSpPr>
          <p:cNvPr id="55" name="Shape 52"/>
          <p:cNvSpPr/>
          <p:nvPr/>
        </p:nvSpPr>
        <p:spPr>
          <a:xfrm>
            <a:off x="3474720" y="4462272"/>
            <a:ext cx="914400" cy="448056"/>
          </a:xfrm>
          <a:prstGeom prst="roundRect">
            <a:avLst>
              <a:gd name="adj" fmla="val 8163"/>
            </a:avLst>
          </a:prstGeom>
          <a:solidFill>
            <a:srgbClr val="3A4A4D"/>
          </a:solidFill>
          <a:ln/>
        </p:spPr>
      </p:sp>
      <p:sp>
        <p:nvSpPr>
          <p:cNvPr id="56" name="Text 53"/>
          <p:cNvSpPr txBox="1"/>
          <p:nvPr/>
        </p:nvSpPr>
        <p:spPr>
          <a:xfrm>
            <a:off x="3447288" y="443484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0,91</a:t>
            </a:r>
            <a:endParaRPr lang="en-US" sz="1250" dirty="0"/>
          </a:p>
        </p:txBody>
      </p:sp>
      <p:sp>
        <p:nvSpPr>
          <p:cNvPr id="57" name="Shape 54"/>
          <p:cNvSpPr/>
          <p:nvPr/>
        </p:nvSpPr>
        <p:spPr>
          <a:xfrm>
            <a:off x="4443984" y="4462272"/>
            <a:ext cx="914400" cy="448056"/>
          </a:xfrm>
          <a:prstGeom prst="roundRect">
            <a:avLst>
              <a:gd name="adj" fmla="val 8163"/>
            </a:avLst>
          </a:prstGeom>
          <a:solidFill>
            <a:srgbClr val="3E8F80"/>
          </a:solidFill>
          <a:ln/>
        </p:spPr>
      </p:sp>
      <p:sp>
        <p:nvSpPr>
          <p:cNvPr id="58" name="Text 55"/>
          <p:cNvSpPr txBox="1"/>
          <p:nvPr/>
        </p:nvSpPr>
        <p:spPr>
          <a:xfrm>
            <a:off x="4416552" y="443484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1,07</a:t>
            </a:r>
            <a:endParaRPr lang="en-US" sz="1250" dirty="0"/>
          </a:p>
        </p:txBody>
      </p:sp>
      <p:sp>
        <p:nvSpPr>
          <p:cNvPr id="59" name="Shape 56"/>
          <p:cNvSpPr/>
          <p:nvPr/>
        </p:nvSpPr>
        <p:spPr>
          <a:xfrm>
            <a:off x="5413248" y="4462272"/>
            <a:ext cx="914400" cy="448056"/>
          </a:xfrm>
          <a:prstGeom prst="roundRect">
            <a:avLst>
              <a:gd name="adj" fmla="val 8163"/>
            </a:avLst>
          </a:prstGeom>
          <a:solidFill>
            <a:srgbClr val="5FC4B1"/>
          </a:solidFill>
          <a:ln/>
        </p:spPr>
      </p:sp>
      <p:sp>
        <p:nvSpPr>
          <p:cNvPr id="60" name="Text 57"/>
          <p:cNvSpPr txBox="1"/>
          <p:nvPr/>
        </p:nvSpPr>
        <p:spPr>
          <a:xfrm>
            <a:off x="5385816" y="443484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1,24</a:t>
            </a:r>
            <a:endParaRPr lang="en-US" sz="1250" dirty="0"/>
          </a:p>
        </p:txBody>
      </p:sp>
      <p:sp>
        <p:nvSpPr>
          <p:cNvPr id="61" name="Text 58"/>
          <p:cNvSpPr txBox="1"/>
          <p:nvPr/>
        </p:nvSpPr>
        <p:spPr>
          <a:xfrm>
            <a:off x="502920" y="4937760"/>
            <a:ext cx="914400" cy="502920"/>
          </a:xfrm>
          <a:prstGeom prst="rect">
            <a:avLst/>
          </a:prstGeom>
          <a:noFill/>
          <a:ln/>
        </p:spPr>
        <p:txBody>
          <a:bodyPr wrap="square" lIns="0" tIns="0" rIns="0" bIns="0" rtlCol="0" anchor="ctr"/>
          <a:lstStyle/>
          <a:p>
            <a:pPr algn="r" indent="0" marL="0">
              <a:buNone/>
            </a:pPr>
            <a:r>
              <a:rPr lang="en-US" sz="1100" b="1" dirty="0">
                <a:solidFill>
                  <a:srgbClr val="8E9C9B"/>
                </a:solidFill>
                <a:latin typeface="Calibri" pitchFamily="34" charset="0"/>
                <a:ea typeface="Calibri" pitchFamily="34" charset="-122"/>
                <a:cs typeface="Calibri" pitchFamily="34" charset="-120"/>
              </a:rPr>
              <a:t>1,1×</a:t>
            </a:r>
            <a:endParaRPr lang="en-US" sz="1100" dirty="0"/>
          </a:p>
        </p:txBody>
      </p:sp>
      <p:sp>
        <p:nvSpPr>
          <p:cNvPr id="62" name="Shape 59"/>
          <p:cNvSpPr/>
          <p:nvPr/>
        </p:nvSpPr>
        <p:spPr>
          <a:xfrm>
            <a:off x="1536192" y="4965192"/>
            <a:ext cx="914400" cy="448056"/>
          </a:xfrm>
          <a:prstGeom prst="roundRect">
            <a:avLst>
              <a:gd name="adj" fmla="val 8163"/>
            </a:avLst>
          </a:prstGeom>
          <a:solidFill>
            <a:srgbClr val="6B3A36"/>
          </a:solidFill>
          <a:ln/>
        </p:spPr>
      </p:sp>
      <p:sp>
        <p:nvSpPr>
          <p:cNvPr id="63" name="Text 60"/>
          <p:cNvSpPr txBox="1"/>
          <p:nvPr/>
        </p:nvSpPr>
        <p:spPr>
          <a:xfrm>
            <a:off x="1508760" y="493776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0,57</a:t>
            </a:r>
            <a:endParaRPr lang="en-US" sz="1250" dirty="0"/>
          </a:p>
        </p:txBody>
      </p:sp>
      <p:sp>
        <p:nvSpPr>
          <p:cNvPr id="64" name="Shape 61"/>
          <p:cNvSpPr/>
          <p:nvPr/>
        </p:nvSpPr>
        <p:spPr>
          <a:xfrm>
            <a:off x="2505456" y="4965192"/>
            <a:ext cx="914400" cy="448056"/>
          </a:xfrm>
          <a:prstGeom prst="roundRect">
            <a:avLst>
              <a:gd name="adj" fmla="val 8163"/>
            </a:avLst>
          </a:prstGeom>
          <a:solidFill>
            <a:srgbClr val="6B3A36"/>
          </a:solidFill>
          <a:ln/>
        </p:spPr>
      </p:sp>
      <p:sp>
        <p:nvSpPr>
          <p:cNvPr id="65" name="Text 62"/>
          <p:cNvSpPr txBox="1"/>
          <p:nvPr/>
        </p:nvSpPr>
        <p:spPr>
          <a:xfrm>
            <a:off x="2478024" y="493776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0,68</a:t>
            </a:r>
            <a:endParaRPr lang="en-US" sz="1250" dirty="0"/>
          </a:p>
        </p:txBody>
      </p:sp>
      <p:sp>
        <p:nvSpPr>
          <p:cNvPr id="66" name="Shape 63"/>
          <p:cNvSpPr/>
          <p:nvPr/>
        </p:nvSpPr>
        <p:spPr>
          <a:xfrm>
            <a:off x="3474720" y="4965192"/>
            <a:ext cx="914400" cy="448056"/>
          </a:xfrm>
          <a:prstGeom prst="roundRect">
            <a:avLst>
              <a:gd name="adj" fmla="val 8163"/>
            </a:avLst>
          </a:prstGeom>
          <a:solidFill>
            <a:srgbClr val="3A4A4D"/>
          </a:solidFill>
          <a:ln/>
        </p:spPr>
      </p:sp>
      <p:sp>
        <p:nvSpPr>
          <p:cNvPr id="67" name="Text 64"/>
          <p:cNvSpPr txBox="1"/>
          <p:nvPr/>
        </p:nvSpPr>
        <p:spPr>
          <a:xfrm>
            <a:off x="3447288" y="493776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0,84</a:t>
            </a:r>
            <a:endParaRPr lang="en-US" sz="1250" dirty="0"/>
          </a:p>
        </p:txBody>
      </p:sp>
      <p:sp>
        <p:nvSpPr>
          <p:cNvPr id="68" name="Shape 65"/>
          <p:cNvSpPr/>
          <p:nvPr/>
        </p:nvSpPr>
        <p:spPr>
          <a:xfrm>
            <a:off x="4443984" y="4965192"/>
            <a:ext cx="914400" cy="448056"/>
          </a:xfrm>
          <a:prstGeom prst="roundRect">
            <a:avLst>
              <a:gd name="adj" fmla="val 8163"/>
            </a:avLst>
          </a:prstGeom>
          <a:solidFill>
            <a:srgbClr val="3E8F80"/>
          </a:solidFill>
          <a:ln/>
        </p:spPr>
      </p:sp>
      <p:sp>
        <p:nvSpPr>
          <p:cNvPr id="69" name="Text 66"/>
          <p:cNvSpPr txBox="1"/>
          <p:nvPr/>
        </p:nvSpPr>
        <p:spPr>
          <a:xfrm>
            <a:off x="4416552" y="493776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1,01</a:t>
            </a:r>
            <a:endParaRPr lang="en-US" sz="1250" dirty="0"/>
          </a:p>
        </p:txBody>
      </p:sp>
      <p:sp>
        <p:nvSpPr>
          <p:cNvPr id="70" name="Shape 67"/>
          <p:cNvSpPr/>
          <p:nvPr/>
        </p:nvSpPr>
        <p:spPr>
          <a:xfrm>
            <a:off x="5413248" y="4965192"/>
            <a:ext cx="914400" cy="448056"/>
          </a:xfrm>
          <a:prstGeom prst="roundRect">
            <a:avLst>
              <a:gd name="adj" fmla="val 8163"/>
            </a:avLst>
          </a:prstGeom>
          <a:solidFill>
            <a:srgbClr val="3E8F80"/>
          </a:solidFill>
          <a:ln/>
        </p:spPr>
      </p:sp>
      <p:sp>
        <p:nvSpPr>
          <p:cNvPr id="71" name="Text 68"/>
          <p:cNvSpPr txBox="1"/>
          <p:nvPr/>
        </p:nvSpPr>
        <p:spPr>
          <a:xfrm>
            <a:off x="5385816" y="4937760"/>
            <a:ext cx="969264" cy="502920"/>
          </a:xfrm>
          <a:prstGeom prst="rect">
            <a:avLst/>
          </a:prstGeom>
          <a:noFill/>
          <a:ln/>
        </p:spPr>
        <p:txBody>
          <a:bodyPr wrap="square" lIns="0" tIns="0" rIns="0" bIns="0" rtlCol="0" anchor="ctr"/>
          <a:lstStyle/>
          <a:p>
            <a:pPr algn="ctr" indent="0" marL="0">
              <a:buNone/>
            </a:pPr>
            <a:r>
              <a:rPr lang="en-US" sz="1250" b="1" dirty="0">
                <a:solidFill>
                  <a:srgbClr val="EDF1EE"/>
                </a:solidFill>
                <a:latin typeface="Calibri" pitchFamily="34" charset="0"/>
                <a:ea typeface="Calibri" pitchFamily="34" charset="-122"/>
                <a:cs typeface="Calibri" pitchFamily="34" charset="-120"/>
              </a:rPr>
              <a:t>1,18</a:t>
            </a:r>
            <a:endParaRPr lang="en-US" sz="1250" dirty="0"/>
          </a:p>
        </p:txBody>
      </p:sp>
      <p:sp>
        <p:nvSpPr>
          <p:cNvPr id="72" name="Text 69"/>
          <p:cNvSpPr txBox="1"/>
          <p:nvPr/>
        </p:nvSpPr>
        <p:spPr>
          <a:xfrm>
            <a:off x="502920" y="2624328"/>
            <a:ext cx="914400" cy="274320"/>
          </a:xfrm>
          <a:prstGeom prst="rect">
            <a:avLst/>
          </a:prstGeom>
          <a:noFill/>
          <a:ln/>
        </p:spPr>
        <p:txBody>
          <a:bodyPr wrap="square" lIns="0" tIns="0" rIns="0" bIns="0" rtlCol="0" anchor="t"/>
          <a:lstStyle/>
          <a:p>
            <a:pPr algn="r" indent="0" marL="0">
              <a:buNone/>
            </a:pPr>
            <a:r>
              <a:rPr lang="en-US" sz="1100" dirty="0">
                <a:solidFill>
                  <a:srgbClr val="8E9C9B"/>
                </a:solidFill>
                <a:latin typeface="Calibri" pitchFamily="34" charset="0"/>
                <a:ea typeface="Calibri" pitchFamily="34" charset="-122"/>
                <a:cs typeface="Calibri" pitchFamily="34" charset="-120"/>
              </a:rPr>
              <a:t>TVCC ↓</a:t>
            </a:r>
            <a:endParaRPr lang="en-US" sz="1100" dirty="0"/>
          </a:p>
        </p:txBody>
      </p:sp>
      <p:sp>
        <p:nvSpPr>
          <p:cNvPr id="73" name="Text 70"/>
          <p:cNvSpPr txBox="1"/>
          <p:nvPr/>
        </p:nvSpPr>
        <p:spPr>
          <a:xfrm>
            <a:off x="1508760" y="5550408"/>
            <a:ext cx="4846320" cy="274320"/>
          </a:xfrm>
          <a:prstGeom prst="rect">
            <a:avLst/>
          </a:prstGeom>
          <a:noFill/>
          <a:ln/>
        </p:spPr>
        <p:txBody>
          <a:bodyPr wrap="square" lIns="0" tIns="0" rIns="0" bIns="0" rtlCol="0" anchor="t"/>
          <a:lstStyle/>
          <a:p>
            <a:pPr algn="ctr" indent="0" marL="0">
              <a:buNone/>
            </a:pPr>
            <a:r>
              <a:rPr lang="en-US" sz="1050" dirty="0">
                <a:solidFill>
                  <a:srgbClr val="8E9C9B"/>
                </a:solidFill>
                <a:latin typeface="Calibri" pitchFamily="34" charset="0"/>
                <a:ea typeface="Calibri" pitchFamily="34" charset="-122"/>
                <a:cs typeface="Calibri" pitchFamily="34" charset="-120"/>
              </a:rPr>
              <a:t>Grün ab 1,00 = Benchmark eines guten Buyout-Fonds</a:t>
            </a:r>
            <a:endParaRPr lang="en-US" sz="1050" dirty="0"/>
          </a:p>
        </p:txBody>
      </p:sp>
      <p:pic>
        <p:nvPicPr>
          <p:cNvPr id="74" name="Image 0" descr="/tmp/claude-0/deck/img/deploy.jpg">    </p:cNvPr>
          <p:cNvPicPr>
            <a:picLocks noChangeAspect="1"/>
          </p:cNvPicPr>
          <p:nvPr/>
        </p:nvPicPr>
        <p:blipFill>
          <a:blip r:embed="rId1"/>
          <a:stretch>
            <a:fillRect/>
          </a:stretch>
        </p:blipFill>
        <p:spPr>
          <a:xfrm>
            <a:off x="7720275" y="1600200"/>
            <a:ext cx="3965757" cy="2514600"/>
          </a:xfrm>
          <a:prstGeom prst="rect">
            <a:avLst/>
          </a:prstGeom>
        </p:spPr>
      </p:pic>
      <p:sp>
        <p:nvSpPr>
          <p:cNvPr id="75" name="Shape 71"/>
          <p:cNvSpPr/>
          <p:nvPr/>
        </p:nvSpPr>
        <p:spPr>
          <a:xfrm>
            <a:off x="7720275" y="1600200"/>
            <a:ext cx="3965757" cy="2514600"/>
          </a:xfrm>
          <a:prstGeom prst="rect">
            <a:avLst/>
          </a:prstGeom>
          <a:ln w="9525">
            <a:solidFill>
              <a:srgbClr val="33474B"/>
            </a:solidFill>
            <a:prstDash val="solid"/>
          </a:ln>
        </p:spPr>
      </p:sp>
      <p:sp>
        <p:nvSpPr>
          <p:cNvPr id="76" name="Text 72"/>
          <p:cNvSpPr txBox="1"/>
          <p:nvPr/>
        </p:nvSpPr>
        <p:spPr>
          <a:xfrm>
            <a:off x="7445955" y="4169664"/>
            <a:ext cx="4514397"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Deployment Rate in der Peer Group: TVCC = TVPI × Deployment Rate</a:t>
            </a:r>
            <a:endParaRPr lang="en-US" sz="950" dirty="0"/>
          </a:p>
        </p:txBody>
      </p:sp>
      <p:sp>
        <p:nvSpPr>
          <p:cNvPr id="77" name="Text 73"/>
          <p:cNvSpPr txBox="1"/>
          <p:nvPr/>
        </p:nvSpPr>
        <p:spPr>
          <a:xfrm>
            <a:off x="6720840" y="4526280"/>
            <a:ext cx="4937760" cy="228600"/>
          </a:xfrm>
          <a:prstGeom prst="rect">
            <a:avLst/>
          </a:prstGeom>
          <a:noFill/>
          <a:ln/>
        </p:spPr>
        <p:txBody>
          <a:bodyPr wrap="square" lIns="0" tIns="0" rIns="0" bIns="0" rtlCol="0" anchor="t"/>
          <a:lstStyle/>
          <a:p>
            <a:pPr algn="l" indent="0" marL="0">
              <a:buNone/>
            </a:pPr>
            <a:r>
              <a:rPr lang="en-US" sz="1000" b="1" spc="150" kern="0" dirty="0">
                <a:solidFill>
                  <a:srgbClr val="DCB264"/>
                </a:solidFill>
                <a:latin typeface="Calibri" pitchFamily="34" charset="0"/>
                <a:ea typeface="Calibri" pitchFamily="34" charset="-122"/>
                <a:cs typeface="Calibri" pitchFamily="34" charset="-120"/>
              </a:rPr>
              <a:t>KALIBRIERUNG: TVCC DER KOHORTE (240 PARTIEN)</a:t>
            </a:r>
            <a:endParaRPr lang="en-US" sz="1000" dirty="0"/>
          </a:p>
        </p:txBody>
      </p:sp>
      <p:sp>
        <p:nvSpPr>
          <p:cNvPr id="78" name="Text 74"/>
          <p:cNvSpPr txBox="1"/>
          <p:nvPr/>
        </p:nvSpPr>
        <p:spPr>
          <a:xfrm>
            <a:off x="6720840" y="4800600"/>
            <a:ext cx="1207008" cy="640080"/>
          </a:xfrm>
          <a:prstGeom prst="rect">
            <a:avLst/>
          </a:prstGeom>
          <a:noFill/>
          <a:ln/>
        </p:spPr>
        <p:txBody>
          <a:bodyPr wrap="square" lIns="0" tIns="0" rIns="0" bIns="0" rtlCol="0" anchor="t"/>
          <a:lstStyle/>
          <a:p>
            <a:pPr algn="l" indent="0" marL="0">
              <a:buNone/>
            </a:pPr>
            <a:r>
              <a:rPr lang="en-US" sz="2200" b="1" dirty="0">
                <a:solidFill>
                  <a:srgbClr val="EDF1EE"/>
                </a:solidFill>
                <a:latin typeface="Calibri" pitchFamily="34" charset="0"/>
                <a:ea typeface="Calibri" pitchFamily="34" charset="-122"/>
                <a:cs typeface="Calibri" pitchFamily="34" charset="-120"/>
              </a:rPr>
              <a:t>1,20×</a:t>
            </a:r>
            <a:endParaRPr lang="en-US" sz="2200" dirty="0"/>
          </a:p>
        </p:txBody>
      </p:sp>
      <p:sp>
        <p:nvSpPr>
          <p:cNvPr id="79" name="Text 75"/>
          <p:cNvSpPr txBox="1"/>
          <p:nvPr/>
        </p:nvSpPr>
        <p:spPr>
          <a:xfrm>
            <a:off x="6720840" y="5212080"/>
            <a:ext cx="1207008" cy="548640"/>
          </a:xfrm>
          <a:prstGeom prst="rect">
            <a:avLst/>
          </a:prstGeom>
          <a:noFill/>
          <a:ln/>
        </p:spPr>
        <p:txBody>
          <a:bodyPr wrap="square" lIns="0" tIns="0" rIns="0" bIns="0" rtlCol="0" anchor="t"/>
          <a:lstStyle/>
          <a:p>
            <a:pPr algn="l" indent="0" marL="0">
              <a:buNone/>
            </a:pPr>
            <a:r>
              <a:rPr lang="en-US" sz="1000" dirty="0">
                <a:solidFill>
                  <a:srgbClr val="8E9C9B"/>
                </a:solidFill>
                <a:latin typeface="Calibri" pitchFamily="34" charset="0"/>
                <a:ea typeface="Calibri" pitchFamily="34" charset="-122"/>
                <a:cs typeface="Calibri" pitchFamily="34" charset="-120"/>
              </a:rPr>
              <a:t>p25</a:t>
            </a:r>
            <a:endParaRPr lang="en-US" sz="1000" dirty="0"/>
          </a:p>
        </p:txBody>
      </p:sp>
      <p:sp>
        <p:nvSpPr>
          <p:cNvPr id="80" name="Text 76"/>
          <p:cNvSpPr txBox="1"/>
          <p:nvPr/>
        </p:nvSpPr>
        <p:spPr>
          <a:xfrm>
            <a:off x="7973568" y="4800600"/>
            <a:ext cx="1207008" cy="640080"/>
          </a:xfrm>
          <a:prstGeom prst="rect">
            <a:avLst/>
          </a:prstGeom>
          <a:noFill/>
          <a:ln/>
        </p:spPr>
        <p:txBody>
          <a:bodyPr wrap="square" lIns="0" tIns="0" rIns="0" bIns="0" rtlCol="0" anchor="t"/>
          <a:lstStyle/>
          <a:p>
            <a:pPr algn="l" indent="0" marL="0">
              <a:buNone/>
            </a:pPr>
            <a:r>
              <a:rPr lang="en-US" sz="2200" b="1" dirty="0">
                <a:solidFill>
                  <a:srgbClr val="EDF1EE"/>
                </a:solidFill>
                <a:latin typeface="Calibri" pitchFamily="34" charset="0"/>
                <a:ea typeface="Calibri" pitchFamily="34" charset="-122"/>
                <a:cs typeface="Calibri" pitchFamily="34" charset="-120"/>
              </a:rPr>
              <a:t>1,47×</a:t>
            </a:r>
            <a:endParaRPr lang="en-US" sz="2200" dirty="0"/>
          </a:p>
        </p:txBody>
      </p:sp>
      <p:sp>
        <p:nvSpPr>
          <p:cNvPr id="81" name="Text 77"/>
          <p:cNvSpPr txBox="1"/>
          <p:nvPr/>
        </p:nvSpPr>
        <p:spPr>
          <a:xfrm>
            <a:off x="7973568" y="5212080"/>
            <a:ext cx="1207008" cy="548640"/>
          </a:xfrm>
          <a:prstGeom prst="rect">
            <a:avLst/>
          </a:prstGeom>
          <a:noFill/>
          <a:ln/>
        </p:spPr>
        <p:txBody>
          <a:bodyPr wrap="square" lIns="0" tIns="0" rIns="0" bIns="0" rtlCol="0" anchor="t"/>
          <a:lstStyle/>
          <a:p>
            <a:pPr algn="l" indent="0" marL="0">
              <a:buNone/>
            </a:pPr>
            <a:r>
              <a:rPr lang="en-US" sz="1000" dirty="0">
                <a:solidFill>
                  <a:srgbClr val="8E9C9B"/>
                </a:solidFill>
                <a:latin typeface="Calibri" pitchFamily="34" charset="0"/>
                <a:ea typeface="Calibri" pitchFamily="34" charset="-122"/>
                <a:cs typeface="Calibri" pitchFamily="34" charset="-120"/>
              </a:rPr>
              <a:t>Median</a:t>
            </a:r>
            <a:endParaRPr lang="en-US" sz="1000" dirty="0"/>
          </a:p>
        </p:txBody>
      </p:sp>
      <p:sp>
        <p:nvSpPr>
          <p:cNvPr id="82" name="Text 78"/>
          <p:cNvSpPr txBox="1"/>
          <p:nvPr/>
        </p:nvSpPr>
        <p:spPr>
          <a:xfrm>
            <a:off x="9226296" y="4800600"/>
            <a:ext cx="1207008" cy="640080"/>
          </a:xfrm>
          <a:prstGeom prst="rect">
            <a:avLst/>
          </a:prstGeom>
          <a:noFill/>
          <a:ln/>
        </p:spPr>
        <p:txBody>
          <a:bodyPr wrap="square" lIns="0" tIns="0" rIns="0" bIns="0" rtlCol="0" anchor="t"/>
          <a:lstStyle/>
          <a:p>
            <a:pPr algn="l" indent="0" marL="0">
              <a:buNone/>
            </a:pPr>
            <a:r>
              <a:rPr lang="en-US" sz="2200" b="1" dirty="0">
                <a:solidFill>
                  <a:srgbClr val="5FC4B1"/>
                </a:solidFill>
                <a:latin typeface="Calibri" pitchFamily="34" charset="0"/>
                <a:ea typeface="Calibri" pitchFamily="34" charset="-122"/>
                <a:cs typeface="Calibri" pitchFamily="34" charset="-120"/>
              </a:rPr>
              <a:t>1,73×</a:t>
            </a:r>
            <a:endParaRPr lang="en-US" sz="2200" dirty="0"/>
          </a:p>
        </p:txBody>
      </p:sp>
      <p:sp>
        <p:nvSpPr>
          <p:cNvPr id="83" name="Text 79"/>
          <p:cNvSpPr txBox="1"/>
          <p:nvPr/>
        </p:nvSpPr>
        <p:spPr>
          <a:xfrm>
            <a:off x="9226296" y="5212080"/>
            <a:ext cx="1207008" cy="548640"/>
          </a:xfrm>
          <a:prstGeom prst="rect">
            <a:avLst/>
          </a:prstGeom>
          <a:noFill/>
          <a:ln/>
        </p:spPr>
        <p:txBody>
          <a:bodyPr wrap="square" lIns="0" tIns="0" rIns="0" bIns="0" rtlCol="0" anchor="t"/>
          <a:lstStyle/>
          <a:p>
            <a:pPr algn="l" indent="0" marL="0">
              <a:buNone/>
            </a:pPr>
            <a:r>
              <a:rPr lang="en-US" sz="1000" dirty="0">
                <a:solidFill>
                  <a:srgbClr val="8E9C9B"/>
                </a:solidFill>
                <a:latin typeface="Calibri" pitchFamily="34" charset="0"/>
                <a:ea typeface="Calibri" pitchFamily="34" charset="-122"/>
                <a:cs typeface="Calibri" pitchFamily="34" charset="-120"/>
              </a:rPr>
              <a:t>p75</a:t>
            </a:r>
            <a:endParaRPr lang="en-US" sz="1000" dirty="0"/>
          </a:p>
        </p:txBody>
      </p:sp>
      <p:sp>
        <p:nvSpPr>
          <p:cNvPr id="84" name="Text 80"/>
          <p:cNvSpPr txBox="1"/>
          <p:nvPr/>
        </p:nvSpPr>
        <p:spPr>
          <a:xfrm>
            <a:off x="10479024" y="4800600"/>
            <a:ext cx="1207008" cy="640080"/>
          </a:xfrm>
          <a:prstGeom prst="rect">
            <a:avLst/>
          </a:prstGeom>
          <a:noFill/>
          <a:ln/>
        </p:spPr>
        <p:txBody>
          <a:bodyPr wrap="square" lIns="0" tIns="0" rIns="0" bIns="0" rtlCol="0" anchor="t"/>
          <a:lstStyle/>
          <a:p>
            <a:pPr algn="l" indent="0" marL="0">
              <a:buNone/>
            </a:pPr>
            <a:r>
              <a:rPr lang="en-US" sz="2200" b="1" dirty="0">
                <a:solidFill>
                  <a:srgbClr val="DCB264"/>
                </a:solidFill>
                <a:latin typeface="Calibri" pitchFamily="34" charset="0"/>
                <a:ea typeface="Calibri" pitchFamily="34" charset="-122"/>
                <a:cs typeface="Calibri" pitchFamily="34" charset="-120"/>
              </a:rPr>
              <a:t>17,5 %</a:t>
            </a:r>
            <a:endParaRPr lang="en-US" sz="2200" dirty="0"/>
          </a:p>
        </p:txBody>
      </p:sp>
      <p:sp>
        <p:nvSpPr>
          <p:cNvPr id="85" name="Text 81"/>
          <p:cNvSpPr txBox="1"/>
          <p:nvPr/>
        </p:nvSpPr>
        <p:spPr>
          <a:xfrm>
            <a:off x="10479024" y="5212080"/>
            <a:ext cx="1207008" cy="548640"/>
          </a:xfrm>
          <a:prstGeom prst="rect">
            <a:avLst/>
          </a:prstGeom>
          <a:noFill/>
          <a:ln/>
        </p:spPr>
        <p:txBody>
          <a:bodyPr wrap="square" lIns="0" tIns="0" rIns="0" bIns="0" rtlCol="0" anchor="t"/>
          <a:lstStyle/>
          <a:p>
            <a:pPr algn="l" indent="0" marL="0">
              <a:buNone/>
            </a:pPr>
            <a:r>
              <a:rPr lang="en-US" sz="1000" dirty="0">
                <a:solidFill>
                  <a:srgbClr val="8E9C9B"/>
                </a:solidFill>
                <a:latin typeface="Calibri" pitchFamily="34" charset="0"/>
                <a:ea typeface="Calibri" pitchFamily="34" charset="-122"/>
                <a:cs typeface="Calibri" pitchFamily="34" charset="-120"/>
              </a:rPr>
              <a:t>Median-IRR bei TVCC 1,6×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CB264"/>
                </a:solidFill>
                <a:latin typeface="Calibri" pitchFamily="34" charset="0"/>
                <a:ea typeface="Calibri" pitchFamily="34" charset="-122"/>
                <a:cs typeface="Calibri" pitchFamily="34" charset="-120"/>
              </a:rPr>
              <a:t>FUND VALUE BRIDGE</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Woher die Rendite eines Fonds kommt</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CB264"/>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CB264"/>
                </a:solidFill>
                <a:latin typeface="Calibri" pitchFamily="34" charset="0"/>
                <a:ea typeface="Calibri" pitchFamily="34" charset="-122"/>
                <a:cs typeface="Calibri" pitchFamily="34" charset="-120"/>
              </a:rPr>
              <a:t>A · FUND ECONOMICS</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11</a:t>
            </a:r>
            <a:endParaRPr lang="en-US" sz="900" dirty="0"/>
          </a:p>
        </p:txBody>
      </p:sp>
      <p:sp>
        <p:nvSpPr>
          <p:cNvPr id="9" name="Shape 6"/>
          <p:cNvSpPr/>
          <p:nvPr/>
        </p:nvSpPr>
        <p:spPr>
          <a:xfrm>
            <a:off x="637565" y="3924599"/>
            <a:ext cx="439369" cy="1378921"/>
          </a:xfrm>
          <a:prstGeom prst="rect">
            <a:avLst/>
          </a:prstGeom>
          <a:solidFill>
            <a:srgbClr val="5FC4B1"/>
          </a:solidFill>
          <a:ln/>
        </p:spPr>
      </p:sp>
      <p:sp>
        <p:nvSpPr>
          <p:cNvPr id="10" name="Text 7"/>
          <p:cNvSpPr txBox="1"/>
          <p:nvPr/>
        </p:nvSpPr>
        <p:spPr>
          <a:xfrm>
            <a:off x="454685" y="3677711"/>
            <a:ext cx="805129" cy="228600"/>
          </a:xfrm>
          <a:prstGeom prst="rect">
            <a:avLst/>
          </a:prstGeom>
          <a:noFill/>
          <a:ln/>
        </p:spPr>
        <p:txBody>
          <a:bodyPr wrap="square" lIns="0" tIns="0" rIns="0" bIns="0" rtlCol="0" anchor="t"/>
          <a:lstStyle/>
          <a:p>
            <a:pPr algn="ctr" indent="0" marL="0">
              <a:buNone/>
            </a:pPr>
            <a:r>
              <a:rPr lang="en-US" sz="1100" b="1" dirty="0">
                <a:solidFill>
                  <a:srgbClr val="5FC4B1"/>
                </a:solidFill>
                <a:latin typeface="Calibri" pitchFamily="34" charset="0"/>
                <a:ea typeface="Calibri" pitchFamily="34" charset="-122"/>
                <a:cs typeface="Calibri" pitchFamily="34" charset="-120"/>
              </a:rPr>
              <a:t>+188</a:t>
            </a:r>
            <a:endParaRPr lang="en-US" sz="1100" dirty="0"/>
          </a:p>
        </p:txBody>
      </p:sp>
      <p:sp>
        <p:nvSpPr>
          <p:cNvPr id="11" name="Shape 8"/>
          <p:cNvSpPr/>
          <p:nvPr/>
        </p:nvSpPr>
        <p:spPr>
          <a:xfrm>
            <a:off x="1076935" y="3924599"/>
            <a:ext cx="269291" cy="0"/>
          </a:xfrm>
          <a:prstGeom prst="line">
            <a:avLst/>
          </a:prstGeom>
          <a:noFill/>
          <a:ln w="9525">
            <a:solidFill>
              <a:srgbClr val="4A5C5F"/>
            </a:solidFill>
            <a:prstDash val="dash"/>
          </a:ln>
        </p:spPr>
      </p:sp>
      <p:sp>
        <p:nvSpPr>
          <p:cNvPr id="12" name="Text 9"/>
          <p:cNvSpPr txBox="1"/>
          <p:nvPr/>
        </p:nvSpPr>
        <p:spPr>
          <a:xfrm>
            <a:off x="502920" y="5358384"/>
            <a:ext cx="708660" cy="5029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EBITDA-</a:t>
            </a:r>
            <a:endParaRPr lang="en-US" sz="950" dirty="0"/>
          </a:p>
          <a:p>
            <a:pPr algn="ctr" indent="0" marL="0">
              <a:buNone/>
            </a:pPr>
            <a:r>
              <a:rPr lang="en-US" sz="950" dirty="0">
                <a:solidFill>
                  <a:srgbClr val="8E9C9B"/>
                </a:solidFill>
                <a:latin typeface="Calibri" pitchFamily="34" charset="0"/>
                <a:ea typeface="Calibri" pitchFamily="34" charset="-122"/>
                <a:cs typeface="Calibri" pitchFamily="34" charset="-120"/>
              </a:rPr>
              <a:t>Wachstum</a:t>
            </a:r>
            <a:endParaRPr lang="en-US" sz="950" dirty="0"/>
          </a:p>
        </p:txBody>
      </p:sp>
      <p:sp>
        <p:nvSpPr>
          <p:cNvPr id="13" name="Shape 10"/>
          <p:cNvSpPr/>
          <p:nvPr/>
        </p:nvSpPr>
        <p:spPr>
          <a:xfrm>
            <a:off x="1346225" y="2670762"/>
            <a:ext cx="439369" cy="1253837"/>
          </a:xfrm>
          <a:prstGeom prst="rect">
            <a:avLst/>
          </a:prstGeom>
          <a:solidFill>
            <a:srgbClr val="5FC4B1"/>
          </a:solidFill>
          <a:ln/>
        </p:spPr>
      </p:sp>
      <p:sp>
        <p:nvSpPr>
          <p:cNvPr id="14" name="Text 11"/>
          <p:cNvSpPr txBox="1"/>
          <p:nvPr/>
        </p:nvSpPr>
        <p:spPr>
          <a:xfrm>
            <a:off x="1163345" y="2423874"/>
            <a:ext cx="805129" cy="228600"/>
          </a:xfrm>
          <a:prstGeom prst="rect">
            <a:avLst/>
          </a:prstGeom>
          <a:noFill/>
          <a:ln/>
        </p:spPr>
        <p:txBody>
          <a:bodyPr wrap="square" lIns="0" tIns="0" rIns="0" bIns="0" rtlCol="0" anchor="t"/>
          <a:lstStyle/>
          <a:p>
            <a:pPr algn="ctr" indent="0" marL="0">
              <a:buNone/>
            </a:pPr>
            <a:r>
              <a:rPr lang="en-US" sz="1100" b="1" dirty="0">
                <a:solidFill>
                  <a:srgbClr val="5FC4B1"/>
                </a:solidFill>
                <a:latin typeface="Calibri" pitchFamily="34" charset="0"/>
                <a:ea typeface="Calibri" pitchFamily="34" charset="-122"/>
                <a:cs typeface="Calibri" pitchFamily="34" charset="-120"/>
              </a:rPr>
              <a:t>+171</a:t>
            </a:r>
            <a:endParaRPr lang="en-US" sz="1100" dirty="0"/>
          </a:p>
        </p:txBody>
      </p:sp>
      <p:sp>
        <p:nvSpPr>
          <p:cNvPr id="15" name="Shape 12"/>
          <p:cNvSpPr/>
          <p:nvPr/>
        </p:nvSpPr>
        <p:spPr>
          <a:xfrm>
            <a:off x="1785595" y="2670762"/>
            <a:ext cx="269291" cy="0"/>
          </a:xfrm>
          <a:prstGeom prst="line">
            <a:avLst/>
          </a:prstGeom>
          <a:noFill/>
          <a:ln w="9525">
            <a:solidFill>
              <a:srgbClr val="4A5C5F"/>
            </a:solidFill>
            <a:prstDash val="dash"/>
          </a:ln>
        </p:spPr>
      </p:sp>
      <p:sp>
        <p:nvSpPr>
          <p:cNvPr id="16" name="Text 13"/>
          <p:cNvSpPr txBox="1"/>
          <p:nvPr/>
        </p:nvSpPr>
        <p:spPr>
          <a:xfrm>
            <a:off x="1211580" y="5358384"/>
            <a:ext cx="708660" cy="5029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Multiple</a:t>
            </a:r>
            <a:endParaRPr lang="en-US" sz="950" dirty="0"/>
          </a:p>
        </p:txBody>
      </p:sp>
      <p:sp>
        <p:nvSpPr>
          <p:cNvPr id="17" name="Shape 14"/>
          <p:cNvSpPr/>
          <p:nvPr/>
        </p:nvSpPr>
        <p:spPr>
          <a:xfrm>
            <a:off x="2054885" y="2418721"/>
            <a:ext cx="439369" cy="252042"/>
          </a:xfrm>
          <a:prstGeom prst="rect">
            <a:avLst/>
          </a:prstGeom>
          <a:solidFill>
            <a:srgbClr val="5FC4B1"/>
          </a:solidFill>
          <a:ln/>
        </p:spPr>
      </p:sp>
      <p:sp>
        <p:nvSpPr>
          <p:cNvPr id="18" name="Text 15"/>
          <p:cNvSpPr txBox="1"/>
          <p:nvPr/>
        </p:nvSpPr>
        <p:spPr>
          <a:xfrm>
            <a:off x="1872005" y="2171833"/>
            <a:ext cx="805129" cy="228600"/>
          </a:xfrm>
          <a:prstGeom prst="rect">
            <a:avLst/>
          </a:prstGeom>
          <a:noFill/>
          <a:ln/>
        </p:spPr>
        <p:txBody>
          <a:bodyPr wrap="square" lIns="0" tIns="0" rIns="0" bIns="0" rtlCol="0" anchor="t"/>
          <a:lstStyle/>
          <a:p>
            <a:pPr algn="ctr" indent="0" marL="0">
              <a:buNone/>
            </a:pPr>
            <a:r>
              <a:rPr lang="en-US" sz="1100" b="1" dirty="0">
                <a:solidFill>
                  <a:srgbClr val="5FC4B1"/>
                </a:solidFill>
                <a:latin typeface="Calibri" pitchFamily="34" charset="0"/>
                <a:ea typeface="Calibri" pitchFamily="34" charset="-122"/>
                <a:cs typeface="Calibri" pitchFamily="34" charset="-120"/>
              </a:rPr>
              <a:t>+34</a:t>
            </a:r>
            <a:endParaRPr lang="en-US" sz="1100" dirty="0"/>
          </a:p>
        </p:txBody>
      </p:sp>
      <p:sp>
        <p:nvSpPr>
          <p:cNvPr id="19" name="Shape 16"/>
          <p:cNvSpPr/>
          <p:nvPr/>
        </p:nvSpPr>
        <p:spPr>
          <a:xfrm>
            <a:off x="2494255" y="2418721"/>
            <a:ext cx="269291" cy="0"/>
          </a:xfrm>
          <a:prstGeom prst="line">
            <a:avLst/>
          </a:prstGeom>
          <a:noFill/>
          <a:ln w="9525">
            <a:solidFill>
              <a:srgbClr val="4A5C5F"/>
            </a:solidFill>
            <a:prstDash val="dash"/>
          </a:ln>
        </p:spPr>
      </p:sp>
      <p:sp>
        <p:nvSpPr>
          <p:cNvPr id="20" name="Text 17"/>
          <p:cNvSpPr txBox="1"/>
          <p:nvPr/>
        </p:nvSpPr>
        <p:spPr>
          <a:xfrm>
            <a:off x="1920240" y="5358384"/>
            <a:ext cx="708660" cy="5029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Entschul-</a:t>
            </a:r>
            <a:endParaRPr lang="en-US" sz="950" dirty="0"/>
          </a:p>
          <a:p>
            <a:pPr algn="ctr" indent="0" marL="0">
              <a:buNone/>
            </a:pPr>
            <a:r>
              <a:rPr lang="en-US" sz="950" dirty="0">
                <a:solidFill>
                  <a:srgbClr val="8E9C9B"/>
                </a:solidFill>
                <a:latin typeface="Calibri" pitchFamily="34" charset="0"/>
                <a:ea typeface="Calibri" pitchFamily="34" charset="-122"/>
                <a:cs typeface="Calibri" pitchFamily="34" charset="-120"/>
              </a:rPr>
              <a:t>dung (FCF)</a:t>
            </a:r>
            <a:endParaRPr lang="en-US" sz="950" dirty="0"/>
          </a:p>
        </p:txBody>
      </p:sp>
      <p:sp>
        <p:nvSpPr>
          <p:cNvPr id="21" name="Shape 18"/>
          <p:cNvSpPr/>
          <p:nvPr/>
        </p:nvSpPr>
        <p:spPr>
          <a:xfrm>
            <a:off x="2763545" y="2418721"/>
            <a:ext cx="439369" cy="303013"/>
          </a:xfrm>
          <a:prstGeom prst="rect">
            <a:avLst/>
          </a:prstGeom>
          <a:solidFill>
            <a:srgbClr val="E3897F"/>
          </a:solidFill>
          <a:ln/>
        </p:spPr>
      </p:sp>
      <p:sp>
        <p:nvSpPr>
          <p:cNvPr id="22" name="Text 19"/>
          <p:cNvSpPr txBox="1"/>
          <p:nvPr/>
        </p:nvSpPr>
        <p:spPr>
          <a:xfrm>
            <a:off x="2580665" y="2171833"/>
            <a:ext cx="805129" cy="228600"/>
          </a:xfrm>
          <a:prstGeom prst="rect">
            <a:avLst/>
          </a:prstGeom>
          <a:noFill/>
          <a:ln/>
        </p:spPr>
        <p:txBody>
          <a:bodyPr wrap="square" lIns="0" tIns="0" rIns="0" bIns="0" rtlCol="0" anchor="t"/>
          <a:lstStyle/>
          <a:p>
            <a:pPr algn="ctr" indent="0" marL="0">
              <a:buNone/>
            </a:pPr>
            <a:r>
              <a:rPr lang="en-US" sz="1100" b="1" dirty="0">
                <a:solidFill>
                  <a:srgbClr val="E3897F"/>
                </a:solidFill>
                <a:latin typeface="Calibri" pitchFamily="34" charset="0"/>
                <a:ea typeface="Calibri" pitchFamily="34" charset="-122"/>
                <a:cs typeface="Calibri" pitchFamily="34" charset="-120"/>
              </a:rPr>
              <a:t>−41</a:t>
            </a:r>
            <a:endParaRPr lang="en-US" sz="1100" dirty="0"/>
          </a:p>
        </p:txBody>
      </p:sp>
      <p:sp>
        <p:nvSpPr>
          <p:cNvPr id="23" name="Shape 20"/>
          <p:cNvSpPr/>
          <p:nvPr/>
        </p:nvSpPr>
        <p:spPr>
          <a:xfrm>
            <a:off x="3202915" y="2721733"/>
            <a:ext cx="269291" cy="0"/>
          </a:xfrm>
          <a:prstGeom prst="line">
            <a:avLst/>
          </a:prstGeom>
          <a:noFill/>
          <a:ln w="9525">
            <a:solidFill>
              <a:srgbClr val="4A5C5F"/>
            </a:solidFill>
            <a:prstDash val="dash"/>
          </a:ln>
        </p:spPr>
      </p:sp>
      <p:sp>
        <p:nvSpPr>
          <p:cNvPr id="24" name="Text 21"/>
          <p:cNvSpPr txBox="1"/>
          <p:nvPr/>
        </p:nvSpPr>
        <p:spPr>
          <a:xfrm>
            <a:off x="2628900" y="5358384"/>
            <a:ext cx="708660" cy="5029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Zukäufe &amp;</a:t>
            </a:r>
            <a:endParaRPr lang="en-US" sz="950" dirty="0"/>
          </a:p>
          <a:p>
            <a:pPr algn="ctr" indent="0" marL="0">
              <a:buNone/>
            </a:pPr>
            <a:r>
              <a:rPr lang="en-US" sz="950" dirty="0">
                <a:solidFill>
                  <a:srgbClr val="8E9C9B"/>
                </a:solidFill>
                <a:latin typeface="Calibri" pitchFamily="34" charset="0"/>
                <a:ea typeface="Calibri" pitchFamily="34" charset="-122"/>
                <a:cs typeface="Calibri" pitchFamily="34" charset="-120"/>
              </a:rPr>
              <a:t>Sonderkosten</a:t>
            </a:r>
            <a:endParaRPr lang="en-US" sz="950" dirty="0"/>
          </a:p>
        </p:txBody>
      </p:sp>
      <p:sp>
        <p:nvSpPr>
          <p:cNvPr id="25" name="Shape 22"/>
          <p:cNvSpPr/>
          <p:nvPr/>
        </p:nvSpPr>
        <p:spPr>
          <a:xfrm>
            <a:off x="3472205" y="2721733"/>
            <a:ext cx="439369" cy="163066"/>
          </a:xfrm>
          <a:prstGeom prst="rect">
            <a:avLst/>
          </a:prstGeom>
          <a:solidFill>
            <a:srgbClr val="E3897F"/>
          </a:solidFill>
          <a:ln/>
        </p:spPr>
      </p:sp>
      <p:sp>
        <p:nvSpPr>
          <p:cNvPr id="26" name="Text 23"/>
          <p:cNvSpPr txBox="1"/>
          <p:nvPr/>
        </p:nvSpPr>
        <p:spPr>
          <a:xfrm>
            <a:off x="3289325" y="2474845"/>
            <a:ext cx="805129" cy="228600"/>
          </a:xfrm>
          <a:prstGeom prst="rect">
            <a:avLst/>
          </a:prstGeom>
          <a:noFill/>
          <a:ln/>
        </p:spPr>
        <p:txBody>
          <a:bodyPr wrap="square" lIns="0" tIns="0" rIns="0" bIns="0" rtlCol="0" anchor="t"/>
          <a:lstStyle/>
          <a:p>
            <a:pPr algn="ctr" indent="0" marL="0">
              <a:buNone/>
            </a:pPr>
            <a:r>
              <a:rPr lang="en-US" sz="1100" b="1" dirty="0">
                <a:solidFill>
                  <a:srgbClr val="E3897F"/>
                </a:solidFill>
                <a:latin typeface="Calibri" pitchFamily="34" charset="0"/>
                <a:ea typeface="Calibri" pitchFamily="34" charset="-122"/>
                <a:cs typeface="Calibri" pitchFamily="34" charset="-120"/>
              </a:rPr>
              <a:t>−22</a:t>
            </a:r>
            <a:endParaRPr lang="en-US" sz="1100" dirty="0"/>
          </a:p>
        </p:txBody>
      </p:sp>
      <p:sp>
        <p:nvSpPr>
          <p:cNvPr id="27" name="Shape 24"/>
          <p:cNvSpPr/>
          <p:nvPr/>
        </p:nvSpPr>
        <p:spPr>
          <a:xfrm>
            <a:off x="3911575" y="2884800"/>
            <a:ext cx="269291" cy="0"/>
          </a:xfrm>
          <a:prstGeom prst="line">
            <a:avLst/>
          </a:prstGeom>
          <a:noFill/>
          <a:ln w="9525">
            <a:solidFill>
              <a:srgbClr val="4A5C5F"/>
            </a:solidFill>
            <a:prstDash val="dash"/>
          </a:ln>
        </p:spPr>
      </p:sp>
      <p:sp>
        <p:nvSpPr>
          <p:cNvPr id="28" name="Text 25"/>
          <p:cNvSpPr txBox="1"/>
          <p:nvPr/>
        </p:nvSpPr>
        <p:spPr>
          <a:xfrm>
            <a:off x="3337560" y="5358384"/>
            <a:ext cx="708660" cy="5029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Exit vs.</a:t>
            </a:r>
            <a:endParaRPr lang="en-US" sz="950" dirty="0"/>
          </a:p>
          <a:p>
            <a:pPr algn="ctr" indent="0" marL="0">
              <a:buNone/>
            </a:pPr>
            <a:r>
              <a:rPr lang="en-US" sz="950" dirty="0">
                <a:solidFill>
                  <a:srgbClr val="8E9C9B"/>
                </a:solidFill>
                <a:latin typeface="Calibri" pitchFamily="34" charset="0"/>
                <a:ea typeface="Calibri" pitchFamily="34" charset="-122"/>
                <a:cs typeface="Calibri" pitchFamily="34" charset="-120"/>
              </a:rPr>
              <a:t>Bewertung</a:t>
            </a:r>
            <a:endParaRPr lang="en-US" sz="950" dirty="0"/>
          </a:p>
        </p:txBody>
      </p:sp>
      <p:sp>
        <p:nvSpPr>
          <p:cNvPr id="29" name="Shape 26"/>
          <p:cNvSpPr/>
          <p:nvPr/>
        </p:nvSpPr>
        <p:spPr>
          <a:xfrm>
            <a:off x="4180865" y="2884800"/>
            <a:ext cx="439369" cy="2418720"/>
          </a:xfrm>
          <a:prstGeom prst="rect">
            <a:avLst/>
          </a:prstGeom>
          <a:solidFill>
            <a:srgbClr val="3B82F6"/>
          </a:solidFill>
          <a:ln/>
        </p:spPr>
      </p:sp>
      <p:sp>
        <p:nvSpPr>
          <p:cNvPr id="30" name="Text 27"/>
          <p:cNvSpPr txBox="1"/>
          <p:nvPr/>
        </p:nvSpPr>
        <p:spPr>
          <a:xfrm>
            <a:off x="3997985" y="2637912"/>
            <a:ext cx="805129" cy="228600"/>
          </a:xfrm>
          <a:prstGeom prst="rect">
            <a:avLst/>
          </a:prstGeom>
          <a:noFill/>
          <a:ln/>
        </p:spPr>
        <p:txBody>
          <a:bodyPr wrap="square" lIns="0" tIns="0" rIns="0" bIns="0" rtlCol="0" anchor="t"/>
          <a:lstStyle/>
          <a:p>
            <a:pPr algn="ctr" indent="0" marL="0">
              <a:buNone/>
            </a:pPr>
            <a:r>
              <a:rPr lang="en-US" sz="1100" b="1" dirty="0">
                <a:solidFill>
                  <a:srgbClr val="3B82F6"/>
                </a:solidFill>
                <a:latin typeface="Calibri" pitchFamily="34" charset="0"/>
                <a:ea typeface="Calibri" pitchFamily="34" charset="-122"/>
                <a:cs typeface="Calibri" pitchFamily="34" charset="-120"/>
              </a:rPr>
              <a:t>330</a:t>
            </a:r>
            <a:endParaRPr lang="en-US" sz="1100" dirty="0"/>
          </a:p>
        </p:txBody>
      </p:sp>
      <p:sp>
        <p:nvSpPr>
          <p:cNvPr id="31" name="Shape 28"/>
          <p:cNvSpPr/>
          <p:nvPr/>
        </p:nvSpPr>
        <p:spPr>
          <a:xfrm>
            <a:off x="4620235" y="2884800"/>
            <a:ext cx="269291" cy="0"/>
          </a:xfrm>
          <a:prstGeom prst="line">
            <a:avLst/>
          </a:prstGeom>
          <a:noFill/>
          <a:ln w="9525">
            <a:solidFill>
              <a:srgbClr val="4A5C5F"/>
            </a:solidFill>
            <a:prstDash val="dash"/>
          </a:ln>
        </p:spPr>
      </p:sp>
      <p:sp>
        <p:nvSpPr>
          <p:cNvPr id="32" name="Text 29"/>
          <p:cNvSpPr txBox="1"/>
          <p:nvPr/>
        </p:nvSpPr>
        <p:spPr>
          <a:xfrm>
            <a:off x="4046220" y="5358384"/>
            <a:ext cx="708660" cy="5029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Gross</a:t>
            </a:r>
            <a:endParaRPr lang="en-US" sz="950" dirty="0"/>
          </a:p>
          <a:p>
            <a:pPr algn="ctr" indent="0" marL="0">
              <a:buNone/>
            </a:pPr>
            <a:r>
              <a:rPr lang="en-US" sz="950" dirty="0">
                <a:solidFill>
                  <a:srgbClr val="8E9C9B"/>
                </a:solidFill>
                <a:latin typeface="Calibri" pitchFamily="34" charset="0"/>
                <a:ea typeface="Calibri" pitchFamily="34" charset="-122"/>
                <a:cs typeface="Calibri" pitchFamily="34" charset="-120"/>
              </a:rPr>
              <a:t>Return</a:t>
            </a:r>
            <a:endParaRPr lang="en-US" sz="950" dirty="0"/>
          </a:p>
        </p:txBody>
      </p:sp>
      <p:sp>
        <p:nvSpPr>
          <p:cNvPr id="33" name="Shape 30"/>
          <p:cNvSpPr/>
          <p:nvPr/>
        </p:nvSpPr>
        <p:spPr>
          <a:xfrm>
            <a:off x="4889525" y="2884800"/>
            <a:ext cx="439369" cy="398247"/>
          </a:xfrm>
          <a:prstGeom prst="rect">
            <a:avLst/>
          </a:prstGeom>
          <a:solidFill>
            <a:srgbClr val="E3897F"/>
          </a:solidFill>
          <a:ln/>
        </p:spPr>
      </p:sp>
      <p:sp>
        <p:nvSpPr>
          <p:cNvPr id="34" name="Text 31"/>
          <p:cNvSpPr txBox="1"/>
          <p:nvPr/>
        </p:nvSpPr>
        <p:spPr>
          <a:xfrm>
            <a:off x="4706645" y="2637912"/>
            <a:ext cx="805129" cy="228600"/>
          </a:xfrm>
          <a:prstGeom prst="rect">
            <a:avLst/>
          </a:prstGeom>
          <a:noFill/>
          <a:ln/>
        </p:spPr>
        <p:txBody>
          <a:bodyPr wrap="square" lIns="0" tIns="0" rIns="0" bIns="0" rtlCol="0" anchor="t"/>
          <a:lstStyle/>
          <a:p>
            <a:pPr algn="ctr" indent="0" marL="0">
              <a:buNone/>
            </a:pPr>
            <a:r>
              <a:rPr lang="en-US" sz="1100" b="1" dirty="0">
                <a:solidFill>
                  <a:srgbClr val="E3897F"/>
                </a:solidFill>
                <a:latin typeface="Calibri" pitchFamily="34" charset="0"/>
                <a:ea typeface="Calibri" pitchFamily="34" charset="-122"/>
                <a:cs typeface="Calibri" pitchFamily="34" charset="-120"/>
              </a:rPr>
              <a:t>−54</a:t>
            </a:r>
            <a:endParaRPr lang="en-US" sz="1100" dirty="0"/>
          </a:p>
        </p:txBody>
      </p:sp>
      <p:sp>
        <p:nvSpPr>
          <p:cNvPr id="35" name="Shape 32"/>
          <p:cNvSpPr/>
          <p:nvPr/>
        </p:nvSpPr>
        <p:spPr>
          <a:xfrm>
            <a:off x="5328895" y="3283047"/>
            <a:ext cx="269291" cy="0"/>
          </a:xfrm>
          <a:prstGeom prst="line">
            <a:avLst/>
          </a:prstGeom>
          <a:noFill/>
          <a:ln w="9525">
            <a:solidFill>
              <a:srgbClr val="4A5C5F"/>
            </a:solidFill>
            <a:prstDash val="dash"/>
          </a:ln>
        </p:spPr>
      </p:sp>
      <p:sp>
        <p:nvSpPr>
          <p:cNvPr id="36" name="Text 33"/>
          <p:cNvSpPr txBox="1"/>
          <p:nvPr/>
        </p:nvSpPr>
        <p:spPr>
          <a:xfrm>
            <a:off x="4754880" y="5358384"/>
            <a:ext cx="708660" cy="5029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Mgmt</a:t>
            </a:r>
            <a:endParaRPr lang="en-US" sz="950" dirty="0"/>
          </a:p>
          <a:p>
            <a:pPr algn="ctr" indent="0" marL="0">
              <a:buNone/>
            </a:pPr>
            <a:r>
              <a:rPr lang="en-US" sz="950" dirty="0">
                <a:solidFill>
                  <a:srgbClr val="8E9C9B"/>
                </a:solidFill>
                <a:latin typeface="Calibri" pitchFamily="34" charset="0"/>
                <a:ea typeface="Calibri" pitchFamily="34" charset="-122"/>
                <a:cs typeface="Calibri" pitchFamily="34" charset="-120"/>
              </a:rPr>
              <a:t>Fee</a:t>
            </a:r>
            <a:endParaRPr lang="en-US" sz="950" dirty="0"/>
          </a:p>
        </p:txBody>
      </p:sp>
      <p:sp>
        <p:nvSpPr>
          <p:cNvPr id="37" name="Shape 34"/>
          <p:cNvSpPr/>
          <p:nvPr/>
        </p:nvSpPr>
        <p:spPr>
          <a:xfrm>
            <a:off x="5598185" y="3283047"/>
            <a:ext cx="439369" cy="86880"/>
          </a:xfrm>
          <a:prstGeom prst="rect">
            <a:avLst/>
          </a:prstGeom>
          <a:solidFill>
            <a:srgbClr val="E3897F"/>
          </a:solidFill>
          <a:ln/>
        </p:spPr>
      </p:sp>
      <p:sp>
        <p:nvSpPr>
          <p:cNvPr id="38" name="Text 35"/>
          <p:cNvSpPr txBox="1"/>
          <p:nvPr/>
        </p:nvSpPr>
        <p:spPr>
          <a:xfrm>
            <a:off x="5415305" y="3036159"/>
            <a:ext cx="805129" cy="228600"/>
          </a:xfrm>
          <a:prstGeom prst="rect">
            <a:avLst/>
          </a:prstGeom>
          <a:noFill/>
          <a:ln/>
        </p:spPr>
        <p:txBody>
          <a:bodyPr wrap="square" lIns="0" tIns="0" rIns="0" bIns="0" rtlCol="0" anchor="t"/>
          <a:lstStyle/>
          <a:p>
            <a:pPr algn="ctr" indent="0" marL="0">
              <a:buNone/>
            </a:pPr>
            <a:r>
              <a:rPr lang="en-US" sz="1100" b="1" dirty="0">
                <a:solidFill>
                  <a:srgbClr val="E3897F"/>
                </a:solidFill>
                <a:latin typeface="Calibri" pitchFamily="34" charset="0"/>
                <a:ea typeface="Calibri" pitchFamily="34" charset="-122"/>
                <a:cs typeface="Calibri" pitchFamily="34" charset="-120"/>
              </a:rPr>
              <a:t>−12</a:t>
            </a:r>
            <a:endParaRPr lang="en-US" sz="1100" dirty="0"/>
          </a:p>
        </p:txBody>
      </p:sp>
      <p:sp>
        <p:nvSpPr>
          <p:cNvPr id="39" name="Shape 36"/>
          <p:cNvSpPr/>
          <p:nvPr/>
        </p:nvSpPr>
        <p:spPr>
          <a:xfrm>
            <a:off x="6037555" y="3369926"/>
            <a:ext cx="269291" cy="0"/>
          </a:xfrm>
          <a:prstGeom prst="line">
            <a:avLst/>
          </a:prstGeom>
          <a:noFill/>
          <a:ln w="9525">
            <a:solidFill>
              <a:srgbClr val="4A5C5F"/>
            </a:solidFill>
            <a:prstDash val="dash"/>
          </a:ln>
        </p:spPr>
      </p:sp>
      <p:sp>
        <p:nvSpPr>
          <p:cNvPr id="40" name="Text 37"/>
          <p:cNvSpPr txBox="1"/>
          <p:nvPr/>
        </p:nvSpPr>
        <p:spPr>
          <a:xfrm>
            <a:off x="5463540" y="5358384"/>
            <a:ext cx="708660" cy="5029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Transakt.-</a:t>
            </a:r>
            <a:endParaRPr lang="en-US" sz="950" dirty="0"/>
          </a:p>
          <a:p>
            <a:pPr algn="ctr" indent="0" marL="0">
              <a:buNone/>
            </a:pPr>
            <a:r>
              <a:rPr lang="en-US" sz="950" dirty="0">
                <a:solidFill>
                  <a:srgbClr val="8E9C9B"/>
                </a:solidFill>
                <a:latin typeface="Calibri" pitchFamily="34" charset="0"/>
                <a:ea typeface="Calibri" pitchFamily="34" charset="-122"/>
                <a:cs typeface="Calibri" pitchFamily="34" charset="-120"/>
              </a:rPr>
              <a:t>kosten</a:t>
            </a:r>
            <a:endParaRPr lang="en-US" sz="950" dirty="0"/>
          </a:p>
        </p:txBody>
      </p:sp>
      <p:sp>
        <p:nvSpPr>
          <p:cNvPr id="41" name="Shape 38"/>
          <p:cNvSpPr/>
          <p:nvPr/>
        </p:nvSpPr>
        <p:spPr>
          <a:xfrm>
            <a:off x="6306845" y="3369926"/>
            <a:ext cx="439369" cy="40724"/>
          </a:xfrm>
          <a:prstGeom prst="rect">
            <a:avLst/>
          </a:prstGeom>
          <a:solidFill>
            <a:srgbClr val="E3897F"/>
          </a:solidFill>
          <a:ln/>
        </p:spPr>
      </p:sp>
      <p:sp>
        <p:nvSpPr>
          <p:cNvPr id="42" name="Text 39"/>
          <p:cNvSpPr txBox="1"/>
          <p:nvPr/>
        </p:nvSpPr>
        <p:spPr>
          <a:xfrm>
            <a:off x="6123965" y="3123038"/>
            <a:ext cx="805129" cy="228600"/>
          </a:xfrm>
          <a:prstGeom prst="rect">
            <a:avLst/>
          </a:prstGeom>
          <a:noFill/>
          <a:ln/>
        </p:spPr>
        <p:txBody>
          <a:bodyPr wrap="square" lIns="0" tIns="0" rIns="0" bIns="0" rtlCol="0" anchor="t"/>
          <a:lstStyle/>
          <a:p>
            <a:pPr algn="ctr" indent="0" marL="0">
              <a:buNone/>
            </a:pPr>
            <a:r>
              <a:rPr lang="en-US" sz="1100" b="1" dirty="0">
                <a:solidFill>
                  <a:srgbClr val="E3897F"/>
                </a:solidFill>
                <a:latin typeface="Calibri" pitchFamily="34" charset="0"/>
                <a:ea typeface="Calibri" pitchFamily="34" charset="-122"/>
                <a:cs typeface="Calibri" pitchFamily="34" charset="-120"/>
              </a:rPr>
              <a:t>−6</a:t>
            </a:r>
            <a:endParaRPr lang="en-US" sz="1100" dirty="0"/>
          </a:p>
        </p:txBody>
      </p:sp>
      <p:sp>
        <p:nvSpPr>
          <p:cNvPr id="43" name="Shape 40"/>
          <p:cNvSpPr/>
          <p:nvPr/>
        </p:nvSpPr>
        <p:spPr>
          <a:xfrm>
            <a:off x="6746215" y="3410650"/>
            <a:ext cx="269291" cy="0"/>
          </a:xfrm>
          <a:prstGeom prst="line">
            <a:avLst/>
          </a:prstGeom>
          <a:noFill/>
          <a:ln w="9525">
            <a:solidFill>
              <a:srgbClr val="4A5C5F"/>
            </a:solidFill>
            <a:prstDash val="dash"/>
          </a:ln>
        </p:spPr>
      </p:sp>
      <p:sp>
        <p:nvSpPr>
          <p:cNvPr id="44" name="Text 41"/>
          <p:cNvSpPr txBox="1"/>
          <p:nvPr/>
        </p:nvSpPr>
        <p:spPr>
          <a:xfrm>
            <a:off x="6172200" y="5358384"/>
            <a:ext cx="708660" cy="5029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Carry</a:t>
            </a:r>
            <a:endParaRPr lang="en-US" sz="950" dirty="0"/>
          </a:p>
        </p:txBody>
      </p:sp>
      <p:sp>
        <p:nvSpPr>
          <p:cNvPr id="45" name="Shape 42"/>
          <p:cNvSpPr/>
          <p:nvPr/>
        </p:nvSpPr>
        <p:spPr>
          <a:xfrm>
            <a:off x="7015505" y="3410650"/>
            <a:ext cx="439369" cy="1892870"/>
          </a:xfrm>
          <a:prstGeom prst="rect">
            <a:avLst/>
          </a:prstGeom>
          <a:solidFill>
            <a:srgbClr val="DCB264"/>
          </a:solidFill>
          <a:ln/>
        </p:spPr>
      </p:sp>
      <p:sp>
        <p:nvSpPr>
          <p:cNvPr id="46" name="Text 43"/>
          <p:cNvSpPr txBox="1"/>
          <p:nvPr/>
        </p:nvSpPr>
        <p:spPr>
          <a:xfrm>
            <a:off x="6832625" y="3163762"/>
            <a:ext cx="805129" cy="228600"/>
          </a:xfrm>
          <a:prstGeom prst="rect">
            <a:avLst/>
          </a:prstGeom>
          <a:noFill/>
          <a:ln/>
        </p:spPr>
        <p:txBody>
          <a:bodyPr wrap="square" lIns="0" tIns="0" rIns="0" bIns="0" rtlCol="0" anchor="t"/>
          <a:lstStyle/>
          <a:p>
            <a:pPr algn="ctr" indent="0" marL="0">
              <a:buNone/>
            </a:pPr>
            <a:r>
              <a:rPr lang="en-US" sz="1100" b="1" dirty="0">
                <a:solidFill>
                  <a:srgbClr val="DCB264"/>
                </a:solidFill>
                <a:latin typeface="Calibri" pitchFamily="34" charset="0"/>
                <a:ea typeface="Calibri" pitchFamily="34" charset="-122"/>
                <a:cs typeface="Calibri" pitchFamily="34" charset="-120"/>
              </a:rPr>
              <a:t>258</a:t>
            </a:r>
            <a:endParaRPr lang="en-US" sz="1100" dirty="0"/>
          </a:p>
        </p:txBody>
      </p:sp>
      <p:sp>
        <p:nvSpPr>
          <p:cNvPr id="47" name="Text 44"/>
          <p:cNvSpPr txBox="1"/>
          <p:nvPr/>
        </p:nvSpPr>
        <p:spPr>
          <a:xfrm>
            <a:off x="6880860" y="5358384"/>
            <a:ext cx="708660" cy="5029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Net</a:t>
            </a:r>
            <a:endParaRPr lang="en-US" sz="950" dirty="0"/>
          </a:p>
          <a:p>
            <a:pPr algn="ctr" indent="0" marL="0">
              <a:buNone/>
            </a:pPr>
            <a:r>
              <a:rPr lang="en-US" sz="950" dirty="0">
                <a:solidFill>
                  <a:srgbClr val="8E9C9B"/>
                </a:solidFill>
                <a:latin typeface="Calibri" pitchFamily="34" charset="0"/>
                <a:ea typeface="Calibri" pitchFamily="34" charset="-122"/>
                <a:cs typeface="Calibri" pitchFamily="34" charset="-120"/>
              </a:rPr>
              <a:t>Return</a:t>
            </a:r>
            <a:endParaRPr lang="en-US" sz="950" dirty="0"/>
          </a:p>
        </p:txBody>
      </p:sp>
      <p:sp>
        <p:nvSpPr>
          <p:cNvPr id="48" name="Shape 45"/>
          <p:cNvSpPr/>
          <p:nvPr/>
        </p:nvSpPr>
        <p:spPr>
          <a:xfrm>
            <a:off x="502920" y="5303520"/>
            <a:ext cx="7086600" cy="0"/>
          </a:xfrm>
          <a:prstGeom prst="line">
            <a:avLst/>
          </a:prstGeom>
          <a:noFill/>
          <a:ln w="9525">
            <a:solidFill>
              <a:srgbClr val="243033"/>
            </a:solidFill>
            <a:prstDash val="solid"/>
          </a:ln>
        </p:spPr>
      </p:sp>
      <p:sp>
        <p:nvSpPr>
          <p:cNvPr id="49" name="Shape 46"/>
          <p:cNvSpPr/>
          <p:nvPr/>
        </p:nvSpPr>
        <p:spPr>
          <a:xfrm>
            <a:off x="576072" y="1783080"/>
            <a:ext cx="3396996" cy="0"/>
          </a:xfrm>
          <a:prstGeom prst="line">
            <a:avLst/>
          </a:prstGeom>
          <a:noFill/>
          <a:ln w="15875">
            <a:solidFill>
              <a:srgbClr val="5FC4B1"/>
            </a:solidFill>
            <a:prstDash val="solid"/>
          </a:ln>
        </p:spPr>
      </p:sp>
      <p:sp>
        <p:nvSpPr>
          <p:cNvPr id="50" name="Text 47"/>
          <p:cNvSpPr txBox="1"/>
          <p:nvPr/>
        </p:nvSpPr>
        <p:spPr>
          <a:xfrm>
            <a:off x="502920" y="1508760"/>
            <a:ext cx="3543300" cy="256032"/>
          </a:xfrm>
          <a:prstGeom prst="rect">
            <a:avLst/>
          </a:prstGeom>
          <a:noFill/>
          <a:ln/>
        </p:spPr>
        <p:txBody>
          <a:bodyPr wrap="square" lIns="0" tIns="0" rIns="0" bIns="0" rtlCol="0" anchor="t"/>
          <a:lstStyle/>
          <a:p>
            <a:pPr algn="ctr" indent="0" marL="0">
              <a:buNone/>
            </a:pPr>
            <a:r>
              <a:rPr lang="en-US" sz="1050" b="1" dirty="0">
                <a:solidFill>
                  <a:srgbClr val="5FC4B1"/>
                </a:solidFill>
                <a:latin typeface="Calibri" pitchFamily="34" charset="0"/>
                <a:ea typeface="Calibri" pitchFamily="34" charset="-122"/>
                <a:cs typeface="Calibri" pitchFamily="34" charset="-120"/>
              </a:rPr>
              <a:t>Wertsteigerung im Portfolio</a:t>
            </a:r>
            <a:endParaRPr lang="en-US" sz="1050" dirty="0"/>
          </a:p>
        </p:txBody>
      </p:sp>
      <p:sp>
        <p:nvSpPr>
          <p:cNvPr id="51" name="Shape 48"/>
          <p:cNvSpPr/>
          <p:nvPr/>
        </p:nvSpPr>
        <p:spPr>
          <a:xfrm>
            <a:off x="4828032" y="1783080"/>
            <a:ext cx="1979676" cy="0"/>
          </a:xfrm>
          <a:prstGeom prst="line">
            <a:avLst/>
          </a:prstGeom>
          <a:noFill/>
          <a:ln w="15875">
            <a:solidFill>
              <a:srgbClr val="E3897F"/>
            </a:solidFill>
            <a:prstDash val="solid"/>
          </a:ln>
        </p:spPr>
      </p:sp>
      <p:sp>
        <p:nvSpPr>
          <p:cNvPr id="52" name="Text 49"/>
          <p:cNvSpPr txBox="1"/>
          <p:nvPr/>
        </p:nvSpPr>
        <p:spPr>
          <a:xfrm>
            <a:off x="4754880" y="1508760"/>
            <a:ext cx="2125980" cy="256032"/>
          </a:xfrm>
          <a:prstGeom prst="rect">
            <a:avLst/>
          </a:prstGeom>
          <a:noFill/>
          <a:ln/>
        </p:spPr>
        <p:txBody>
          <a:bodyPr wrap="square" lIns="0" tIns="0" rIns="0" bIns="0" rtlCol="0" anchor="t"/>
          <a:lstStyle/>
          <a:p>
            <a:pPr algn="ctr" indent="0" marL="0">
              <a:buNone/>
            </a:pPr>
            <a:r>
              <a:rPr lang="en-US" sz="1050" b="1" dirty="0">
                <a:solidFill>
                  <a:srgbClr val="E3897F"/>
                </a:solidFill>
                <a:latin typeface="Calibri" pitchFamily="34" charset="0"/>
                <a:ea typeface="Calibri" pitchFamily="34" charset="-122"/>
                <a:cs typeface="Calibri" pitchFamily="34" charset="-120"/>
              </a:rPr>
              <a:t>Fondskosten</a:t>
            </a:r>
            <a:endParaRPr lang="en-US" sz="1050" dirty="0"/>
          </a:p>
        </p:txBody>
      </p:sp>
      <p:sp>
        <p:nvSpPr>
          <p:cNvPr id="53" name="Text 50"/>
          <p:cNvSpPr txBox="1"/>
          <p:nvPr/>
        </p:nvSpPr>
        <p:spPr>
          <a:xfrm>
            <a:off x="502920" y="5897880"/>
            <a:ext cx="7086600" cy="411480"/>
          </a:xfrm>
          <a:prstGeom prst="rect">
            <a:avLst/>
          </a:prstGeom>
          <a:noFill/>
          <a:ln/>
        </p:spPr>
        <p:txBody>
          <a:bodyPr wrap="square" lIns="0" tIns="0" rIns="0" bIns="0" rtlCol="0" anchor="t"/>
          <a:lstStyle/>
          <a:p>
            <a:pPr algn="l" indent="0" marL="0">
              <a:buNone/>
            </a:pPr>
            <a:r>
              <a:rPr lang="en-US" sz="1000" dirty="0">
                <a:solidFill>
                  <a:srgbClr val="8E9C9B"/>
                </a:solidFill>
                <a:latin typeface="Calibri" pitchFamily="34" charset="0"/>
                <a:ea typeface="Calibri" pitchFamily="34" charset="-122"/>
                <a:cs typeface="Calibri" pitchFamily="34" charset="-120"/>
              </a:rPr>
              <a:t>Ø je Fonds in Mio. € · 240 KI-Fonds · 60 simulierte Partien · abgerufen Ø 487 Mio. € · Zukäufe &amp; Sonderkosten: Add-on-Kaufpreise 21, schuldfinanzierte Einmalkosten 20</a:t>
            </a:r>
            <a:endParaRPr lang="en-US" sz="1000" dirty="0"/>
          </a:p>
        </p:txBody>
      </p:sp>
      <p:pic>
        <p:nvPicPr>
          <p:cNvPr id="54" name="Image 0" descr="/tmp/claude-0/deck/img/drivers.jpg">    </p:cNvPr>
          <p:cNvPicPr>
            <a:picLocks noChangeAspect="1"/>
          </p:cNvPicPr>
          <p:nvPr/>
        </p:nvPicPr>
        <p:blipFill>
          <a:blip r:embed="rId1"/>
          <a:stretch>
            <a:fillRect/>
          </a:stretch>
        </p:blipFill>
        <p:spPr>
          <a:xfrm>
            <a:off x="9747208" y="1600200"/>
            <a:ext cx="1938824" cy="4343400"/>
          </a:xfrm>
          <a:prstGeom prst="rect">
            <a:avLst/>
          </a:prstGeom>
        </p:spPr>
      </p:pic>
      <p:sp>
        <p:nvSpPr>
          <p:cNvPr id="55" name="Shape 51"/>
          <p:cNvSpPr/>
          <p:nvPr/>
        </p:nvSpPr>
        <p:spPr>
          <a:xfrm>
            <a:off x="9747208" y="1600200"/>
            <a:ext cx="1938824" cy="4343400"/>
          </a:xfrm>
          <a:prstGeom prst="rect">
            <a:avLst/>
          </a:prstGeom>
          <a:ln w="9525">
            <a:solidFill>
              <a:srgbClr val="33474B"/>
            </a:solidFill>
            <a:prstDash val="solid"/>
          </a:ln>
        </p:spPr>
      </p:sp>
      <p:sp>
        <p:nvSpPr>
          <p:cNvPr id="56" name="Text 52"/>
          <p:cNvSpPr txBox="1"/>
          <p:nvPr/>
        </p:nvSpPr>
        <p:spPr>
          <a:xfrm>
            <a:off x="9472888" y="5998464"/>
            <a:ext cx="2487464"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„Woher die Rendite kam“ im Portfolio-Tab</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3B82F6"/>
                </a:solidFill>
                <a:latin typeface="Calibri" pitchFamily="34" charset="0"/>
                <a:ea typeface="Calibri" pitchFamily="34" charset="-122"/>
                <a:cs typeface="Calibri" pitchFamily="34" charset="-120"/>
              </a:rPr>
              <a:t>ASSET SELECTION · SEKTOR UND MARKT</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Portfolio-Konstruktion und Marktzyklus</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3B82F6"/>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3B82F6"/>
                </a:solidFill>
                <a:latin typeface="Calibri" pitchFamily="34" charset="0"/>
                <a:ea typeface="Calibri" pitchFamily="34" charset="-122"/>
                <a:cs typeface="Calibri" pitchFamily="34" charset="-120"/>
              </a:rPr>
              <a:t>B · DEAL SELECTION &amp; EXECUTION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12</a:t>
            </a:r>
            <a:endParaRPr lang="en-US" sz="900" dirty="0"/>
          </a:p>
        </p:txBody>
      </p:sp>
      <p:graphicFrame>
        <p:nvGraphicFramePr>
          <p:cNvPr id="9" name="Chart 0" descr=""/>
          <p:cNvGraphicFramePr/>
          <p:nvPr/>
        </p:nvGraphicFramePr>
        <p:xfrm>
          <a:off x="502920" y="1600200"/>
          <a:ext cx="356616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hart 1" descr=""/>
          <p:cNvGraphicFramePr/>
          <p:nvPr/>
        </p:nvGraphicFramePr>
        <p:xfrm>
          <a:off x="4206240" y="1600200"/>
          <a:ext cx="3566160" cy="2834640"/>
        </p:xfrm>
        <a:graphic xmlns:a="http://schemas.openxmlformats.org/drawingml/2006/main">
          <a:graphicData uri="http://schemas.openxmlformats.org/drawingml/2006/chart">
            <c:chart xmlns:c="http://schemas.openxmlformats.org/drawingml/2006/chart" r:id="rId2"/>
          </a:graphicData>
        </a:graphic>
      </p:graphicFrame>
      <p:sp>
        <p:nvSpPr>
          <p:cNvPr id="11" name="Shape 6"/>
          <p:cNvSpPr/>
          <p:nvPr/>
        </p:nvSpPr>
        <p:spPr>
          <a:xfrm>
            <a:off x="502920" y="4617720"/>
            <a:ext cx="2331720" cy="1600200"/>
          </a:xfrm>
          <a:prstGeom prst="roundRect">
            <a:avLst>
              <a:gd name="adj" fmla="val 4571"/>
            </a:avLst>
          </a:prstGeom>
          <a:solidFill>
            <a:srgbClr val="161F22"/>
          </a:solidFill>
          <a:ln w="9525">
            <a:solidFill>
              <a:srgbClr val="243033"/>
            </a:solidFill>
            <a:prstDash val="solid"/>
          </a:ln>
        </p:spPr>
      </p:sp>
      <p:sp>
        <p:nvSpPr>
          <p:cNvPr id="12" name="Text 7"/>
          <p:cNvSpPr txBox="1"/>
          <p:nvPr/>
        </p:nvSpPr>
        <p:spPr>
          <a:xfrm>
            <a:off x="667512" y="4681728"/>
            <a:ext cx="2011680" cy="457200"/>
          </a:xfrm>
          <a:prstGeom prst="rect">
            <a:avLst/>
          </a:prstGeom>
          <a:noFill/>
          <a:ln/>
        </p:spPr>
        <p:txBody>
          <a:bodyPr wrap="square" lIns="0" tIns="0" rIns="0" bIns="0" rtlCol="0" anchor="t"/>
          <a:lstStyle/>
          <a:p>
            <a:pPr algn="l" indent="0" marL="0">
              <a:buNone/>
            </a:pPr>
            <a:r>
              <a:rPr lang="en-US" sz="2200" b="1" dirty="0">
                <a:solidFill>
                  <a:srgbClr val="EDF1EE"/>
                </a:solidFill>
                <a:latin typeface="Calibri" pitchFamily="34" charset="0"/>
                <a:ea typeface="Calibri" pitchFamily="34" charset="-122"/>
                <a:cs typeface="Calibri" pitchFamily="34" charset="-120"/>
              </a:rPr>
              <a:t>±5 %</a:t>
            </a:r>
            <a:endParaRPr lang="en-US" sz="2200" dirty="0"/>
          </a:p>
        </p:txBody>
      </p:sp>
      <p:sp>
        <p:nvSpPr>
          <p:cNvPr id="13" name="Text 8"/>
          <p:cNvSpPr txBox="1"/>
          <p:nvPr/>
        </p:nvSpPr>
        <p:spPr>
          <a:xfrm>
            <a:off x="667512" y="5138928"/>
            <a:ext cx="2011680" cy="100584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Zufallsschwankung je Halbjahr, begrenzt auf 65–140 % des Basis-Multiples</a:t>
            </a:r>
            <a:endParaRPr lang="en-US" sz="1050" dirty="0"/>
          </a:p>
        </p:txBody>
      </p:sp>
      <p:sp>
        <p:nvSpPr>
          <p:cNvPr id="14" name="Shape 9"/>
          <p:cNvSpPr/>
          <p:nvPr/>
        </p:nvSpPr>
        <p:spPr>
          <a:xfrm>
            <a:off x="2953512" y="4617720"/>
            <a:ext cx="2331720" cy="1600200"/>
          </a:xfrm>
          <a:prstGeom prst="roundRect">
            <a:avLst>
              <a:gd name="adj" fmla="val 4571"/>
            </a:avLst>
          </a:prstGeom>
          <a:solidFill>
            <a:srgbClr val="161F22"/>
          </a:solidFill>
          <a:ln w="9525">
            <a:solidFill>
              <a:srgbClr val="243033"/>
            </a:solidFill>
            <a:prstDash val="solid"/>
          </a:ln>
        </p:spPr>
      </p:sp>
      <p:sp>
        <p:nvSpPr>
          <p:cNvPr id="15" name="Text 10"/>
          <p:cNvSpPr txBox="1"/>
          <p:nvPr/>
        </p:nvSpPr>
        <p:spPr>
          <a:xfrm>
            <a:off x="3118104" y="4681728"/>
            <a:ext cx="2011680" cy="457200"/>
          </a:xfrm>
          <a:prstGeom prst="rect">
            <a:avLst/>
          </a:prstGeom>
          <a:noFill/>
          <a:ln/>
        </p:spPr>
        <p:txBody>
          <a:bodyPr wrap="square" lIns="0" tIns="0" rIns="0" bIns="0" rtlCol="0" anchor="t"/>
          <a:lstStyle/>
          <a:p>
            <a:pPr algn="l" indent="0" marL="0">
              <a:buNone/>
            </a:pPr>
            <a:r>
              <a:rPr lang="en-US" sz="2200" b="1" dirty="0">
                <a:solidFill>
                  <a:srgbClr val="5FC4B1"/>
                </a:solidFill>
                <a:latin typeface="Calibri" pitchFamily="34" charset="0"/>
                <a:ea typeface="Calibri" pitchFamily="34" charset="-122"/>
                <a:cs typeface="Calibri" pitchFamily="34" charset="-120"/>
              </a:rPr>
              <a:t>18 %</a:t>
            </a:r>
            <a:endParaRPr lang="en-US" sz="2200" dirty="0"/>
          </a:p>
        </p:txBody>
      </p:sp>
      <p:sp>
        <p:nvSpPr>
          <p:cNvPr id="16" name="Text 11"/>
          <p:cNvSpPr txBox="1"/>
          <p:nvPr/>
        </p:nvSpPr>
        <p:spPr>
          <a:xfrm>
            <a:off x="3118104" y="5138928"/>
            <a:ext cx="2011680" cy="100584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Chance je Halbjahr: Multiple-Expansion in einem Sektor (+18 %)</a:t>
            </a:r>
            <a:endParaRPr lang="en-US" sz="1050" dirty="0"/>
          </a:p>
        </p:txBody>
      </p:sp>
      <p:sp>
        <p:nvSpPr>
          <p:cNvPr id="17" name="Shape 12"/>
          <p:cNvSpPr/>
          <p:nvPr/>
        </p:nvSpPr>
        <p:spPr>
          <a:xfrm>
            <a:off x="5404104" y="4617720"/>
            <a:ext cx="2331720" cy="1600200"/>
          </a:xfrm>
          <a:prstGeom prst="roundRect">
            <a:avLst>
              <a:gd name="adj" fmla="val 4571"/>
            </a:avLst>
          </a:prstGeom>
          <a:solidFill>
            <a:srgbClr val="161F22"/>
          </a:solidFill>
          <a:ln w="9525">
            <a:solidFill>
              <a:srgbClr val="243033"/>
            </a:solidFill>
            <a:prstDash val="solid"/>
          </a:ln>
        </p:spPr>
      </p:sp>
      <p:sp>
        <p:nvSpPr>
          <p:cNvPr id="18" name="Text 13"/>
          <p:cNvSpPr txBox="1"/>
          <p:nvPr/>
        </p:nvSpPr>
        <p:spPr>
          <a:xfrm>
            <a:off x="5568696" y="4681728"/>
            <a:ext cx="2011680" cy="457200"/>
          </a:xfrm>
          <a:prstGeom prst="rect">
            <a:avLst/>
          </a:prstGeom>
          <a:noFill/>
          <a:ln/>
        </p:spPr>
        <p:txBody>
          <a:bodyPr wrap="square" lIns="0" tIns="0" rIns="0" bIns="0" rtlCol="0" anchor="t"/>
          <a:lstStyle/>
          <a:p>
            <a:pPr algn="l" indent="0" marL="0">
              <a:buNone/>
            </a:pPr>
            <a:r>
              <a:rPr lang="en-US" sz="2200" b="1" dirty="0">
                <a:solidFill>
                  <a:srgbClr val="E3897F"/>
                </a:solidFill>
                <a:latin typeface="Calibri" pitchFamily="34" charset="0"/>
                <a:ea typeface="Calibri" pitchFamily="34" charset="-122"/>
                <a:cs typeface="Calibri" pitchFamily="34" charset="-120"/>
              </a:rPr>
              <a:t>14 %</a:t>
            </a:r>
            <a:endParaRPr lang="en-US" sz="2200" dirty="0"/>
          </a:p>
        </p:txBody>
      </p:sp>
      <p:sp>
        <p:nvSpPr>
          <p:cNvPr id="19" name="Text 14"/>
          <p:cNvSpPr txBox="1"/>
          <p:nvPr/>
        </p:nvSpPr>
        <p:spPr>
          <a:xfrm>
            <a:off x="5568696" y="5138928"/>
            <a:ext cx="2011680" cy="100584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Chance je Halbjahr: Sektorabschwung – Multiple −16 %, Umsatz −12 % × Stress</a:t>
            </a:r>
            <a:endParaRPr lang="en-US" sz="1050" dirty="0"/>
          </a:p>
        </p:txBody>
      </p:sp>
      <p:pic>
        <p:nvPicPr>
          <p:cNvPr id="20" name="Image 0" descr="/tmp/claude-0/deck/img/sectors.jpg">    </p:cNvPr>
          <p:cNvPicPr>
            <a:picLocks noChangeAspect="1"/>
          </p:cNvPicPr>
          <p:nvPr/>
        </p:nvPicPr>
        <p:blipFill>
          <a:blip r:embed="rId3"/>
          <a:stretch>
            <a:fillRect/>
          </a:stretch>
        </p:blipFill>
        <p:spPr>
          <a:xfrm>
            <a:off x="8001000" y="1600200"/>
            <a:ext cx="3685032" cy="2120437"/>
          </a:xfrm>
          <a:prstGeom prst="rect">
            <a:avLst/>
          </a:prstGeom>
        </p:spPr>
      </p:pic>
      <p:sp>
        <p:nvSpPr>
          <p:cNvPr id="21" name="Shape 15"/>
          <p:cNvSpPr/>
          <p:nvPr/>
        </p:nvSpPr>
        <p:spPr>
          <a:xfrm>
            <a:off x="8001000" y="1600200"/>
            <a:ext cx="3685032" cy="2120437"/>
          </a:xfrm>
          <a:prstGeom prst="rect">
            <a:avLst/>
          </a:prstGeom>
          <a:ln w="9525">
            <a:solidFill>
              <a:srgbClr val="33474B"/>
            </a:solidFill>
            <a:prstDash val="solid"/>
          </a:ln>
        </p:spPr>
      </p:sp>
      <p:sp>
        <p:nvSpPr>
          <p:cNvPr id="22" name="Text 16"/>
          <p:cNvSpPr txBox="1"/>
          <p:nvPr/>
        </p:nvSpPr>
        <p:spPr>
          <a:xfrm>
            <a:off x="7726680" y="3775501"/>
            <a:ext cx="4233672"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NAV-Verteilung nach Sektoren (Klumpenwarnung ab 50 %)</a:t>
            </a:r>
            <a:endParaRPr lang="en-US" sz="950" dirty="0"/>
          </a:p>
        </p:txBody>
      </p:sp>
      <p:sp>
        <p:nvSpPr>
          <p:cNvPr id="23" name="Text 17"/>
          <p:cNvSpPr txBox="1"/>
          <p:nvPr/>
        </p:nvSpPr>
        <p:spPr>
          <a:xfrm>
            <a:off x="8001000" y="4526280"/>
            <a:ext cx="3685032" cy="1737360"/>
          </a:xfrm>
          <a:prstGeom prst="rect">
            <a:avLst/>
          </a:prstGeom>
          <a:noFill/>
          <a:ln/>
        </p:spPr>
        <p:txBody>
          <a:bodyPr wrap="square" lIns="0" tIns="0" rIns="0" bIns="0" rtlCol="0" anchor="t"/>
          <a:lstStyle/>
          <a:p>
            <a:pPr marL="177800" indent="-177800">
              <a:spcAft>
                <a:spcPts val="700"/>
              </a:spcAft>
              <a:buSzPct val="100000"/>
              <a:buChar char="•"/>
            </a:pPr>
            <a:r>
              <a:rPr lang="en-US" sz="1200" b="1" dirty="0">
                <a:solidFill>
                  <a:srgbClr val="DCB264"/>
                </a:solidFill>
                <a:latin typeface="Calibri" pitchFamily="34" charset="0"/>
                <a:ea typeface="Calibri" pitchFamily="34" charset="-122"/>
                <a:cs typeface="Calibri" pitchFamily="34" charset="-120"/>
              </a:rPr>
              <a:t>6 Plätze </a:t>
            </a:r>
            <a:pPr indent="0" marL="0">
              <a:buNone/>
            </a:pPr>
            <a:r>
              <a:rPr lang="en-US" sz="1200" dirty="0">
                <a:solidFill>
                  <a:srgbClr val="EDF1EE"/>
                </a:solidFill>
                <a:latin typeface="Calibri" pitchFamily="34" charset="0"/>
                <a:ea typeface="Calibri" pitchFamily="34" charset="-122"/>
                <a:cs typeface="Calibri" pitchFamily="34" charset="-120"/>
              </a:rPr>
              <a:t>gleichzeitig im Portfolio</a:t>
            </a:r>
            <a:endParaRPr lang="en-US" sz="1200" dirty="0"/>
          </a:p>
          <a:p>
            <a:pPr marL="177800" indent="-177800">
              <a:spcAft>
                <a:spcPts val="700"/>
              </a:spcAft>
              <a:buSzPct val="100000"/>
              <a:buChar char="•"/>
            </a:pPr>
            <a:r>
              <a:rPr lang="en-US" sz="1200" b="1" dirty="0">
                <a:solidFill>
                  <a:srgbClr val="DCB264"/>
                </a:solidFill>
                <a:latin typeface="Calibri" pitchFamily="34" charset="0"/>
                <a:ea typeface="Calibri" pitchFamily="34" charset="-122"/>
                <a:cs typeface="Calibri" pitchFamily="34" charset="-120"/>
              </a:rPr>
              <a:t>4 + Value Creation / 2 </a:t>
            </a:r>
            <a:pPr indent="0" marL="0">
              <a:buNone/>
            </a:pPr>
            <a:r>
              <a:rPr lang="en-US" sz="1200" dirty="0">
                <a:solidFill>
                  <a:srgbClr val="EDF1EE"/>
                </a:solidFill>
                <a:latin typeface="Calibri" pitchFamily="34" charset="0"/>
                <a:ea typeface="Calibri" pitchFamily="34" charset="-122"/>
                <a:cs typeface="Calibri" pitchFamily="34" charset="-120"/>
              </a:rPr>
              <a:t>Maßnahmen parallel fürs ganze Portfolio (Operating Capacity)</a:t>
            </a:r>
            <a:endParaRPr lang="en-US" sz="1200" dirty="0"/>
          </a:p>
          <a:p>
            <a:pPr marL="177800" indent="-177800">
              <a:spcAft>
                <a:spcPts val="700"/>
              </a:spcAft>
              <a:buSzPct val="100000"/>
              <a:buChar char="•"/>
            </a:pPr>
            <a:r>
              <a:rPr lang="en-US" sz="1200" b="1" dirty="0">
                <a:solidFill>
                  <a:srgbClr val="DCB264"/>
                </a:solidFill>
                <a:latin typeface="Calibri" pitchFamily="34" charset="0"/>
                <a:ea typeface="Calibri" pitchFamily="34" charset="-122"/>
                <a:cs typeface="Calibri" pitchFamily="34" charset="-120"/>
              </a:rPr>
              <a:t>Stress = 1 + 0,22 × (Leverage − 3,0) </a:t>
            </a:r>
            <a:pPr indent="0" marL="0">
              <a:buNone/>
            </a:pPr>
            <a:r>
              <a:rPr lang="en-US" sz="1200" dirty="0">
                <a:solidFill>
                  <a:srgbClr val="EDF1EE"/>
                </a:solidFill>
                <a:latin typeface="Calibri" pitchFamily="34" charset="0"/>
                <a:ea typeface="Calibri" pitchFamily="34" charset="-122"/>
                <a:cs typeface="Calibri" pitchFamily="34" charset="-120"/>
              </a:rPr>
              <a:t>verstärkt jeden Abschwung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3B82F6"/>
                </a:solidFill>
                <a:latin typeface="Calibri" pitchFamily="34" charset="0"/>
                <a:ea typeface="Calibri" pitchFamily="34" charset="-122"/>
                <a:cs typeface="Calibri" pitchFamily="34" charset="-120"/>
              </a:rPr>
              <a:t>DEALFLOW</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Deal-Origination-Kanäle</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3B82F6"/>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3B82F6"/>
                </a:solidFill>
                <a:latin typeface="Calibri" pitchFamily="34" charset="0"/>
                <a:ea typeface="Calibri" pitchFamily="34" charset="-122"/>
                <a:cs typeface="Calibri" pitchFamily="34" charset="-120"/>
              </a:rPr>
              <a:t>B · DEAL SELECTION &amp; EXECUTION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13</a:t>
            </a:r>
            <a:endParaRPr lang="en-US" sz="900" dirty="0"/>
          </a:p>
        </p:txBody>
      </p:sp>
      <p:sp>
        <p:nvSpPr>
          <p:cNvPr id="9" name="Shape 6"/>
          <p:cNvSpPr/>
          <p:nvPr/>
        </p:nvSpPr>
        <p:spPr>
          <a:xfrm>
            <a:off x="502920" y="1600200"/>
            <a:ext cx="6675120" cy="1024128"/>
          </a:xfrm>
          <a:prstGeom prst="roundRect">
            <a:avLst>
              <a:gd name="adj" fmla="val 7143"/>
            </a:avLst>
          </a:prstGeom>
          <a:solidFill>
            <a:srgbClr val="161F22"/>
          </a:solidFill>
          <a:ln w="12700">
            <a:solidFill>
              <a:srgbClr val="3B82F6"/>
            </a:solidFill>
            <a:prstDash val="solid"/>
          </a:ln>
        </p:spPr>
      </p:sp>
      <p:sp>
        <p:nvSpPr>
          <p:cNvPr id="10" name="Text 7"/>
          <p:cNvSpPr txBox="1"/>
          <p:nvPr/>
        </p:nvSpPr>
        <p:spPr>
          <a:xfrm>
            <a:off x="731520" y="1709928"/>
            <a:ext cx="2011680" cy="365760"/>
          </a:xfrm>
          <a:prstGeom prst="rect">
            <a:avLst/>
          </a:prstGeom>
          <a:noFill/>
          <a:ln/>
        </p:spPr>
        <p:txBody>
          <a:bodyPr wrap="square" lIns="0" tIns="0" rIns="0" bIns="0" rtlCol="0" anchor="t"/>
          <a:lstStyle/>
          <a:p>
            <a:pPr algn="l" indent="0" marL="0">
              <a:buNone/>
            </a:pPr>
            <a:r>
              <a:rPr lang="en-US" sz="1700" b="1" dirty="0">
                <a:solidFill>
                  <a:srgbClr val="3B82F6"/>
                </a:solidFill>
                <a:latin typeface="Calibri" pitchFamily="34" charset="0"/>
                <a:ea typeface="Calibri" pitchFamily="34" charset="-122"/>
                <a:cs typeface="Calibri" pitchFamily="34" charset="-120"/>
              </a:rPr>
              <a:t>Auktion</a:t>
            </a:r>
            <a:endParaRPr lang="en-US" sz="1700" dirty="0"/>
          </a:p>
        </p:txBody>
      </p:sp>
      <p:sp>
        <p:nvSpPr>
          <p:cNvPr id="11" name="Text 8"/>
          <p:cNvSpPr txBox="1"/>
          <p:nvPr/>
        </p:nvSpPr>
        <p:spPr>
          <a:xfrm>
            <a:off x="731520" y="2103120"/>
            <a:ext cx="2011680" cy="411480"/>
          </a:xfrm>
          <a:prstGeom prst="rect">
            <a:avLst/>
          </a:prstGeom>
          <a:noFill/>
          <a:ln/>
        </p:spPr>
        <p:txBody>
          <a:bodyPr wrap="square" lIns="0" tIns="0" rIns="0" bIns="0" rtlCol="0" anchor="t"/>
          <a:lstStyle/>
          <a:p>
            <a:pPr algn="l" indent="0" marL="0">
              <a:buNone/>
            </a:pPr>
            <a:r>
              <a:rPr lang="en-US" sz="1200" b="1" dirty="0">
                <a:solidFill>
                  <a:srgbClr val="EDF1EE"/>
                </a:solidFill>
                <a:latin typeface="Calibri" pitchFamily="34" charset="0"/>
                <a:ea typeface="Calibri" pitchFamily="34" charset="-122"/>
                <a:cs typeface="Calibri" pitchFamily="34" charset="-120"/>
              </a:rPr>
              <a:t>4 je Halbjahr</a:t>
            </a:r>
            <a:endParaRPr lang="en-US" sz="1200" dirty="0"/>
          </a:p>
        </p:txBody>
      </p:sp>
      <p:sp>
        <p:nvSpPr>
          <p:cNvPr id="12" name="Text 9"/>
          <p:cNvSpPr txBox="1"/>
          <p:nvPr/>
        </p:nvSpPr>
        <p:spPr>
          <a:xfrm>
            <a:off x="2880360" y="1709928"/>
            <a:ext cx="4114800" cy="822960"/>
          </a:xfrm>
          <a:prstGeom prst="rect">
            <a:avLst/>
          </a:prstGeom>
          <a:noFill/>
          <a:ln/>
        </p:spPr>
        <p:txBody>
          <a:bodyPr wrap="square" lIns="0" tIns="0" rIns="0" bIns="0" rtlCol="0" anchor="ctr"/>
          <a:lstStyle/>
          <a:p>
            <a:pPr algn="l" indent="0" marL="0">
              <a:buNone/>
            </a:pPr>
            <a:r>
              <a:rPr lang="en-US" sz="1200" dirty="0">
                <a:solidFill>
                  <a:srgbClr val="8E9C9B"/>
                </a:solidFill>
                <a:latin typeface="Calibri" pitchFamily="34" charset="0"/>
                <a:ea typeface="Calibri" pitchFamily="34" charset="-122"/>
                <a:cs typeface="Calibri" pitchFamily="34" charset="-120"/>
              </a:rPr>
              <a:t>für alle Fonds sichtbar · KI bietet mit 74 % Wahrscheinlichkeit mit · Reservationspreis 85 % des Ask</a:t>
            </a:r>
            <a:endParaRPr lang="en-US" sz="1200" dirty="0"/>
          </a:p>
        </p:txBody>
      </p:sp>
      <p:sp>
        <p:nvSpPr>
          <p:cNvPr id="13" name="Shape 10"/>
          <p:cNvSpPr/>
          <p:nvPr/>
        </p:nvSpPr>
        <p:spPr>
          <a:xfrm>
            <a:off x="502920" y="2788920"/>
            <a:ext cx="6675120" cy="1024128"/>
          </a:xfrm>
          <a:prstGeom prst="roundRect">
            <a:avLst>
              <a:gd name="adj" fmla="val 7143"/>
            </a:avLst>
          </a:prstGeom>
          <a:solidFill>
            <a:srgbClr val="161F22"/>
          </a:solidFill>
          <a:ln w="12700">
            <a:solidFill>
              <a:srgbClr val="5FC4B1"/>
            </a:solidFill>
            <a:prstDash val="solid"/>
          </a:ln>
        </p:spPr>
      </p:sp>
      <p:sp>
        <p:nvSpPr>
          <p:cNvPr id="14" name="Text 11"/>
          <p:cNvSpPr txBox="1"/>
          <p:nvPr/>
        </p:nvSpPr>
        <p:spPr>
          <a:xfrm>
            <a:off x="731520" y="2898648"/>
            <a:ext cx="2011680" cy="365760"/>
          </a:xfrm>
          <a:prstGeom prst="rect">
            <a:avLst/>
          </a:prstGeom>
          <a:noFill/>
          <a:ln/>
        </p:spPr>
        <p:txBody>
          <a:bodyPr wrap="square" lIns="0" tIns="0" rIns="0" bIns="0" rtlCol="0" anchor="t"/>
          <a:lstStyle/>
          <a:p>
            <a:pPr algn="l" indent="0" marL="0">
              <a:buNone/>
            </a:pPr>
            <a:r>
              <a:rPr lang="en-US" sz="1700" b="1" dirty="0">
                <a:solidFill>
                  <a:srgbClr val="5FC4B1"/>
                </a:solidFill>
                <a:latin typeface="Calibri" pitchFamily="34" charset="0"/>
                <a:ea typeface="Calibri" pitchFamily="34" charset="-122"/>
                <a:cs typeface="Calibri" pitchFamily="34" charset="-120"/>
              </a:rPr>
              <a:t>Proprietär</a:t>
            </a:r>
            <a:endParaRPr lang="en-US" sz="1700" dirty="0"/>
          </a:p>
        </p:txBody>
      </p:sp>
      <p:sp>
        <p:nvSpPr>
          <p:cNvPr id="15" name="Text 12"/>
          <p:cNvSpPr txBox="1"/>
          <p:nvPr/>
        </p:nvSpPr>
        <p:spPr>
          <a:xfrm>
            <a:off x="731520" y="3291840"/>
            <a:ext cx="2011680" cy="411480"/>
          </a:xfrm>
          <a:prstGeom prst="rect">
            <a:avLst/>
          </a:prstGeom>
          <a:noFill/>
          <a:ln/>
        </p:spPr>
        <p:txBody>
          <a:bodyPr wrap="square" lIns="0" tIns="0" rIns="0" bIns="0" rtlCol="0" anchor="t"/>
          <a:lstStyle/>
          <a:p>
            <a:pPr algn="l" indent="0" marL="0">
              <a:buNone/>
            </a:pPr>
            <a:r>
              <a:rPr lang="en-US" sz="1200" b="1" dirty="0">
                <a:solidFill>
                  <a:srgbClr val="EDF1EE"/>
                </a:solidFill>
                <a:latin typeface="Calibri" pitchFamily="34" charset="0"/>
                <a:ea typeface="Calibri" pitchFamily="34" charset="-122"/>
                <a:cs typeface="Calibri" pitchFamily="34" charset="-120"/>
              </a:rPr>
              <a:t>0,55 × Origination, max. 3</a:t>
            </a:r>
            <a:endParaRPr lang="en-US" sz="1200" dirty="0"/>
          </a:p>
        </p:txBody>
      </p:sp>
      <p:sp>
        <p:nvSpPr>
          <p:cNvPr id="16" name="Text 13"/>
          <p:cNvSpPr txBox="1"/>
          <p:nvPr/>
        </p:nvSpPr>
        <p:spPr>
          <a:xfrm>
            <a:off x="2880360" y="2898648"/>
            <a:ext cx="4114800" cy="822960"/>
          </a:xfrm>
          <a:prstGeom prst="rect">
            <a:avLst/>
          </a:prstGeom>
          <a:noFill/>
          <a:ln/>
        </p:spPr>
        <p:txBody>
          <a:bodyPr wrap="square" lIns="0" tIns="0" rIns="0" bIns="0" rtlCol="0" anchor="ctr"/>
          <a:lstStyle/>
          <a:p>
            <a:pPr algn="l" indent="0" marL="0">
              <a:buNone/>
            </a:pPr>
            <a:r>
              <a:rPr lang="en-US" sz="1200" dirty="0">
                <a:solidFill>
                  <a:srgbClr val="8E9C9B"/>
                </a:solidFill>
                <a:latin typeface="Calibri" pitchFamily="34" charset="0"/>
                <a:ea typeface="Calibri" pitchFamily="34" charset="-122"/>
                <a:cs typeface="Calibri" pitchFamily="34" charset="-120"/>
              </a:rPr>
              <a:t>Preisabschlag 0,5–1,0 Turns + 0,12 × Origination · Reservationspreis 90 % · KI kommt selten dazu</a:t>
            </a:r>
            <a:endParaRPr lang="en-US" sz="1200" dirty="0"/>
          </a:p>
        </p:txBody>
      </p:sp>
      <p:sp>
        <p:nvSpPr>
          <p:cNvPr id="17" name="Shape 14"/>
          <p:cNvSpPr/>
          <p:nvPr/>
        </p:nvSpPr>
        <p:spPr>
          <a:xfrm>
            <a:off x="502920" y="3977640"/>
            <a:ext cx="6675120" cy="1024128"/>
          </a:xfrm>
          <a:prstGeom prst="roundRect">
            <a:avLst>
              <a:gd name="adj" fmla="val 7143"/>
            </a:avLst>
          </a:prstGeom>
          <a:solidFill>
            <a:srgbClr val="161F22"/>
          </a:solidFill>
          <a:ln w="12700">
            <a:solidFill>
              <a:srgbClr val="DCB264"/>
            </a:solidFill>
            <a:prstDash val="solid"/>
          </a:ln>
        </p:spPr>
      </p:sp>
      <p:sp>
        <p:nvSpPr>
          <p:cNvPr id="18" name="Text 15"/>
          <p:cNvSpPr txBox="1"/>
          <p:nvPr/>
        </p:nvSpPr>
        <p:spPr>
          <a:xfrm>
            <a:off x="731520" y="4087368"/>
            <a:ext cx="2011680" cy="365760"/>
          </a:xfrm>
          <a:prstGeom prst="rect">
            <a:avLst/>
          </a:prstGeom>
          <a:noFill/>
          <a:ln/>
        </p:spPr>
        <p:txBody>
          <a:bodyPr wrap="square" lIns="0" tIns="0" rIns="0" bIns="0" rtlCol="0" anchor="t"/>
          <a:lstStyle/>
          <a:p>
            <a:pPr algn="l" indent="0" marL="0">
              <a:buNone/>
            </a:pPr>
            <a:r>
              <a:rPr lang="en-US" sz="1700" b="1" dirty="0">
                <a:solidFill>
                  <a:srgbClr val="DCB264"/>
                </a:solidFill>
                <a:latin typeface="Calibri" pitchFamily="34" charset="0"/>
                <a:ea typeface="Calibri" pitchFamily="34" charset="-122"/>
                <a:cs typeface="Calibri" pitchFamily="34" charset="-120"/>
              </a:rPr>
              <a:t>Trophy Asset</a:t>
            </a:r>
            <a:endParaRPr lang="en-US" sz="1700" dirty="0"/>
          </a:p>
        </p:txBody>
      </p:sp>
      <p:sp>
        <p:nvSpPr>
          <p:cNvPr id="19" name="Text 16"/>
          <p:cNvSpPr txBox="1"/>
          <p:nvPr/>
        </p:nvSpPr>
        <p:spPr>
          <a:xfrm>
            <a:off x="731520" y="4480560"/>
            <a:ext cx="2011680" cy="411480"/>
          </a:xfrm>
          <a:prstGeom prst="rect">
            <a:avLst/>
          </a:prstGeom>
          <a:noFill/>
          <a:ln/>
        </p:spPr>
        <p:txBody>
          <a:bodyPr wrap="square" lIns="0" tIns="0" rIns="0" bIns="0" rtlCol="0" anchor="t"/>
          <a:lstStyle/>
          <a:p>
            <a:pPr algn="l" indent="0" marL="0">
              <a:buNone/>
            </a:pPr>
            <a:r>
              <a:rPr lang="en-US" sz="1200" b="1" dirty="0">
                <a:solidFill>
                  <a:srgbClr val="EDF1EE"/>
                </a:solidFill>
                <a:latin typeface="Calibri" pitchFamily="34" charset="0"/>
                <a:ea typeface="Calibri" pitchFamily="34" charset="-122"/>
                <a:cs typeface="Calibri" pitchFamily="34" charset="-120"/>
              </a:rPr>
              <a:t>1 × je Partie</a:t>
            </a:r>
            <a:endParaRPr lang="en-US" sz="1200" dirty="0"/>
          </a:p>
        </p:txBody>
      </p:sp>
      <p:sp>
        <p:nvSpPr>
          <p:cNvPr id="20" name="Text 17"/>
          <p:cNvSpPr txBox="1"/>
          <p:nvPr/>
        </p:nvSpPr>
        <p:spPr>
          <a:xfrm>
            <a:off x="2880360" y="4087368"/>
            <a:ext cx="4114800" cy="822960"/>
          </a:xfrm>
          <a:prstGeom prst="rect">
            <a:avLst/>
          </a:prstGeom>
          <a:noFill/>
          <a:ln/>
        </p:spPr>
        <p:txBody>
          <a:bodyPr wrap="square" lIns="0" tIns="0" rIns="0" bIns="0" rtlCol="0" anchor="ctr"/>
          <a:lstStyle/>
          <a:p>
            <a:pPr algn="l" indent="0" marL="0">
              <a:buNone/>
            </a:pPr>
            <a:r>
              <a:rPr lang="en-US" sz="1200" dirty="0">
                <a:solidFill>
                  <a:srgbClr val="8E9C9B"/>
                </a:solidFill>
                <a:latin typeface="Calibri" pitchFamily="34" charset="0"/>
                <a:ea typeface="Calibri" pitchFamily="34" charset="-122"/>
                <a:cs typeface="Calibri" pitchFamily="34" charset="-120"/>
              </a:rPr>
              <a:t>Angekündigt in HJ 8, am Markt in HJ 10 · größtes Target der Partie, Ticket ebenfalls gekappt · Qualität +14 · KI bietet zu 92 % mit</a:t>
            </a:r>
            <a:endParaRPr lang="en-US" sz="1200" dirty="0"/>
          </a:p>
        </p:txBody>
      </p:sp>
      <p:sp>
        <p:nvSpPr>
          <p:cNvPr id="21" name="Shape 18"/>
          <p:cNvSpPr/>
          <p:nvPr/>
        </p:nvSpPr>
        <p:spPr>
          <a:xfrm>
            <a:off x="502920" y="5257800"/>
            <a:ext cx="6675120" cy="640080"/>
          </a:xfrm>
          <a:prstGeom prst="roundRect">
            <a:avLst>
              <a:gd name="adj" fmla="val 11429"/>
            </a:avLst>
          </a:prstGeom>
          <a:solidFill>
            <a:srgbClr val="1C282B"/>
          </a:solidFill>
          <a:ln w="12700">
            <a:solidFill>
              <a:srgbClr val="DCB264"/>
            </a:solidFill>
            <a:prstDash val="solid"/>
          </a:ln>
        </p:spPr>
      </p:sp>
      <p:sp>
        <p:nvSpPr>
          <p:cNvPr id="22" name="Text 19"/>
          <p:cNvSpPr txBox="1"/>
          <p:nvPr/>
        </p:nvSpPr>
        <p:spPr>
          <a:xfrm>
            <a:off x="685800" y="5257800"/>
            <a:ext cx="6309360" cy="640080"/>
          </a:xfrm>
          <a:prstGeom prst="rect">
            <a:avLst/>
          </a:prstGeom>
          <a:noFill/>
          <a:ln/>
        </p:spPr>
        <p:txBody>
          <a:bodyPr wrap="square" lIns="0" tIns="0" rIns="0" bIns="0" rtlCol="0" anchor="ctr"/>
          <a:lstStyle/>
          <a:p>
            <a:pPr algn="ctr" indent="0" marL="0">
              <a:buNone/>
            </a:pPr>
            <a:r>
              <a:rPr lang="en-US" sz="1350" b="1" dirty="0">
                <a:solidFill>
                  <a:srgbClr val="DCB264"/>
                </a:solidFill>
                <a:latin typeface="Calibri" pitchFamily="34" charset="0"/>
                <a:ea typeface="Calibri" pitchFamily="34" charset="-122"/>
                <a:cs typeface="Calibri" pitchFamily="34" charset="-120"/>
              </a:rPr>
              <a:t>Proprietäre Deals je HJ ≈ 0,55 × Origination (Nachkommaanteil per Zufall)</a:t>
            </a:r>
            <a:endParaRPr lang="en-US" sz="1350" dirty="0"/>
          </a:p>
        </p:txBody>
      </p:sp>
      <p:pic>
        <p:nvPicPr>
          <p:cNvPr id="23" name="Image 0" descr="/tmp/claude-0/deck/img/landmark.jpg">    </p:cNvPr>
          <p:cNvPicPr>
            <a:picLocks noChangeAspect="1"/>
          </p:cNvPicPr>
          <p:nvPr/>
        </p:nvPicPr>
        <p:blipFill>
          <a:blip r:embed="rId1"/>
          <a:stretch>
            <a:fillRect/>
          </a:stretch>
        </p:blipFill>
        <p:spPr>
          <a:xfrm>
            <a:off x="8270152" y="1600200"/>
            <a:ext cx="3415880" cy="4389120"/>
          </a:xfrm>
          <a:prstGeom prst="rect">
            <a:avLst/>
          </a:prstGeom>
        </p:spPr>
      </p:pic>
      <p:sp>
        <p:nvSpPr>
          <p:cNvPr id="24" name="Shape 20"/>
          <p:cNvSpPr/>
          <p:nvPr/>
        </p:nvSpPr>
        <p:spPr>
          <a:xfrm>
            <a:off x="8270152" y="1600200"/>
            <a:ext cx="3415880" cy="4389120"/>
          </a:xfrm>
          <a:prstGeom prst="rect">
            <a:avLst/>
          </a:prstGeom>
          <a:ln w="9525">
            <a:solidFill>
              <a:srgbClr val="33474B"/>
            </a:solidFill>
            <a:prstDash val="solid"/>
          </a:ln>
        </p:spPr>
      </p:sp>
      <p:sp>
        <p:nvSpPr>
          <p:cNvPr id="25" name="Text 21"/>
          <p:cNvSpPr txBox="1"/>
          <p:nvPr/>
        </p:nvSpPr>
        <p:spPr>
          <a:xfrm>
            <a:off x="7995832" y="6044184"/>
            <a:ext cx="3964520"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Trophy Asset in der Ankündigungsphase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3B82F6"/>
                </a:solidFill>
                <a:latin typeface="Calibri" pitchFamily="34" charset="0"/>
                <a:ea typeface="Calibri" pitchFamily="34" charset="-122"/>
                <a:cs typeface="Calibri" pitchFamily="34" charset="-120"/>
              </a:rPr>
              <a:t>TARGET-PROFIL</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Die Anatomie eines Targets</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3B82F6"/>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3B82F6"/>
                </a:solidFill>
                <a:latin typeface="Calibri" pitchFamily="34" charset="0"/>
                <a:ea typeface="Calibri" pitchFamily="34" charset="-122"/>
                <a:cs typeface="Calibri" pitchFamily="34" charset="-120"/>
              </a:rPr>
              <a:t>B · DEAL SELECTION &amp; EXECUTION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14</a:t>
            </a:r>
            <a:endParaRPr lang="en-US" sz="900" dirty="0"/>
          </a:p>
        </p:txBody>
      </p:sp>
      <p:pic>
        <p:nvPicPr>
          <p:cNvPr id="9" name="Image 0" descr="/tmp/claude-0/deck/img/deal_top.jpg">    </p:cNvPr>
          <p:cNvPicPr>
            <a:picLocks noChangeAspect="1"/>
          </p:cNvPicPr>
          <p:nvPr/>
        </p:nvPicPr>
        <p:blipFill>
          <a:blip r:embed="rId1"/>
          <a:stretch>
            <a:fillRect/>
          </a:stretch>
        </p:blipFill>
        <p:spPr>
          <a:xfrm>
            <a:off x="502920" y="1600200"/>
            <a:ext cx="3691135" cy="4526280"/>
          </a:xfrm>
          <a:prstGeom prst="rect">
            <a:avLst/>
          </a:prstGeom>
        </p:spPr>
      </p:pic>
      <p:sp>
        <p:nvSpPr>
          <p:cNvPr id="10" name="Shape 6"/>
          <p:cNvSpPr/>
          <p:nvPr/>
        </p:nvSpPr>
        <p:spPr>
          <a:xfrm>
            <a:off x="502920" y="1600200"/>
            <a:ext cx="3691135" cy="4526280"/>
          </a:xfrm>
          <a:prstGeom prst="rect">
            <a:avLst/>
          </a:prstGeom>
          <a:ln w="9525">
            <a:solidFill>
              <a:srgbClr val="33474B"/>
            </a:solidFill>
            <a:prstDash val="solid"/>
          </a:ln>
        </p:spPr>
      </p:sp>
      <p:sp>
        <p:nvSpPr>
          <p:cNvPr id="11" name="Text 7"/>
          <p:cNvSpPr txBox="1"/>
          <p:nvPr/>
        </p:nvSpPr>
        <p:spPr>
          <a:xfrm>
            <a:off x="228600" y="6181344"/>
            <a:ext cx="4239775"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Deal-Karte im Dealflow</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257800" y="1600200"/>
          <a:ext cx="6428232" cy="914400"/>
        </p:xfrm>
        <a:graphic>
          <a:graphicData uri="http://schemas.openxmlformats.org/drawingml/2006/table">
            <a:tbl>
              <a:tblPr/>
              <a:tblGrid>
                <a:gridCol w="1783080"/>
                <a:gridCol w="2587752"/>
                <a:gridCol w="2057400"/>
              </a:tblGrid>
              <a:tr h="438912">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Parameter</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Bedeutung</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Wirkt auf</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r>
              <a:tr h="438912">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Sektor (Industrie)</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1 von 5 Sektoren, darin 1 von 7 Geschäftsmodellen</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Marktwachstum, Multiple, alle Bänder, Fachrolle</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438912">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Umsatz</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Band × 1,25; weich gekappt, Ticket ≤ 18 % des Fonds</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Größe, Ticket</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438912">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EBITDA-Marge</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Band ± Rauschen, 4–40 %</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EBITDA, Benchmark</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438912">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Wachstum (Historie)</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Band ± Rauschen</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Drift = künftiger Vorsprung</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438912">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Qualität (Score 0–100)</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Marktstellung, Kundenbasis</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Multiple (+0,6 % je Punkt)</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438912">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Leverage-Kapazität</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2,5–5,5× EBITDA</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max. Fremdkapital</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438912">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Capex- / NWC-Quote</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branchentypisch</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Free Cashflow</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438912">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Risikoflagge (55 %)</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Kundenkonzentration, Margendruck, Nachfolge, Investitionsstau</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Hinweis; erst mit DD sichtbar</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bl>
          </a:graphicData>
        </a:graphic>
      </p:graphicFrame>
      <p:sp>
        <p:nvSpPr>
          <p:cNvPr id="13" name="Text 8"/>
          <p:cNvSpPr txBox="1"/>
          <p:nvPr/>
        </p:nvSpPr>
        <p:spPr>
          <a:xfrm>
            <a:off x="5257800" y="5669280"/>
            <a:ext cx="6428232" cy="54864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Der Sektor bestimmt Marktwachstum und Multiple; das Geschäftsmodell die Bänder für Marge, Capex, NWC, Leverage-Kapazität und Qualität. Die Risikoflaggen erklärt Folie 17.</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3B82F6"/>
                </a:solidFill>
                <a:latin typeface="Calibri" pitchFamily="34" charset="0"/>
                <a:ea typeface="Calibri" pitchFamily="34" charset="-122"/>
                <a:cs typeface="Calibri" pitchFamily="34" charset="-120"/>
              </a:rPr>
              <a:t>PRICING</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Wie der Kaufpreis entsteht</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3B82F6"/>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3B82F6"/>
                </a:solidFill>
                <a:latin typeface="Calibri" pitchFamily="34" charset="0"/>
                <a:ea typeface="Calibri" pitchFamily="34" charset="-122"/>
                <a:cs typeface="Calibri" pitchFamily="34" charset="-120"/>
              </a:rPr>
              <a:t>B · DEAL SELECTION &amp; EXECUTION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15</a:t>
            </a:r>
            <a:endParaRPr lang="en-US" sz="900" dirty="0"/>
          </a:p>
        </p:txBody>
      </p:sp>
      <p:sp>
        <p:nvSpPr>
          <p:cNvPr id="9" name="Shape 6"/>
          <p:cNvSpPr/>
          <p:nvPr/>
        </p:nvSpPr>
        <p:spPr>
          <a:xfrm>
            <a:off x="502920" y="1600200"/>
            <a:ext cx="11185855" cy="731520"/>
          </a:xfrm>
          <a:prstGeom prst="roundRect">
            <a:avLst>
              <a:gd name="adj" fmla="val 10000"/>
            </a:avLst>
          </a:prstGeom>
          <a:solidFill>
            <a:srgbClr val="1C282B"/>
          </a:solidFill>
          <a:ln w="12700">
            <a:solidFill>
              <a:srgbClr val="DCB264"/>
            </a:solidFill>
            <a:prstDash val="solid"/>
          </a:ln>
        </p:spPr>
      </p:sp>
      <p:sp>
        <p:nvSpPr>
          <p:cNvPr id="10" name="Text 7"/>
          <p:cNvSpPr txBox="1"/>
          <p:nvPr/>
        </p:nvSpPr>
        <p:spPr>
          <a:xfrm>
            <a:off x="685800" y="1600200"/>
            <a:ext cx="10820095" cy="731520"/>
          </a:xfrm>
          <a:prstGeom prst="rect">
            <a:avLst/>
          </a:prstGeom>
          <a:noFill/>
          <a:ln/>
        </p:spPr>
        <p:txBody>
          <a:bodyPr wrap="square" lIns="0" tIns="0" rIns="0" bIns="0" rtlCol="0" anchor="ctr"/>
          <a:lstStyle/>
          <a:p>
            <a:pPr algn="ctr" indent="0" marL="0">
              <a:buNone/>
            </a:pPr>
            <a:r>
              <a:rPr lang="en-US" sz="1900" b="1" dirty="0">
                <a:solidFill>
                  <a:srgbClr val="DCB264"/>
                </a:solidFill>
                <a:latin typeface="Calibri" pitchFamily="34" charset="0"/>
                <a:ea typeface="Calibri" pitchFamily="34" charset="-122"/>
                <a:cs typeface="Calibri" pitchFamily="34" charset="-120"/>
              </a:rPr>
              <a:t>Ask  ≈  Sektor-Multiple  +  Qualität  −  Proprietary Discount  ±  Rauschen</a:t>
            </a:r>
            <a:endParaRPr lang="en-US" sz="1900" dirty="0"/>
          </a:p>
        </p:txBody>
      </p:sp>
      <p:sp>
        <p:nvSpPr>
          <p:cNvPr id="11" name="Shape 8"/>
          <p:cNvSpPr/>
          <p:nvPr/>
        </p:nvSpPr>
        <p:spPr>
          <a:xfrm>
            <a:off x="502920" y="2606040"/>
            <a:ext cx="2670048" cy="1417320"/>
          </a:xfrm>
          <a:prstGeom prst="roundRect">
            <a:avLst>
              <a:gd name="adj" fmla="val 5161"/>
            </a:avLst>
          </a:prstGeom>
          <a:solidFill>
            <a:srgbClr val="161F22"/>
          </a:solidFill>
          <a:ln w="12700">
            <a:solidFill>
              <a:srgbClr val="3B82F6"/>
            </a:solidFill>
            <a:prstDash val="solid"/>
          </a:ln>
        </p:spPr>
      </p:sp>
      <p:sp>
        <p:nvSpPr>
          <p:cNvPr id="12" name="Text 9"/>
          <p:cNvSpPr txBox="1"/>
          <p:nvPr/>
        </p:nvSpPr>
        <p:spPr>
          <a:xfrm>
            <a:off x="685800" y="2715768"/>
            <a:ext cx="2331720" cy="365760"/>
          </a:xfrm>
          <a:prstGeom prst="rect">
            <a:avLst/>
          </a:prstGeom>
          <a:noFill/>
          <a:ln/>
        </p:spPr>
        <p:txBody>
          <a:bodyPr wrap="square" lIns="0" tIns="0" rIns="0" bIns="0" rtlCol="0" anchor="t"/>
          <a:lstStyle/>
          <a:p>
            <a:pPr algn="l" indent="0" marL="0">
              <a:buNone/>
            </a:pPr>
            <a:r>
              <a:rPr lang="en-US" sz="1500" b="1" dirty="0">
                <a:solidFill>
                  <a:srgbClr val="3B82F6"/>
                </a:solidFill>
                <a:latin typeface="Calibri" pitchFamily="34" charset="0"/>
                <a:ea typeface="Calibri" pitchFamily="34" charset="-122"/>
                <a:cs typeface="Calibri" pitchFamily="34" charset="-120"/>
              </a:rPr>
              <a:t>Sektor-Multiple</a:t>
            </a:r>
            <a:endParaRPr lang="en-US" sz="1500" dirty="0"/>
          </a:p>
        </p:txBody>
      </p:sp>
      <p:sp>
        <p:nvSpPr>
          <p:cNvPr id="13" name="Text 10"/>
          <p:cNvSpPr txBox="1"/>
          <p:nvPr/>
        </p:nvSpPr>
        <p:spPr>
          <a:xfrm>
            <a:off x="685800" y="3127248"/>
            <a:ext cx="2331720" cy="822960"/>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Aktueller Marktwert des Sektors – schwankt jedes Halbjahr</a:t>
            </a:r>
            <a:endParaRPr lang="en-US" sz="1200" dirty="0"/>
          </a:p>
        </p:txBody>
      </p:sp>
      <p:sp>
        <p:nvSpPr>
          <p:cNvPr id="14" name="Shape 11"/>
          <p:cNvSpPr/>
          <p:nvPr/>
        </p:nvSpPr>
        <p:spPr>
          <a:xfrm>
            <a:off x="3337560" y="2606040"/>
            <a:ext cx="2670048" cy="1417320"/>
          </a:xfrm>
          <a:prstGeom prst="roundRect">
            <a:avLst>
              <a:gd name="adj" fmla="val 5161"/>
            </a:avLst>
          </a:prstGeom>
          <a:solidFill>
            <a:srgbClr val="161F22"/>
          </a:solidFill>
          <a:ln w="12700">
            <a:solidFill>
              <a:srgbClr val="5FC4B1"/>
            </a:solidFill>
            <a:prstDash val="solid"/>
          </a:ln>
        </p:spPr>
      </p:sp>
      <p:sp>
        <p:nvSpPr>
          <p:cNvPr id="15" name="Text 12"/>
          <p:cNvSpPr txBox="1"/>
          <p:nvPr/>
        </p:nvSpPr>
        <p:spPr>
          <a:xfrm>
            <a:off x="3520440" y="2715768"/>
            <a:ext cx="2331720" cy="365760"/>
          </a:xfrm>
          <a:prstGeom prst="rect">
            <a:avLst/>
          </a:prstGeom>
          <a:noFill/>
          <a:ln/>
        </p:spPr>
        <p:txBody>
          <a:bodyPr wrap="square" lIns="0" tIns="0" rIns="0" bIns="0" rtlCol="0" anchor="t"/>
          <a:lstStyle/>
          <a:p>
            <a:pPr algn="l" indent="0" marL="0">
              <a:buNone/>
            </a:pPr>
            <a:r>
              <a:rPr lang="en-US" sz="1500" b="1" dirty="0">
                <a:solidFill>
                  <a:srgbClr val="5FC4B1"/>
                </a:solidFill>
                <a:latin typeface="Calibri" pitchFamily="34" charset="0"/>
                <a:ea typeface="Calibri" pitchFamily="34" charset="-122"/>
                <a:cs typeface="Calibri" pitchFamily="34" charset="-120"/>
              </a:rPr>
              <a:t>Qualitätsfaktor</a:t>
            </a:r>
            <a:endParaRPr lang="en-US" sz="1500" dirty="0"/>
          </a:p>
        </p:txBody>
      </p:sp>
      <p:sp>
        <p:nvSpPr>
          <p:cNvPr id="16" name="Text 13"/>
          <p:cNvSpPr txBox="1"/>
          <p:nvPr/>
        </p:nvSpPr>
        <p:spPr>
          <a:xfrm>
            <a:off x="3520440" y="3127248"/>
            <a:ext cx="2331720" cy="822960"/>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Q 50 → 1,00 · Q 70 → 1,12 · Q 90 → 1,24</a:t>
            </a:r>
            <a:endParaRPr lang="en-US" sz="1200" dirty="0"/>
          </a:p>
        </p:txBody>
      </p:sp>
      <p:sp>
        <p:nvSpPr>
          <p:cNvPr id="17" name="Shape 14"/>
          <p:cNvSpPr/>
          <p:nvPr/>
        </p:nvSpPr>
        <p:spPr>
          <a:xfrm>
            <a:off x="6172200" y="2606040"/>
            <a:ext cx="2670048" cy="1417320"/>
          </a:xfrm>
          <a:prstGeom prst="roundRect">
            <a:avLst>
              <a:gd name="adj" fmla="val 5161"/>
            </a:avLst>
          </a:prstGeom>
          <a:solidFill>
            <a:srgbClr val="161F22"/>
          </a:solidFill>
          <a:ln w="12700">
            <a:solidFill>
              <a:srgbClr val="8E9C9B"/>
            </a:solidFill>
            <a:prstDash val="solid"/>
          </a:ln>
        </p:spPr>
      </p:sp>
      <p:sp>
        <p:nvSpPr>
          <p:cNvPr id="18" name="Text 15"/>
          <p:cNvSpPr txBox="1"/>
          <p:nvPr/>
        </p:nvSpPr>
        <p:spPr>
          <a:xfrm>
            <a:off x="6355080" y="2715768"/>
            <a:ext cx="2331720" cy="365760"/>
          </a:xfrm>
          <a:prstGeom prst="rect">
            <a:avLst/>
          </a:prstGeom>
          <a:noFill/>
          <a:ln/>
        </p:spPr>
        <p:txBody>
          <a:bodyPr wrap="square" lIns="0" tIns="0" rIns="0" bIns="0" rtlCol="0" anchor="t"/>
          <a:lstStyle/>
          <a:p>
            <a:pPr algn="l" indent="0" marL="0">
              <a:buNone/>
            </a:pPr>
            <a:r>
              <a:rPr lang="en-US" sz="1500" b="1" dirty="0">
                <a:solidFill>
                  <a:srgbClr val="8E9C9B"/>
                </a:solidFill>
                <a:latin typeface="Calibri" pitchFamily="34" charset="0"/>
                <a:ea typeface="Calibri" pitchFamily="34" charset="-122"/>
                <a:cs typeface="Calibri" pitchFamily="34" charset="-120"/>
              </a:rPr>
              <a:t>Rauschen</a:t>
            </a:r>
            <a:endParaRPr lang="en-US" sz="1500" dirty="0"/>
          </a:p>
        </p:txBody>
      </p:sp>
      <p:sp>
        <p:nvSpPr>
          <p:cNvPr id="19" name="Text 16"/>
          <p:cNvSpPr txBox="1"/>
          <p:nvPr/>
        </p:nvSpPr>
        <p:spPr>
          <a:xfrm>
            <a:off x="6355080" y="3127248"/>
            <a:ext cx="2331720" cy="822960"/>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0,96–1,04: kein Deal ist exakt fair bepreist</a:t>
            </a:r>
            <a:endParaRPr lang="en-US" sz="1200" dirty="0"/>
          </a:p>
        </p:txBody>
      </p:sp>
      <p:sp>
        <p:nvSpPr>
          <p:cNvPr id="20" name="Shape 17"/>
          <p:cNvSpPr/>
          <p:nvPr/>
        </p:nvSpPr>
        <p:spPr>
          <a:xfrm>
            <a:off x="9006840" y="2606040"/>
            <a:ext cx="2670048" cy="1417320"/>
          </a:xfrm>
          <a:prstGeom prst="roundRect">
            <a:avLst>
              <a:gd name="adj" fmla="val 5161"/>
            </a:avLst>
          </a:prstGeom>
          <a:solidFill>
            <a:srgbClr val="161F22"/>
          </a:solidFill>
          <a:ln w="12700">
            <a:solidFill>
              <a:srgbClr val="DCB264"/>
            </a:solidFill>
            <a:prstDash val="solid"/>
          </a:ln>
        </p:spPr>
      </p:sp>
      <p:sp>
        <p:nvSpPr>
          <p:cNvPr id="21" name="Text 18"/>
          <p:cNvSpPr txBox="1"/>
          <p:nvPr/>
        </p:nvSpPr>
        <p:spPr>
          <a:xfrm>
            <a:off x="9189720" y="2715768"/>
            <a:ext cx="2331720" cy="365760"/>
          </a:xfrm>
          <a:prstGeom prst="rect">
            <a:avLst/>
          </a:prstGeom>
          <a:noFill/>
          <a:ln/>
        </p:spPr>
        <p:txBody>
          <a:bodyPr wrap="square" lIns="0" tIns="0" rIns="0" bIns="0" rtlCol="0" anchor="t"/>
          <a:lstStyle/>
          <a:p>
            <a:pPr algn="l" indent="0" marL="0">
              <a:buNone/>
            </a:pPr>
            <a:r>
              <a:rPr lang="en-US" sz="1500" b="1" dirty="0">
                <a:solidFill>
                  <a:srgbClr val="DCB264"/>
                </a:solidFill>
                <a:latin typeface="Calibri" pitchFamily="34" charset="0"/>
                <a:ea typeface="Calibri" pitchFamily="34" charset="-122"/>
                <a:cs typeface="Calibri" pitchFamily="34" charset="-120"/>
              </a:rPr>
              <a:t>Proprietary Discount</a:t>
            </a:r>
            <a:endParaRPr lang="en-US" sz="1500" dirty="0"/>
          </a:p>
        </p:txBody>
      </p:sp>
      <p:sp>
        <p:nvSpPr>
          <p:cNvPr id="22" name="Text 19"/>
          <p:cNvSpPr txBox="1"/>
          <p:nvPr/>
        </p:nvSpPr>
        <p:spPr>
          <a:xfrm>
            <a:off x="9189720" y="3127248"/>
            <a:ext cx="2331720" cy="822960"/>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0,5–1,0 Turns + 0,12 × Origination</a:t>
            </a:r>
            <a:endParaRPr lang="en-US" sz="1200" dirty="0"/>
          </a:p>
        </p:txBody>
      </p:sp>
      <p:sp>
        <p:nvSpPr>
          <p:cNvPr id="23" name="Text 20"/>
          <p:cNvSpPr txBox="1"/>
          <p:nvPr/>
        </p:nvSpPr>
        <p:spPr>
          <a:xfrm>
            <a:off x="502920" y="4297680"/>
            <a:ext cx="5486400" cy="228600"/>
          </a:xfrm>
          <a:prstGeom prst="rect">
            <a:avLst/>
          </a:prstGeom>
          <a:noFill/>
          <a:ln/>
        </p:spPr>
        <p:txBody>
          <a:bodyPr wrap="square" lIns="0" tIns="0" rIns="0" bIns="0" rtlCol="0" anchor="t"/>
          <a:lstStyle/>
          <a:p>
            <a:pPr algn="l" indent="0" marL="0">
              <a:buNone/>
            </a:pPr>
            <a:r>
              <a:rPr lang="en-US" sz="1000" b="1" spc="150" kern="0" dirty="0">
                <a:solidFill>
                  <a:srgbClr val="DCB264"/>
                </a:solidFill>
                <a:latin typeface="Calibri" pitchFamily="34" charset="0"/>
                <a:ea typeface="Calibri" pitchFamily="34" charset="-122"/>
                <a:cs typeface="Calibri" pitchFamily="34" charset="-120"/>
              </a:rPr>
              <a:t>RECHENBEISPIEL HEALTHCARE (SEKTOR-MULTIPLE 11,0×)</a:t>
            </a:r>
            <a:endParaRPr lang="en-US" sz="1000" dirty="0"/>
          </a:p>
        </p:txBody>
      </p:sp>
      <p:sp>
        <p:nvSpPr>
          <p:cNvPr id="24" name="Shape 21"/>
          <p:cNvSpPr/>
          <p:nvPr/>
        </p:nvSpPr>
        <p:spPr>
          <a:xfrm>
            <a:off x="502920" y="4572000"/>
            <a:ext cx="3611880" cy="1005840"/>
          </a:xfrm>
          <a:prstGeom prst="roundRect">
            <a:avLst>
              <a:gd name="adj" fmla="val 7273"/>
            </a:avLst>
          </a:prstGeom>
          <a:solidFill>
            <a:srgbClr val="1C282B"/>
          </a:solidFill>
          <a:ln w="9525">
            <a:solidFill>
              <a:srgbClr val="243033"/>
            </a:solidFill>
            <a:prstDash val="solid"/>
          </a:ln>
        </p:spPr>
      </p:sp>
      <p:sp>
        <p:nvSpPr>
          <p:cNvPr id="25" name="Text 22"/>
          <p:cNvSpPr txBox="1"/>
          <p:nvPr/>
        </p:nvSpPr>
        <p:spPr>
          <a:xfrm>
            <a:off x="685800" y="4645152"/>
            <a:ext cx="3200400" cy="320040"/>
          </a:xfrm>
          <a:prstGeom prst="rect">
            <a:avLst/>
          </a:prstGeom>
          <a:noFill/>
          <a:ln/>
        </p:spPr>
        <p:txBody>
          <a:bodyPr wrap="square" lIns="0" tIns="0" rIns="0" bIns="0" rtlCol="0" anchor="t"/>
          <a:lstStyle/>
          <a:p>
            <a:pPr algn="l" indent="0" marL="0">
              <a:buNone/>
            </a:pPr>
            <a:r>
              <a:rPr lang="en-US" sz="1300" b="1" dirty="0">
                <a:solidFill>
                  <a:srgbClr val="EDF1EE"/>
                </a:solidFill>
                <a:latin typeface="Calibri" pitchFamily="34" charset="0"/>
                <a:ea typeface="Calibri" pitchFamily="34" charset="-122"/>
                <a:cs typeface="Calibri" pitchFamily="34" charset="-120"/>
              </a:rPr>
              <a:t>Qualität 70</a:t>
            </a:r>
            <a:endParaRPr lang="en-US" sz="1300" dirty="0"/>
          </a:p>
        </p:txBody>
      </p:sp>
      <p:sp>
        <p:nvSpPr>
          <p:cNvPr id="26" name="Text 23"/>
          <p:cNvSpPr txBox="1"/>
          <p:nvPr/>
        </p:nvSpPr>
        <p:spPr>
          <a:xfrm>
            <a:off x="685800" y="5010912"/>
            <a:ext cx="2194560" cy="457200"/>
          </a:xfrm>
          <a:prstGeom prst="rect">
            <a:avLst/>
          </a:prstGeom>
          <a:noFill/>
          <a:ln/>
        </p:spPr>
        <p:txBody>
          <a:bodyPr wrap="square" lIns="0" tIns="0" rIns="0" bIns="0" rtlCol="0" anchor="t"/>
          <a:lstStyle/>
          <a:p>
            <a:pPr algn="l" indent="0" marL="0">
              <a:buNone/>
            </a:pPr>
            <a:r>
              <a:rPr lang="en-US" sz="1200" dirty="0">
                <a:solidFill>
                  <a:srgbClr val="8E9C9B"/>
                </a:solidFill>
                <a:latin typeface="Calibri" pitchFamily="34" charset="0"/>
                <a:ea typeface="Calibri" pitchFamily="34" charset="-122"/>
                <a:cs typeface="Calibri" pitchFamily="34" charset="-120"/>
              </a:rPr>
              <a:t>11,0 × 1,12</a:t>
            </a:r>
            <a:endParaRPr lang="en-US" sz="1200" dirty="0"/>
          </a:p>
        </p:txBody>
      </p:sp>
      <p:sp>
        <p:nvSpPr>
          <p:cNvPr id="27" name="Text 24"/>
          <p:cNvSpPr txBox="1"/>
          <p:nvPr/>
        </p:nvSpPr>
        <p:spPr>
          <a:xfrm>
            <a:off x="2697480" y="4892040"/>
            <a:ext cx="1280160" cy="502920"/>
          </a:xfrm>
          <a:prstGeom prst="rect">
            <a:avLst/>
          </a:prstGeom>
          <a:noFill/>
          <a:ln/>
        </p:spPr>
        <p:txBody>
          <a:bodyPr wrap="square" lIns="0" tIns="0" rIns="0" bIns="0" rtlCol="0" anchor="t"/>
          <a:lstStyle/>
          <a:p>
            <a:pPr algn="r" indent="0" marL="0">
              <a:buNone/>
            </a:pPr>
            <a:r>
              <a:rPr lang="en-US" sz="2000" b="1" dirty="0">
                <a:solidFill>
                  <a:srgbClr val="DCB264"/>
                </a:solidFill>
                <a:latin typeface="Calibri" pitchFamily="34" charset="0"/>
                <a:ea typeface="Calibri" pitchFamily="34" charset="-122"/>
                <a:cs typeface="Calibri" pitchFamily="34" charset="-120"/>
              </a:rPr>
              <a:t>= 12,3×</a:t>
            </a:r>
            <a:endParaRPr lang="en-US" sz="2000" dirty="0"/>
          </a:p>
        </p:txBody>
      </p:sp>
      <p:sp>
        <p:nvSpPr>
          <p:cNvPr id="28" name="Shape 25"/>
          <p:cNvSpPr/>
          <p:nvPr/>
        </p:nvSpPr>
        <p:spPr>
          <a:xfrm>
            <a:off x="4279392" y="4572000"/>
            <a:ext cx="3611880" cy="1005840"/>
          </a:xfrm>
          <a:prstGeom prst="roundRect">
            <a:avLst>
              <a:gd name="adj" fmla="val 7273"/>
            </a:avLst>
          </a:prstGeom>
          <a:solidFill>
            <a:srgbClr val="1C282B"/>
          </a:solidFill>
          <a:ln w="9525">
            <a:solidFill>
              <a:srgbClr val="243033"/>
            </a:solidFill>
            <a:prstDash val="solid"/>
          </a:ln>
        </p:spPr>
      </p:sp>
      <p:sp>
        <p:nvSpPr>
          <p:cNvPr id="29" name="Text 26"/>
          <p:cNvSpPr txBox="1"/>
          <p:nvPr/>
        </p:nvSpPr>
        <p:spPr>
          <a:xfrm>
            <a:off x="4462272" y="4645152"/>
            <a:ext cx="3200400" cy="320040"/>
          </a:xfrm>
          <a:prstGeom prst="rect">
            <a:avLst/>
          </a:prstGeom>
          <a:noFill/>
          <a:ln/>
        </p:spPr>
        <p:txBody>
          <a:bodyPr wrap="square" lIns="0" tIns="0" rIns="0" bIns="0" rtlCol="0" anchor="t"/>
          <a:lstStyle/>
          <a:p>
            <a:pPr algn="l" indent="0" marL="0">
              <a:buNone/>
            </a:pPr>
            <a:r>
              <a:rPr lang="en-US" sz="1300" b="1" dirty="0">
                <a:solidFill>
                  <a:srgbClr val="EDF1EE"/>
                </a:solidFill>
                <a:latin typeface="Calibri" pitchFamily="34" charset="0"/>
                <a:ea typeface="Calibri" pitchFamily="34" charset="-122"/>
                <a:cs typeface="Calibri" pitchFamily="34" charset="-120"/>
              </a:rPr>
              <a:t>Auktion</a:t>
            </a:r>
            <a:endParaRPr lang="en-US" sz="1300" dirty="0"/>
          </a:p>
        </p:txBody>
      </p:sp>
      <p:sp>
        <p:nvSpPr>
          <p:cNvPr id="30" name="Text 27"/>
          <p:cNvSpPr txBox="1"/>
          <p:nvPr/>
        </p:nvSpPr>
        <p:spPr>
          <a:xfrm>
            <a:off x="4462272" y="5010912"/>
            <a:ext cx="2194560" cy="457200"/>
          </a:xfrm>
          <a:prstGeom prst="rect">
            <a:avLst/>
          </a:prstGeom>
          <a:noFill/>
          <a:ln/>
        </p:spPr>
        <p:txBody>
          <a:bodyPr wrap="square" lIns="0" tIns="0" rIns="0" bIns="0" rtlCol="0" anchor="t"/>
          <a:lstStyle/>
          <a:p>
            <a:pPr algn="l" indent="0" marL="0">
              <a:buNone/>
            </a:pPr>
            <a:r>
              <a:rPr lang="en-US" sz="1200" dirty="0">
                <a:solidFill>
                  <a:srgbClr val="8E9C9B"/>
                </a:solidFill>
                <a:latin typeface="Calibri" pitchFamily="34" charset="0"/>
                <a:ea typeface="Calibri" pitchFamily="34" charset="-122"/>
                <a:cs typeface="Calibri" pitchFamily="34" charset="-120"/>
              </a:rPr>
              <a:t>Reservationspreis 85 %</a:t>
            </a:r>
            <a:endParaRPr lang="en-US" sz="1200" dirty="0"/>
          </a:p>
        </p:txBody>
      </p:sp>
      <p:sp>
        <p:nvSpPr>
          <p:cNvPr id="31" name="Text 28"/>
          <p:cNvSpPr txBox="1"/>
          <p:nvPr/>
        </p:nvSpPr>
        <p:spPr>
          <a:xfrm>
            <a:off x="6473952" y="4892040"/>
            <a:ext cx="1280160" cy="502920"/>
          </a:xfrm>
          <a:prstGeom prst="rect">
            <a:avLst/>
          </a:prstGeom>
          <a:noFill/>
          <a:ln/>
        </p:spPr>
        <p:txBody>
          <a:bodyPr wrap="square" lIns="0" tIns="0" rIns="0" bIns="0" rtlCol="0" anchor="t"/>
          <a:lstStyle/>
          <a:p>
            <a:pPr algn="r" indent="0" marL="0">
              <a:buNone/>
            </a:pPr>
            <a:r>
              <a:rPr lang="en-US" sz="2000" b="1" dirty="0">
                <a:solidFill>
                  <a:srgbClr val="DCB264"/>
                </a:solidFill>
                <a:latin typeface="Calibri" pitchFamily="34" charset="0"/>
                <a:ea typeface="Calibri" pitchFamily="34" charset="-122"/>
                <a:cs typeface="Calibri" pitchFamily="34" charset="-120"/>
              </a:rPr>
              <a:t>≥ 10,5×</a:t>
            </a:r>
            <a:endParaRPr lang="en-US" sz="2000" dirty="0"/>
          </a:p>
        </p:txBody>
      </p:sp>
      <p:sp>
        <p:nvSpPr>
          <p:cNvPr id="32" name="Shape 29"/>
          <p:cNvSpPr/>
          <p:nvPr/>
        </p:nvSpPr>
        <p:spPr>
          <a:xfrm>
            <a:off x="8055864" y="4572000"/>
            <a:ext cx="3611880" cy="1005840"/>
          </a:xfrm>
          <a:prstGeom prst="roundRect">
            <a:avLst>
              <a:gd name="adj" fmla="val 7273"/>
            </a:avLst>
          </a:prstGeom>
          <a:solidFill>
            <a:srgbClr val="1C282B"/>
          </a:solidFill>
          <a:ln w="9525">
            <a:solidFill>
              <a:srgbClr val="243033"/>
            </a:solidFill>
            <a:prstDash val="solid"/>
          </a:ln>
        </p:spPr>
      </p:sp>
      <p:sp>
        <p:nvSpPr>
          <p:cNvPr id="33" name="Text 30"/>
          <p:cNvSpPr txBox="1"/>
          <p:nvPr/>
        </p:nvSpPr>
        <p:spPr>
          <a:xfrm>
            <a:off x="8238744" y="4645152"/>
            <a:ext cx="3200400" cy="320040"/>
          </a:xfrm>
          <a:prstGeom prst="rect">
            <a:avLst/>
          </a:prstGeom>
          <a:noFill/>
          <a:ln/>
        </p:spPr>
        <p:txBody>
          <a:bodyPr wrap="square" lIns="0" tIns="0" rIns="0" bIns="0" rtlCol="0" anchor="t"/>
          <a:lstStyle/>
          <a:p>
            <a:pPr algn="l" indent="0" marL="0">
              <a:buNone/>
            </a:pPr>
            <a:r>
              <a:rPr lang="en-US" sz="1300" b="1" dirty="0">
                <a:solidFill>
                  <a:srgbClr val="EDF1EE"/>
                </a:solidFill>
                <a:latin typeface="Calibri" pitchFamily="34" charset="0"/>
                <a:ea typeface="Calibri" pitchFamily="34" charset="-122"/>
                <a:cs typeface="Calibri" pitchFamily="34" charset="-120"/>
              </a:rPr>
              <a:t>Proprietär (Origination 3)</a:t>
            </a:r>
            <a:endParaRPr lang="en-US" sz="1300" dirty="0"/>
          </a:p>
        </p:txBody>
      </p:sp>
      <p:sp>
        <p:nvSpPr>
          <p:cNvPr id="34" name="Text 31"/>
          <p:cNvSpPr txBox="1"/>
          <p:nvPr/>
        </p:nvSpPr>
        <p:spPr>
          <a:xfrm>
            <a:off x="8238744" y="5010912"/>
            <a:ext cx="2194560" cy="457200"/>
          </a:xfrm>
          <a:prstGeom prst="rect">
            <a:avLst/>
          </a:prstGeom>
          <a:noFill/>
          <a:ln/>
        </p:spPr>
        <p:txBody>
          <a:bodyPr wrap="square" lIns="0" tIns="0" rIns="0" bIns="0" rtlCol="0" anchor="t"/>
          <a:lstStyle/>
          <a:p>
            <a:pPr algn="l" indent="0" marL="0">
              <a:buNone/>
            </a:pPr>
            <a:r>
              <a:rPr lang="en-US" sz="1200" dirty="0">
                <a:solidFill>
                  <a:srgbClr val="8E9C9B"/>
                </a:solidFill>
                <a:latin typeface="Calibri" pitchFamily="34" charset="0"/>
                <a:ea typeface="Calibri" pitchFamily="34" charset="-122"/>
                <a:cs typeface="Calibri" pitchFamily="34" charset="-120"/>
              </a:rPr>
              <a:t>−0,9 bis −1,4 Turns</a:t>
            </a:r>
            <a:endParaRPr lang="en-US" sz="1200" dirty="0"/>
          </a:p>
        </p:txBody>
      </p:sp>
      <p:sp>
        <p:nvSpPr>
          <p:cNvPr id="35" name="Text 32"/>
          <p:cNvSpPr txBox="1"/>
          <p:nvPr/>
        </p:nvSpPr>
        <p:spPr>
          <a:xfrm>
            <a:off x="10250424" y="4892040"/>
            <a:ext cx="1280160" cy="502920"/>
          </a:xfrm>
          <a:prstGeom prst="rect">
            <a:avLst/>
          </a:prstGeom>
          <a:noFill/>
          <a:ln/>
        </p:spPr>
        <p:txBody>
          <a:bodyPr wrap="square" lIns="0" tIns="0" rIns="0" bIns="0" rtlCol="0" anchor="t"/>
          <a:lstStyle/>
          <a:p>
            <a:pPr algn="r" indent="0" marL="0">
              <a:buNone/>
            </a:pPr>
            <a:r>
              <a:rPr lang="en-US" sz="2000" b="1" dirty="0">
                <a:solidFill>
                  <a:srgbClr val="DCB264"/>
                </a:solidFill>
                <a:latin typeface="Calibri" pitchFamily="34" charset="0"/>
                <a:ea typeface="Calibri" pitchFamily="34" charset="-122"/>
                <a:cs typeface="Calibri" pitchFamily="34" charset="-120"/>
              </a:rPr>
              <a:t>≈ 11,1×</a:t>
            </a:r>
            <a:endParaRPr lang="en-US" sz="2000" dirty="0"/>
          </a:p>
        </p:txBody>
      </p:sp>
      <p:sp>
        <p:nvSpPr>
          <p:cNvPr id="36" name="Text 33"/>
          <p:cNvSpPr txBox="1"/>
          <p:nvPr/>
        </p:nvSpPr>
        <p:spPr>
          <a:xfrm>
            <a:off x="502920" y="5806440"/>
            <a:ext cx="11185855" cy="365760"/>
          </a:xfrm>
          <a:prstGeom prst="rect">
            <a:avLst/>
          </a:prstGeom>
          <a:noFill/>
          <a:ln/>
        </p:spPr>
        <p:txBody>
          <a:bodyPr wrap="square" lIns="0" tIns="0" rIns="0" bIns="0" rtlCol="0" anchor="t"/>
          <a:lstStyle/>
          <a:p>
            <a:pPr algn="l" indent="0" marL="0">
              <a:buNone/>
            </a:pPr>
            <a:r>
              <a:rPr lang="en-US" sz="1200" dirty="0">
                <a:solidFill>
                  <a:srgbClr val="8E9C9B"/>
                </a:solidFill>
                <a:latin typeface="Calibri" pitchFamily="34" charset="0"/>
                <a:ea typeface="Calibri" pitchFamily="34" charset="-122"/>
                <a:cs typeface="Calibri" pitchFamily="34" charset="-120"/>
              </a:rPr>
              <a:t>Kein Aufwertungsgewinn am Closing-Tag: Kaufpreis und spätere Bewertung nutzen denselben Qualitätsfaktor.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3B82F6"/>
                </a:solidFill>
                <a:latin typeface="Calibri" pitchFamily="34" charset="0"/>
                <a:ea typeface="Calibri" pitchFamily="34" charset="-122"/>
                <a:cs typeface="Calibri" pitchFamily="34" charset="-120"/>
              </a:rPr>
              <a:t>INFORMATIONSASYMMETRIE</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Due Diligence: was der Käufer nicht weiß</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3B82F6"/>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3B82F6"/>
                </a:solidFill>
                <a:latin typeface="Calibri" pitchFamily="34" charset="0"/>
                <a:ea typeface="Calibri" pitchFamily="34" charset="-122"/>
                <a:cs typeface="Calibri" pitchFamily="34" charset="-120"/>
              </a:rPr>
              <a:t>B · DEAL SELECTION &amp; EXECUTION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16</a:t>
            </a:r>
            <a:endParaRPr lang="en-US" sz="900" dirty="0"/>
          </a:p>
        </p:txBody>
      </p:sp>
      <p:sp>
        <p:nvSpPr>
          <p:cNvPr id="9" name="Shape 6"/>
          <p:cNvSpPr/>
          <p:nvPr/>
        </p:nvSpPr>
        <p:spPr>
          <a:xfrm>
            <a:off x="502920" y="1600200"/>
            <a:ext cx="3794760" cy="3017520"/>
          </a:xfrm>
          <a:prstGeom prst="roundRect">
            <a:avLst>
              <a:gd name="adj" fmla="val 2424"/>
            </a:avLst>
          </a:prstGeom>
          <a:solidFill>
            <a:srgbClr val="161F22"/>
          </a:solidFill>
          <a:ln w="9525">
            <a:solidFill>
              <a:srgbClr val="8E9C9B"/>
            </a:solidFill>
            <a:prstDash val="solid"/>
          </a:ln>
        </p:spPr>
      </p:sp>
      <p:sp>
        <p:nvSpPr>
          <p:cNvPr id="10" name="Text 7"/>
          <p:cNvSpPr txBox="1"/>
          <p:nvPr/>
        </p:nvSpPr>
        <p:spPr>
          <a:xfrm>
            <a:off x="685800" y="1737360"/>
            <a:ext cx="3474720" cy="228600"/>
          </a:xfrm>
          <a:prstGeom prst="rect">
            <a:avLst/>
          </a:prstGeom>
          <a:noFill/>
          <a:ln/>
        </p:spPr>
        <p:txBody>
          <a:bodyPr wrap="square" lIns="0" tIns="0" rIns="0" bIns="0" rtlCol="0" anchor="t"/>
          <a:lstStyle/>
          <a:p>
            <a:pPr algn="l" indent="0" marL="0">
              <a:buNone/>
            </a:pPr>
            <a:r>
              <a:rPr lang="en-US" sz="1000" b="1" spc="150" kern="0" dirty="0">
                <a:solidFill>
                  <a:srgbClr val="8E9C9B"/>
                </a:solidFill>
                <a:latin typeface="Calibri" pitchFamily="34" charset="0"/>
                <a:ea typeface="Calibri" pitchFamily="34" charset="-122"/>
                <a:cs typeface="Calibri" pitchFamily="34" charset="-120"/>
              </a:rPr>
              <a:t>IN DER REALITÄT</a:t>
            </a:r>
            <a:endParaRPr lang="en-US" sz="1000" dirty="0"/>
          </a:p>
        </p:txBody>
      </p:sp>
      <p:sp>
        <p:nvSpPr>
          <p:cNvPr id="11" name="Text 8"/>
          <p:cNvSpPr txBox="1"/>
          <p:nvPr/>
        </p:nvSpPr>
        <p:spPr>
          <a:xfrm>
            <a:off x="685800" y="2057400"/>
            <a:ext cx="3429000" cy="2514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EDF1EE"/>
                </a:solidFill>
                <a:latin typeface="Calibri" pitchFamily="34" charset="0"/>
                <a:ea typeface="Calibri" pitchFamily="34" charset="-122"/>
                <a:cs typeface="Calibri" pitchFamily="34" charset="-120"/>
              </a:rPr>
              <a:t>Der Verkäufer kennt das Unternehmen besser als jeder Käufer.</a:t>
            </a:r>
            <a:endParaRPr lang="en-US" sz="1200" dirty="0"/>
          </a:p>
          <a:p>
            <a:pPr marL="177800" indent="-177800">
              <a:spcAft>
                <a:spcPts val="600"/>
              </a:spcAft>
              <a:buSzPct val="100000"/>
              <a:buChar char="•"/>
            </a:pPr>
            <a:r>
              <a:rPr lang="en-US" sz="1200" dirty="0">
                <a:solidFill>
                  <a:srgbClr val="EDF1EE"/>
                </a:solidFill>
                <a:latin typeface="Calibri" pitchFamily="34" charset="0"/>
                <a:ea typeface="Calibri" pitchFamily="34" charset="-122"/>
                <a:cs typeface="Calibri" pitchFamily="34" charset="-120"/>
              </a:rPr>
              <a:t>Der Business Plan im Datenraum ist optimistisch („Hockey Stick“).</a:t>
            </a:r>
            <a:endParaRPr lang="en-US" sz="1200" dirty="0"/>
          </a:p>
          <a:p>
            <a:pPr marL="177800" indent="-177800">
              <a:spcAft>
                <a:spcPts val="600"/>
              </a:spcAft>
              <a:buSzPct val="100000"/>
              <a:buChar char="•"/>
            </a:pPr>
            <a:r>
              <a:rPr lang="en-US" sz="1200" dirty="0">
                <a:solidFill>
                  <a:srgbClr val="EDF1EE"/>
                </a:solidFill>
                <a:latin typeface="Calibri" pitchFamily="34" charset="0"/>
                <a:ea typeface="Calibri" pitchFamily="34" charset="-122"/>
                <a:cs typeface="Calibri" pitchFamily="34" charset="-120"/>
              </a:rPr>
              <a:t>Die entscheidende Größe – das künftige Wachstum – lässt sich nur schätzen.</a:t>
            </a:r>
            <a:endParaRPr lang="en-US" sz="1200" dirty="0"/>
          </a:p>
          <a:p>
            <a:pPr marL="177800" indent="-177800">
              <a:spcAft>
                <a:spcPts val="600"/>
              </a:spcAft>
              <a:buSzPct val="100000"/>
              <a:buChar char="•"/>
            </a:pPr>
            <a:r>
              <a:rPr lang="en-US" sz="1200" dirty="0">
                <a:solidFill>
                  <a:srgbClr val="EDF1EE"/>
                </a:solidFill>
                <a:latin typeface="Calibri" pitchFamily="34" charset="0"/>
                <a:ea typeface="Calibri" pitchFamily="34" charset="-122"/>
                <a:cs typeface="Calibri" pitchFamily="34" charset="-120"/>
              </a:rPr>
              <a:t>Due Diligence kostet Zeit und Geld; sie verkleinert den Fehler, beseitigt ihn nie.</a:t>
            </a:r>
            <a:endParaRPr lang="en-US" sz="1200" dirty="0"/>
          </a:p>
        </p:txBody>
      </p:sp>
      <p:sp>
        <p:nvSpPr>
          <p:cNvPr id="12" name="Shape 9"/>
          <p:cNvSpPr/>
          <p:nvPr/>
        </p:nvSpPr>
        <p:spPr>
          <a:xfrm>
            <a:off x="4526280" y="1600200"/>
            <a:ext cx="7162495" cy="3017520"/>
          </a:xfrm>
          <a:prstGeom prst="roundRect">
            <a:avLst>
              <a:gd name="adj" fmla="val 2424"/>
            </a:avLst>
          </a:prstGeom>
          <a:solidFill>
            <a:srgbClr val="161F22"/>
          </a:solidFill>
          <a:ln w="9525">
            <a:solidFill>
              <a:srgbClr val="3B82F6"/>
            </a:solidFill>
            <a:prstDash val="solid"/>
          </a:ln>
        </p:spPr>
      </p:sp>
      <p:sp>
        <p:nvSpPr>
          <p:cNvPr id="13" name="Text 10"/>
          <p:cNvSpPr txBox="1"/>
          <p:nvPr/>
        </p:nvSpPr>
        <p:spPr>
          <a:xfrm>
            <a:off x="4709160" y="1737360"/>
            <a:ext cx="6796735" cy="228600"/>
          </a:xfrm>
          <a:prstGeom prst="rect">
            <a:avLst/>
          </a:prstGeom>
          <a:noFill/>
          <a:ln/>
        </p:spPr>
        <p:txBody>
          <a:bodyPr wrap="square" lIns="0" tIns="0" rIns="0" bIns="0" rtlCol="0" anchor="t"/>
          <a:lstStyle/>
          <a:p>
            <a:pPr algn="l" indent="0" marL="0">
              <a:buNone/>
            </a:pPr>
            <a:r>
              <a:rPr lang="en-US" sz="1000" b="1" spc="150" kern="0" dirty="0">
                <a:solidFill>
                  <a:srgbClr val="3B82F6"/>
                </a:solidFill>
                <a:latin typeface="Calibri" pitchFamily="34" charset="0"/>
                <a:ea typeface="Calibri" pitchFamily="34" charset="-122"/>
                <a:cs typeface="Calibri" pitchFamily="34" charset="-120"/>
              </a:rPr>
              <a:t>IM SPIEL: SCHÄTZUNG DES WACHSTUMSVORSPRUNGS (DRIFT)</a:t>
            </a:r>
            <a:endParaRPr lang="en-US" sz="1000" dirty="0"/>
          </a:p>
        </p:txBody>
      </p:sp>
      <p:sp>
        <p:nvSpPr>
          <p:cNvPr id="14" name="Text 11"/>
          <p:cNvSpPr txBox="1"/>
          <p:nvPr/>
        </p:nvSpPr>
        <p:spPr>
          <a:xfrm>
            <a:off x="4709160" y="2148840"/>
            <a:ext cx="1600200" cy="365760"/>
          </a:xfrm>
          <a:prstGeom prst="rect">
            <a:avLst/>
          </a:prstGeom>
          <a:noFill/>
          <a:ln/>
        </p:spPr>
        <p:txBody>
          <a:bodyPr wrap="square" lIns="0" tIns="0" rIns="0" bIns="0" rtlCol="0" anchor="ctr"/>
          <a:lstStyle/>
          <a:p>
            <a:pPr algn="l" indent="0" marL="0">
              <a:buNone/>
            </a:pPr>
            <a:r>
              <a:rPr lang="en-US" sz="1150" b="1" dirty="0">
                <a:solidFill>
                  <a:srgbClr val="EDF1EE"/>
                </a:solidFill>
                <a:latin typeface="Calibri" pitchFamily="34" charset="0"/>
                <a:ea typeface="Calibri" pitchFamily="34" charset="-122"/>
                <a:cs typeface="Calibri" pitchFamily="34" charset="-120"/>
              </a:rPr>
              <a:t>ohne Due Diligence</a:t>
            </a:r>
            <a:endParaRPr lang="en-US" sz="1150" dirty="0"/>
          </a:p>
        </p:txBody>
      </p:sp>
      <p:sp>
        <p:nvSpPr>
          <p:cNvPr id="15" name="Shape 12"/>
          <p:cNvSpPr/>
          <p:nvPr/>
        </p:nvSpPr>
        <p:spPr>
          <a:xfrm>
            <a:off x="6355080" y="2322576"/>
            <a:ext cx="5013655" cy="18288"/>
          </a:xfrm>
          <a:prstGeom prst="rect">
            <a:avLst/>
          </a:prstGeom>
          <a:solidFill>
            <a:srgbClr val="243033"/>
          </a:solidFill>
          <a:ln/>
        </p:spPr>
      </p:sp>
      <p:sp>
        <p:nvSpPr>
          <p:cNvPr id="16" name="Text 13"/>
          <p:cNvSpPr txBox="1"/>
          <p:nvPr/>
        </p:nvSpPr>
        <p:spPr>
          <a:xfrm>
            <a:off x="6355080" y="2148840"/>
            <a:ext cx="5013655" cy="365760"/>
          </a:xfrm>
          <a:prstGeom prst="rect">
            <a:avLst/>
          </a:prstGeom>
          <a:noFill/>
          <a:ln/>
        </p:spPr>
        <p:txBody>
          <a:bodyPr wrap="square" lIns="0" tIns="0" rIns="0" bIns="0" rtlCol="0" anchor="ctr"/>
          <a:lstStyle/>
          <a:p>
            <a:pPr algn="l" indent="0" marL="0">
              <a:buNone/>
            </a:pPr>
            <a:r>
              <a:rPr lang="en-US" sz="1100" dirty="0">
                <a:solidFill>
                  <a:srgbClr val="8E9C9B"/>
                </a:solidFill>
                <a:latin typeface="Calibri" pitchFamily="34" charset="0"/>
                <a:ea typeface="Calibri" pitchFamily="34" charset="-122"/>
                <a:cs typeface="Calibri" pitchFamily="34" charset="-120"/>
              </a:rPr>
              <a:t>keine Schätzung – nur die Historie auf der Karte</a:t>
            </a:r>
            <a:endParaRPr lang="en-US" sz="1100" dirty="0"/>
          </a:p>
        </p:txBody>
      </p:sp>
      <p:sp>
        <p:nvSpPr>
          <p:cNvPr id="17" name="Text 14"/>
          <p:cNvSpPr txBox="1"/>
          <p:nvPr/>
        </p:nvSpPr>
        <p:spPr>
          <a:xfrm>
            <a:off x="4709160" y="2624328"/>
            <a:ext cx="1600200" cy="365760"/>
          </a:xfrm>
          <a:prstGeom prst="rect">
            <a:avLst/>
          </a:prstGeom>
          <a:noFill/>
          <a:ln/>
        </p:spPr>
        <p:txBody>
          <a:bodyPr wrap="square" lIns="0" tIns="0" rIns="0" bIns="0" rtlCol="0" anchor="ctr"/>
          <a:lstStyle/>
          <a:p>
            <a:pPr algn="l" indent="0" marL="0">
              <a:buNone/>
            </a:pPr>
            <a:r>
              <a:rPr lang="en-US" sz="1150" b="1" dirty="0">
                <a:solidFill>
                  <a:srgbClr val="EDF1EE"/>
                </a:solidFill>
                <a:latin typeface="Calibri" pitchFamily="34" charset="0"/>
                <a:ea typeface="Calibri" pitchFamily="34" charset="-122"/>
                <a:cs typeface="Calibri" pitchFamily="34" charset="-120"/>
              </a:rPr>
              <a:t>Due Diligence 1</a:t>
            </a:r>
            <a:endParaRPr lang="en-US" sz="1150" dirty="0"/>
          </a:p>
        </p:txBody>
      </p:sp>
      <p:sp>
        <p:nvSpPr>
          <p:cNvPr id="18" name="Shape 15"/>
          <p:cNvSpPr/>
          <p:nvPr/>
        </p:nvSpPr>
        <p:spPr>
          <a:xfrm>
            <a:off x="6355080" y="2798064"/>
            <a:ext cx="5013655" cy="18288"/>
          </a:xfrm>
          <a:prstGeom prst="rect">
            <a:avLst/>
          </a:prstGeom>
          <a:solidFill>
            <a:srgbClr val="243033"/>
          </a:solidFill>
          <a:ln/>
        </p:spPr>
      </p:sp>
      <p:sp>
        <p:nvSpPr>
          <p:cNvPr id="19" name="Shape 16"/>
          <p:cNvSpPr/>
          <p:nvPr/>
        </p:nvSpPr>
        <p:spPr>
          <a:xfrm>
            <a:off x="7695941" y="2697480"/>
            <a:ext cx="3264706" cy="219456"/>
          </a:xfrm>
          <a:prstGeom prst="roundRect">
            <a:avLst>
              <a:gd name="adj" fmla="val 25000"/>
            </a:avLst>
          </a:prstGeom>
          <a:solidFill>
            <a:srgbClr val="3B82F6">
              <a:alpha val="65000"/>
            </a:srgbClr>
          </a:solidFill>
          <a:ln/>
        </p:spPr>
      </p:sp>
      <p:sp>
        <p:nvSpPr>
          <p:cNvPr id="20" name="Shape 17"/>
          <p:cNvSpPr/>
          <p:nvPr/>
        </p:nvSpPr>
        <p:spPr>
          <a:xfrm>
            <a:off x="9255142" y="2734056"/>
            <a:ext cx="146304" cy="146304"/>
          </a:xfrm>
          <a:prstGeom prst="ellipse">
            <a:avLst/>
          </a:prstGeom>
          <a:solidFill>
            <a:srgbClr val="EDF1EE"/>
          </a:solidFill>
          <a:ln/>
        </p:spPr>
      </p:sp>
      <p:sp>
        <p:nvSpPr>
          <p:cNvPr id="21" name="Text 18"/>
          <p:cNvSpPr txBox="1"/>
          <p:nvPr/>
        </p:nvSpPr>
        <p:spPr>
          <a:xfrm>
            <a:off x="11015511" y="2624328"/>
            <a:ext cx="822960" cy="365760"/>
          </a:xfrm>
          <a:prstGeom prst="rect">
            <a:avLst/>
          </a:prstGeom>
          <a:noFill/>
          <a:ln/>
        </p:spPr>
        <p:txBody>
          <a:bodyPr wrap="square" lIns="0" tIns="0" rIns="0" bIns="0" rtlCol="0" anchor="ctr"/>
          <a:lstStyle/>
          <a:p>
            <a:pPr algn="l" indent="0" marL="0">
              <a:buNone/>
            </a:pPr>
            <a:r>
              <a:rPr lang="en-US" sz="1000" dirty="0">
                <a:solidFill>
                  <a:srgbClr val="8E9C9B"/>
                </a:solidFill>
                <a:latin typeface="Calibri" pitchFamily="34" charset="0"/>
                <a:ea typeface="Calibri" pitchFamily="34" charset="-122"/>
                <a:cs typeface="Calibri" pitchFamily="34" charset="-120"/>
              </a:rPr>
              <a:t>± 2,8 pp</a:t>
            </a:r>
            <a:endParaRPr lang="en-US" sz="1000" dirty="0"/>
          </a:p>
        </p:txBody>
      </p:sp>
      <p:sp>
        <p:nvSpPr>
          <p:cNvPr id="22" name="Text 19"/>
          <p:cNvSpPr txBox="1"/>
          <p:nvPr/>
        </p:nvSpPr>
        <p:spPr>
          <a:xfrm>
            <a:off x="4709160" y="3099816"/>
            <a:ext cx="1600200" cy="365760"/>
          </a:xfrm>
          <a:prstGeom prst="rect">
            <a:avLst/>
          </a:prstGeom>
          <a:noFill/>
          <a:ln/>
        </p:spPr>
        <p:txBody>
          <a:bodyPr wrap="square" lIns="0" tIns="0" rIns="0" bIns="0" rtlCol="0" anchor="ctr"/>
          <a:lstStyle/>
          <a:p>
            <a:pPr algn="l" indent="0" marL="0">
              <a:buNone/>
            </a:pPr>
            <a:r>
              <a:rPr lang="en-US" sz="1150" b="1" dirty="0">
                <a:solidFill>
                  <a:srgbClr val="EDF1EE"/>
                </a:solidFill>
                <a:latin typeface="Calibri" pitchFamily="34" charset="0"/>
                <a:ea typeface="Calibri" pitchFamily="34" charset="-122"/>
                <a:cs typeface="Calibri" pitchFamily="34" charset="-120"/>
              </a:rPr>
              <a:t>Due Diligence 3</a:t>
            </a:r>
            <a:endParaRPr lang="en-US" sz="1150" dirty="0"/>
          </a:p>
        </p:txBody>
      </p:sp>
      <p:sp>
        <p:nvSpPr>
          <p:cNvPr id="23" name="Shape 20"/>
          <p:cNvSpPr/>
          <p:nvPr/>
        </p:nvSpPr>
        <p:spPr>
          <a:xfrm>
            <a:off x="6355080" y="3273552"/>
            <a:ext cx="5013655" cy="18288"/>
          </a:xfrm>
          <a:prstGeom prst="rect">
            <a:avLst/>
          </a:prstGeom>
          <a:solidFill>
            <a:srgbClr val="243033"/>
          </a:solidFill>
          <a:ln/>
        </p:spPr>
      </p:sp>
      <p:sp>
        <p:nvSpPr>
          <p:cNvPr id="24" name="Shape 21"/>
          <p:cNvSpPr/>
          <p:nvPr/>
        </p:nvSpPr>
        <p:spPr>
          <a:xfrm>
            <a:off x="8162328" y="3172968"/>
            <a:ext cx="1632353" cy="219456"/>
          </a:xfrm>
          <a:prstGeom prst="roundRect">
            <a:avLst>
              <a:gd name="adj" fmla="val 25000"/>
            </a:avLst>
          </a:prstGeom>
          <a:solidFill>
            <a:srgbClr val="3B82F6">
              <a:alpha val="65000"/>
            </a:srgbClr>
          </a:solidFill>
          <a:ln/>
        </p:spPr>
      </p:sp>
      <p:sp>
        <p:nvSpPr>
          <p:cNvPr id="25" name="Shape 22"/>
          <p:cNvSpPr/>
          <p:nvPr/>
        </p:nvSpPr>
        <p:spPr>
          <a:xfrm>
            <a:off x="8905352" y="3209544"/>
            <a:ext cx="146304" cy="146304"/>
          </a:xfrm>
          <a:prstGeom prst="ellipse">
            <a:avLst/>
          </a:prstGeom>
          <a:solidFill>
            <a:srgbClr val="EDF1EE"/>
          </a:solidFill>
          <a:ln/>
        </p:spPr>
      </p:sp>
      <p:sp>
        <p:nvSpPr>
          <p:cNvPr id="26" name="Text 23"/>
          <p:cNvSpPr txBox="1"/>
          <p:nvPr/>
        </p:nvSpPr>
        <p:spPr>
          <a:xfrm>
            <a:off x="9849545" y="3099816"/>
            <a:ext cx="822960" cy="365760"/>
          </a:xfrm>
          <a:prstGeom prst="rect">
            <a:avLst/>
          </a:prstGeom>
          <a:noFill/>
          <a:ln/>
        </p:spPr>
        <p:txBody>
          <a:bodyPr wrap="square" lIns="0" tIns="0" rIns="0" bIns="0" rtlCol="0" anchor="ctr"/>
          <a:lstStyle/>
          <a:p>
            <a:pPr algn="l" indent="0" marL="0">
              <a:buNone/>
            </a:pPr>
            <a:r>
              <a:rPr lang="en-US" sz="1000" dirty="0">
                <a:solidFill>
                  <a:srgbClr val="8E9C9B"/>
                </a:solidFill>
                <a:latin typeface="Calibri" pitchFamily="34" charset="0"/>
                <a:ea typeface="Calibri" pitchFamily="34" charset="-122"/>
                <a:cs typeface="Calibri" pitchFamily="34" charset="-120"/>
              </a:rPr>
              <a:t>± 1,4 pp</a:t>
            </a:r>
            <a:endParaRPr lang="en-US" sz="1000" dirty="0"/>
          </a:p>
        </p:txBody>
      </p:sp>
      <p:sp>
        <p:nvSpPr>
          <p:cNvPr id="27" name="Text 24"/>
          <p:cNvSpPr txBox="1"/>
          <p:nvPr/>
        </p:nvSpPr>
        <p:spPr>
          <a:xfrm>
            <a:off x="4709160" y="3575304"/>
            <a:ext cx="1600200" cy="365760"/>
          </a:xfrm>
          <a:prstGeom prst="rect">
            <a:avLst/>
          </a:prstGeom>
          <a:noFill/>
          <a:ln/>
        </p:spPr>
        <p:txBody>
          <a:bodyPr wrap="square" lIns="0" tIns="0" rIns="0" bIns="0" rtlCol="0" anchor="ctr"/>
          <a:lstStyle/>
          <a:p>
            <a:pPr algn="l" indent="0" marL="0">
              <a:buNone/>
            </a:pPr>
            <a:r>
              <a:rPr lang="en-US" sz="1150" b="1" dirty="0">
                <a:solidFill>
                  <a:srgbClr val="EDF1EE"/>
                </a:solidFill>
                <a:latin typeface="Calibri" pitchFamily="34" charset="0"/>
                <a:ea typeface="Calibri" pitchFamily="34" charset="-122"/>
                <a:cs typeface="Calibri" pitchFamily="34" charset="-120"/>
              </a:rPr>
              <a:t>Due Diligence 5</a:t>
            </a:r>
            <a:endParaRPr lang="en-US" sz="1150" dirty="0"/>
          </a:p>
        </p:txBody>
      </p:sp>
      <p:sp>
        <p:nvSpPr>
          <p:cNvPr id="28" name="Shape 25"/>
          <p:cNvSpPr/>
          <p:nvPr/>
        </p:nvSpPr>
        <p:spPr>
          <a:xfrm>
            <a:off x="6355080" y="3749040"/>
            <a:ext cx="5013655" cy="18288"/>
          </a:xfrm>
          <a:prstGeom prst="rect">
            <a:avLst/>
          </a:prstGeom>
          <a:solidFill>
            <a:srgbClr val="243033"/>
          </a:solidFill>
          <a:ln/>
        </p:spPr>
      </p:sp>
      <p:sp>
        <p:nvSpPr>
          <p:cNvPr id="29" name="Shape 26"/>
          <p:cNvSpPr/>
          <p:nvPr/>
        </p:nvSpPr>
        <p:spPr>
          <a:xfrm>
            <a:off x="8628714" y="3648456"/>
            <a:ext cx="233193" cy="219456"/>
          </a:xfrm>
          <a:prstGeom prst="roundRect">
            <a:avLst>
              <a:gd name="adj" fmla="val 25000"/>
            </a:avLst>
          </a:prstGeom>
          <a:solidFill>
            <a:srgbClr val="3B82F6">
              <a:alpha val="65000"/>
            </a:srgbClr>
          </a:solidFill>
          <a:ln/>
        </p:spPr>
      </p:sp>
      <p:sp>
        <p:nvSpPr>
          <p:cNvPr id="30" name="Shape 27"/>
          <p:cNvSpPr/>
          <p:nvPr/>
        </p:nvSpPr>
        <p:spPr>
          <a:xfrm>
            <a:off x="8672159" y="3685032"/>
            <a:ext cx="146304" cy="146304"/>
          </a:xfrm>
          <a:prstGeom prst="ellipse">
            <a:avLst/>
          </a:prstGeom>
          <a:solidFill>
            <a:srgbClr val="EDF1EE"/>
          </a:solidFill>
          <a:ln/>
        </p:spPr>
      </p:sp>
      <p:sp>
        <p:nvSpPr>
          <p:cNvPr id="31" name="Text 28"/>
          <p:cNvSpPr txBox="1"/>
          <p:nvPr/>
        </p:nvSpPr>
        <p:spPr>
          <a:xfrm>
            <a:off x="8916772" y="3575304"/>
            <a:ext cx="822960" cy="365760"/>
          </a:xfrm>
          <a:prstGeom prst="rect">
            <a:avLst/>
          </a:prstGeom>
          <a:noFill/>
          <a:ln/>
        </p:spPr>
        <p:txBody>
          <a:bodyPr wrap="square" lIns="0" tIns="0" rIns="0" bIns="0" rtlCol="0" anchor="ctr"/>
          <a:lstStyle/>
          <a:p>
            <a:pPr algn="l" indent="0" marL="0">
              <a:buNone/>
            </a:pPr>
            <a:r>
              <a:rPr lang="en-US" sz="1000" dirty="0">
                <a:solidFill>
                  <a:srgbClr val="8E9C9B"/>
                </a:solidFill>
                <a:latin typeface="Calibri" pitchFamily="34" charset="0"/>
                <a:ea typeface="Calibri" pitchFamily="34" charset="-122"/>
                <a:cs typeface="Calibri" pitchFamily="34" charset="-120"/>
              </a:rPr>
              <a:t>± 0,2 pp</a:t>
            </a:r>
            <a:endParaRPr lang="en-US" sz="1000" dirty="0"/>
          </a:p>
        </p:txBody>
      </p:sp>
      <p:sp>
        <p:nvSpPr>
          <p:cNvPr id="32" name="Shape 29"/>
          <p:cNvSpPr/>
          <p:nvPr/>
        </p:nvSpPr>
        <p:spPr>
          <a:xfrm>
            <a:off x="8687013" y="2578608"/>
            <a:ext cx="0" cy="1490472"/>
          </a:xfrm>
          <a:prstGeom prst="line">
            <a:avLst/>
          </a:prstGeom>
          <a:noFill/>
          <a:ln w="15875">
            <a:solidFill>
              <a:srgbClr val="DCB264"/>
            </a:solidFill>
            <a:prstDash val="dash"/>
          </a:ln>
        </p:spPr>
      </p:sp>
      <p:sp>
        <p:nvSpPr>
          <p:cNvPr id="33" name="Text 30"/>
          <p:cNvSpPr txBox="1"/>
          <p:nvPr/>
        </p:nvSpPr>
        <p:spPr>
          <a:xfrm>
            <a:off x="7772613" y="4087368"/>
            <a:ext cx="1828800" cy="228600"/>
          </a:xfrm>
          <a:prstGeom prst="rect">
            <a:avLst/>
          </a:prstGeom>
          <a:noFill/>
          <a:ln/>
        </p:spPr>
        <p:txBody>
          <a:bodyPr wrap="square" lIns="0" tIns="0" rIns="0" bIns="0" rtlCol="0" anchor="t"/>
          <a:lstStyle/>
          <a:p>
            <a:pPr algn="ctr" indent="0" marL="0">
              <a:buNone/>
            </a:pPr>
            <a:r>
              <a:rPr lang="en-US" sz="1000" b="1" dirty="0">
                <a:solidFill>
                  <a:srgbClr val="DCB264"/>
                </a:solidFill>
                <a:latin typeface="Calibri" pitchFamily="34" charset="0"/>
                <a:ea typeface="Calibri" pitchFamily="34" charset="-122"/>
                <a:cs typeface="Calibri" pitchFamily="34" charset="-120"/>
              </a:rPr>
              <a:t>wahrer Wert (verdeckt)</a:t>
            </a:r>
            <a:endParaRPr lang="en-US" sz="1000" dirty="0"/>
          </a:p>
        </p:txBody>
      </p:sp>
      <p:sp>
        <p:nvSpPr>
          <p:cNvPr id="34" name="Text 31"/>
          <p:cNvSpPr txBox="1"/>
          <p:nvPr/>
        </p:nvSpPr>
        <p:spPr>
          <a:xfrm>
            <a:off x="6572303" y="4315968"/>
            <a:ext cx="731520" cy="201168"/>
          </a:xfrm>
          <a:prstGeom prst="rect">
            <a:avLst/>
          </a:prstGeom>
          <a:noFill/>
          <a:ln/>
        </p:spPr>
        <p:txBody>
          <a:bodyPr wrap="square" lIns="0" tIns="0" rIns="0" bIns="0" rtlCol="0" anchor="t"/>
          <a:lstStyle/>
          <a:p>
            <a:pPr algn="ctr" indent="0" marL="0">
              <a:buNone/>
            </a:pPr>
            <a:r>
              <a:rPr lang="en-US" sz="900" dirty="0">
                <a:solidFill>
                  <a:srgbClr val="8E9C9B"/>
                </a:solidFill>
                <a:latin typeface="Calibri" pitchFamily="34" charset="0"/>
                <a:ea typeface="Calibri" pitchFamily="34" charset="-122"/>
                <a:cs typeface="Calibri" pitchFamily="34" charset="-120"/>
              </a:rPr>
              <a:t>-2 pp</a:t>
            </a:r>
            <a:endParaRPr lang="en-US" sz="900" dirty="0"/>
          </a:p>
        </p:txBody>
      </p:sp>
      <p:sp>
        <p:nvSpPr>
          <p:cNvPr id="35" name="Text 32"/>
          <p:cNvSpPr txBox="1"/>
          <p:nvPr/>
        </p:nvSpPr>
        <p:spPr>
          <a:xfrm>
            <a:off x="7738269" y="4315968"/>
            <a:ext cx="731520" cy="201168"/>
          </a:xfrm>
          <a:prstGeom prst="rect">
            <a:avLst/>
          </a:prstGeom>
          <a:noFill/>
          <a:ln/>
        </p:spPr>
        <p:txBody>
          <a:bodyPr wrap="square" lIns="0" tIns="0" rIns="0" bIns="0" rtlCol="0" anchor="t"/>
          <a:lstStyle/>
          <a:p>
            <a:pPr algn="ctr" indent="0" marL="0">
              <a:buNone/>
            </a:pPr>
            <a:r>
              <a:rPr lang="en-US" sz="900" dirty="0">
                <a:solidFill>
                  <a:srgbClr val="8E9C9B"/>
                </a:solidFill>
                <a:latin typeface="Calibri" pitchFamily="34" charset="0"/>
                <a:ea typeface="Calibri" pitchFamily="34" charset="-122"/>
                <a:cs typeface="Calibri" pitchFamily="34" charset="-120"/>
              </a:rPr>
              <a:t>0 pp</a:t>
            </a:r>
            <a:endParaRPr lang="en-US" sz="900" dirty="0"/>
          </a:p>
        </p:txBody>
      </p:sp>
      <p:sp>
        <p:nvSpPr>
          <p:cNvPr id="36" name="Text 33"/>
          <p:cNvSpPr txBox="1"/>
          <p:nvPr/>
        </p:nvSpPr>
        <p:spPr>
          <a:xfrm>
            <a:off x="8904236" y="4315968"/>
            <a:ext cx="731520" cy="201168"/>
          </a:xfrm>
          <a:prstGeom prst="rect">
            <a:avLst/>
          </a:prstGeom>
          <a:noFill/>
          <a:ln/>
        </p:spPr>
        <p:txBody>
          <a:bodyPr wrap="square" lIns="0" tIns="0" rIns="0" bIns="0" rtlCol="0" anchor="t"/>
          <a:lstStyle/>
          <a:p>
            <a:pPr algn="ctr" indent="0" marL="0">
              <a:buNone/>
            </a:pPr>
            <a:r>
              <a:rPr lang="en-US" sz="900" dirty="0">
                <a:solidFill>
                  <a:srgbClr val="8E9C9B"/>
                </a:solidFill>
                <a:latin typeface="Calibri" pitchFamily="34" charset="0"/>
                <a:ea typeface="Calibri" pitchFamily="34" charset="-122"/>
                <a:cs typeface="Calibri" pitchFamily="34" charset="-120"/>
              </a:rPr>
              <a:t>+2 pp</a:t>
            </a:r>
            <a:endParaRPr lang="en-US" sz="900" dirty="0"/>
          </a:p>
        </p:txBody>
      </p:sp>
      <p:sp>
        <p:nvSpPr>
          <p:cNvPr id="37" name="Text 34"/>
          <p:cNvSpPr txBox="1"/>
          <p:nvPr/>
        </p:nvSpPr>
        <p:spPr>
          <a:xfrm>
            <a:off x="10070202" y="4315968"/>
            <a:ext cx="731520" cy="201168"/>
          </a:xfrm>
          <a:prstGeom prst="rect">
            <a:avLst/>
          </a:prstGeom>
          <a:noFill/>
          <a:ln/>
        </p:spPr>
        <p:txBody>
          <a:bodyPr wrap="square" lIns="0" tIns="0" rIns="0" bIns="0" rtlCol="0" anchor="t"/>
          <a:lstStyle/>
          <a:p>
            <a:pPr algn="ctr" indent="0" marL="0">
              <a:buNone/>
            </a:pPr>
            <a:r>
              <a:rPr lang="en-US" sz="900" dirty="0">
                <a:solidFill>
                  <a:srgbClr val="8E9C9B"/>
                </a:solidFill>
                <a:latin typeface="Calibri" pitchFamily="34" charset="0"/>
                <a:ea typeface="Calibri" pitchFamily="34" charset="-122"/>
                <a:cs typeface="Calibri" pitchFamily="34" charset="-120"/>
              </a:rPr>
              <a:t>+4 pp</a:t>
            </a:r>
            <a:endParaRPr lang="en-US" sz="900" dirty="0"/>
          </a:p>
        </p:txBody>
      </p:sp>
      <p:sp>
        <p:nvSpPr>
          <p:cNvPr id="38" name="Shape 35"/>
          <p:cNvSpPr/>
          <p:nvPr/>
        </p:nvSpPr>
        <p:spPr>
          <a:xfrm>
            <a:off x="502920" y="4800600"/>
            <a:ext cx="2659304" cy="1051560"/>
          </a:xfrm>
          <a:prstGeom prst="roundRect">
            <a:avLst>
              <a:gd name="adj" fmla="val 6957"/>
            </a:avLst>
          </a:prstGeom>
          <a:solidFill>
            <a:srgbClr val="161F22"/>
          </a:solidFill>
          <a:ln w="9525">
            <a:solidFill>
              <a:srgbClr val="243033"/>
            </a:solidFill>
            <a:prstDash val="solid"/>
          </a:ln>
        </p:spPr>
      </p:sp>
      <p:sp>
        <p:nvSpPr>
          <p:cNvPr id="39" name="Text 36"/>
          <p:cNvSpPr txBox="1"/>
          <p:nvPr/>
        </p:nvSpPr>
        <p:spPr>
          <a:xfrm>
            <a:off x="667512" y="4864608"/>
            <a:ext cx="2384984" cy="384048"/>
          </a:xfrm>
          <a:prstGeom prst="rect">
            <a:avLst/>
          </a:prstGeom>
          <a:noFill/>
          <a:ln/>
        </p:spPr>
        <p:txBody>
          <a:bodyPr wrap="square" lIns="0" tIns="0" rIns="0" bIns="0" rtlCol="0" anchor="t"/>
          <a:lstStyle/>
          <a:p>
            <a:pPr algn="l" indent="0" marL="0">
              <a:buNone/>
            </a:pPr>
            <a:r>
              <a:rPr lang="en-US" sz="1600" b="1" dirty="0">
                <a:solidFill>
                  <a:srgbClr val="DCB264"/>
                </a:solidFill>
                <a:latin typeface="Calibri" pitchFamily="34" charset="0"/>
                <a:ea typeface="Calibri" pitchFamily="34" charset="-122"/>
                <a:cs typeface="Calibri" pitchFamily="34" charset="-120"/>
              </a:rPr>
              <a:t>0,6 % des EV</a:t>
            </a:r>
            <a:endParaRPr lang="en-US" sz="1600" dirty="0"/>
          </a:p>
        </p:txBody>
      </p:sp>
      <p:sp>
        <p:nvSpPr>
          <p:cNvPr id="40" name="Text 37"/>
          <p:cNvSpPr txBox="1"/>
          <p:nvPr/>
        </p:nvSpPr>
        <p:spPr>
          <a:xfrm>
            <a:off x="667512" y="5266944"/>
            <a:ext cx="2384984" cy="548640"/>
          </a:xfrm>
          <a:prstGeom prst="rect">
            <a:avLst/>
          </a:prstGeom>
          <a:noFill/>
          <a:ln/>
        </p:spPr>
        <p:txBody>
          <a:bodyPr wrap="square" lIns="0" tIns="0" rIns="0" bIns="0" rtlCol="0" anchor="t"/>
          <a:lstStyle/>
          <a:p>
            <a:pPr algn="l" indent="0" marL="0">
              <a:buNone/>
            </a:pPr>
            <a:r>
              <a:rPr lang="en-US" sz="1100" dirty="0">
                <a:solidFill>
                  <a:srgbClr val="EDF1EE"/>
                </a:solidFill>
                <a:latin typeface="Calibri" pitchFamily="34" charset="0"/>
                <a:ea typeface="Calibri" pitchFamily="34" charset="-122"/>
                <a:cs typeface="Calibri" pitchFamily="34" charset="-120"/>
              </a:rPr>
              <a:t>Kosten je Due Diligence – fällig auch bei verlorenem Deal</a:t>
            </a:r>
            <a:endParaRPr lang="en-US" sz="1100" dirty="0"/>
          </a:p>
        </p:txBody>
      </p:sp>
      <p:sp>
        <p:nvSpPr>
          <p:cNvPr id="41" name="Shape 38"/>
          <p:cNvSpPr/>
          <p:nvPr/>
        </p:nvSpPr>
        <p:spPr>
          <a:xfrm>
            <a:off x="3345104" y="4800600"/>
            <a:ext cx="2659304" cy="1051560"/>
          </a:xfrm>
          <a:prstGeom prst="roundRect">
            <a:avLst>
              <a:gd name="adj" fmla="val 6957"/>
            </a:avLst>
          </a:prstGeom>
          <a:solidFill>
            <a:srgbClr val="161F22"/>
          </a:solidFill>
          <a:ln w="9525">
            <a:solidFill>
              <a:srgbClr val="243033"/>
            </a:solidFill>
            <a:prstDash val="solid"/>
          </a:ln>
        </p:spPr>
      </p:sp>
      <p:sp>
        <p:nvSpPr>
          <p:cNvPr id="42" name="Text 39"/>
          <p:cNvSpPr txBox="1"/>
          <p:nvPr/>
        </p:nvSpPr>
        <p:spPr>
          <a:xfrm>
            <a:off x="3509696" y="4864608"/>
            <a:ext cx="2384984" cy="384048"/>
          </a:xfrm>
          <a:prstGeom prst="rect">
            <a:avLst/>
          </a:prstGeom>
          <a:noFill/>
          <a:ln/>
        </p:spPr>
        <p:txBody>
          <a:bodyPr wrap="square" lIns="0" tIns="0" rIns="0" bIns="0" rtlCol="0" anchor="t"/>
          <a:lstStyle/>
          <a:p>
            <a:pPr algn="l" indent="0" marL="0">
              <a:buNone/>
            </a:pPr>
            <a:r>
              <a:rPr lang="en-US" sz="1600" b="1" dirty="0">
                <a:solidFill>
                  <a:srgbClr val="DCB264"/>
                </a:solidFill>
                <a:latin typeface="Calibri" pitchFamily="34" charset="0"/>
                <a:ea typeface="Calibri" pitchFamily="34" charset="-122"/>
                <a:cs typeface="Calibri" pitchFamily="34" charset="-120"/>
              </a:rPr>
              <a:t>1 + DD / 2</a:t>
            </a:r>
            <a:endParaRPr lang="en-US" sz="1600" dirty="0"/>
          </a:p>
        </p:txBody>
      </p:sp>
      <p:sp>
        <p:nvSpPr>
          <p:cNvPr id="43" name="Text 40"/>
          <p:cNvSpPr txBox="1"/>
          <p:nvPr/>
        </p:nvSpPr>
        <p:spPr>
          <a:xfrm>
            <a:off x="3509696" y="5266944"/>
            <a:ext cx="2384984" cy="548640"/>
          </a:xfrm>
          <a:prstGeom prst="rect">
            <a:avLst/>
          </a:prstGeom>
          <a:noFill/>
          <a:ln/>
        </p:spPr>
        <p:txBody>
          <a:bodyPr wrap="square" lIns="0" tIns="0" rIns="0" bIns="0" rtlCol="0" anchor="t"/>
          <a:lstStyle/>
          <a:p>
            <a:pPr algn="l" indent="0" marL="0">
              <a:buNone/>
            </a:pPr>
            <a:r>
              <a:rPr lang="en-US" sz="1100" dirty="0">
                <a:solidFill>
                  <a:srgbClr val="EDF1EE"/>
                </a:solidFill>
                <a:latin typeface="Calibri" pitchFamily="34" charset="0"/>
                <a:ea typeface="Calibri" pitchFamily="34" charset="-122"/>
                <a:cs typeface="Calibri" pitchFamily="34" charset="-120"/>
              </a:rPr>
              <a:t>DD-Prozesse parallel: das Deal-Team ist knapp</a:t>
            </a:r>
            <a:endParaRPr lang="en-US" sz="1100" dirty="0"/>
          </a:p>
        </p:txBody>
      </p:sp>
      <p:sp>
        <p:nvSpPr>
          <p:cNvPr id="44" name="Shape 41"/>
          <p:cNvSpPr/>
          <p:nvPr/>
        </p:nvSpPr>
        <p:spPr>
          <a:xfrm>
            <a:off x="6187288" y="4800600"/>
            <a:ext cx="2659304" cy="1051560"/>
          </a:xfrm>
          <a:prstGeom prst="roundRect">
            <a:avLst>
              <a:gd name="adj" fmla="val 6957"/>
            </a:avLst>
          </a:prstGeom>
          <a:solidFill>
            <a:srgbClr val="161F22"/>
          </a:solidFill>
          <a:ln w="9525">
            <a:solidFill>
              <a:srgbClr val="243033"/>
            </a:solidFill>
            <a:prstDash val="solid"/>
          </a:ln>
        </p:spPr>
      </p:sp>
      <p:sp>
        <p:nvSpPr>
          <p:cNvPr id="45" name="Text 42"/>
          <p:cNvSpPr txBox="1"/>
          <p:nvPr/>
        </p:nvSpPr>
        <p:spPr>
          <a:xfrm>
            <a:off x="6351880" y="4864608"/>
            <a:ext cx="2384984" cy="384048"/>
          </a:xfrm>
          <a:prstGeom prst="rect">
            <a:avLst/>
          </a:prstGeom>
          <a:noFill/>
          <a:ln/>
        </p:spPr>
        <p:txBody>
          <a:bodyPr wrap="square" lIns="0" tIns="0" rIns="0" bIns="0" rtlCol="0" anchor="t"/>
          <a:lstStyle/>
          <a:p>
            <a:pPr algn="l" indent="0" marL="0">
              <a:buNone/>
            </a:pPr>
            <a:r>
              <a:rPr lang="en-US" sz="1600" b="1" dirty="0">
                <a:solidFill>
                  <a:srgbClr val="DCB264"/>
                </a:solidFill>
                <a:latin typeface="Calibri" pitchFamily="34" charset="0"/>
                <a:ea typeface="Calibri" pitchFamily="34" charset="-122"/>
                <a:cs typeface="Calibri" pitchFamily="34" charset="-120"/>
              </a:rPr>
              <a:t>4,6 − 0,9 × DD</a:t>
            </a:r>
            <a:endParaRPr lang="en-US" sz="1600" dirty="0"/>
          </a:p>
        </p:txBody>
      </p:sp>
      <p:sp>
        <p:nvSpPr>
          <p:cNvPr id="46" name="Text 43"/>
          <p:cNvSpPr txBox="1"/>
          <p:nvPr/>
        </p:nvSpPr>
        <p:spPr>
          <a:xfrm>
            <a:off x="6351880" y="5266944"/>
            <a:ext cx="2384984" cy="548640"/>
          </a:xfrm>
          <a:prstGeom prst="rect">
            <a:avLst/>
          </a:prstGeom>
          <a:noFill/>
          <a:ln/>
        </p:spPr>
        <p:txBody>
          <a:bodyPr wrap="square" lIns="0" tIns="0" rIns="0" bIns="0" rtlCol="0" anchor="t"/>
          <a:lstStyle/>
          <a:p>
            <a:pPr algn="l" indent="0" marL="0">
              <a:buNone/>
            </a:pPr>
            <a:r>
              <a:rPr lang="en-US" sz="1100" dirty="0">
                <a:solidFill>
                  <a:srgbClr val="EDF1EE"/>
                </a:solidFill>
                <a:latin typeface="Calibri" pitchFamily="34" charset="0"/>
                <a:ea typeface="Calibri" pitchFamily="34" charset="-122"/>
                <a:cs typeface="Calibri" pitchFamily="34" charset="-120"/>
              </a:rPr>
              <a:t>Schätzfehler σ in pp p. a. (min. 0,3)</a:t>
            </a:r>
            <a:endParaRPr lang="en-US" sz="1100" dirty="0"/>
          </a:p>
        </p:txBody>
      </p:sp>
      <p:sp>
        <p:nvSpPr>
          <p:cNvPr id="47" name="Shape 44"/>
          <p:cNvSpPr/>
          <p:nvPr/>
        </p:nvSpPr>
        <p:spPr>
          <a:xfrm>
            <a:off x="9029471" y="4800600"/>
            <a:ext cx="2659304" cy="1051560"/>
          </a:xfrm>
          <a:prstGeom prst="roundRect">
            <a:avLst>
              <a:gd name="adj" fmla="val 6957"/>
            </a:avLst>
          </a:prstGeom>
          <a:solidFill>
            <a:srgbClr val="161F22"/>
          </a:solidFill>
          <a:ln w="9525">
            <a:solidFill>
              <a:srgbClr val="243033"/>
            </a:solidFill>
            <a:prstDash val="solid"/>
          </a:ln>
        </p:spPr>
      </p:sp>
      <p:sp>
        <p:nvSpPr>
          <p:cNvPr id="48" name="Text 45"/>
          <p:cNvSpPr txBox="1"/>
          <p:nvPr/>
        </p:nvSpPr>
        <p:spPr>
          <a:xfrm>
            <a:off x="9194063" y="4864608"/>
            <a:ext cx="2384984" cy="384048"/>
          </a:xfrm>
          <a:prstGeom prst="rect">
            <a:avLst/>
          </a:prstGeom>
          <a:noFill/>
          <a:ln/>
        </p:spPr>
        <p:txBody>
          <a:bodyPr wrap="square" lIns="0" tIns="0" rIns="0" bIns="0" rtlCol="0" anchor="t"/>
          <a:lstStyle/>
          <a:p>
            <a:pPr algn="l" indent="0" marL="0">
              <a:buNone/>
            </a:pPr>
            <a:r>
              <a:rPr lang="en-US" sz="1600" b="1" dirty="0">
                <a:solidFill>
                  <a:srgbClr val="DCB264"/>
                </a:solidFill>
                <a:latin typeface="Calibri" pitchFamily="34" charset="0"/>
                <a:ea typeface="Calibri" pitchFamily="34" charset="-122"/>
                <a:cs typeface="Calibri" pitchFamily="34" charset="-120"/>
              </a:rPr>
              <a:t>1 Mio. €</a:t>
            </a:r>
            <a:endParaRPr lang="en-US" sz="1600" dirty="0"/>
          </a:p>
        </p:txBody>
      </p:sp>
      <p:sp>
        <p:nvSpPr>
          <p:cNvPr id="49" name="Text 46"/>
          <p:cNvSpPr txBox="1"/>
          <p:nvPr/>
        </p:nvSpPr>
        <p:spPr>
          <a:xfrm>
            <a:off x="9194063" y="5266944"/>
            <a:ext cx="2384984" cy="548640"/>
          </a:xfrm>
          <a:prstGeom prst="rect">
            <a:avLst/>
          </a:prstGeom>
          <a:noFill/>
          <a:ln/>
        </p:spPr>
        <p:txBody>
          <a:bodyPr wrap="square" lIns="0" tIns="0" rIns="0" bIns="0" rtlCol="0" anchor="t"/>
          <a:lstStyle/>
          <a:p>
            <a:pPr algn="l" indent="0" marL="0">
              <a:buNone/>
            </a:pPr>
            <a:r>
              <a:rPr lang="en-US" sz="1100" dirty="0">
                <a:solidFill>
                  <a:srgbClr val="EDF1EE"/>
                </a:solidFill>
                <a:latin typeface="Calibri" pitchFamily="34" charset="0"/>
                <a:ea typeface="Calibri" pitchFamily="34" charset="-122"/>
                <a:cs typeface="Calibri" pitchFamily="34" charset="-120"/>
              </a:rPr>
              <a:t>Benchmarkstudie: Branchenmarge und Marktwachstum</a:t>
            </a:r>
            <a:endParaRPr lang="en-US" sz="1100" dirty="0"/>
          </a:p>
        </p:txBody>
      </p:sp>
      <p:sp>
        <p:nvSpPr>
          <p:cNvPr id="50" name="Text 47"/>
          <p:cNvSpPr txBox="1"/>
          <p:nvPr/>
        </p:nvSpPr>
        <p:spPr>
          <a:xfrm>
            <a:off x="502920" y="5989320"/>
            <a:ext cx="11185855" cy="274320"/>
          </a:xfrm>
          <a:prstGeom prst="rect">
            <a:avLst/>
          </a:prstGeom>
          <a:noFill/>
          <a:ln/>
        </p:spPr>
        <p:txBody>
          <a:bodyPr wrap="square" lIns="0" tIns="0" rIns="0" bIns="0" rtlCol="0" anchor="t"/>
          <a:lstStyle/>
          <a:p>
            <a:pPr algn="l" indent="0" marL="0">
              <a:buNone/>
            </a:pPr>
            <a:r>
              <a:rPr lang="en-US" sz="1100" dirty="0">
                <a:solidFill>
                  <a:srgbClr val="8E9C9B"/>
                </a:solidFill>
                <a:latin typeface="Calibri" pitchFamily="34" charset="0"/>
                <a:ea typeface="Calibri" pitchFamily="34" charset="-122"/>
                <a:cs typeface="Calibri" pitchFamily="34" charset="-120"/>
              </a:rPr>
              <a:t>Was die Due Diligence aufdecken soll – die Risikoflaggen – zeigt die nächste Folie.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3B82F6"/>
                </a:solidFill>
                <a:latin typeface="Calibri" pitchFamily="34" charset="0"/>
                <a:ea typeface="Calibri" pitchFamily="34" charset="-122"/>
                <a:cs typeface="Calibri" pitchFamily="34" charset="-120"/>
              </a:rPr>
              <a:t>DUE DILIGENCE · RISIKOFLAGGEN</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Risikoflaggen: was die Due Diligence aufdecken soll</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3B82F6"/>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3B82F6"/>
                </a:solidFill>
                <a:latin typeface="Calibri" pitchFamily="34" charset="0"/>
                <a:ea typeface="Calibri" pitchFamily="34" charset="-122"/>
                <a:cs typeface="Calibri" pitchFamily="34" charset="-120"/>
              </a:rPr>
              <a:t>B · DEAL SELECTION &amp; EXECUTION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7315200" cy="914400"/>
        </p:xfrm>
        <a:graphic>
          <a:graphicData uri="http://schemas.openxmlformats.org/drawingml/2006/table">
            <a:tbl>
              <a:tblPr/>
              <a:tblGrid>
                <a:gridCol w="1828800"/>
                <a:gridCol w="2514600"/>
                <a:gridCol w="2971800"/>
              </a:tblGrid>
              <a:tr h="658368">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Flagge</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In der Realität</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Im Spiel</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r>
              <a:tr h="658368">
                <a:tc>
                  <a:txBody>
                    <a:bodyPr/>
                    <a:lstStyle/>
                    <a:p>
                      <a:pPr algn="l" indent="0" marL="0">
                        <a:buNone/>
                      </a:pPr>
                      <a:r>
                        <a:rPr lang="en-US" sz="1100" b="1" dirty="0">
                          <a:solidFill>
                            <a:srgbClr val="E3897F"/>
                          </a:solidFill>
                          <a:latin typeface="Calibri" pitchFamily="34" charset="0"/>
                          <a:ea typeface="Calibri" pitchFamily="34" charset="-122"/>
                          <a:cs typeface="Calibri" pitchFamily="34" charset="-120"/>
                        </a:rPr>
                        <a:t>Kundenkonzentration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Wenige Großkunden tragen den Umsatz; ein Verlust trifft hart.</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Passendes Ereignis „Schlüsselkunde kündigt“: Umsatz −20 %, Wachstumsvorsprung −0,8 pp</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658368">
                <a:tc>
                  <a:txBody>
                    <a:bodyPr/>
                    <a:lstStyle/>
                    <a:p>
                      <a:pPr algn="l" indent="0" marL="0">
                        <a:buNone/>
                      </a:pPr>
                      <a:r>
                        <a:rPr lang="en-US" sz="1100" b="1" dirty="0">
                          <a:solidFill>
                            <a:srgbClr val="E3897F"/>
                          </a:solidFill>
                          <a:latin typeface="Calibri" pitchFamily="34" charset="0"/>
                          <a:ea typeface="Calibri" pitchFamily="34" charset="-122"/>
                          <a:cs typeface="Calibri" pitchFamily="34" charset="-120"/>
                        </a:rPr>
                        <a:t>Margendruck</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Preiswettbewerb; Kostensteigerungen lassen sich nicht weitergeben.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Passendes Ereignis „Wettbewerber senkt Preise“: Marge −2,5 pp, dauerhaft −1,5 pp</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658368">
                <a:tc>
                  <a:txBody>
                    <a:bodyPr/>
                    <a:lstStyle/>
                    <a:p>
                      <a:pPr algn="l" indent="0" marL="0">
                        <a:buNone/>
                      </a:pPr>
                      <a:r>
                        <a:rPr lang="en-US" sz="1100" b="1" dirty="0">
                          <a:solidFill>
                            <a:srgbClr val="E3897F"/>
                          </a:solidFill>
                          <a:latin typeface="Calibri" pitchFamily="34" charset="0"/>
                          <a:ea typeface="Calibri" pitchFamily="34" charset="-122"/>
                          <a:cs typeface="Calibri" pitchFamily="34" charset="-120"/>
                        </a:rPr>
                        <a:t>Investitionsstau</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Der Verkäufer hat Capex zurückgehalten; Anlagen sind veraltet.</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Passendes Ereignis „Investitionsstau aufgedeckt“: +0,8 × EBITDA Schuld, Capex-Quote +1,5 pp</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658368">
                <a:tc>
                  <a:txBody>
                    <a:bodyPr/>
                    <a:lstStyle/>
                    <a:p>
                      <a:pPr algn="l" indent="0" marL="0">
                        <a:buNone/>
                      </a:pPr>
                      <a:r>
                        <a:rPr lang="en-US" sz="1100" b="1" dirty="0">
                          <a:solidFill>
                            <a:srgbClr val="E3897F"/>
                          </a:solidFill>
                          <a:latin typeface="Calibri" pitchFamily="34" charset="0"/>
                          <a:ea typeface="Calibri" pitchFamily="34" charset="-122"/>
                          <a:cs typeface="Calibri" pitchFamily="34" charset="-120"/>
                        </a:rPr>
                        <a:t>Nachfolgesituation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Der Gründer will sich zurückziehen; Wissen hängt an einer Person.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Eigene Mechanik: starker CEO (Rating 3–4), der nach 3 Halbjahren geht – Nachfolge suchen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658368">
                <a:tc>
                  <a:txBody>
                    <a:bodyPr/>
                    <a:lstStyle/>
                    <a:p>
                      <a:pPr algn="l" indent="0" marL="0">
                        <a:buNone/>
                      </a:pPr>
                      <a:r>
                        <a:rPr lang="en-US" sz="1100" b="1" dirty="0">
                          <a:solidFill>
                            <a:srgbClr val="5FC4B1"/>
                          </a:solidFill>
                          <a:latin typeface="Calibri" pitchFamily="34" charset="0"/>
                          <a:ea typeface="Calibri" pitchFamily="34" charset="-122"/>
                          <a:cs typeface="Calibri" pitchFamily="34" charset="-120"/>
                        </a:rPr>
                        <a:t>Buy-&amp;-Build-Plattform</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Fragmentierter Markt, das Unternehmen kann Zukäufe integrieren.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Keine Warnung, sondern These: Wachstum über Add-on-Mandate</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bl>
          </a:graphicData>
        </a:graphic>
      </p:graphicFrame>
      <p:sp>
        <p:nvSpPr>
          <p:cNvPr id="10" name="Text 6"/>
          <p:cNvSpPr txBox="1"/>
          <p:nvPr/>
        </p:nvSpPr>
        <p:spPr>
          <a:xfrm>
            <a:off x="502920" y="5715000"/>
            <a:ext cx="7315200" cy="548640"/>
          </a:xfrm>
          <a:prstGeom prst="rect">
            <a:avLst/>
          </a:prstGeom>
          <a:noFill/>
          <a:ln/>
        </p:spPr>
        <p:txBody>
          <a:bodyPr wrap="square" lIns="0" tIns="0" rIns="0" bIns="0" rtlCol="0" anchor="t"/>
          <a:lstStyle/>
          <a:p>
            <a:pPr algn="l" indent="0" marL="0">
              <a:buNone/>
            </a:pPr>
            <a:r>
              <a:rPr lang="en-US" sz="1100" dirty="0">
                <a:solidFill>
                  <a:srgbClr val="8E9C9B"/>
                </a:solidFill>
                <a:latin typeface="Calibri" pitchFamily="34" charset="0"/>
                <a:ea typeface="Calibri" pitchFamily="34" charset="-122"/>
                <a:cs typeface="Calibri" pitchFamily="34" charset="-120"/>
              </a:rPr>
              <a:t>Die Flagge selbst verändert keine Zahl – sie benennt das Risiko des Geschäftsmodells. Ereignisse treten bei jeder Beteiligung mit 10 % je Halbjahr ein.</a:t>
            </a:r>
            <a:endParaRPr lang="en-US" sz="1100" dirty="0"/>
          </a:p>
        </p:txBody>
      </p:sp>
      <p:sp>
        <p:nvSpPr>
          <p:cNvPr id="11" name="Text 7"/>
          <p:cNvSpPr txBox="1"/>
          <p:nvPr/>
        </p:nvSpPr>
        <p:spPr>
          <a:xfrm>
            <a:off x="8092440" y="1600200"/>
            <a:ext cx="3593592" cy="228600"/>
          </a:xfrm>
          <a:prstGeom prst="rect">
            <a:avLst/>
          </a:prstGeom>
          <a:noFill/>
          <a:ln/>
        </p:spPr>
        <p:txBody>
          <a:bodyPr wrap="square" lIns="0" tIns="0" rIns="0" bIns="0" rtlCol="0" anchor="t"/>
          <a:lstStyle/>
          <a:p>
            <a:pPr algn="l" indent="0" marL="0">
              <a:buNone/>
            </a:pPr>
            <a:r>
              <a:rPr lang="en-US" sz="1000" b="1" spc="150" kern="0" dirty="0">
                <a:solidFill>
                  <a:srgbClr val="3B82F6"/>
                </a:solidFill>
                <a:latin typeface="Calibri" pitchFamily="34" charset="0"/>
                <a:ea typeface="Calibri" pitchFamily="34" charset="-122"/>
                <a:cs typeface="Calibri" pitchFamily="34" charset="-120"/>
              </a:rPr>
              <a:t>WAS DUE DILIGENCE DAGEGEN LEISTET</a:t>
            </a:r>
            <a:endParaRPr lang="en-US" sz="1000" dirty="0"/>
          </a:p>
        </p:txBody>
      </p:sp>
      <p:sp>
        <p:nvSpPr>
          <p:cNvPr id="12" name="Shape 8"/>
          <p:cNvSpPr/>
          <p:nvPr/>
        </p:nvSpPr>
        <p:spPr>
          <a:xfrm>
            <a:off x="8092440" y="1920240"/>
            <a:ext cx="3593592" cy="1280160"/>
          </a:xfrm>
          <a:prstGeom prst="roundRect">
            <a:avLst>
              <a:gd name="adj" fmla="val 5714"/>
            </a:avLst>
          </a:prstGeom>
          <a:solidFill>
            <a:srgbClr val="161F22"/>
          </a:solidFill>
          <a:ln w="9525">
            <a:solidFill>
              <a:srgbClr val="3B82F6"/>
            </a:solidFill>
            <a:prstDash val="solid"/>
          </a:ln>
        </p:spPr>
      </p:sp>
      <p:sp>
        <p:nvSpPr>
          <p:cNvPr id="13" name="Text 9"/>
          <p:cNvSpPr txBox="1"/>
          <p:nvPr/>
        </p:nvSpPr>
        <p:spPr>
          <a:xfrm>
            <a:off x="8257032" y="2011680"/>
            <a:ext cx="3291840" cy="320040"/>
          </a:xfrm>
          <a:prstGeom prst="rect">
            <a:avLst/>
          </a:prstGeom>
          <a:noFill/>
          <a:ln/>
        </p:spPr>
        <p:txBody>
          <a:bodyPr wrap="square" lIns="0" tIns="0" rIns="0" bIns="0" rtlCol="0" anchor="t"/>
          <a:lstStyle/>
          <a:p>
            <a:pPr algn="l" indent="0" marL="0">
              <a:buNone/>
            </a:pPr>
            <a:r>
              <a:rPr lang="en-US" sz="1350" b="1" dirty="0">
                <a:solidFill>
                  <a:srgbClr val="3B82F6"/>
                </a:solidFill>
                <a:latin typeface="Calibri" pitchFamily="34" charset="0"/>
                <a:ea typeface="Calibri" pitchFamily="34" charset="-122"/>
                <a:cs typeface="Calibri" pitchFamily="34" charset="-120"/>
              </a:rPr>
              <a:t>Sichtbarkeit</a:t>
            </a:r>
            <a:endParaRPr lang="en-US" sz="1350" dirty="0"/>
          </a:p>
        </p:txBody>
      </p:sp>
      <p:sp>
        <p:nvSpPr>
          <p:cNvPr id="14" name="Text 10"/>
          <p:cNvSpPr txBox="1"/>
          <p:nvPr/>
        </p:nvSpPr>
        <p:spPr>
          <a:xfrm>
            <a:off x="8257032" y="2350008"/>
            <a:ext cx="3291840" cy="822960"/>
          </a:xfrm>
          <a:prstGeom prst="rect">
            <a:avLst/>
          </a:prstGeom>
          <a:noFill/>
          <a:ln/>
        </p:spPr>
        <p:txBody>
          <a:bodyPr wrap="square" lIns="0" tIns="0" rIns="0" bIns="0" rtlCol="0" anchor="t"/>
          <a:lstStyle/>
          <a:p>
            <a:pPr algn="l" indent="0" marL="0">
              <a:buNone/>
            </a:pPr>
            <a:r>
              <a:rPr lang="en-US" sz="1100" dirty="0">
                <a:solidFill>
                  <a:srgbClr val="EDF1EE"/>
                </a:solidFill>
                <a:latin typeface="Calibri" pitchFamily="34" charset="0"/>
                <a:ea typeface="Calibri" pitchFamily="34" charset="-122"/>
                <a:cs typeface="Calibri" pitchFamily="34" charset="-120"/>
              </a:rPr>
              <a:t>Flagge erst nach durchgeführter Due Diligence oder ab 3 Punkten sichtbar – sonst „Flagge verdeckt“</a:t>
            </a:r>
            <a:endParaRPr lang="en-US" sz="1100" dirty="0"/>
          </a:p>
        </p:txBody>
      </p:sp>
      <p:sp>
        <p:nvSpPr>
          <p:cNvPr id="15" name="Shape 11"/>
          <p:cNvSpPr/>
          <p:nvPr/>
        </p:nvSpPr>
        <p:spPr>
          <a:xfrm>
            <a:off x="8092440" y="3337560"/>
            <a:ext cx="3593592" cy="1280160"/>
          </a:xfrm>
          <a:prstGeom prst="roundRect">
            <a:avLst>
              <a:gd name="adj" fmla="val 5714"/>
            </a:avLst>
          </a:prstGeom>
          <a:solidFill>
            <a:srgbClr val="161F22"/>
          </a:solidFill>
          <a:ln w="9525">
            <a:solidFill>
              <a:srgbClr val="3B82F6"/>
            </a:solidFill>
            <a:prstDash val="solid"/>
          </a:ln>
        </p:spPr>
      </p:sp>
      <p:sp>
        <p:nvSpPr>
          <p:cNvPr id="16" name="Text 12"/>
          <p:cNvSpPr txBox="1"/>
          <p:nvPr/>
        </p:nvSpPr>
        <p:spPr>
          <a:xfrm>
            <a:off x="8257032" y="3429000"/>
            <a:ext cx="3291840" cy="320040"/>
          </a:xfrm>
          <a:prstGeom prst="rect">
            <a:avLst/>
          </a:prstGeom>
          <a:noFill/>
          <a:ln/>
        </p:spPr>
        <p:txBody>
          <a:bodyPr wrap="square" lIns="0" tIns="0" rIns="0" bIns="0" rtlCol="0" anchor="t"/>
          <a:lstStyle/>
          <a:p>
            <a:pPr algn="l" indent="0" marL="0">
              <a:buNone/>
            </a:pPr>
            <a:r>
              <a:rPr lang="en-US" sz="1350" b="1" dirty="0">
                <a:solidFill>
                  <a:srgbClr val="3B82F6"/>
                </a:solidFill>
                <a:latin typeface="Calibri" pitchFamily="34" charset="0"/>
                <a:ea typeface="Calibri" pitchFamily="34" charset="-122"/>
                <a:cs typeface="Calibri" pitchFamily="34" charset="-120"/>
              </a:rPr>
              <a:t>Abwehr ab 4 Punkten</a:t>
            </a:r>
            <a:endParaRPr lang="en-US" sz="1350" dirty="0"/>
          </a:p>
        </p:txBody>
      </p:sp>
      <p:sp>
        <p:nvSpPr>
          <p:cNvPr id="17" name="Text 13"/>
          <p:cNvSpPr txBox="1"/>
          <p:nvPr/>
        </p:nvSpPr>
        <p:spPr>
          <a:xfrm>
            <a:off x="8257032" y="3767328"/>
            <a:ext cx="3291840" cy="822960"/>
          </a:xfrm>
          <a:prstGeom prst="rect">
            <a:avLst/>
          </a:prstGeom>
          <a:noFill/>
          <a:ln/>
        </p:spPr>
        <p:txBody>
          <a:bodyPr wrap="square" lIns="0" tIns="0" rIns="0" bIns="0" rtlCol="0" anchor="t"/>
          <a:lstStyle/>
          <a:p>
            <a:pPr algn="l" indent="0" marL="0">
              <a:buNone/>
            </a:pPr>
            <a:r>
              <a:rPr lang="en-US" sz="1100" dirty="0">
                <a:solidFill>
                  <a:srgbClr val="EDF1EE"/>
                </a:solidFill>
                <a:latin typeface="Calibri" pitchFamily="34" charset="0"/>
                <a:ea typeface="Calibri" pitchFamily="34" charset="-122"/>
                <a:cs typeface="Calibri" pitchFamily="34" charset="-120"/>
              </a:rPr>
              <a:t>„Schlüsselkunde kündigt“ und „Investitionsstau aufgedeckt“ werden zur Hälfte abgewehrt</a:t>
            </a:r>
            <a:endParaRPr lang="en-US" sz="1100" dirty="0"/>
          </a:p>
        </p:txBody>
      </p:sp>
      <p:sp>
        <p:nvSpPr>
          <p:cNvPr id="18" name="Shape 14"/>
          <p:cNvSpPr/>
          <p:nvPr/>
        </p:nvSpPr>
        <p:spPr>
          <a:xfrm>
            <a:off x="8092440" y="4754880"/>
            <a:ext cx="3593592" cy="1280160"/>
          </a:xfrm>
          <a:prstGeom prst="roundRect">
            <a:avLst>
              <a:gd name="adj" fmla="val 5714"/>
            </a:avLst>
          </a:prstGeom>
          <a:solidFill>
            <a:srgbClr val="161F22"/>
          </a:solidFill>
          <a:ln w="9525">
            <a:solidFill>
              <a:srgbClr val="3B82F6"/>
            </a:solidFill>
            <a:prstDash val="solid"/>
          </a:ln>
        </p:spPr>
      </p:sp>
      <p:sp>
        <p:nvSpPr>
          <p:cNvPr id="19" name="Text 15"/>
          <p:cNvSpPr txBox="1"/>
          <p:nvPr/>
        </p:nvSpPr>
        <p:spPr>
          <a:xfrm>
            <a:off x="8257032" y="4846320"/>
            <a:ext cx="3291840" cy="320040"/>
          </a:xfrm>
          <a:prstGeom prst="rect">
            <a:avLst/>
          </a:prstGeom>
          <a:noFill/>
          <a:ln/>
        </p:spPr>
        <p:txBody>
          <a:bodyPr wrap="square" lIns="0" tIns="0" rIns="0" bIns="0" rtlCol="0" anchor="t"/>
          <a:lstStyle/>
          <a:p>
            <a:pPr algn="l" indent="0" marL="0">
              <a:buNone/>
            </a:pPr>
            <a:r>
              <a:rPr lang="en-US" sz="1350" b="1" dirty="0">
                <a:solidFill>
                  <a:srgbClr val="3B82F6"/>
                </a:solidFill>
                <a:latin typeface="Calibri" pitchFamily="34" charset="0"/>
                <a:ea typeface="Calibri" pitchFamily="34" charset="-122"/>
                <a:cs typeface="Calibri" pitchFamily="34" charset="-120"/>
              </a:rPr>
              <a:t>Keine Überraschung</a:t>
            </a:r>
            <a:endParaRPr lang="en-US" sz="1350" dirty="0"/>
          </a:p>
        </p:txBody>
      </p:sp>
      <p:sp>
        <p:nvSpPr>
          <p:cNvPr id="20" name="Text 16"/>
          <p:cNvSpPr txBox="1"/>
          <p:nvPr/>
        </p:nvSpPr>
        <p:spPr>
          <a:xfrm>
            <a:off x="8257032" y="5184648"/>
            <a:ext cx="3291840" cy="822960"/>
          </a:xfrm>
          <a:prstGeom prst="rect">
            <a:avLst/>
          </a:prstGeom>
          <a:noFill/>
          <a:ln/>
        </p:spPr>
        <p:txBody>
          <a:bodyPr wrap="square" lIns="0" tIns="0" rIns="0" bIns="0" rtlCol="0" anchor="t"/>
          <a:lstStyle/>
          <a:p>
            <a:pPr algn="l" indent="0" marL="0">
              <a:buNone/>
            </a:pPr>
            <a:r>
              <a:rPr lang="en-US" sz="1100" dirty="0">
                <a:solidFill>
                  <a:srgbClr val="EDF1EE"/>
                </a:solidFill>
                <a:latin typeface="Calibri" pitchFamily="34" charset="0"/>
                <a:ea typeface="Calibri" pitchFamily="34" charset="-122"/>
                <a:cs typeface="Calibri" pitchFamily="34" charset="-120"/>
              </a:rPr>
              <a:t>Proprietärer Kauf ohne Due Diligence: Risiko 50 % − 9 % × DD, Marge 10–24 % niedriger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3B82F6"/>
                </a:solidFill>
                <a:latin typeface="Calibri" pitchFamily="34" charset="0"/>
                <a:ea typeface="Calibri" pitchFamily="34" charset="-122"/>
                <a:cs typeface="Calibri" pitchFamily="34" charset="-120"/>
              </a:rPr>
              <a:t>AUKTIONSMECHANIK</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Wie eine Auktion entschieden wird</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3B82F6"/>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3B82F6"/>
                </a:solidFill>
                <a:latin typeface="Calibri" pitchFamily="34" charset="0"/>
                <a:ea typeface="Calibri" pitchFamily="34" charset="-122"/>
                <a:cs typeface="Calibri" pitchFamily="34" charset="-120"/>
              </a:rPr>
              <a:t>B · DEAL SELECTION &amp; EXECUTION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18</a:t>
            </a:r>
            <a:endParaRPr lang="en-US" sz="900" dirty="0"/>
          </a:p>
        </p:txBody>
      </p:sp>
      <p:sp>
        <p:nvSpPr>
          <p:cNvPr id="9" name="Shape 6"/>
          <p:cNvSpPr/>
          <p:nvPr/>
        </p:nvSpPr>
        <p:spPr>
          <a:xfrm>
            <a:off x="502920" y="1600200"/>
            <a:ext cx="2032345" cy="1188720"/>
          </a:xfrm>
          <a:prstGeom prst="roundRect">
            <a:avLst>
              <a:gd name="adj" fmla="val 6154"/>
            </a:avLst>
          </a:prstGeom>
          <a:solidFill>
            <a:srgbClr val="161F22"/>
          </a:solidFill>
          <a:ln w="9525">
            <a:solidFill>
              <a:srgbClr val="3B82F6"/>
            </a:solidFill>
            <a:prstDash val="solid"/>
          </a:ln>
        </p:spPr>
      </p:sp>
      <p:sp>
        <p:nvSpPr>
          <p:cNvPr id="10" name="Shape 7"/>
          <p:cNvSpPr/>
          <p:nvPr/>
        </p:nvSpPr>
        <p:spPr>
          <a:xfrm>
            <a:off x="640080" y="1709928"/>
            <a:ext cx="329184" cy="329184"/>
          </a:xfrm>
          <a:prstGeom prst="ellipse">
            <a:avLst/>
          </a:prstGeom>
          <a:solidFill>
            <a:srgbClr val="3B82F6"/>
          </a:solidFill>
          <a:ln/>
        </p:spPr>
      </p:sp>
      <p:sp>
        <p:nvSpPr>
          <p:cNvPr id="11" name="Text 8"/>
          <p:cNvSpPr txBox="1"/>
          <p:nvPr/>
        </p:nvSpPr>
        <p:spPr>
          <a:xfrm>
            <a:off x="640080" y="1709928"/>
            <a:ext cx="329184" cy="329184"/>
          </a:xfrm>
          <a:prstGeom prst="rect">
            <a:avLst/>
          </a:prstGeom>
          <a:noFill/>
          <a:ln/>
        </p:spPr>
        <p:txBody>
          <a:bodyPr wrap="square" lIns="0" tIns="0" rIns="0" bIns="0" rtlCol="0" anchor="ctr"/>
          <a:lstStyle/>
          <a:p>
            <a:pPr algn="ctr" indent="0" marL="0">
              <a:buNone/>
            </a:pPr>
            <a:r>
              <a:rPr lang="en-US" sz="1200" b="1" dirty="0">
                <a:solidFill>
                  <a:srgbClr val="0C1214"/>
                </a:solidFill>
                <a:latin typeface="Calibri" pitchFamily="34" charset="0"/>
                <a:ea typeface="Calibri" pitchFamily="34" charset="-122"/>
                <a:cs typeface="Calibri" pitchFamily="34" charset="-120"/>
              </a:rPr>
              <a:t>1</a:t>
            </a:r>
            <a:endParaRPr lang="en-US" sz="1200" dirty="0"/>
          </a:p>
        </p:txBody>
      </p:sp>
      <p:sp>
        <p:nvSpPr>
          <p:cNvPr id="12" name="Text 9"/>
          <p:cNvSpPr txBox="1"/>
          <p:nvPr/>
        </p:nvSpPr>
        <p:spPr>
          <a:xfrm>
            <a:off x="1051560" y="1709928"/>
            <a:ext cx="1392265" cy="329184"/>
          </a:xfrm>
          <a:prstGeom prst="rect">
            <a:avLst/>
          </a:prstGeom>
          <a:noFill/>
          <a:ln/>
        </p:spPr>
        <p:txBody>
          <a:bodyPr wrap="square" lIns="0" tIns="0" rIns="0" bIns="0" rtlCol="0" anchor="ctr"/>
          <a:lstStyle/>
          <a:p>
            <a:pPr algn="l" indent="0" marL="0">
              <a:buNone/>
            </a:pPr>
            <a:r>
              <a:rPr lang="en-US" sz="1400" b="1" dirty="0">
                <a:solidFill>
                  <a:srgbClr val="EDF1EE"/>
                </a:solidFill>
                <a:latin typeface="Calibri" pitchFamily="34" charset="0"/>
                <a:ea typeface="Calibri" pitchFamily="34" charset="-122"/>
                <a:cs typeface="Calibri" pitchFamily="34" charset="-120"/>
              </a:rPr>
              <a:t>Gebot</a:t>
            </a:r>
            <a:endParaRPr lang="en-US" sz="1400" dirty="0"/>
          </a:p>
        </p:txBody>
      </p:sp>
      <p:sp>
        <p:nvSpPr>
          <p:cNvPr id="13" name="Text 10"/>
          <p:cNvSpPr txBox="1"/>
          <p:nvPr/>
        </p:nvSpPr>
        <p:spPr>
          <a:xfrm>
            <a:off x="640080" y="2148840"/>
            <a:ext cx="1758025" cy="59436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Multiple + Leverage (≤ Kapazität)</a:t>
            </a:r>
            <a:endParaRPr lang="en-US" sz="1150" dirty="0"/>
          </a:p>
        </p:txBody>
      </p:sp>
      <p:sp>
        <p:nvSpPr>
          <p:cNvPr id="14" name="Shape 11"/>
          <p:cNvSpPr/>
          <p:nvPr/>
        </p:nvSpPr>
        <p:spPr>
          <a:xfrm>
            <a:off x="2553553" y="2194560"/>
            <a:ext cx="219456" cy="0"/>
          </a:xfrm>
          <a:prstGeom prst="line">
            <a:avLst/>
          </a:prstGeom>
          <a:noFill/>
          <a:ln w="19050">
            <a:solidFill>
              <a:srgbClr val="8E9C9B"/>
            </a:solidFill>
            <a:prstDash val="solid"/>
            <a:tailEnd type="triangle"/>
          </a:ln>
        </p:spPr>
      </p:sp>
      <p:sp>
        <p:nvSpPr>
          <p:cNvPr id="15" name="Shape 12"/>
          <p:cNvSpPr/>
          <p:nvPr/>
        </p:nvSpPr>
        <p:spPr>
          <a:xfrm>
            <a:off x="2791297" y="1600200"/>
            <a:ext cx="2032345" cy="1188720"/>
          </a:xfrm>
          <a:prstGeom prst="roundRect">
            <a:avLst>
              <a:gd name="adj" fmla="val 6154"/>
            </a:avLst>
          </a:prstGeom>
          <a:solidFill>
            <a:srgbClr val="161F22"/>
          </a:solidFill>
          <a:ln w="9525">
            <a:solidFill>
              <a:srgbClr val="3B82F6"/>
            </a:solidFill>
            <a:prstDash val="solid"/>
          </a:ln>
        </p:spPr>
      </p:sp>
      <p:sp>
        <p:nvSpPr>
          <p:cNvPr id="16" name="Shape 13"/>
          <p:cNvSpPr/>
          <p:nvPr/>
        </p:nvSpPr>
        <p:spPr>
          <a:xfrm>
            <a:off x="2928457" y="1709928"/>
            <a:ext cx="329184" cy="329184"/>
          </a:xfrm>
          <a:prstGeom prst="ellipse">
            <a:avLst/>
          </a:prstGeom>
          <a:solidFill>
            <a:srgbClr val="3B82F6"/>
          </a:solidFill>
          <a:ln/>
        </p:spPr>
      </p:sp>
      <p:sp>
        <p:nvSpPr>
          <p:cNvPr id="17" name="Text 14"/>
          <p:cNvSpPr txBox="1"/>
          <p:nvPr/>
        </p:nvSpPr>
        <p:spPr>
          <a:xfrm>
            <a:off x="2928457" y="1709928"/>
            <a:ext cx="329184" cy="329184"/>
          </a:xfrm>
          <a:prstGeom prst="rect">
            <a:avLst/>
          </a:prstGeom>
          <a:noFill/>
          <a:ln/>
        </p:spPr>
        <p:txBody>
          <a:bodyPr wrap="square" lIns="0" tIns="0" rIns="0" bIns="0" rtlCol="0" anchor="ctr"/>
          <a:lstStyle/>
          <a:p>
            <a:pPr algn="ctr" indent="0" marL="0">
              <a:buNone/>
            </a:pPr>
            <a:r>
              <a:rPr lang="en-US" sz="1200" b="1" dirty="0">
                <a:solidFill>
                  <a:srgbClr val="0C1214"/>
                </a:solidFill>
                <a:latin typeface="Calibri" pitchFamily="34" charset="0"/>
                <a:ea typeface="Calibri" pitchFamily="34" charset="-122"/>
                <a:cs typeface="Calibri" pitchFamily="34" charset="-120"/>
              </a:rPr>
              <a:t>2</a:t>
            </a:r>
            <a:endParaRPr lang="en-US" sz="1200" dirty="0"/>
          </a:p>
        </p:txBody>
      </p:sp>
      <p:sp>
        <p:nvSpPr>
          <p:cNvPr id="18" name="Text 15"/>
          <p:cNvSpPr txBox="1"/>
          <p:nvPr/>
        </p:nvSpPr>
        <p:spPr>
          <a:xfrm>
            <a:off x="3339937" y="1709928"/>
            <a:ext cx="1392265" cy="329184"/>
          </a:xfrm>
          <a:prstGeom prst="rect">
            <a:avLst/>
          </a:prstGeom>
          <a:noFill/>
          <a:ln/>
        </p:spPr>
        <p:txBody>
          <a:bodyPr wrap="square" lIns="0" tIns="0" rIns="0" bIns="0" rtlCol="0" anchor="ctr"/>
          <a:lstStyle/>
          <a:p>
            <a:pPr algn="l" indent="0" marL="0">
              <a:buNone/>
            </a:pPr>
            <a:r>
              <a:rPr lang="en-US" sz="1400" b="1" dirty="0">
                <a:solidFill>
                  <a:srgbClr val="EDF1EE"/>
                </a:solidFill>
                <a:latin typeface="Calibri" pitchFamily="34" charset="0"/>
                <a:ea typeface="Calibri" pitchFamily="34" charset="-122"/>
                <a:cs typeface="Calibri" pitchFamily="34" charset="-120"/>
              </a:rPr>
              <a:t>Kapitalcheck</a:t>
            </a:r>
            <a:endParaRPr lang="en-US" sz="1400" dirty="0"/>
          </a:p>
        </p:txBody>
      </p:sp>
      <p:sp>
        <p:nvSpPr>
          <p:cNvPr id="19" name="Text 16"/>
          <p:cNvSpPr txBox="1"/>
          <p:nvPr/>
        </p:nvSpPr>
        <p:spPr>
          <a:xfrm>
            <a:off x="2928457" y="2148840"/>
            <a:ext cx="1758025" cy="59436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Equity ≤ investierbares Kapital, Platz frei (max. 6)</a:t>
            </a:r>
            <a:endParaRPr lang="en-US" sz="1150" dirty="0"/>
          </a:p>
        </p:txBody>
      </p:sp>
      <p:sp>
        <p:nvSpPr>
          <p:cNvPr id="20" name="Shape 17"/>
          <p:cNvSpPr/>
          <p:nvPr/>
        </p:nvSpPr>
        <p:spPr>
          <a:xfrm>
            <a:off x="4841931" y="2194560"/>
            <a:ext cx="219456" cy="0"/>
          </a:xfrm>
          <a:prstGeom prst="line">
            <a:avLst/>
          </a:prstGeom>
          <a:noFill/>
          <a:ln w="19050">
            <a:solidFill>
              <a:srgbClr val="8E9C9B"/>
            </a:solidFill>
            <a:prstDash val="solid"/>
            <a:tailEnd type="triangle"/>
          </a:ln>
        </p:spPr>
      </p:sp>
      <p:sp>
        <p:nvSpPr>
          <p:cNvPr id="21" name="Shape 18"/>
          <p:cNvSpPr/>
          <p:nvPr/>
        </p:nvSpPr>
        <p:spPr>
          <a:xfrm>
            <a:off x="5079675" y="1600200"/>
            <a:ext cx="2032345" cy="1188720"/>
          </a:xfrm>
          <a:prstGeom prst="roundRect">
            <a:avLst>
              <a:gd name="adj" fmla="val 6154"/>
            </a:avLst>
          </a:prstGeom>
          <a:solidFill>
            <a:srgbClr val="161F22"/>
          </a:solidFill>
          <a:ln w="9525">
            <a:solidFill>
              <a:srgbClr val="3B82F6"/>
            </a:solidFill>
            <a:prstDash val="solid"/>
          </a:ln>
        </p:spPr>
      </p:sp>
      <p:sp>
        <p:nvSpPr>
          <p:cNvPr id="22" name="Shape 19"/>
          <p:cNvSpPr/>
          <p:nvPr/>
        </p:nvSpPr>
        <p:spPr>
          <a:xfrm>
            <a:off x="5216835" y="1709928"/>
            <a:ext cx="329184" cy="329184"/>
          </a:xfrm>
          <a:prstGeom prst="ellipse">
            <a:avLst/>
          </a:prstGeom>
          <a:solidFill>
            <a:srgbClr val="3B82F6"/>
          </a:solidFill>
          <a:ln/>
        </p:spPr>
      </p:sp>
      <p:sp>
        <p:nvSpPr>
          <p:cNvPr id="23" name="Text 20"/>
          <p:cNvSpPr txBox="1"/>
          <p:nvPr/>
        </p:nvSpPr>
        <p:spPr>
          <a:xfrm>
            <a:off x="5216835" y="1709928"/>
            <a:ext cx="329184" cy="329184"/>
          </a:xfrm>
          <a:prstGeom prst="rect">
            <a:avLst/>
          </a:prstGeom>
          <a:noFill/>
          <a:ln/>
        </p:spPr>
        <p:txBody>
          <a:bodyPr wrap="square" lIns="0" tIns="0" rIns="0" bIns="0" rtlCol="0" anchor="ctr"/>
          <a:lstStyle/>
          <a:p>
            <a:pPr algn="ctr" indent="0" marL="0">
              <a:buNone/>
            </a:pPr>
            <a:r>
              <a:rPr lang="en-US" sz="1200" b="1" dirty="0">
                <a:solidFill>
                  <a:srgbClr val="0C1214"/>
                </a:solidFill>
                <a:latin typeface="Calibri" pitchFamily="34" charset="0"/>
                <a:ea typeface="Calibri" pitchFamily="34" charset="-122"/>
                <a:cs typeface="Calibri" pitchFamily="34" charset="-120"/>
              </a:rPr>
              <a:t>3</a:t>
            </a:r>
            <a:endParaRPr lang="en-US" sz="1200" dirty="0"/>
          </a:p>
        </p:txBody>
      </p:sp>
      <p:sp>
        <p:nvSpPr>
          <p:cNvPr id="24" name="Text 21"/>
          <p:cNvSpPr txBox="1"/>
          <p:nvPr/>
        </p:nvSpPr>
        <p:spPr>
          <a:xfrm>
            <a:off x="5628315" y="1709928"/>
            <a:ext cx="1392265" cy="329184"/>
          </a:xfrm>
          <a:prstGeom prst="rect">
            <a:avLst/>
          </a:prstGeom>
          <a:noFill/>
          <a:ln/>
        </p:spPr>
        <p:txBody>
          <a:bodyPr wrap="square" lIns="0" tIns="0" rIns="0" bIns="0" rtlCol="0" anchor="ctr"/>
          <a:lstStyle/>
          <a:p>
            <a:pPr algn="l" indent="0" marL="0">
              <a:buNone/>
            </a:pPr>
            <a:r>
              <a:rPr lang="en-US" sz="1400" b="1" dirty="0">
                <a:solidFill>
                  <a:srgbClr val="EDF1EE"/>
                </a:solidFill>
                <a:latin typeface="Calibri" pitchFamily="34" charset="0"/>
                <a:ea typeface="Calibri" pitchFamily="34" charset="-122"/>
                <a:cs typeface="Calibri" pitchFamily="34" charset="-120"/>
              </a:rPr>
              <a:t>Reservation</a:t>
            </a:r>
            <a:endParaRPr lang="en-US" sz="1400" dirty="0"/>
          </a:p>
        </p:txBody>
      </p:sp>
      <p:sp>
        <p:nvSpPr>
          <p:cNvPr id="25" name="Text 22"/>
          <p:cNvSpPr txBox="1"/>
          <p:nvPr/>
        </p:nvSpPr>
        <p:spPr>
          <a:xfrm>
            <a:off x="5216835" y="2148840"/>
            <a:ext cx="1758025" cy="59436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 85 % (proprietär 90 %) des Ask</a:t>
            </a:r>
            <a:endParaRPr lang="en-US" sz="1150" dirty="0"/>
          </a:p>
        </p:txBody>
      </p:sp>
      <p:sp>
        <p:nvSpPr>
          <p:cNvPr id="26" name="Shape 23"/>
          <p:cNvSpPr/>
          <p:nvPr/>
        </p:nvSpPr>
        <p:spPr>
          <a:xfrm>
            <a:off x="7130308" y="2194560"/>
            <a:ext cx="219456" cy="0"/>
          </a:xfrm>
          <a:prstGeom prst="line">
            <a:avLst/>
          </a:prstGeom>
          <a:noFill/>
          <a:ln w="19050">
            <a:solidFill>
              <a:srgbClr val="8E9C9B"/>
            </a:solidFill>
            <a:prstDash val="solid"/>
            <a:tailEnd type="triangle"/>
          </a:ln>
        </p:spPr>
      </p:sp>
      <p:sp>
        <p:nvSpPr>
          <p:cNvPr id="27" name="Shape 24"/>
          <p:cNvSpPr/>
          <p:nvPr/>
        </p:nvSpPr>
        <p:spPr>
          <a:xfrm>
            <a:off x="7368052" y="1600200"/>
            <a:ext cx="2032345" cy="1188720"/>
          </a:xfrm>
          <a:prstGeom prst="roundRect">
            <a:avLst>
              <a:gd name="adj" fmla="val 6154"/>
            </a:avLst>
          </a:prstGeom>
          <a:solidFill>
            <a:srgbClr val="161F22"/>
          </a:solidFill>
          <a:ln w="9525">
            <a:solidFill>
              <a:srgbClr val="3B82F6"/>
            </a:solidFill>
            <a:prstDash val="solid"/>
          </a:ln>
        </p:spPr>
      </p:sp>
      <p:sp>
        <p:nvSpPr>
          <p:cNvPr id="28" name="Shape 25"/>
          <p:cNvSpPr/>
          <p:nvPr/>
        </p:nvSpPr>
        <p:spPr>
          <a:xfrm>
            <a:off x="7505212" y="1709928"/>
            <a:ext cx="329184" cy="329184"/>
          </a:xfrm>
          <a:prstGeom prst="ellipse">
            <a:avLst/>
          </a:prstGeom>
          <a:solidFill>
            <a:srgbClr val="3B82F6"/>
          </a:solidFill>
          <a:ln/>
        </p:spPr>
      </p:sp>
      <p:sp>
        <p:nvSpPr>
          <p:cNvPr id="29" name="Text 26"/>
          <p:cNvSpPr txBox="1"/>
          <p:nvPr/>
        </p:nvSpPr>
        <p:spPr>
          <a:xfrm>
            <a:off x="7505212" y="1709928"/>
            <a:ext cx="329184" cy="329184"/>
          </a:xfrm>
          <a:prstGeom prst="rect">
            <a:avLst/>
          </a:prstGeom>
          <a:noFill/>
          <a:ln/>
        </p:spPr>
        <p:txBody>
          <a:bodyPr wrap="square" lIns="0" tIns="0" rIns="0" bIns="0" rtlCol="0" anchor="ctr"/>
          <a:lstStyle/>
          <a:p>
            <a:pPr algn="ctr" indent="0" marL="0">
              <a:buNone/>
            </a:pPr>
            <a:r>
              <a:rPr lang="en-US" sz="1200" b="1" dirty="0">
                <a:solidFill>
                  <a:srgbClr val="0C1214"/>
                </a:solidFill>
                <a:latin typeface="Calibri" pitchFamily="34" charset="0"/>
                <a:ea typeface="Calibri" pitchFamily="34" charset="-122"/>
                <a:cs typeface="Calibri" pitchFamily="34" charset="-120"/>
              </a:rPr>
              <a:t>4</a:t>
            </a:r>
            <a:endParaRPr lang="en-US" sz="1200" dirty="0"/>
          </a:p>
        </p:txBody>
      </p:sp>
      <p:sp>
        <p:nvSpPr>
          <p:cNvPr id="30" name="Text 27"/>
          <p:cNvSpPr txBox="1"/>
          <p:nvPr/>
        </p:nvSpPr>
        <p:spPr>
          <a:xfrm>
            <a:off x="7916692" y="1709928"/>
            <a:ext cx="1392265" cy="329184"/>
          </a:xfrm>
          <a:prstGeom prst="rect">
            <a:avLst/>
          </a:prstGeom>
          <a:noFill/>
          <a:ln/>
        </p:spPr>
        <p:txBody>
          <a:bodyPr wrap="square" lIns="0" tIns="0" rIns="0" bIns="0" rtlCol="0" anchor="ctr"/>
          <a:lstStyle/>
          <a:p>
            <a:pPr algn="l" indent="0" marL="0">
              <a:buNone/>
            </a:pPr>
            <a:r>
              <a:rPr lang="en-US" sz="1400" b="1" dirty="0">
                <a:solidFill>
                  <a:srgbClr val="EDF1EE"/>
                </a:solidFill>
                <a:latin typeface="Calibri" pitchFamily="34" charset="0"/>
                <a:ea typeface="Calibri" pitchFamily="34" charset="-122"/>
                <a:cs typeface="Calibri" pitchFamily="34" charset="-120"/>
              </a:rPr>
              <a:t>Zuschlag</a:t>
            </a:r>
            <a:endParaRPr lang="en-US" sz="1400" dirty="0"/>
          </a:p>
        </p:txBody>
      </p:sp>
      <p:sp>
        <p:nvSpPr>
          <p:cNvPr id="31" name="Text 28"/>
          <p:cNvSpPr txBox="1"/>
          <p:nvPr/>
        </p:nvSpPr>
        <p:spPr>
          <a:xfrm>
            <a:off x="7505212" y="2148840"/>
            <a:ext cx="1758025" cy="59436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Höchstes Multiple; Gleichstand: Execution</a:t>
            </a:r>
            <a:endParaRPr lang="en-US" sz="1150" dirty="0"/>
          </a:p>
        </p:txBody>
      </p:sp>
      <p:sp>
        <p:nvSpPr>
          <p:cNvPr id="32" name="Shape 29"/>
          <p:cNvSpPr/>
          <p:nvPr/>
        </p:nvSpPr>
        <p:spPr>
          <a:xfrm>
            <a:off x="9418686" y="2194560"/>
            <a:ext cx="219456" cy="0"/>
          </a:xfrm>
          <a:prstGeom prst="line">
            <a:avLst/>
          </a:prstGeom>
          <a:noFill/>
          <a:ln w="19050">
            <a:solidFill>
              <a:srgbClr val="8E9C9B"/>
            </a:solidFill>
            <a:prstDash val="solid"/>
            <a:tailEnd type="triangle"/>
          </a:ln>
        </p:spPr>
      </p:sp>
      <p:sp>
        <p:nvSpPr>
          <p:cNvPr id="33" name="Shape 30"/>
          <p:cNvSpPr/>
          <p:nvPr/>
        </p:nvSpPr>
        <p:spPr>
          <a:xfrm>
            <a:off x="9656430" y="1600200"/>
            <a:ext cx="2032345" cy="1188720"/>
          </a:xfrm>
          <a:prstGeom prst="roundRect">
            <a:avLst>
              <a:gd name="adj" fmla="val 6154"/>
            </a:avLst>
          </a:prstGeom>
          <a:solidFill>
            <a:srgbClr val="161F22"/>
          </a:solidFill>
          <a:ln w="9525">
            <a:solidFill>
              <a:srgbClr val="3B82F6"/>
            </a:solidFill>
            <a:prstDash val="solid"/>
          </a:ln>
        </p:spPr>
      </p:sp>
      <p:sp>
        <p:nvSpPr>
          <p:cNvPr id="34" name="Shape 31"/>
          <p:cNvSpPr/>
          <p:nvPr/>
        </p:nvSpPr>
        <p:spPr>
          <a:xfrm>
            <a:off x="9793590" y="1709928"/>
            <a:ext cx="329184" cy="329184"/>
          </a:xfrm>
          <a:prstGeom prst="ellipse">
            <a:avLst/>
          </a:prstGeom>
          <a:solidFill>
            <a:srgbClr val="3B82F6"/>
          </a:solidFill>
          <a:ln/>
        </p:spPr>
      </p:sp>
      <p:sp>
        <p:nvSpPr>
          <p:cNvPr id="35" name="Text 32"/>
          <p:cNvSpPr txBox="1"/>
          <p:nvPr/>
        </p:nvSpPr>
        <p:spPr>
          <a:xfrm>
            <a:off x="9793590" y="1709928"/>
            <a:ext cx="329184" cy="329184"/>
          </a:xfrm>
          <a:prstGeom prst="rect">
            <a:avLst/>
          </a:prstGeom>
          <a:noFill/>
          <a:ln/>
        </p:spPr>
        <p:txBody>
          <a:bodyPr wrap="square" lIns="0" tIns="0" rIns="0" bIns="0" rtlCol="0" anchor="ctr"/>
          <a:lstStyle/>
          <a:p>
            <a:pPr algn="ctr" indent="0" marL="0">
              <a:buNone/>
            </a:pPr>
            <a:r>
              <a:rPr lang="en-US" sz="1200" b="1" dirty="0">
                <a:solidFill>
                  <a:srgbClr val="0C1214"/>
                </a:solidFill>
                <a:latin typeface="Calibri" pitchFamily="34" charset="0"/>
                <a:ea typeface="Calibri" pitchFamily="34" charset="-122"/>
                <a:cs typeface="Calibri" pitchFamily="34" charset="-120"/>
              </a:rPr>
              <a:t>5</a:t>
            </a:r>
            <a:endParaRPr lang="en-US" sz="1200" dirty="0"/>
          </a:p>
        </p:txBody>
      </p:sp>
      <p:sp>
        <p:nvSpPr>
          <p:cNvPr id="36" name="Text 33"/>
          <p:cNvSpPr txBox="1"/>
          <p:nvPr/>
        </p:nvSpPr>
        <p:spPr>
          <a:xfrm>
            <a:off x="10205070" y="1709928"/>
            <a:ext cx="1392265" cy="329184"/>
          </a:xfrm>
          <a:prstGeom prst="rect">
            <a:avLst/>
          </a:prstGeom>
          <a:noFill/>
          <a:ln/>
        </p:spPr>
        <p:txBody>
          <a:bodyPr wrap="square" lIns="0" tIns="0" rIns="0" bIns="0" rtlCol="0" anchor="ctr"/>
          <a:lstStyle/>
          <a:p>
            <a:pPr algn="l" indent="0" marL="0">
              <a:buNone/>
            </a:pPr>
            <a:r>
              <a:rPr lang="en-US" sz="1400" b="1" dirty="0">
                <a:solidFill>
                  <a:srgbClr val="EDF1EE"/>
                </a:solidFill>
                <a:latin typeface="Calibri" pitchFamily="34" charset="0"/>
                <a:ea typeface="Calibri" pitchFamily="34" charset="-122"/>
                <a:cs typeface="Calibri" pitchFamily="34" charset="-120"/>
              </a:rPr>
              <a:t>Nachverhandlung</a:t>
            </a:r>
            <a:endParaRPr lang="en-US" sz="1400" dirty="0"/>
          </a:p>
        </p:txBody>
      </p:sp>
      <p:sp>
        <p:nvSpPr>
          <p:cNvPr id="37" name="Text 34"/>
          <p:cNvSpPr txBox="1"/>
          <p:nvPr/>
        </p:nvSpPr>
        <p:spPr>
          <a:xfrm>
            <a:off x="9793590" y="2148840"/>
            <a:ext cx="1758025" cy="59436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−1 % Preis je Execution-Punkt</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3063240"/>
          <a:ext cx="7223760" cy="914400"/>
        </p:xfrm>
        <a:graphic>
          <a:graphicData uri="http://schemas.openxmlformats.org/drawingml/2006/table">
            <a:tbl>
              <a:tblPr/>
              <a:tblGrid>
                <a:gridCol w="1920240"/>
                <a:gridCol w="1005840"/>
                <a:gridCol w="868680"/>
                <a:gridCol w="868680"/>
                <a:gridCol w="1280160"/>
                <a:gridCol w="640080"/>
                <a:gridCol w="640080"/>
              </a:tblGrid>
              <a:tr h="475488">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KI-Fonds</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Stil</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Aufschlag</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Leverage</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Vorliebe</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TVCC*</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IRR*</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r>
              <a:tr h="475488">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Nordkap Capital</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Origination</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+6 %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75 %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Qualität &gt; 60</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1,56×</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21 %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475488">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Hansabruck Partners</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Operativ</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+2 %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60 %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Marge &lt; 14 %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1,33×</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12 %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475488">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Aurum Partners</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Leverage</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+10 %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95 %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Kapazität &gt; 4,2×</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1,72×</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35 %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475488">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Vierturm Beteiligungen</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Generalist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+4 %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70 %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1,46×</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21 %</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bl>
          </a:graphicData>
        </a:graphic>
      </p:graphicFrame>
      <p:sp>
        <p:nvSpPr>
          <p:cNvPr id="39" name="Text 35"/>
          <p:cNvSpPr txBox="1"/>
          <p:nvPr/>
        </p:nvSpPr>
        <p:spPr>
          <a:xfrm>
            <a:off x="502920" y="5532120"/>
            <a:ext cx="7223760" cy="457200"/>
          </a:xfrm>
          <a:prstGeom prst="rect">
            <a:avLst/>
          </a:prstGeom>
          <a:noFill/>
          <a:ln/>
        </p:spPr>
        <p:txBody>
          <a:bodyPr wrap="square" lIns="0" tIns="0" rIns="0" bIns="0" rtlCol="0" anchor="t"/>
          <a:lstStyle/>
          <a:p>
            <a:pPr algn="l" indent="0" marL="0">
              <a:buNone/>
            </a:pPr>
            <a:r>
              <a:rPr lang="en-US" sz="1000" dirty="0">
                <a:solidFill>
                  <a:srgbClr val="8E9C9B"/>
                </a:solidFill>
                <a:latin typeface="Calibri" pitchFamily="34" charset="0"/>
                <a:ea typeface="Calibri" pitchFamily="34" charset="-122"/>
                <a:cs typeface="Calibri" pitchFamily="34" charset="-120"/>
              </a:rPr>
              <a:t>Aufschlag auf den Ask, Leverage in % der Kapazität · *Median aus 60 simulierten Partien ohne menschlichen Spieler</a:t>
            </a:r>
            <a:endParaRPr lang="en-US" sz="1000" dirty="0"/>
          </a:p>
        </p:txBody>
      </p:sp>
      <p:pic>
        <p:nvPicPr>
          <p:cNvPr id="40" name="Image 0" descr="/tmp/claude-0/deck/img/news8.jpg">    </p:cNvPr>
          <p:cNvPicPr>
            <a:picLocks noChangeAspect="1"/>
          </p:cNvPicPr>
          <p:nvPr/>
        </p:nvPicPr>
        <p:blipFill>
          <a:blip r:embed="rId1"/>
          <a:stretch>
            <a:fillRect/>
          </a:stretch>
        </p:blipFill>
        <p:spPr>
          <a:xfrm>
            <a:off x="8001000" y="3063240"/>
            <a:ext cx="3685032" cy="2171904"/>
          </a:xfrm>
          <a:prstGeom prst="rect">
            <a:avLst/>
          </a:prstGeom>
        </p:spPr>
      </p:pic>
      <p:sp>
        <p:nvSpPr>
          <p:cNvPr id="41" name="Shape 36"/>
          <p:cNvSpPr/>
          <p:nvPr/>
        </p:nvSpPr>
        <p:spPr>
          <a:xfrm>
            <a:off x="8001000" y="3063240"/>
            <a:ext cx="3685032" cy="2171904"/>
          </a:xfrm>
          <a:prstGeom prst="rect">
            <a:avLst/>
          </a:prstGeom>
          <a:ln w="9525">
            <a:solidFill>
              <a:srgbClr val="33474B"/>
            </a:solidFill>
            <a:prstDash val="solid"/>
          </a:ln>
        </p:spPr>
      </p:sp>
      <p:sp>
        <p:nvSpPr>
          <p:cNvPr id="42" name="Text 37"/>
          <p:cNvSpPr txBox="1"/>
          <p:nvPr/>
        </p:nvSpPr>
        <p:spPr>
          <a:xfrm>
            <a:off x="7726680" y="5290008"/>
            <a:ext cx="4233672"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Meldungen: Überboten – mit Gebot und Preis des Gewinners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3B82F6"/>
                </a:solidFill>
                <a:latin typeface="Calibri" pitchFamily="34" charset="0"/>
                <a:ea typeface="Calibri" pitchFamily="34" charset="-122"/>
                <a:cs typeface="Calibri" pitchFamily="34" charset="-120"/>
              </a:rPr>
              <a:t>FINANZIERUNG</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Drei Effekte von Leverage</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3B82F6"/>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3B82F6"/>
                </a:solidFill>
                <a:latin typeface="Calibri" pitchFamily="34" charset="0"/>
                <a:ea typeface="Calibri" pitchFamily="34" charset="-122"/>
                <a:cs typeface="Calibri" pitchFamily="34" charset="-120"/>
              </a:rPr>
              <a:t>B · DEAL SELECTION &amp; EXECUTION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19</a:t>
            </a:r>
            <a:endParaRPr lang="en-US" sz="900" dirty="0"/>
          </a:p>
        </p:txBody>
      </p:sp>
      <p:sp>
        <p:nvSpPr>
          <p:cNvPr id="9" name="Shape 6"/>
          <p:cNvSpPr/>
          <p:nvPr/>
        </p:nvSpPr>
        <p:spPr>
          <a:xfrm>
            <a:off x="502920" y="1554480"/>
            <a:ext cx="3545738" cy="4754880"/>
          </a:xfrm>
          <a:prstGeom prst="roundRect">
            <a:avLst>
              <a:gd name="adj" fmla="val 2063"/>
            </a:avLst>
          </a:prstGeom>
          <a:solidFill>
            <a:srgbClr val="161F22"/>
          </a:solidFill>
          <a:ln w="12700">
            <a:solidFill>
              <a:srgbClr val="DCB264"/>
            </a:solidFill>
            <a:prstDash val="solid"/>
          </a:ln>
        </p:spPr>
      </p:sp>
      <p:sp>
        <p:nvSpPr>
          <p:cNvPr id="10" name="Shape 7"/>
          <p:cNvSpPr/>
          <p:nvPr/>
        </p:nvSpPr>
        <p:spPr>
          <a:xfrm>
            <a:off x="667512" y="1673352"/>
            <a:ext cx="384048" cy="384048"/>
          </a:xfrm>
          <a:prstGeom prst="ellipse">
            <a:avLst/>
          </a:prstGeom>
          <a:solidFill>
            <a:srgbClr val="DCB264"/>
          </a:solidFill>
          <a:ln/>
        </p:spPr>
      </p:sp>
      <p:sp>
        <p:nvSpPr>
          <p:cNvPr id="11" name="Text 8"/>
          <p:cNvSpPr txBox="1"/>
          <p:nvPr/>
        </p:nvSpPr>
        <p:spPr>
          <a:xfrm>
            <a:off x="667512" y="1673352"/>
            <a:ext cx="384048" cy="384048"/>
          </a:xfrm>
          <a:prstGeom prst="rect">
            <a:avLst/>
          </a:prstGeom>
          <a:noFill/>
          <a:ln/>
        </p:spPr>
        <p:txBody>
          <a:bodyPr wrap="square" lIns="0" tIns="0" rIns="0" bIns="0" rtlCol="0" anchor="ctr"/>
          <a:lstStyle/>
          <a:p>
            <a:pPr algn="ctr" indent="0" marL="0">
              <a:buNone/>
            </a:pPr>
            <a:r>
              <a:rPr lang="en-US" sz="1400" b="1" dirty="0">
                <a:solidFill>
                  <a:srgbClr val="0C1214"/>
                </a:solidFill>
                <a:latin typeface="Calibri" pitchFamily="34" charset="0"/>
                <a:ea typeface="Calibri" pitchFamily="34" charset="-122"/>
                <a:cs typeface="Calibri" pitchFamily="34" charset="-120"/>
              </a:rPr>
              <a:t>a</a:t>
            </a:r>
            <a:endParaRPr lang="en-US" sz="1400" dirty="0"/>
          </a:p>
        </p:txBody>
      </p:sp>
      <p:sp>
        <p:nvSpPr>
          <p:cNvPr id="12" name="Text 9"/>
          <p:cNvSpPr txBox="1"/>
          <p:nvPr/>
        </p:nvSpPr>
        <p:spPr>
          <a:xfrm>
            <a:off x="1161288" y="1673352"/>
            <a:ext cx="2768498" cy="384048"/>
          </a:xfrm>
          <a:prstGeom prst="rect">
            <a:avLst/>
          </a:prstGeom>
          <a:noFill/>
          <a:ln/>
        </p:spPr>
        <p:txBody>
          <a:bodyPr wrap="square" lIns="0" tIns="0" rIns="0" bIns="0" rtlCol="0" anchor="ctr"/>
          <a:lstStyle/>
          <a:p>
            <a:pPr algn="l" indent="0" marL="0">
              <a:buNone/>
            </a:pPr>
            <a:r>
              <a:rPr lang="en-US" sz="1500" b="1" dirty="0">
                <a:solidFill>
                  <a:srgbClr val="DCB264"/>
                </a:solidFill>
                <a:latin typeface="Calibri" pitchFamily="34" charset="0"/>
                <a:ea typeface="Calibri" pitchFamily="34" charset="-122"/>
                <a:cs typeface="Calibri" pitchFamily="34" charset="-120"/>
              </a:rPr>
              <a:t>Zinsen steigen mit Leverage</a:t>
            </a:r>
            <a:endParaRPr lang="en-US" sz="1500" dirty="0"/>
          </a:p>
        </p:txBody>
      </p:sp>
      <p:graphicFrame>
        <p:nvGraphicFramePr>
          <p:cNvPr id="13" name="Chart 0" descr=""/>
          <p:cNvGraphicFramePr/>
          <p:nvPr/>
        </p:nvGraphicFramePr>
        <p:xfrm>
          <a:off x="594360" y="2148840"/>
          <a:ext cx="3362858" cy="2240280"/>
        </p:xfrm>
        <a:graphic xmlns:a="http://schemas.openxmlformats.org/drawingml/2006/main">
          <a:graphicData uri="http://schemas.openxmlformats.org/drawingml/2006/chart">
            <c:chart xmlns:c="http://schemas.openxmlformats.org/drawingml/2006/chart" r:id="rId1"/>
          </a:graphicData>
        </a:graphic>
      </p:graphicFrame>
      <p:sp>
        <p:nvSpPr>
          <p:cNvPr id="14" name="Text 10"/>
          <p:cNvSpPr txBox="1"/>
          <p:nvPr/>
        </p:nvSpPr>
        <p:spPr>
          <a:xfrm>
            <a:off x="685800" y="4480560"/>
            <a:ext cx="3179978" cy="914400"/>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Bis 3,0× gilt die Basismarge, darüber kostet jeder Turn 0,85 pp mehr (Margin Grid). Bei 5,5× zahlt der Fonds 8,1 % statt 6,0 %.</a:t>
            </a:r>
            <a:endParaRPr lang="en-US" sz="1150" dirty="0"/>
          </a:p>
        </p:txBody>
      </p:sp>
      <p:sp>
        <p:nvSpPr>
          <p:cNvPr id="15" name="Shape 11"/>
          <p:cNvSpPr/>
          <p:nvPr/>
        </p:nvSpPr>
        <p:spPr>
          <a:xfrm>
            <a:off x="640080" y="5440680"/>
            <a:ext cx="3271418" cy="731520"/>
          </a:xfrm>
          <a:prstGeom prst="roundRect">
            <a:avLst>
              <a:gd name="adj" fmla="val 10000"/>
            </a:avLst>
          </a:prstGeom>
          <a:solidFill>
            <a:srgbClr val="1C282B"/>
          </a:solidFill>
          <a:ln w="12700">
            <a:solidFill>
              <a:srgbClr val="DCB264"/>
            </a:solidFill>
            <a:prstDash val="solid"/>
          </a:ln>
        </p:spPr>
      </p:sp>
      <p:sp>
        <p:nvSpPr>
          <p:cNvPr id="16" name="Text 12"/>
          <p:cNvSpPr txBox="1"/>
          <p:nvPr/>
        </p:nvSpPr>
        <p:spPr>
          <a:xfrm>
            <a:off x="822960" y="5440680"/>
            <a:ext cx="2905658" cy="731520"/>
          </a:xfrm>
          <a:prstGeom prst="rect">
            <a:avLst/>
          </a:prstGeom>
          <a:noFill/>
          <a:ln/>
        </p:spPr>
        <p:txBody>
          <a:bodyPr wrap="square" lIns="0" tIns="0" rIns="0" bIns="0" rtlCol="0" anchor="ctr"/>
          <a:lstStyle/>
          <a:p>
            <a:pPr algn="ctr" indent="0" marL="0">
              <a:buNone/>
            </a:pPr>
            <a:r>
              <a:rPr lang="en-US" sz="1100" b="1" dirty="0">
                <a:solidFill>
                  <a:srgbClr val="DCB264"/>
                </a:solidFill>
                <a:latin typeface="Calibri" pitchFamily="34" charset="0"/>
                <a:ea typeface="Calibri" pitchFamily="34" charset="-122"/>
                <a:cs typeface="Calibri" pitchFamily="34" charset="-120"/>
              </a:rPr>
              <a:t>Zins = 6,5 % − 0,25 pp × Financing + 0,85 pp je Turn über 3,0×</a:t>
            </a:r>
            <a:endParaRPr lang="en-US" sz="1100" dirty="0"/>
          </a:p>
        </p:txBody>
      </p:sp>
      <p:sp>
        <p:nvSpPr>
          <p:cNvPr id="17" name="Shape 13"/>
          <p:cNvSpPr/>
          <p:nvPr/>
        </p:nvSpPr>
        <p:spPr>
          <a:xfrm>
            <a:off x="4322978" y="1554480"/>
            <a:ext cx="3545738" cy="4754880"/>
          </a:xfrm>
          <a:prstGeom prst="roundRect">
            <a:avLst>
              <a:gd name="adj" fmla="val 2063"/>
            </a:avLst>
          </a:prstGeom>
          <a:solidFill>
            <a:srgbClr val="161F22"/>
          </a:solidFill>
          <a:ln w="12700">
            <a:solidFill>
              <a:srgbClr val="5FC4B1"/>
            </a:solidFill>
            <a:prstDash val="solid"/>
          </a:ln>
        </p:spPr>
      </p:sp>
      <p:sp>
        <p:nvSpPr>
          <p:cNvPr id="18" name="Shape 14"/>
          <p:cNvSpPr/>
          <p:nvPr/>
        </p:nvSpPr>
        <p:spPr>
          <a:xfrm>
            <a:off x="4487570" y="1673352"/>
            <a:ext cx="384048" cy="384048"/>
          </a:xfrm>
          <a:prstGeom prst="ellipse">
            <a:avLst/>
          </a:prstGeom>
          <a:solidFill>
            <a:srgbClr val="5FC4B1"/>
          </a:solidFill>
          <a:ln/>
        </p:spPr>
      </p:sp>
      <p:sp>
        <p:nvSpPr>
          <p:cNvPr id="19" name="Text 15"/>
          <p:cNvSpPr txBox="1"/>
          <p:nvPr/>
        </p:nvSpPr>
        <p:spPr>
          <a:xfrm>
            <a:off x="4487570" y="1673352"/>
            <a:ext cx="384048" cy="384048"/>
          </a:xfrm>
          <a:prstGeom prst="rect">
            <a:avLst/>
          </a:prstGeom>
          <a:noFill/>
          <a:ln/>
        </p:spPr>
        <p:txBody>
          <a:bodyPr wrap="square" lIns="0" tIns="0" rIns="0" bIns="0" rtlCol="0" anchor="ctr"/>
          <a:lstStyle/>
          <a:p>
            <a:pPr algn="ctr" indent="0" marL="0">
              <a:buNone/>
            </a:pPr>
            <a:r>
              <a:rPr lang="en-US" sz="1400" b="1" dirty="0">
                <a:solidFill>
                  <a:srgbClr val="0C1214"/>
                </a:solidFill>
                <a:latin typeface="Calibri" pitchFamily="34" charset="0"/>
                <a:ea typeface="Calibri" pitchFamily="34" charset="-122"/>
                <a:cs typeface="Calibri" pitchFamily="34" charset="-120"/>
              </a:rPr>
              <a:t>b</a:t>
            </a:r>
            <a:endParaRPr lang="en-US" sz="1400" dirty="0"/>
          </a:p>
        </p:txBody>
      </p:sp>
      <p:sp>
        <p:nvSpPr>
          <p:cNvPr id="20" name="Text 16"/>
          <p:cNvSpPr txBox="1"/>
          <p:nvPr/>
        </p:nvSpPr>
        <p:spPr>
          <a:xfrm>
            <a:off x="4981346" y="1673352"/>
            <a:ext cx="2768498" cy="384048"/>
          </a:xfrm>
          <a:prstGeom prst="rect">
            <a:avLst/>
          </a:prstGeom>
          <a:noFill/>
          <a:ln/>
        </p:spPr>
        <p:txBody>
          <a:bodyPr wrap="square" lIns="0" tIns="0" rIns="0" bIns="0" rtlCol="0" anchor="ctr"/>
          <a:lstStyle/>
          <a:p>
            <a:pPr algn="l" indent="0" marL="0">
              <a:buNone/>
            </a:pPr>
            <a:r>
              <a:rPr lang="en-US" sz="1500" b="1" dirty="0">
                <a:solidFill>
                  <a:srgbClr val="5FC4B1"/>
                </a:solidFill>
                <a:latin typeface="Calibri" pitchFamily="34" charset="0"/>
                <a:ea typeface="Calibri" pitchFamily="34" charset="-122"/>
                <a:cs typeface="Calibri" pitchFamily="34" charset="-120"/>
              </a:rPr>
              <a:t>Tax Shield – mit Deckel</a:t>
            </a:r>
            <a:endParaRPr lang="en-US" sz="1500" dirty="0"/>
          </a:p>
        </p:txBody>
      </p:sp>
      <p:graphicFrame>
        <p:nvGraphicFramePr>
          <p:cNvPr id="21" name="Chart 1" descr=""/>
          <p:cNvGraphicFramePr/>
          <p:nvPr/>
        </p:nvGraphicFramePr>
        <p:xfrm>
          <a:off x="4414418" y="2148840"/>
          <a:ext cx="3362858" cy="2240280"/>
        </p:xfrm>
        <a:graphic xmlns:a="http://schemas.openxmlformats.org/drawingml/2006/main">
          <a:graphicData uri="http://schemas.openxmlformats.org/drawingml/2006/chart">
            <c:chart xmlns:c="http://schemas.openxmlformats.org/drawingml/2006/chart" r:id="rId2"/>
          </a:graphicData>
        </a:graphic>
      </p:graphicFrame>
      <p:sp>
        <p:nvSpPr>
          <p:cNvPr id="22" name="Text 17"/>
          <p:cNvSpPr txBox="1"/>
          <p:nvPr/>
        </p:nvSpPr>
        <p:spPr>
          <a:xfrm>
            <a:off x="4505858" y="4480560"/>
            <a:ext cx="3179978" cy="914400"/>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Zinsen mindern die Steuer (30 %), aber nur bis 30 % des EBITDA (Zinsschranke). Ab rund 4,2× bringt jeder weitere Zins-Euro keinen Steuervorteil mehr.</a:t>
            </a:r>
            <a:endParaRPr lang="en-US" sz="1150" dirty="0"/>
          </a:p>
        </p:txBody>
      </p:sp>
      <p:sp>
        <p:nvSpPr>
          <p:cNvPr id="23" name="Shape 18"/>
          <p:cNvSpPr/>
          <p:nvPr/>
        </p:nvSpPr>
        <p:spPr>
          <a:xfrm>
            <a:off x="4460138" y="5440680"/>
            <a:ext cx="3271418" cy="731520"/>
          </a:xfrm>
          <a:prstGeom prst="roundRect">
            <a:avLst>
              <a:gd name="adj" fmla="val 10000"/>
            </a:avLst>
          </a:prstGeom>
          <a:solidFill>
            <a:srgbClr val="1C282B"/>
          </a:solidFill>
          <a:ln w="12700">
            <a:solidFill>
              <a:srgbClr val="5FC4B1"/>
            </a:solidFill>
            <a:prstDash val="solid"/>
          </a:ln>
        </p:spPr>
      </p:sp>
      <p:sp>
        <p:nvSpPr>
          <p:cNvPr id="24" name="Text 19"/>
          <p:cNvSpPr txBox="1"/>
          <p:nvPr/>
        </p:nvSpPr>
        <p:spPr>
          <a:xfrm>
            <a:off x="4643018" y="5440680"/>
            <a:ext cx="2905658" cy="731520"/>
          </a:xfrm>
          <a:prstGeom prst="rect">
            <a:avLst/>
          </a:prstGeom>
          <a:noFill/>
          <a:ln/>
        </p:spPr>
        <p:txBody>
          <a:bodyPr wrap="square" lIns="0" tIns="0" rIns="0" bIns="0" rtlCol="0" anchor="ctr"/>
          <a:lstStyle/>
          <a:p>
            <a:pPr algn="ctr" indent="0" marL="0">
              <a:buNone/>
            </a:pPr>
            <a:r>
              <a:rPr lang="en-US" sz="1100" b="1" dirty="0">
                <a:solidFill>
                  <a:srgbClr val="5FC4B1"/>
                </a:solidFill>
                <a:latin typeface="Calibri" pitchFamily="34" charset="0"/>
                <a:ea typeface="Calibri" pitchFamily="34" charset="-122"/>
                <a:cs typeface="Calibri" pitchFamily="34" charset="-120"/>
              </a:rPr>
              <a:t>Beispiel EBITDA 10 Mio. € · Ersparnis in Mio. € p. a. · § 4h EStG</a:t>
            </a:r>
            <a:endParaRPr lang="en-US" sz="1100" dirty="0"/>
          </a:p>
        </p:txBody>
      </p:sp>
      <p:sp>
        <p:nvSpPr>
          <p:cNvPr id="25" name="Shape 20"/>
          <p:cNvSpPr/>
          <p:nvPr/>
        </p:nvSpPr>
        <p:spPr>
          <a:xfrm>
            <a:off x="8143037" y="1554480"/>
            <a:ext cx="3545738" cy="4754880"/>
          </a:xfrm>
          <a:prstGeom prst="roundRect">
            <a:avLst>
              <a:gd name="adj" fmla="val 2063"/>
            </a:avLst>
          </a:prstGeom>
          <a:solidFill>
            <a:srgbClr val="161F22"/>
          </a:solidFill>
          <a:ln w="12700">
            <a:solidFill>
              <a:srgbClr val="3B82F6"/>
            </a:solidFill>
            <a:prstDash val="solid"/>
          </a:ln>
        </p:spPr>
      </p:sp>
      <p:sp>
        <p:nvSpPr>
          <p:cNvPr id="26" name="Shape 21"/>
          <p:cNvSpPr/>
          <p:nvPr/>
        </p:nvSpPr>
        <p:spPr>
          <a:xfrm>
            <a:off x="8307629" y="1673352"/>
            <a:ext cx="384048" cy="384048"/>
          </a:xfrm>
          <a:prstGeom prst="ellipse">
            <a:avLst/>
          </a:prstGeom>
          <a:solidFill>
            <a:srgbClr val="3B82F6"/>
          </a:solidFill>
          <a:ln/>
        </p:spPr>
      </p:sp>
      <p:sp>
        <p:nvSpPr>
          <p:cNvPr id="27" name="Text 22"/>
          <p:cNvSpPr txBox="1"/>
          <p:nvPr/>
        </p:nvSpPr>
        <p:spPr>
          <a:xfrm>
            <a:off x="8307629" y="1673352"/>
            <a:ext cx="384048" cy="384048"/>
          </a:xfrm>
          <a:prstGeom prst="rect">
            <a:avLst/>
          </a:prstGeom>
          <a:noFill/>
          <a:ln/>
        </p:spPr>
        <p:txBody>
          <a:bodyPr wrap="square" lIns="0" tIns="0" rIns="0" bIns="0" rtlCol="0" anchor="ctr"/>
          <a:lstStyle/>
          <a:p>
            <a:pPr algn="ctr" indent="0" marL="0">
              <a:buNone/>
            </a:pPr>
            <a:r>
              <a:rPr lang="en-US" sz="1400" b="1" dirty="0">
                <a:solidFill>
                  <a:srgbClr val="0C1214"/>
                </a:solidFill>
                <a:latin typeface="Calibri" pitchFamily="34" charset="0"/>
                <a:ea typeface="Calibri" pitchFamily="34" charset="-122"/>
                <a:cs typeface="Calibri" pitchFamily="34" charset="-120"/>
              </a:rPr>
              <a:t>c</a:t>
            </a:r>
            <a:endParaRPr lang="en-US" sz="1400" dirty="0"/>
          </a:p>
        </p:txBody>
      </p:sp>
      <p:sp>
        <p:nvSpPr>
          <p:cNvPr id="28" name="Text 23"/>
          <p:cNvSpPr txBox="1"/>
          <p:nvPr/>
        </p:nvSpPr>
        <p:spPr>
          <a:xfrm>
            <a:off x="8801405" y="1673352"/>
            <a:ext cx="2768498" cy="384048"/>
          </a:xfrm>
          <a:prstGeom prst="rect">
            <a:avLst/>
          </a:prstGeom>
          <a:noFill/>
          <a:ln/>
        </p:spPr>
        <p:txBody>
          <a:bodyPr wrap="square" lIns="0" tIns="0" rIns="0" bIns="0" rtlCol="0" anchor="ctr"/>
          <a:lstStyle/>
          <a:p>
            <a:pPr algn="l" indent="0" marL="0">
              <a:buNone/>
            </a:pPr>
            <a:r>
              <a:rPr lang="en-US" sz="1500" b="1" dirty="0">
                <a:solidFill>
                  <a:srgbClr val="3B82F6"/>
                </a:solidFill>
                <a:latin typeface="Calibri" pitchFamily="34" charset="0"/>
                <a:ea typeface="Calibri" pitchFamily="34" charset="-122"/>
                <a:cs typeface="Calibri" pitchFamily="34" charset="-120"/>
              </a:rPr>
              <a:t>Leverage als Renditetreiber</a:t>
            </a:r>
            <a:endParaRPr lang="en-US" sz="1500" dirty="0"/>
          </a:p>
        </p:txBody>
      </p:sp>
      <p:graphicFrame>
        <p:nvGraphicFramePr>
          <p:cNvPr id="29" name="Chart 2" descr=""/>
          <p:cNvGraphicFramePr/>
          <p:nvPr/>
        </p:nvGraphicFramePr>
        <p:xfrm>
          <a:off x="8234477" y="2148840"/>
          <a:ext cx="3362858" cy="2240280"/>
        </p:xfrm>
        <a:graphic xmlns:a="http://schemas.openxmlformats.org/drawingml/2006/main">
          <a:graphicData uri="http://schemas.openxmlformats.org/drawingml/2006/chart">
            <c:chart xmlns:c="http://schemas.openxmlformats.org/drawingml/2006/chart" r:id="rId3"/>
          </a:graphicData>
        </a:graphic>
      </p:graphicFrame>
      <p:sp>
        <p:nvSpPr>
          <p:cNvPr id="30" name="Text 24"/>
          <p:cNvSpPr txBox="1"/>
          <p:nvPr/>
        </p:nvSpPr>
        <p:spPr>
          <a:xfrm>
            <a:off x="8325917" y="4480560"/>
            <a:ext cx="3179978" cy="914400"/>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Weniger Eigenkapital für denselben Kaufpreis, die Tilgung wächst dem Fonds als Wert zu: MOIC 1,63× ohne, 2,25× mit 5,5× Leverage. Die Kehrseite: Abschwünge treffen härter.</a:t>
            </a:r>
            <a:endParaRPr lang="en-US" sz="1150" dirty="0"/>
          </a:p>
        </p:txBody>
      </p:sp>
      <p:sp>
        <p:nvSpPr>
          <p:cNvPr id="31" name="Shape 25"/>
          <p:cNvSpPr/>
          <p:nvPr/>
        </p:nvSpPr>
        <p:spPr>
          <a:xfrm>
            <a:off x="8280197" y="5440680"/>
            <a:ext cx="3271418" cy="731520"/>
          </a:xfrm>
          <a:prstGeom prst="roundRect">
            <a:avLst>
              <a:gd name="adj" fmla="val 10000"/>
            </a:avLst>
          </a:prstGeom>
          <a:solidFill>
            <a:srgbClr val="1C282B"/>
          </a:solidFill>
          <a:ln w="12700">
            <a:solidFill>
              <a:srgbClr val="3B82F6"/>
            </a:solidFill>
            <a:prstDash val="solid"/>
          </a:ln>
        </p:spPr>
      </p:sp>
      <p:sp>
        <p:nvSpPr>
          <p:cNvPr id="32" name="Text 26"/>
          <p:cNvSpPr txBox="1"/>
          <p:nvPr/>
        </p:nvSpPr>
        <p:spPr>
          <a:xfrm>
            <a:off x="8463077" y="5440680"/>
            <a:ext cx="2905658" cy="731520"/>
          </a:xfrm>
          <a:prstGeom prst="rect">
            <a:avLst/>
          </a:prstGeom>
          <a:noFill/>
          <a:ln/>
        </p:spPr>
        <p:txBody>
          <a:bodyPr wrap="square" lIns="0" tIns="0" rIns="0" bIns="0" rtlCol="0" anchor="ctr"/>
          <a:lstStyle/>
          <a:p>
            <a:pPr algn="ctr" indent="0" marL="0">
              <a:buNone/>
            </a:pPr>
            <a:r>
              <a:rPr lang="en-US" sz="1100" b="1" dirty="0">
                <a:solidFill>
                  <a:srgbClr val="3B82F6"/>
                </a:solidFill>
                <a:latin typeface="Calibri" pitchFamily="34" charset="0"/>
                <a:ea typeface="Calibri" pitchFamily="34" charset="-122"/>
                <a:cs typeface="Calibri" pitchFamily="34" charset="-120"/>
              </a:rPr>
              <a:t>Covenant = max(4,0× ; Einstieg + 1,2 + 0,1 × Financing) · 2 Brüche in Folge = Enforcement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3B82F6"/>
                </a:solidFill>
                <a:latin typeface="Calibri" pitchFamily="34" charset="0"/>
                <a:ea typeface="Calibri" pitchFamily="34" charset="-122"/>
                <a:cs typeface="Calibri" pitchFamily="34" charset="-120"/>
              </a:rPr>
              <a:t>UNDERWRITING</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Sources &amp; Uses und Base Case vor dem Gebot</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3B82F6"/>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3B82F6"/>
                </a:solidFill>
                <a:latin typeface="Calibri" pitchFamily="34" charset="0"/>
                <a:ea typeface="Calibri" pitchFamily="34" charset="-122"/>
                <a:cs typeface="Calibri" pitchFamily="34" charset="-120"/>
              </a:rPr>
              <a:t>B · DEAL SELECTION &amp; EXECUTION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20</a:t>
            </a:r>
            <a:endParaRPr lang="en-US" sz="900" dirty="0"/>
          </a:p>
        </p:txBody>
      </p:sp>
      <p:sp>
        <p:nvSpPr>
          <p:cNvPr id="9" name="Text 6"/>
          <p:cNvSpPr txBox="1"/>
          <p:nvPr/>
        </p:nvSpPr>
        <p:spPr>
          <a:xfrm>
            <a:off x="502920" y="1600200"/>
            <a:ext cx="4754880" cy="228600"/>
          </a:xfrm>
          <a:prstGeom prst="rect">
            <a:avLst/>
          </a:prstGeom>
          <a:noFill/>
          <a:ln/>
        </p:spPr>
        <p:txBody>
          <a:bodyPr wrap="square" lIns="0" tIns="0" rIns="0" bIns="0" rtlCol="0" anchor="t"/>
          <a:lstStyle/>
          <a:p>
            <a:pPr algn="l" indent="0" marL="0">
              <a:buNone/>
            </a:pPr>
            <a:r>
              <a:rPr lang="en-US" sz="1000" b="1" spc="150" kern="0" dirty="0">
                <a:solidFill>
                  <a:srgbClr val="DCB264"/>
                </a:solidFill>
                <a:latin typeface="Calibri" pitchFamily="34" charset="0"/>
                <a:ea typeface="Calibri" pitchFamily="34" charset="-122"/>
                <a:cs typeface="Calibri" pitchFamily="34" charset="-120"/>
              </a:rPr>
              <a:t>SOURCES &amp; USES – BEISPIEL IN MIO. €</a:t>
            </a:r>
            <a:endParaRPr lang="en-US" sz="1000" dirty="0"/>
          </a:p>
        </p:txBody>
      </p:sp>
      <p:sp>
        <p:nvSpPr>
          <p:cNvPr id="10" name="Shape 7"/>
          <p:cNvSpPr/>
          <p:nvPr/>
        </p:nvSpPr>
        <p:spPr>
          <a:xfrm>
            <a:off x="685800" y="2156908"/>
            <a:ext cx="1417320" cy="2689412"/>
          </a:xfrm>
          <a:prstGeom prst="rect">
            <a:avLst/>
          </a:prstGeom>
          <a:solidFill>
            <a:srgbClr val="3B82F6"/>
          </a:solidFill>
          <a:ln/>
        </p:spPr>
      </p:sp>
      <p:sp>
        <p:nvSpPr>
          <p:cNvPr id="11" name="Text 8"/>
          <p:cNvSpPr txBox="1"/>
          <p:nvPr/>
        </p:nvSpPr>
        <p:spPr>
          <a:xfrm>
            <a:off x="685800" y="2156908"/>
            <a:ext cx="1417320" cy="2689412"/>
          </a:xfrm>
          <a:prstGeom prst="rect">
            <a:avLst/>
          </a:prstGeom>
          <a:noFill/>
          <a:ln/>
        </p:spPr>
        <p:txBody>
          <a:bodyPr wrap="square" lIns="0" tIns="0" rIns="0" bIns="0" rtlCol="0" anchor="ctr"/>
          <a:lstStyle/>
          <a:p>
            <a:pPr algn="ctr" indent="0" marL="0">
              <a:buNone/>
            </a:pPr>
            <a:r>
              <a:rPr lang="en-US" sz="1200" b="1" dirty="0">
                <a:solidFill>
                  <a:srgbClr val="0C1214"/>
                </a:solidFill>
                <a:latin typeface="Calibri" pitchFamily="34" charset="0"/>
                <a:ea typeface="Calibri" pitchFamily="34" charset="-122"/>
                <a:cs typeface="Calibri" pitchFamily="34" charset="-120"/>
              </a:rPr>
              <a:t>Enterprise Value</a:t>
            </a:r>
            <a:endParaRPr lang="en-US" sz="1200" dirty="0"/>
          </a:p>
          <a:p>
            <a:pPr algn="ctr" indent="0" marL="0">
              <a:buNone/>
            </a:pPr>
            <a:r>
              <a:rPr lang="en-US" sz="1200" b="1" dirty="0">
                <a:solidFill>
                  <a:srgbClr val="0C1214"/>
                </a:solidFill>
                <a:latin typeface="Calibri" pitchFamily="34" charset="0"/>
                <a:ea typeface="Calibri" pitchFamily="34" charset="-122"/>
                <a:cs typeface="Calibri" pitchFamily="34" charset="-120"/>
              </a:rPr>
              <a:t>100</a:t>
            </a:r>
            <a:endParaRPr lang="en-US" sz="1200" dirty="0"/>
          </a:p>
        </p:txBody>
      </p:sp>
      <p:sp>
        <p:nvSpPr>
          <p:cNvPr id="12" name="Shape 9"/>
          <p:cNvSpPr/>
          <p:nvPr/>
        </p:nvSpPr>
        <p:spPr>
          <a:xfrm>
            <a:off x="685800" y="2103120"/>
            <a:ext cx="1417320" cy="53788"/>
          </a:xfrm>
          <a:prstGeom prst="rect">
            <a:avLst/>
          </a:prstGeom>
          <a:solidFill>
            <a:srgbClr val="E3897F"/>
          </a:solidFill>
          <a:ln/>
        </p:spPr>
      </p:sp>
      <p:sp>
        <p:nvSpPr>
          <p:cNvPr id="13" name="Text 10"/>
          <p:cNvSpPr txBox="1"/>
          <p:nvPr/>
        </p:nvSpPr>
        <p:spPr>
          <a:xfrm>
            <a:off x="2176272" y="1993392"/>
            <a:ext cx="1371600" cy="274320"/>
          </a:xfrm>
          <a:prstGeom prst="rect">
            <a:avLst/>
          </a:prstGeom>
          <a:noFill/>
          <a:ln/>
        </p:spPr>
        <p:txBody>
          <a:bodyPr wrap="square" lIns="0" tIns="0" rIns="0" bIns="0" rtlCol="0" anchor="t"/>
          <a:lstStyle/>
          <a:p>
            <a:pPr algn="l" indent="0" marL="0">
              <a:buNone/>
            </a:pPr>
            <a:r>
              <a:rPr lang="en-US" sz="1100" b="1" dirty="0">
                <a:solidFill>
                  <a:srgbClr val="E3897F"/>
                </a:solidFill>
                <a:latin typeface="Calibri" pitchFamily="34" charset="0"/>
                <a:ea typeface="Calibri" pitchFamily="34" charset="-122"/>
                <a:cs typeface="Calibri" pitchFamily="34" charset="-120"/>
              </a:rPr>
              <a:t>Entry Fee: 2</a:t>
            </a:r>
            <a:endParaRPr lang="en-US" sz="1100" dirty="0"/>
          </a:p>
        </p:txBody>
      </p:sp>
      <p:sp>
        <p:nvSpPr>
          <p:cNvPr id="14" name="Text 11"/>
          <p:cNvSpPr txBox="1"/>
          <p:nvPr/>
        </p:nvSpPr>
        <p:spPr>
          <a:xfrm>
            <a:off x="685800" y="1810512"/>
            <a:ext cx="1417320" cy="256032"/>
          </a:xfrm>
          <a:prstGeom prst="rect">
            <a:avLst/>
          </a:prstGeom>
          <a:noFill/>
          <a:ln/>
        </p:spPr>
        <p:txBody>
          <a:bodyPr wrap="square" lIns="0" tIns="0" rIns="0" bIns="0" rtlCol="0" anchor="t"/>
          <a:lstStyle/>
          <a:p>
            <a:pPr algn="ctr" indent="0" marL="0">
              <a:buNone/>
            </a:pPr>
            <a:r>
              <a:rPr lang="en-US" sz="1300" b="1" dirty="0">
                <a:solidFill>
                  <a:srgbClr val="EDF1EE"/>
                </a:solidFill>
                <a:latin typeface="Calibri" pitchFamily="34" charset="0"/>
                <a:ea typeface="Calibri" pitchFamily="34" charset="-122"/>
                <a:cs typeface="Calibri" pitchFamily="34" charset="-120"/>
              </a:rPr>
              <a:t>= 102</a:t>
            </a:r>
            <a:endParaRPr lang="en-US" sz="1300" dirty="0"/>
          </a:p>
        </p:txBody>
      </p:sp>
      <p:sp>
        <p:nvSpPr>
          <p:cNvPr id="15" name="Text 12"/>
          <p:cNvSpPr txBox="1"/>
          <p:nvPr/>
        </p:nvSpPr>
        <p:spPr>
          <a:xfrm>
            <a:off x="502920" y="4919472"/>
            <a:ext cx="1783080" cy="457200"/>
          </a:xfrm>
          <a:prstGeom prst="rect">
            <a:avLst/>
          </a:prstGeom>
          <a:noFill/>
          <a:ln/>
        </p:spPr>
        <p:txBody>
          <a:bodyPr wrap="square" lIns="0" tIns="0" rIns="0" bIns="0" rtlCol="0" anchor="t"/>
          <a:lstStyle/>
          <a:p>
            <a:pPr algn="ctr" indent="0" marL="0">
              <a:buNone/>
            </a:pPr>
            <a:r>
              <a:rPr lang="en-US" sz="1200" b="1" dirty="0">
                <a:solidFill>
                  <a:srgbClr val="8E9C9B"/>
                </a:solidFill>
                <a:latin typeface="Calibri" pitchFamily="34" charset="0"/>
                <a:ea typeface="Calibri" pitchFamily="34" charset="-122"/>
                <a:cs typeface="Calibri" pitchFamily="34" charset="-120"/>
              </a:rPr>
              <a:t>Uses</a:t>
            </a:r>
            <a:endParaRPr lang="en-US" sz="1200" dirty="0"/>
          </a:p>
          <a:p>
            <a:pPr algn="ctr" indent="0" marL="0">
              <a:buNone/>
            </a:pPr>
            <a:r>
              <a:rPr lang="en-US" sz="1200" b="1" dirty="0">
                <a:solidFill>
                  <a:srgbClr val="8E9C9B"/>
                </a:solidFill>
                <a:latin typeface="Calibri" pitchFamily="34" charset="0"/>
                <a:ea typeface="Calibri" pitchFamily="34" charset="-122"/>
                <a:cs typeface="Calibri" pitchFamily="34" charset="-120"/>
              </a:rPr>
              <a:t>Mittelverwendung</a:t>
            </a:r>
            <a:endParaRPr lang="en-US" sz="1200" dirty="0"/>
          </a:p>
        </p:txBody>
      </p:sp>
      <p:sp>
        <p:nvSpPr>
          <p:cNvPr id="16" name="Shape 13"/>
          <p:cNvSpPr/>
          <p:nvPr/>
        </p:nvSpPr>
        <p:spPr>
          <a:xfrm>
            <a:off x="3246120" y="3770555"/>
            <a:ext cx="1417320" cy="1075765"/>
          </a:xfrm>
          <a:prstGeom prst="rect">
            <a:avLst/>
          </a:prstGeom>
          <a:solidFill>
            <a:srgbClr val="7D8B8C"/>
          </a:solidFill>
          <a:ln/>
        </p:spPr>
      </p:sp>
      <p:sp>
        <p:nvSpPr>
          <p:cNvPr id="17" name="Text 14"/>
          <p:cNvSpPr txBox="1"/>
          <p:nvPr/>
        </p:nvSpPr>
        <p:spPr>
          <a:xfrm>
            <a:off x="3246120" y="3770555"/>
            <a:ext cx="1417320" cy="1075765"/>
          </a:xfrm>
          <a:prstGeom prst="rect">
            <a:avLst/>
          </a:prstGeom>
          <a:noFill/>
          <a:ln/>
        </p:spPr>
        <p:txBody>
          <a:bodyPr wrap="square" lIns="0" tIns="0" rIns="0" bIns="0" rtlCol="0" anchor="ctr"/>
          <a:lstStyle/>
          <a:p>
            <a:pPr algn="ctr" indent="0" marL="0">
              <a:buNone/>
            </a:pPr>
            <a:r>
              <a:rPr lang="en-US" sz="1200" b="1" dirty="0">
                <a:solidFill>
                  <a:srgbClr val="0C1214"/>
                </a:solidFill>
                <a:latin typeface="Calibri" pitchFamily="34" charset="0"/>
                <a:ea typeface="Calibri" pitchFamily="34" charset="-122"/>
                <a:cs typeface="Calibri" pitchFamily="34" charset="-120"/>
              </a:rPr>
              <a:t>Fremdkapital</a:t>
            </a:r>
            <a:endParaRPr lang="en-US" sz="1200" dirty="0"/>
          </a:p>
          <a:p>
            <a:pPr algn="ctr" indent="0" marL="0">
              <a:buNone/>
            </a:pPr>
            <a:r>
              <a:rPr lang="en-US" sz="1200" b="1" dirty="0">
                <a:solidFill>
                  <a:srgbClr val="0C1214"/>
                </a:solidFill>
                <a:latin typeface="Calibri" pitchFamily="34" charset="0"/>
                <a:ea typeface="Calibri" pitchFamily="34" charset="-122"/>
                <a:cs typeface="Calibri" pitchFamily="34" charset="-120"/>
              </a:rPr>
              <a:t>40</a:t>
            </a:r>
            <a:endParaRPr lang="en-US" sz="1200" dirty="0"/>
          </a:p>
        </p:txBody>
      </p:sp>
      <p:sp>
        <p:nvSpPr>
          <p:cNvPr id="18" name="Shape 15"/>
          <p:cNvSpPr/>
          <p:nvPr/>
        </p:nvSpPr>
        <p:spPr>
          <a:xfrm>
            <a:off x="3246120" y="2103120"/>
            <a:ext cx="1417320" cy="1667435"/>
          </a:xfrm>
          <a:prstGeom prst="rect">
            <a:avLst/>
          </a:prstGeom>
          <a:solidFill>
            <a:srgbClr val="DCB264"/>
          </a:solidFill>
          <a:ln/>
        </p:spPr>
      </p:sp>
      <p:sp>
        <p:nvSpPr>
          <p:cNvPr id="19" name="Text 16"/>
          <p:cNvSpPr txBox="1"/>
          <p:nvPr/>
        </p:nvSpPr>
        <p:spPr>
          <a:xfrm>
            <a:off x="3246120" y="2103120"/>
            <a:ext cx="1417320" cy="1667435"/>
          </a:xfrm>
          <a:prstGeom prst="rect">
            <a:avLst/>
          </a:prstGeom>
          <a:noFill/>
          <a:ln/>
        </p:spPr>
        <p:txBody>
          <a:bodyPr wrap="square" lIns="0" tIns="0" rIns="0" bIns="0" rtlCol="0" anchor="ctr"/>
          <a:lstStyle/>
          <a:p>
            <a:pPr algn="ctr" indent="0" marL="0">
              <a:buNone/>
            </a:pPr>
            <a:r>
              <a:rPr lang="en-US" sz="1200" b="1" dirty="0">
                <a:solidFill>
                  <a:srgbClr val="0C1214"/>
                </a:solidFill>
                <a:latin typeface="Calibri" pitchFamily="34" charset="0"/>
                <a:ea typeface="Calibri" pitchFamily="34" charset="-122"/>
                <a:cs typeface="Calibri" pitchFamily="34" charset="-120"/>
              </a:rPr>
              <a:t>Eigenkapital</a:t>
            </a:r>
            <a:endParaRPr lang="en-US" sz="1200" dirty="0"/>
          </a:p>
          <a:p>
            <a:pPr algn="ctr" indent="0" marL="0">
              <a:buNone/>
            </a:pPr>
            <a:r>
              <a:rPr lang="en-US" sz="1200" b="1" dirty="0">
                <a:solidFill>
                  <a:srgbClr val="0C1214"/>
                </a:solidFill>
                <a:latin typeface="Calibri" pitchFamily="34" charset="0"/>
                <a:ea typeface="Calibri" pitchFamily="34" charset="-122"/>
                <a:cs typeface="Calibri" pitchFamily="34" charset="-120"/>
              </a:rPr>
              <a:t>62</a:t>
            </a:r>
            <a:endParaRPr lang="en-US" sz="1200" dirty="0"/>
          </a:p>
        </p:txBody>
      </p:sp>
      <p:sp>
        <p:nvSpPr>
          <p:cNvPr id="20" name="Text 17"/>
          <p:cNvSpPr txBox="1"/>
          <p:nvPr/>
        </p:nvSpPr>
        <p:spPr>
          <a:xfrm>
            <a:off x="3246120" y="1810512"/>
            <a:ext cx="1417320" cy="256032"/>
          </a:xfrm>
          <a:prstGeom prst="rect">
            <a:avLst/>
          </a:prstGeom>
          <a:noFill/>
          <a:ln/>
        </p:spPr>
        <p:txBody>
          <a:bodyPr wrap="square" lIns="0" tIns="0" rIns="0" bIns="0" rtlCol="0" anchor="t"/>
          <a:lstStyle/>
          <a:p>
            <a:pPr algn="ctr" indent="0" marL="0">
              <a:buNone/>
            </a:pPr>
            <a:r>
              <a:rPr lang="en-US" sz="1300" b="1" dirty="0">
                <a:solidFill>
                  <a:srgbClr val="EDF1EE"/>
                </a:solidFill>
                <a:latin typeface="Calibri" pitchFamily="34" charset="0"/>
                <a:ea typeface="Calibri" pitchFamily="34" charset="-122"/>
                <a:cs typeface="Calibri" pitchFamily="34" charset="-120"/>
              </a:rPr>
              <a:t>= 102</a:t>
            </a:r>
            <a:endParaRPr lang="en-US" sz="1300" dirty="0"/>
          </a:p>
        </p:txBody>
      </p:sp>
      <p:sp>
        <p:nvSpPr>
          <p:cNvPr id="21" name="Text 18"/>
          <p:cNvSpPr txBox="1"/>
          <p:nvPr/>
        </p:nvSpPr>
        <p:spPr>
          <a:xfrm>
            <a:off x="3063240" y="4919472"/>
            <a:ext cx="1783080" cy="457200"/>
          </a:xfrm>
          <a:prstGeom prst="rect">
            <a:avLst/>
          </a:prstGeom>
          <a:noFill/>
          <a:ln/>
        </p:spPr>
        <p:txBody>
          <a:bodyPr wrap="square" lIns="0" tIns="0" rIns="0" bIns="0" rtlCol="0" anchor="t"/>
          <a:lstStyle/>
          <a:p>
            <a:pPr algn="ctr" indent="0" marL="0">
              <a:buNone/>
            </a:pPr>
            <a:r>
              <a:rPr lang="en-US" sz="1200" b="1" dirty="0">
                <a:solidFill>
                  <a:srgbClr val="8E9C9B"/>
                </a:solidFill>
                <a:latin typeface="Calibri" pitchFamily="34" charset="0"/>
                <a:ea typeface="Calibri" pitchFamily="34" charset="-122"/>
                <a:cs typeface="Calibri" pitchFamily="34" charset="-120"/>
              </a:rPr>
              <a:t>Sources</a:t>
            </a:r>
            <a:endParaRPr lang="en-US" sz="1200" dirty="0"/>
          </a:p>
          <a:p>
            <a:pPr algn="ctr" indent="0" marL="0">
              <a:buNone/>
            </a:pPr>
            <a:r>
              <a:rPr lang="en-US" sz="1200" b="1" dirty="0">
                <a:solidFill>
                  <a:srgbClr val="8E9C9B"/>
                </a:solidFill>
                <a:latin typeface="Calibri" pitchFamily="34" charset="0"/>
                <a:ea typeface="Calibri" pitchFamily="34" charset="-122"/>
                <a:cs typeface="Calibri" pitchFamily="34" charset="-120"/>
              </a:rPr>
              <a:t>Mittelherkunft</a:t>
            </a:r>
            <a:endParaRPr lang="en-US" sz="1200" dirty="0"/>
          </a:p>
        </p:txBody>
      </p:sp>
      <p:sp>
        <p:nvSpPr>
          <p:cNvPr id="22" name="Text 19"/>
          <p:cNvSpPr txBox="1"/>
          <p:nvPr/>
        </p:nvSpPr>
        <p:spPr>
          <a:xfrm>
            <a:off x="2377440" y="3108960"/>
            <a:ext cx="640080" cy="548640"/>
          </a:xfrm>
          <a:prstGeom prst="rect">
            <a:avLst/>
          </a:prstGeom>
          <a:noFill/>
          <a:ln/>
        </p:spPr>
        <p:txBody>
          <a:bodyPr wrap="square" lIns="0" tIns="0" rIns="0" bIns="0" rtlCol="0" anchor="ctr"/>
          <a:lstStyle/>
          <a:p>
            <a:pPr algn="ctr" indent="0" marL="0">
              <a:buNone/>
            </a:pPr>
            <a:r>
              <a:rPr lang="en-US" sz="3000" b="1" dirty="0">
                <a:solidFill>
                  <a:srgbClr val="8E9C9B"/>
                </a:solidFill>
                <a:latin typeface="Calibri" pitchFamily="34" charset="0"/>
                <a:ea typeface="Calibri" pitchFamily="34" charset="-122"/>
                <a:cs typeface="Calibri" pitchFamily="34" charset="-120"/>
              </a:rPr>
              <a:t>=</a:t>
            </a:r>
            <a:endParaRPr lang="en-US" sz="3000" dirty="0"/>
          </a:p>
        </p:txBody>
      </p:sp>
      <p:sp>
        <p:nvSpPr>
          <p:cNvPr id="23" name="Shape 20"/>
          <p:cNvSpPr/>
          <p:nvPr/>
        </p:nvSpPr>
        <p:spPr>
          <a:xfrm>
            <a:off x="502920" y="5440680"/>
            <a:ext cx="4754880" cy="548640"/>
          </a:xfrm>
          <a:prstGeom prst="roundRect">
            <a:avLst>
              <a:gd name="adj" fmla="val 13333"/>
            </a:avLst>
          </a:prstGeom>
          <a:solidFill>
            <a:srgbClr val="1C282B"/>
          </a:solidFill>
          <a:ln w="12700">
            <a:solidFill>
              <a:srgbClr val="DCB264"/>
            </a:solidFill>
            <a:prstDash val="solid"/>
          </a:ln>
        </p:spPr>
      </p:sp>
      <p:sp>
        <p:nvSpPr>
          <p:cNvPr id="24" name="Text 21"/>
          <p:cNvSpPr txBox="1"/>
          <p:nvPr/>
        </p:nvSpPr>
        <p:spPr>
          <a:xfrm>
            <a:off x="685800" y="5440680"/>
            <a:ext cx="4389120" cy="548640"/>
          </a:xfrm>
          <a:prstGeom prst="rect">
            <a:avLst/>
          </a:prstGeom>
          <a:noFill/>
          <a:ln/>
        </p:spPr>
        <p:txBody>
          <a:bodyPr wrap="square" lIns="0" tIns="0" rIns="0" bIns="0" rtlCol="0" anchor="ctr"/>
          <a:lstStyle/>
          <a:p>
            <a:pPr algn="ctr" indent="0" marL="0">
              <a:buNone/>
            </a:pPr>
            <a:r>
              <a:rPr lang="en-US" sz="1350" b="1" dirty="0">
                <a:solidFill>
                  <a:srgbClr val="DCB264"/>
                </a:solidFill>
                <a:latin typeface="Calibri" pitchFamily="34" charset="0"/>
                <a:ea typeface="Calibri" pitchFamily="34" charset="-122"/>
                <a:cs typeface="Calibri" pitchFamily="34" charset="-120"/>
              </a:rPr>
              <a:t>Eigenkapital = EV + Entry Fee − Fremdkapital</a:t>
            </a:r>
            <a:endParaRPr lang="en-US" sz="1350" dirty="0"/>
          </a:p>
        </p:txBody>
      </p:sp>
      <p:sp>
        <p:nvSpPr>
          <p:cNvPr id="25" name="Text 22"/>
          <p:cNvSpPr txBox="1"/>
          <p:nvPr/>
        </p:nvSpPr>
        <p:spPr>
          <a:xfrm>
            <a:off x="502920" y="6035040"/>
            <a:ext cx="4754880" cy="274320"/>
          </a:xfrm>
          <a:prstGeom prst="rect">
            <a:avLst/>
          </a:prstGeom>
          <a:noFill/>
          <a:ln/>
        </p:spPr>
        <p:txBody>
          <a:bodyPr wrap="square" lIns="0" tIns="0" rIns="0" bIns="0" rtlCol="0" anchor="t"/>
          <a:lstStyle/>
          <a:p>
            <a:pPr algn="l" indent="0" marL="0">
              <a:buNone/>
            </a:pPr>
            <a:r>
              <a:rPr lang="en-US" sz="1000" dirty="0">
                <a:solidFill>
                  <a:srgbClr val="8E9C9B"/>
                </a:solidFill>
                <a:latin typeface="Calibri" pitchFamily="34" charset="0"/>
                <a:ea typeface="Calibri" pitchFamily="34" charset="-122"/>
                <a:cs typeface="Calibri" pitchFamily="34" charset="-120"/>
              </a:rPr>
              <a:t>EBITDA 10 Mio. €, Gebot 10,0×, Leverage 4,0×, Entry Fee 2 % des EV</a:t>
            </a:r>
            <a:endParaRPr lang="en-US" sz="1000" dirty="0"/>
          </a:p>
        </p:txBody>
      </p:sp>
      <p:sp>
        <p:nvSpPr>
          <p:cNvPr id="26" name="Shape 23"/>
          <p:cNvSpPr/>
          <p:nvPr/>
        </p:nvSpPr>
        <p:spPr>
          <a:xfrm>
            <a:off x="5440680" y="1600200"/>
            <a:ext cx="2514600" cy="4160520"/>
          </a:xfrm>
          <a:prstGeom prst="roundRect">
            <a:avLst>
              <a:gd name="adj" fmla="val 2909"/>
            </a:avLst>
          </a:prstGeom>
          <a:solidFill>
            <a:srgbClr val="161F22"/>
          </a:solidFill>
          <a:ln w="9525">
            <a:solidFill>
              <a:srgbClr val="243033"/>
            </a:solidFill>
            <a:prstDash val="solid"/>
          </a:ln>
        </p:spPr>
      </p:sp>
      <p:sp>
        <p:nvSpPr>
          <p:cNvPr id="27" name="Text 24"/>
          <p:cNvSpPr txBox="1"/>
          <p:nvPr/>
        </p:nvSpPr>
        <p:spPr>
          <a:xfrm>
            <a:off x="5577840" y="1737360"/>
            <a:ext cx="2286000" cy="228600"/>
          </a:xfrm>
          <a:prstGeom prst="rect">
            <a:avLst/>
          </a:prstGeom>
          <a:noFill/>
          <a:ln/>
        </p:spPr>
        <p:txBody>
          <a:bodyPr wrap="square" lIns="0" tIns="0" rIns="0" bIns="0" rtlCol="0" anchor="t"/>
          <a:lstStyle/>
          <a:p>
            <a:pPr algn="l" indent="0" marL="0">
              <a:buNone/>
            </a:pPr>
            <a:r>
              <a:rPr lang="en-US" sz="1000" b="1" spc="150" kern="0" dirty="0">
                <a:solidFill>
                  <a:srgbClr val="5FC4B1"/>
                </a:solidFill>
                <a:latin typeface="Calibri" pitchFamily="34" charset="0"/>
                <a:ea typeface="Calibri" pitchFamily="34" charset="-122"/>
                <a:cs typeface="Calibri" pitchFamily="34" charset="-120"/>
              </a:rPr>
              <a:t>BASE CASE (IMM)</a:t>
            </a:r>
            <a:endParaRPr lang="en-US" sz="1000" dirty="0"/>
          </a:p>
        </p:txBody>
      </p:sp>
      <p:sp>
        <p:nvSpPr>
          <p:cNvPr id="28" name="Text 25"/>
          <p:cNvSpPr txBox="1"/>
          <p:nvPr/>
        </p:nvSpPr>
        <p:spPr>
          <a:xfrm>
            <a:off x="5577840" y="2057400"/>
            <a:ext cx="2240280" cy="35661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EDF1EE"/>
                </a:solidFill>
                <a:latin typeface="Calibri" pitchFamily="34" charset="0"/>
                <a:ea typeface="Calibri" pitchFamily="34" charset="-122"/>
                <a:cs typeface="Calibri" pitchFamily="34" charset="-120"/>
              </a:rPr>
              <a:t>5 Jahre, Halbjahresschritte wie im Spiel</a:t>
            </a:r>
            <a:endParaRPr lang="en-US" sz="1200" dirty="0"/>
          </a:p>
          <a:p>
            <a:pPr marL="177800" indent="-177800">
              <a:spcAft>
                <a:spcPts val="700"/>
              </a:spcAft>
              <a:buSzPct val="100000"/>
              <a:buChar char="•"/>
            </a:pPr>
            <a:r>
              <a:rPr lang="en-US" sz="1200" dirty="0">
                <a:solidFill>
                  <a:srgbClr val="EDF1EE"/>
                </a:solidFill>
                <a:latin typeface="Calibri" pitchFamily="34" charset="0"/>
                <a:ea typeface="Calibri" pitchFamily="34" charset="-122"/>
                <a:cs typeface="Calibri" pitchFamily="34" charset="-120"/>
              </a:rPr>
              <a:t>Wachstum = Sektor + geschätzter Drift</a:t>
            </a:r>
            <a:endParaRPr lang="en-US" sz="1200" dirty="0"/>
          </a:p>
          <a:p>
            <a:pPr marL="177800" indent="-177800">
              <a:spcAft>
                <a:spcPts val="700"/>
              </a:spcAft>
              <a:buSzPct val="100000"/>
              <a:buChar char="•"/>
            </a:pPr>
            <a:r>
              <a:rPr lang="en-US" sz="1200" dirty="0">
                <a:solidFill>
                  <a:srgbClr val="EDF1EE"/>
                </a:solidFill>
                <a:latin typeface="Calibri" pitchFamily="34" charset="0"/>
                <a:ea typeface="Calibri" pitchFamily="34" charset="-122"/>
                <a:cs typeface="Calibri" pitchFamily="34" charset="-120"/>
              </a:rPr>
              <a:t>keine Maßnahmen, Reifegrade auf Benchmark</a:t>
            </a:r>
            <a:endParaRPr lang="en-US" sz="1200" dirty="0"/>
          </a:p>
          <a:p>
            <a:pPr marL="177800" indent="-177800">
              <a:spcAft>
                <a:spcPts val="700"/>
              </a:spcAft>
              <a:buSzPct val="100000"/>
              <a:buChar char="•"/>
            </a:pPr>
            <a:r>
              <a:rPr lang="en-US" sz="1200" dirty="0">
                <a:solidFill>
                  <a:srgbClr val="EDF1EE"/>
                </a:solidFill>
                <a:latin typeface="Calibri" pitchFamily="34" charset="0"/>
                <a:ea typeface="Calibri" pitchFamily="34" charset="-122"/>
                <a:cs typeface="Calibri" pitchFamily="34" charset="-120"/>
              </a:rPr>
              <a:t>Exit zum Einstiegsmultiple</a:t>
            </a:r>
            <a:endParaRPr lang="en-US" sz="1200" dirty="0"/>
          </a:p>
          <a:p>
            <a:pPr marL="177800" indent="-177800">
              <a:spcAft>
                <a:spcPts val="700"/>
              </a:spcAft>
              <a:buSzPct val="100000"/>
              <a:buChar char="•"/>
            </a:pPr>
            <a:r>
              <a:rPr lang="en-US" sz="1200" dirty="0">
                <a:solidFill>
                  <a:srgbClr val="EDF1EE"/>
                </a:solidFill>
                <a:latin typeface="Calibri" pitchFamily="34" charset="0"/>
                <a:ea typeface="Calibri" pitchFamily="34" charset="-122"/>
                <a:cs typeface="Calibri" pitchFamily="34" charset="-120"/>
              </a:rPr>
              <a:t>3 % Exitkosten</a:t>
            </a:r>
            <a:endParaRPr lang="en-US" sz="1200" dirty="0"/>
          </a:p>
        </p:txBody>
      </p:sp>
      <p:pic>
        <p:nvPicPr>
          <p:cNvPr id="29" name="Image 0" descr="/tmp/claude-0/deck/img/deal_uw.jpg">    </p:cNvPr>
          <p:cNvPicPr>
            <a:picLocks noChangeAspect="1"/>
          </p:cNvPicPr>
          <p:nvPr/>
        </p:nvPicPr>
        <p:blipFill>
          <a:blip r:embed="rId1"/>
          <a:stretch>
            <a:fillRect/>
          </a:stretch>
        </p:blipFill>
        <p:spPr>
          <a:xfrm>
            <a:off x="9041130" y="1600200"/>
            <a:ext cx="2644902" cy="4160520"/>
          </a:xfrm>
          <a:prstGeom prst="rect">
            <a:avLst/>
          </a:prstGeom>
        </p:spPr>
      </p:pic>
      <p:sp>
        <p:nvSpPr>
          <p:cNvPr id="30" name="Shape 26"/>
          <p:cNvSpPr/>
          <p:nvPr/>
        </p:nvSpPr>
        <p:spPr>
          <a:xfrm>
            <a:off x="9041130" y="1600200"/>
            <a:ext cx="2644902" cy="4160520"/>
          </a:xfrm>
          <a:prstGeom prst="rect">
            <a:avLst/>
          </a:prstGeom>
          <a:ln w="9525">
            <a:solidFill>
              <a:srgbClr val="33474B"/>
            </a:solidFill>
            <a:prstDash val="solid"/>
          </a:ln>
        </p:spPr>
      </p:sp>
      <p:sp>
        <p:nvSpPr>
          <p:cNvPr id="31" name="Text 27"/>
          <p:cNvSpPr txBox="1"/>
          <p:nvPr/>
        </p:nvSpPr>
        <p:spPr>
          <a:xfrm>
            <a:off x="8766810" y="5815584"/>
            <a:ext cx="3193542"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Underwriting-Bereich der Deal-Karte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3B82F6"/>
                </a:solidFill>
                <a:latin typeface="Calibri" pitchFamily="34" charset="0"/>
                <a:ea typeface="Calibri" pitchFamily="34" charset="-122"/>
                <a:cs typeface="Calibri" pitchFamily="34" charset="-120"/>
              </a:rPr>
              <a:t>KERNAUSSAGEN</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Was in der Deal-Phase zählt</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3B82F6"/>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3B82F6"/>
                </a:solidFill>
                <a:latin typeface="Calibri" pitchFamily="34" charset="0"/>
                <a:ea typeface="Calibri" pitchFamily="34" charset="-122"/>
                <a:cs typeface="Calibri" pitchFamily="34" charset="-120"/>
              </a:rPr>
              <a:t>B · DEAL SELECTION &amp; EXECUTION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21</a:t>
            </a:r>
            <a:endParaRPr lang="en-US" sz="900" dirty="0"/>
          </a:p>
        </p:txBody>
      </p:sp>
      <p:sp>
        <p:nvSpPr>
          <p:cNvPr id="9" name="Shape 6"/>
          <p:cNvSpPr/>
          <p:nvPr/>
        </p:nvSpPr>
        <p:spPr>
          <a:xfrm>
            <a:off x="502920" y="1600200"/>
            <a:ext cx="5410048" cy="1417320"/>
          </a:xfrm>
          <a:prstGeom prst="roundRect">
            <a:avLst>
              <a:gd name="adj" fmla="val 5161"/>
            </a:avLst>
          </a:prstGeom>
          <a:solidFill>
            <a:srgbClr val="161F22"/>
          </a:solidFill>
          <a:ln w="9525">
            <a:solidFill>
              <a:srgbClr val="243033"/>
            </a:solidFill>
            <a:prstDash val="solid"/>
          </a:ln>
        </p:spPr>
      </p:sp>
      <p:sp>
        <p:nvSpPr>
          <p:cNvPr id="10" name="Shape 7"/>
          <p:cNvSpPr/>
          <p:nvPr/>
        </p:nvSpPr>
        <p:spPr>
          <a:xfrm>
            <a:off x="731520" y="1856232"/>
            <a:ext cx="457200" cy="457200"/>
          </a:xfrm>
          <a:prstGeom prst="ellipse">
            <a:avLst/>
          </a:prstGeom>
          <a:solidFill>
            <a:srgbClr val="3B82F6"/>
          </a:solidFill>
          <a:ln/>
        </p:spPr>
      </p:sp>
      <p:sp>
        <p:nvSpPr>
          <p:cNvPr id="11" name="Text 8"/>
          <p:cNvSpPr txBox="1"/>
          <p:nvPr/>
        </p:nvSpPr>
        <p:spPr>
          <a:xfrm>
            <a:off x="731520" y="1856232"/>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1</a:t>
            </a:r>
            <a:endParaRPr lang="en-US" sz="1600" dirty="0"/>
          </a:p>
        </p:txBody>
      </p:sp>
      <p:sp>
        <p:nvSpPr>
          <p:cNvPr id="12" name="Text 9"/>
          <p:cNvSpPr txBox="1"/>
          <p:nvPr/>
        </p:nvSpPr>
        <p:spPr>
          <a:xfrm>
            <a:off x="1371600" y="1783080"/>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Der Preis ist die erste Rendite</a:t>
            </a:r>
            <a:endParaRPr lang="en-US" sz="1600" dirty="0"/>
          </a:p>
        </p:txBody>
      </p:sp>
      <p:sp>
        <p:nvSpPr>
          <p:cNvPr id="13" name="Text 10"/>
          <p:cNvSpPr txBox="1"/>
          <p:nvPr/>
        </p:nvSpPr>
        <p:spPr>
          <a:xfrm>
            <a:off x="1371600" y="2221992"/>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Jeder Turn zu viel muss über Jahre durch EBITDA-Wachstum zurückverdient werden.</a:t>
            </a:r>
            <a:endParaRPr lang="en-US" sz="1250" dirty="0"/>
          </a:p>
        </p:txBody>
      </p:sp>
      <p:sp>
        <p:nvSpPr>
          <p:cNvPr id="14" name="Shape 11"/>
          <p:cNvSpPr/>
          <p:nvPr/>
        </p:nvSpPr>
        <p:spPr>
          <a:xfrm>
            <a:off x="6278728" y="1600200"/>
            <a:ext cx="5410048" cy="1417320"/>
          </a:xfrm>
          <a:prstGeom prst="roundRect">
            <a:avLst>
              <a:gd name="adj" fmla="val 5161"/>
            </a:avLst>
          </a:prstGeom>
          <a:solidFill>
            <a:srgbClr val="161F22"/>
          </a:solidFill>
          <a:ln w="9525">
            <a:solidFill>
              <a:srgbClr val="243033"/>
            </a:solidFill>
            <a:prstDash val="solid"/>
          </a:ln>
        </p:spPr>
      </p:sp>
      <p:sp>
        <p:nvSpPr>
          <p:cNvPr id="15" name="Shape 12"/>
          <p:cNvSpPr/>
          <p:nvPr/>
        </p:nvSpPr>
        <p:spPr>
          <a:xfrm>
            <a:off x="6507328" y="1856232"/>
            <a:ext cx="457200" cy="457200"/>
          </a:xfrm>
          <a:prstGeom prst="ellipse">
            <a:avLst/>
          </a:prstGeom>
          <a:solidFill>
            <a:srgbClr val="3B82F6"/>
          </a:solidFill>
          <a:ln/>
        </p:spPr>
      </p:sp>
      <p:sp>
        <p:nvSpPr>
          <p:cNvPr id="16" name="Text 13"/>
          <p:cNvSpPr txBox="1"/>
          <p:nvPr/>
        </p:nvSpPr>
        <p:spPr>
          <a:xfrm>
            <a:off x="6507328" y="1856232"/>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2</a:t>
            </a:r>
            <a:endParaRPr lang="en-US" sz="1600" dirty="0"/>
          </a:p>
        </p:txBody>
      </p:sp>
      <p:sp>
        <p:nvSpPr>
          <p:cNvPr id="17" name="Text 14"/>
          <p:cNvSpPr txBox="1"/>
          <p:nvPr/>
        </p:nvSpPr>
        <p:spPr>
          <a:xfrm>
            <a:off x="7147408" y="1783080"/>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Proprietär schlägt Auktion</a:t>
            </a:r>
            <a:endParaRPr lang="en-US" sz="1600" dirty="0"/>
          </a:p>
        </p:txBody>
      </p:sp>
      <p:sp>
        <p:nvSpPr>
          <p:cNvPr id="18" name="Text 15"/>
          <p:cNvSpPr txBox="1"/>
          <p:nvPr/>
        </p:nvSpPr>
        <p:spPr>
          <a:xfrm>
            <a:off x="7147408" y="2221992"/>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Origination bringt Abschlag und weniger Konkurrenz – aber nur mit DD ohne Überraschungen.</a:t>
            </a:r>
            <a:endParaRPr lang="en-US" sz="1250" dirty="0"/>
          </a:p>
        </p:txBody>
      </p:sp>
      <p:sp>
        <p:nvSpPr>
          <p:cNvPr id="19" name="Shape 16"/>
          <p:cNvSpPr/>
          <p:nvPr/>
        </p:nvSpPr>
        <p:spPr>
          <a:xfrm>
            <a:off x="502920" y="3172968"/>
            <a:ext cx="5410048" cy="1417320"/>
          </a:xfrm>
          <a:prstGeom prst="roundRect">
            <a:avLst>
              <a:gd name="adj" fmla="val 5161"/>
            </a:avLst>
          </a:prstGeom>
          <a:solidFill>
            <a:srgbClr val="161F22"/>
          </a:solidFill>
          <a:ln w="9525">
            <a:solidFill>
              <a:srgbClr val="243033"/>
            </a:solidFill>
            <a:prstDash val="solid"/>
          </a:ln>
        </p:spPr>
      </p:sp>
      <p:sp>
        <p:nvSpPr>
          <p:cNvPr id="20" name="Shape 17"/>
          <p:cNvSpPr/>
          <p:nvPr/>
        </p:nvSpPr>
        <p:spPr>
          <a:xfrm>
            <a:off x="731520" y="3429000"/>
            <a:ext cx="457200" cy="457200"/>
          </a:xfrm>
          <a:prstGeom prst="ellipse">
            <a:avLst/>
          </a:prstGeom>
          <a:solidFill>
            <a:srgbClr val="3B82F6"/>
          </a:solidFill>
          <a:ln/>
        </p:spPr>
      </p:sp>
      <p:sp>
        <p:nvSpPr>
          <p:cNvPr id="21" name="Text 18"/>
          <p:cNvSpPr txBox="1"/>
          <p:nvPr/>
        </p:nvSpPr>
        <p:spPr>
          <a:xfrm>
            <a:off x="731520" y="3429000"/>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3</a:t>
            </a:r>
            <a:endParaRPr lang="en-US" sz="1600" dirty="0"/>
          </a:p>
        </p:txBody>
      </p:sp>
      <p:sp>
        <p:nvSpPr>
          <p:cNvPr id="22" name="Text 19"/>
          <p:cNvSpPr txBox="1"/>
          <p:nvPr/>
        </p:nvSpPr>
        <p:spPr>
          <a:xfrm>
            <a:off x="1371600" y="3355848"/>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Information hat einen Preis</a:t>
            </a:r>
            <a:endParaRPr lang="en-US" sz="1600" dirty="0"/>
          </a:p>
        </p:txBody>
      </p:sp>
      <p:sp>
        <p:nvSpPr>
          <p:cNvPr id="23" name="Text 20"/>
          <p:cNvSpPr txBox="1"/>
          <p:nvPr/>
        </p:nvSpPr>
        <p:spPr>
          <a:xfrm>
            <a:off x="1371600" y="3794760"/>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Due Diligence kostet auch bei verlorenen Deals – dafür verkleinert sie den Schätzfehler.</a:t>
            </a:r>
            <a:endParaRPr lang="en-US" sz="1250" dirty="0"/>
          </a:p>
        </p:txBody>
      </p:sp>
      <p:sp>
        <p:nvSpPr>
          <p:cNvPr id="24" name="Shape 21"/>
          <p:cNvSpPr/>
          <p:nvPr/>
        </p:nvSpPr>
        <p:spPr>
          <a:xfrm>
            <a:off x="6278728" y="3172968"/>
            <a:ext cx="5410048" cy="1417320"/>
          </a:xfrm>
          <a:prstGeom prst="roundRect">
            <a:avLst>
              <a:gd name="adj" fmla="val 5161"/>
            </a:avLst>
          </a:prstGeom>
          <a:solidFill>
            <a:srgbClr val="161F22"/>
          </a:solidFill>
          <a:ln w="9525">
            <a:solidFill>
              <a:srgbClr val="243033"/>
            </a:solidFill>
            <a:prstDash val="solid"/>
          </a:ln>
        </p:spPr>
      </p:sp>
      <p:sp>
        <p:nvSpPr>
          <p:cNvPr id="25" name="Shape 22"/>
          <p:cNvSpPr/>
          <p:nvPr/>
        </p:nvSpPr>
        <p:spPr>
          <a:xfrm>
            <a:off x="6507328" y="3429000"/>
            <a:ext cx="457200" cy="457200"/>
          </a:xfrm>
          <a:prstGeom prst="ellipse">
            <a:avLst/>
          </a:prstGeom>
          <a:solidFill>
            <a:srgbClr val="3B82F6"/>
          </a:solidFill>
          <a:ln/>
        </p:spPr>
      </p:sp>
      <p:sp>
        <p:nvSpPr>
          <p:cNvPr id="26" name="Text 23"/>
          <p:cNvSpPr txBox="1"/>
          <p:nvPr/>
        </p:nvSpPr>
        <p:spPr>
          <a:xfrm>
            <a:off x="6507328" y="3429000"/>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4</a:t>
            </a:r>
            <a:endParaRPr lang="en-US" sz="1600" dirty="0"/>
          </a:p>
        </p:txBody>
      </p:sp>
      <p:sp>
        <p:nvSpPr>
          <p:cNvPr id="27" name="Text 24"/>
          <p:cNvSpPr txBox="1"/>
          <p:nvPr/>
        </p:nvSpPr>
        <p:spPr>
          <a:xfrm>
            <a:off x="7147408" y="3355848"/>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Leverage ist kein Gratishebel</a:t>
            </a:r>
            <a:endParaRPr lang="en-US" sz="1600" dirty="0"/>
          </a:p>
        </p:txBody>
      </p:sp>
      <p:sp>
        <p:nvSpPr>
          <p:cNvPr id="28" name="Text 25"/>
          <p:cNvSpPr txBox="1"/>
          <p:nvPr/>
        </p:nvSpPr>
        <p:spPr>
          <a:xfrm>
            <a:off x="7147408" y="3794760"/>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Margin Grid, Zinsschranke und Covenant begrenzen den Nutzen von Fremdkapital.</a:t>
            </a:r>
            <a:endParaRPr lang="en-US" sz="1250" dirty="0"/>
          </a:p>
        </p:txBody>
      </p:sp>
      <p:sp>
        <p:nvSpPr>
          <p:cNvPr id="29" name="Shape 26"/>
          <p:cNvSpPr/>
          <p:nvPr/>
        </p:nvSpPr>
        <p:spPr>
          <a:xfrm>
            <a:off x="502920" y="4745736"/>
            <a:ext cx="5410048" cy="1417320"/>
          </a:xfrm>
          <a:prstGeom prst="roundRect">
            <a:avLst>
              <a:gd name="adj" fmla="val 5161"/>
            </a:avLst>
          </a:prstGeom>
          <a:solidFill>
            <a:srgbClr val="161F22"/>
          </a:solidFill>
          <a:ln w="9525">
            <a:solidFill>
              <a:srgbClr val="243033"/>
            </a:solidFill>
            <a:prstDash val="solid"/>
          </a:ln>
        </p:spPr>
      </p:sp>
      <p:sp>
        <p:nvSpPr>
          <p:cNvPr id="30" name="Shape 27"/>
          <p:cNvSpPr/>
          <p:nvPr/>
        </p:nvSpPr>
        <p:spPr>
          <a:xfrm>
            <a:off x="731520" y="5001768"/>
            <a:ext cx="457200" cy="457200"/>
          </a:xfrm>
          <a:prstGeom prst="ellipse">
            <a:avLst/>
          </a:prstGeom>
          <a:solidFill>
            <a:srgbClr val="3B82F6"/>
          </a:solidFill>
          <a:ln/>
        </p:spPr>
      </p:sp>
      <p:sp>
        <p:nvSpPr>
          <p:cNvPr id="31" name="Text 28"/>
          <p:cNvSpPr txBox="1"/>
          <p:nvPr/>
        </p:nvSpPr>
        <p:spPr>
          <a:xfrm>
            <a:off x="731520" y="5001768"/>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5</a:t>
            </a:r>
            <a:endParaRPr lang="en-US" sz="1600" dirty="0"/>
          </a:p>
        </p:txBody>
      </p:sp>
      <p:sp>
        <p:nvSpPr>
          <p:cNvPr id="32" name="Text 29"/>
          <p:cNvSpPr txBox="1"/>
          <p:nvPr/>
        </p:nvSpPr>
        <p:spPr>
          <a:xfrm>
            <a:off x="1371600" y="4928616"/>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Kapital ist die Nebenbedingung</a:t>
            </a:r>
            <a:endParaRPr lang="en-US" sz="1600" dirty="0"/>
          </a:p>
        </p:txBody>
      </p:sp>
      <p:sp>
        <p:nvSpPr>
          <p:cNvPr id="33" name="Text 30"/>
          <p:cNvSpPr txBox="1"/>
          <p:nvPr/>
        </p:nvSpPr>
        <p:spPr>
          <a:xfrm>
            <a:off x="1371600" y="5367528"/>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Gebote scheitern am Equity Ticket, nicht am Multiple – Dry Powder im Blick behalten.</a:t>
            </a:r>
            <a:endParaRPr lang="en-US" sz="1250" dirty="0"/>
          </a:p>
        </p:txBody>
      </p:sp>
      <p:sp>
        <p:nvSpPr>
          <p:cNvPr id="34" name="Shape 31"/>
          <p:cNvSpPr/>
          <p:nvPr/>
        </p:nvSpPr>
        <p:spPr>
          <a:xfrm>
            <a:off x="6278728" y="4745736"/>
            <a:ext cx="5410048" cy="1417320"/>
          </a:xfrm>
          <a:prstGeom prst="roundRect">
            <a:avLst>
              <a:gd name="adj" fmla="val 5161"/>
            </a:avLst>
          </a:prstGeom>
          <a:solidFill>
            <a:srgbClr val="161F22"/>
          </a:solidFill>
          <a:ln w="9525">
            <a:solidFill>
              <a:srgbClr val="243033"/>
            </a:solidFill>
            <a:prstDash val="solid"/>
          </a:ln>
        </p:spPr>
      </p:sp>
      <p:sp>
        <p:nvSpPr>
          <p:cNvPr id="35" name="Shape 32"/>
          <p:cNvSpPr/>
          <p:nvPr/>
        </p:nvSpPr>
        <p:spPr>
          <a:xfrm>
            <a:off x="6507328" y="5001768"/>
            <a:ext cx="457200" cy="457200"/>
          </a:xfrm>
          <a:prstGeom prst="ellipse">
            <a:avLst/>
          </a:prstGeom>
          <a:solidFill>
            <a:srgbClr val="3B82F6"/>
          </a:solidFill>
          <a:ln/>
        </p:spPr>
      </p:sp>
      <p:sp>
        <p:nvSpPr>
          <p:cNvPr id="36" name="Text 33"/>
          <p:cNvSpPr txBox="1"/>
          <p:nvPr/>
        </p:nvSpPr>
        <p:spPr>
          <a:xfrm>
            <a:off x="6507328" y="5001768"/>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6</a:t>
            </a:r>
            <a:endParaRPr lang="en-US" sz="1600" dirty="0"/>
          </a:p>
        </p:txBody>
      </p:sp>
      <p:sp>
        <p:nvSpPr>
          <p:cNvPr id="37" name="Text 34"/>
          <p:cNvSpPr txBox="1"/>
          <p:nvPr/>
        </p:nvSpPr>
        <p:spPr>
          <a:xfrm>
            <a:off x="7147408" y="4928616"/>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Den Base Case kennen</a:t>
            </a:r>
            <a:endParaRPr lang="en-US" sz="1600" dirty="0"/>
          </a:p>
        </p:txBody>
      </p:sp>
      <p:sp>
        <p:nvSpPr>
          <p:cNvPr id="38" name="Text 35"/>
          <p:cNvSpPr txBox="1"/>
          <p:nvPr/>
        </p:nvSpPr>
        <p:spPr>
          <a:xfrm>
            <a:off x="7147408" y="5367528"/>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Der IMM zeigt, was ohne eigene Arbeit herauskommt; alles darüber ist Value Creation.</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5FC4B1"/>
                </a:solidFill>
                <a:latin typeface="Calibri" pitchFamily="34" charset="0"/>
                <a:ea typeface="Calibri" pitchFamily="34" charset="-122"/>
                <a:cs typeface="Calibri" pitchFamily="34" charset="-120"/>
              </a:rPr>
              <a:t>WERTTREIBER</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Die drei Werttreiber – und wie stark Deals streuen</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5FC4B1"/>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5FC4B1"/>
                </a:solidFill>
                <a:latin typeface="Calibri" pitchFamily="34" charset="0"/>
                <a:ea typeface="Calibri" pitchFamily="34" charset="-122"/>
                <a:cs typeface="Calibri" pitchFamily="34" charset="-120"/>
              </a:rPr>
              <a:t>C · VALUE CREATION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22</a:t>
            </a:r>
            <a:endParaRPr lang="en-US" sz="900" dirty="0"/>
          </a:p>
        </p:txBody>
      </p:sp>
      <p:sp>
        <p:nvSpPr>
          <p:cNvPr id="9" name="Shape 6"/>
          <p:cNvSpPr/>
          <p:nvPr/>
        </p:nvSpPr>
        <p:spPr>
          <a:xfrm>
            <a:off x="502920" y="1600200"/>
            <a:ext cx="5669280" cy="685800"/>
          </a:xfrm>
          <a:prstGeom prst="roundRect">
            <a:avLst>
              <a:gd name="adj" fmla="val 10667"/>
            </a:avLst>
          </a:prstGeom>
          <a:solidFill>
            <a:srgbClr val="1C282B"/>
          </a:solidFill>
          <a:ln w="12700">
            <a:solidFill>
              <a:srgbClr val="DCB264"/>
            </a:solidFill>
            <a:prstDash val="solid"/>
          </a:ln>
        </p:spPr>
      </p:sp>
      <p:sp>
        <p:nvSpPr>
          <p:cNvPr id="10" name="Text 7"/>
          <p:cNvSpPr txBox="1"/>
          <p:nvPr/>
        </p:nvSpPr>
        <p:spPr>
          <a:xfrm>
            <a:off x="685800" y="1600200"/>
            <a:ext cx="5303520" cy="685800"/>
          </a:xfrm>
          <a:prstGeom prst="rect">
            <a:avLst/>
          </a:prstGeom>
          <a:noFill/>
          <a:ln/>
        </p:spPr>
        <p:txBody>
          <a:bodyPr wrap="square" lIns="0" tIns="0" rIns="0" bIns="0" rtlCol="0" anchor="ctr"/>
          <a:lstStyle/>
          <a:p>
            <a:pPr algn="ctr" indent="0" marL="0">
              <a:buNone/>
            </a:pPr>
            <a:r>
              <a:rPr lang="en-US" sz="1700" b="1" dirty="0">
                <a:solidFill>
                  <a:srgbClr val="DCB264"/>
                </a:solidFill>
                <a:latin typeface="Calibri" pitchFamily="34" charset="0"/>
                <a:ea typeface="Calibri" pitchFamily="34" charset="-122"/>
                <a:cs typeface="Calibri" pitchFamily="34" charset="-120"/>
              </a:rPr>
              <a:t>Equity Value = EBITDA × Multiple − Nettoverschuldung</a:t>
            </a:r>
            <a:endParaRPr lang="en-US" sz="1700" dirty="0"/>
          </a:p>
        </p:txBody>
      </p:sp>
      <p:sp>
        <p:nvSpPr>
          <p:cNvPr id="11" name="Shape 8"/>
          <p:cNvSpPr/>
          <p:nvPr/>
        </p:nvSpPr>
        <p:spPr>
          <a:xfrm>
            <a:off x="502920" y="2514600"/>
            <a:ext cx="5669280" cy="1024128"/>
          </a:xfrm>
          <a:prstGeom prst="roundRect">
            <a:avLst>
              <a:gd name="adj" fmla="val 7143"/>
            </a:avLst>
          </a:prstGeom>
          <a:solidFill>
            <a:srgbClr val="161F22"/>
          </a:solidFill>
          <a:ln w="12700">
            <a:solidFill>
              <a:srgbClr val="5FC4B1"/>
            </a:solidFill>
            <a:prstDash val="solid"/>
          </a:ln>
        </p:spPr>
      </p:sp>
      <p:sp>
        <p:nvSpPr>
          <p:cNvPr id="12" name="Shape 9"/>
          <p:cNvSpPr/>
          <p:nvPr/>
        </p:nvSpPr>
        <p:spPr>
          <a:xfrm>
            <a:off x="685800" y="2770632"/>
            <a:ext cx="512064" cy="512064"/>
          </a:xfrm>
          <a:prstGeom prst="ellipse">
            <a:avLst/>
          </a:prstGeom>
          <a:solidFill>
            <a:srgbClr val="5FC4B1"/>
          </a:solidFill>
          <a:ln/>
        </p:spPr>
      </p:sp>
      <p:sp>
        <p:nvSpPr>
          <p:cNvPr id="13" name="Text 10"/>
          <p:cNvSpPr txBox="1"/>
          <p:nvPr/>
        </p:nvSpPr>
        <p:spPr>
          <a:xfrm>
            <a:off x="685800" y="2770632"/>
            <a:ext cx="512064" cy="512064"/>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1</a:t>
            </a:r>
            <a:endParaRPr lang="en-US" sz="1600" dirty="0"/>
          </a:p>
        </p:txBody>
      </p:sp>
      <p:sp>
        <p:nvSpPr>
          <p:cNvPr id="14" name="Text 11"/>
          <p:cNvSpPr txBox="1"/>
          <p:nvPr/>
        </p:nvSpPr>
        <p:spPr>
          <a:xfrm>
            <a:off x="1371600" y="2642616"/>
            <a:ext cx="4572000" cy="365760"/>
          </a:xfrm>
          <a:prstGeom prst="rect">
            <a:avLst/>
          </a:prstGeom>
          <a:noFill/>
          <a:ln/>
        </p:spPr>
        <p:txBody>
          <a:bodyPr wrap="square" lIns="0" tIns="0" rIns="0" bIns="0" rtlCol="0" anchor="t"/>
          <a:lstStyle/>
          <a:p>
            <a:pPr algn="l" indent="0" marL="0">
              <a:buNone/>
            </a:pPr>
            <a:r>
              <a:rPr lang="en-US" sz="1600" b="1" dirty="0">
                <a:solidFill>
                  <a:srgbClr val="5FC4B1"/>
                </a:solidFill>
                <a:latin typeface="Calibri" pitchFamily="34" charset="0"/>
                <a:ea typeface="Calibri" pitchFamily="34" charset="-122"/>
                <a:cs typeface="Calibri" pitchFamily="34" charset="-120"/>
              </a:rPr>
              <a:t>EBITDA-Wachstum</a:t>
            </a:r>
            <a:endParaRPr lang="en-US" sz="1600" dirty="0"/>
          </a:p>
        </p:txBody>
      </p:sp>
      <p:sp>
        <p:nvSpPr>
          <p:cNvPr id="15" name="Text 12"/>
          <p:cNvSpPr txBox="1"/>
          <p:nvPr/>
        </p:nvSpPr>
        <p:spPr>
          <a:xfrm>
            <a:off x="1371600" y="3017520"/>
            <a:ext cx="4572000" cy="41148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Umsatz × Marge: Wachstum, Pricing, Cost-out, Add-ons</a:t>
            </a:r>
            <a:endParaRPr lang="en-US" sz="1250" dirty="0"/>
          </a:p>
        </p:txBody>
      </p:sp>
      <p:sp>
        <p:nvSpPr>
          <p:cNvPr id="16" name="Shape 13"/>
          <p:cNvSpPr/>
          <p:nvPr/>
        </p:nvSpPr>
        <p:spPr>
          <a:xfrm>
            <a:off x="502920" y="3703320"/>
            <a:ext cx="5669280" cy="1024128"/>
          </a:xfrm>
          <a:prstGeom prst="roundRect">
            <a:avLst>
              <a:gd name="adj" fmla="val 7143"/>
            </a:avLst>
          </a:prstGeom>
          <a:solidFill>
            <a:srgbClr val="161F22"/>
          </a:solidFill>
          <a:ln w="12700">
            <a:solidFill>
              <a:srgbClr val="DCB264"/>
            </a:solidFill>
            <a:prstDash val="solid"/>
          </a:ln>
        </p:spPr>
      </p:sp>
      <p:sp>
        <p:nvSpPr>
          <p:cNvPr id="17" name="Shape 14"/>
          <p:cNvSpPr/>
          <p:nvPr/>
        </p:nvSpPr>
        <p:spPr>
          <a:xfrm>
            <a:off x="685800" y="3959352"/>
            <a:ext cx="512064" cy="512064"/>
          </a:xfrm>
          <a:prstGeom prst="ellipse">
            <a:avLst/>
          </a:prstGeom>
          <a:solidFill>
            <a:srgbClr val="DCB264"/>
          </a:solidFill>
          <a:ln/>
        </p:spPr>
      </p:sp>
      <p:sp>
        <p:nvSpPr>
          <p:cNvPr id="18" name="Text 15"/>
          <p:cNvSpPr txBox="1"/>
          <p:nvPr/>
        </p:nvSpPr>
        <p:spPr>
          <a:xfrm>
            <a:off x="685800" y="3959352"/>
            <a:ext cx="512064" cy="512064"/>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2</a:t>
            </a:r>
            <a:endParaRPr lang="en-US" sz="1600" dirty="0"/>
          </a:p>
        </p:txBody>
      </p:sp>
      <p:sp>
        <p:nvSpPr>
          <p:cNvPr id="19" name="Text 16"/>
          <p:cNvSpPr txBox="1"/>
          <p:nvPr/>
        </p:nvSpPr>
        <p:spPr>
          <a:xfrm>
            <a:off x="1371600" y="3831336"/>
            <a:ext cx="4572000" cy="365760"/>
          </a:xfrm>
          <a:prstGeom prst="rect">
            <a:avLst/>
          </a:prstGeom>
          <a:noFill/>
          <a:ln/>
        </p:spPr>
        <p:txBody>
          <a:bodyPr wrap="square" lIns="0" tIns="0" rIns="0" bIns="0" rtlCol="0" anchor="t"/>
          <a:lstStyle/>
          <a:p>
            <a:pPr algn="l" indent="0" marL="0">
              <a:buNone/>
            </a:pPr>
            <a:r>
              <a:rPr lang="en-US" sz="1600" b="1" dirty="0">
                <a:solidFill>
                  <a:srgbClr val="DCB264"/>
                </a:solidFill>
                <a:latin typeface="Calibri" pitchFamily="34" charset="0"/>
                <a:ea typeface="Calibri" pitchFamily="34" charset="-122"/>
                <a:cs typeface="Calibri" pitchFamily="34" charset="-120"/>
              </a:rPr>
              <a:t>Multiple-Veränderung</a:t>
            </a:r>
            <a:endParaRPr lang="en-US" sz="1600" dirty="0"/>
          </a:p>
        </p:txBody>
      </p:sp>
      <p:sp>
        <p:nvSpPr>
          <p:cNvPr id="20" name="Text 17"/>
          <p:cNvSpPr txBox="1"/>
          <p:nvPr/>
        </p:nvSpPr>
        <p:spPr>
          <a:xfrm>
            <a:off x="1371600" y="4206240"/>
            <a:ext cx="4572000" cy="41148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Qualität, Wachstumsprämie, Marktzyklus, Haltedauer</a:t>
            </a:r>
            <a:endParaRPr lang="en-US" sz="1250" dirty="0"/>
          </a:p>
        </p:txBody>
      </p:sp>
      <p:sp>
        <p:nvSpPr>
          <p:cNvPr id="21" name="Shape 18"/>
          <p:cNvSpPr/>
          <p:nvPr/>
        </p:nvSpPr>
        <p:spPr>
          <a:xfrm>
            <a:off x="502920" y="4892040"/>
            <a:ext cx="5669280" cy="1024128"/>
          </a:xfrm>
          <a:prstGeom prst="roundRect">
            <a:avLst>
              <a:gd name="adj" fmla="val 7143"/>
            </a:avLst>
          </a:prstGeom>
          <a:solidFill>
            <a:srgbClr val="161F22"/>
          </a:solidFill>
          <a:ln w="12700">
            <a:solidFill>
              <a:srgbClr val="3B82F6"/>
            </a:solidFill>
            <a:prstDash val="solid"/>
          </a:ln>
        </p:spPr>
      </p:sp>
      <p:sp>
        <p:nvSpPr>
          <p:cNvPr id="22" name="Shape 19"/>
          <p:cNvSpPr/>
          <p:nvPr/>
        </p:nvSpPr>
        <p:spPr>
          <a:xfrm>
            <a:off x="685800" y="5148072"/>
            <a:ext cx="512064" cy="512064"/>
          </a:xfrm>
          <a:prstGeom prst="ellipse">
            <a:avLst/>
          </a:prstGeom>
          <a:solidFill>
            <a:srgbClr val="3B82F6"/>
          </a:solidFill>
          <a:ln/>
        </p:spPr>
      </p:sp>
      <p:sp>
        <p:nvSpPr>
          <p:cNvPr id="23" name="Text 20"/>
          <p:cNvSpPr txBox="1"/>
          <p:nvPr/>
        </p:nvSpPr>
        <p:spPr>
          <a:xfrm>
            <a:off x="685800" y="5148072"/>
            <a:ext cx="512064" cy="512064"/>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3</a:t>
            </a:r>
            <a:endParaRPr lang="en-US" sz="1600" dirty="0"/>
          </a:p>
        </p:txBody>
      </p:sp>
      <p:sp>
        <p:nvSpPr>
          <p:cNvPr id="24" name="Text 21"/>
          <p:cNvSpPr txBox="1"/>
          <p:nvPr/>
        </p:nvSpPr>
        <p:spPr>
          <a:xfrm>
            <a:off x="1371600" y="5020056"/>
            <a:ext cx="4572000" cy="365760"/>
          </a:xfrm>
          <a:prstGeom prst="rect">
            <a:avLst/>
          </a:prstGeom>
          <a:noFill/>
          <a:ln/>
        </p:spPr>
        <p:txBody>
          <a:bodyPr wrap="square" lIns="0" tIns="0" rIns="0" bIns="0" rtlCol="0" anchor="t"/>
          <a:lstStyle/>
          <a:p>
            <a:pPr algn="l" indent="0" marL="0">
              <a:buNone/>
            </a:pPr>
            <a:r>
              <a:rPr lang="en-US" sz="1600" b="1" dirty="0">
                <a:solidFill>
                  <a:srgbClr val="3B82F6"/>
                </a:solidFill>
                <a:latin typeface="Calibri" pitchFamily="34" charset="0"/>
                <a:ea typeface="Calibri" pitchFamily="34" charset="-122"/>
                <a:cs typeface="Calibri" pitchFamily="34" charset="-120"/>
              </a:rPr>
              <a:t>Entschuldung</a:t>
            </a:r>
            <a:endParaRPr lang="en-US" sz="1600" dirty="0"/>
          </a:p>
        </p:txBody>
      </p:sp>
      <p:sp>
        <p:nvSpPr>
          <p:cNvPr id="25" name="Text 22"/>
          <p:cNvSpPr txBox="1"/>
          <p:nvPr/>
        </p:nvSpPr>
        <p:spPr>
          <a:xfrm>
            <a:off x="1371600" y="5394960"/>
            <a:ext cx="4572000" cy="41148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Free Cashflow tilgt die Akquisitionsschuld (Cash Sweep)</a:t>
            </a:r>
            <a:endParaRPr lang="en-US" sz="1250" dirty="0"/>
          </a:p>
        </p:txBody>
      </p:sp>
      <p:graphicFrame>
        <p:nvGraphicFramePr>
          <p:cNvPr id="26" name="Chart 0" descr=""/>
          <p:cNvGraphicFramePr/>
          <p:nvPr/>
        </p:nvGraphicFramePr>
        <p:xfrm>
          <a:off x="6400800" y="1600200"/>
          <a:ext cx="5285232" cy="4023360"/>
        </p:xfrm>
        <a:graphic xmlns:a="http://schemas.openxmlformats.org/drawingml/2006/main">
          <a:graphicData uri="http://schemas.openxmlformats.org/drawingml/2006/chart">
            <c:chart xmlns:c="http://schemas.openxmlformats.org/drawingml/2006/chart" r:id="rId1"/>
          </a:graphicData>
        </a:graphic>
      </p:graphicFrame>
      <p:sp>
        <p:nvSpPr>
          <p:cNvPr id="27" name="Text 23"/>
          <p:cNvSpPr txBox="1"/>
          <p:nvPr/>
        </p:nvSpPr>
        <p:spPr>
          <a:xfrm>
            <a:off x="6400800" y="5715000"/>
            <a:ext cx="5285232" cy="365760"/>
          </a:xfrm>
          <a:prstGeom prst="rect">
            <a:avLst/>
          </a:prstGeom>
          <a:noFill/>
          <a:ln/>
        </p:spPr>
        <p:txBody>
          <a:bodyPr wrap="square" lIns="0" tIns="0" rIns="0" bIns="0" rtlCol="0" anchor="t"/>
          <a:lstStyle/>
          <a:p>
            <a:pPr algn="l" indent="0" marL="0">
              <a:buNone/>
            </a:pPr>
            <a:r>
              <a:rPr lang="en-US" sz="1000" dirty="0">
                <a:solidFill>
                  <a:srgbClr val="8E9C9B"/>
                </a:solidFill>
                <a:latin typeface="Calibri" pitchFamily="34" charset="0"/>
                <a:ea typeface="Calibri" pitchFamily="34" charset="-122"/>
                <a:cs typeface="Calibri" pitchFamily="34" charset="-120"/>
              </a:rPr>
              <a:t>1.609 realisierte Deals der KI-Fonds · 60 Simulationen · Median 1,8× · 14 % unter 1,0×</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5FC4B1"/>
                </a:solidFill>
                <a:latin typeface="Calibri" pitchFamily="34" charset="0"/>
                <a:ea typeface="Calibri" pitchFamily="34" charset="-122"/>
                <a:cs typeface="Calibri" pitchFamily="34" charset="-120"/>
              </a:rPr>
              <a:t>OPERATING MODEL</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Ein Halbjahr im Leben einer Beteiligung</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5FC4B1"/>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5FC4B1"/>
                </a:solidFill>
                <a:latin typeface="Calibri" pitchFamily="34" charset="0"/>
                <a:ea typeface="Calibri" pitchFamily="34" charset="-122"/>
                <a:cs typeface="Calibri" pitchFamily="34" charset="-120"/>
              </a:rPr>
              <a:t>C · VALUE CREATION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23</a:t>
            </a:r>
            <a:endParaRPr lang="en-US" sz="900" dirty="0"/>
          </a:p>
        </p:txBody>
      </p:sp>
      <p:sp>
        <p:nvSpPr>
          <p:cNvPr id="9" name="Shape 6"/>
          <p:cNvSpPr/>
          <p:nvPr/>
        </p:nvSpPr>
        <p:spPr>
          <a:xfrm>
            <a:off x="502920" y="1600200"/>
            <a:ext cx="3566160" cy="457200"/>
          </a:xfrm>
          <a:prstGeom prst="roundRect">
            <a:avLst>
              <a:gd name="adj" fmla="val 16000"/>
            </a:avLst>
          </a:prstGeom>
          <a:solidFill>
            <a:srgbClr val="161F22"/>
          </a:solidFill>
          <a:ln w="9525">
            <a:solidFill>
              <a:srgbClr val="5FC4B1"/>
            </a:solidFill>
            <a:prstDash val="solid"/>
          </a:ln>
        </p:spPr>
      </p:sp>
      <p:sp>
        <p:nvSpPr>
          <p:cNvPr id="10" name="Text 7"/>
          <p:cNvSpPr txBox="1"/>
          <p:nvPr/>
        </p:nvSpPr>
        <p:spPr>
          <a:xfrm>
            <a:off x="640080" y="1600200"/>
            <a:ext cx="1371600" cy="457200"/>
          </a:xfrm>
          <a:prstGeom prst="rect">
            <a:avLst/>
          </a:prstGeom>
          <a:noFill/>
          <a:ln/>
        </p:spPr>
        <p:txBody>
          <a:bodyPr wrap="square" lIns="0" tIns="0" rIns="0" bIns="0" rtlCol="0" anchor="ctr"/>
          <a:lstStyle/>
          <a:p>
            <a:pPr algn="l" indent="0" marL="0">
              <a:buNone/>
            </a:pPr>
            <a:r>
              <a:rPr lang="en-US" sz="1300" b="1" dirty="0">
                <a:solidFill>
                  <a:srgbClr val="5FC4B1"/>
                </a:solidFill>
                <a:latin typeface="Calibri" pitchFamily="34" charset="0"/>
                <a:ea typeface="Calibri" pitchFamily="34" charset="-122"/>
                <a:cs typeface="Calibri" pitchFamily="34" charset="-120"/>
              </a:rPr>
              <a:t>Umsatz</a:t>
            </a:r>
            <a:endParaRPr lang="en-US" sz="1300" dirty="0"/>
          </a:p>
        </p:txBody>
      </p:sp>
      <p:sp>
        <p:nvSpPr>
          <p:cNvPr id="11" name="Text 8"/>
          <p:cNvSpPr txBox="1"/>
          <p:nvPr/>
        </p:nvSpPr>
        <p:spPr>
          <a:xfrm>
            <a:off x="1965960" y="1600200"/>
            <a:ext cx="2011680" cy="457200"/>
          </a:xfrm>
          <a:prstGeom prst="rect">
            <a:avLst/>
          </a:prstGeom>
          <a:noFill/>
          <a:ln/>
        </p:spPr>
        <p:txBody>
          <a:bodyPr wrap="square" lIns="0" tIns="0" rIns="0" bIns="0" rtlCol="0" anchor="ctr"/>
          <a:lstStyle/>
          <a:p>
            <a:pPr algn="l" indent="0" marL="0">
              <a:buNone/>
            </a:pPr>
            <a:r>
              <a:rPr lang="en-US" sz="1100" dirty="0">
                <a:solidFill>
                  <a:srgbClr val="8E9C9B"/>
                </a:solidFill>
                <a:latin typeface="Calibri" pitchFamily="34" charset="0"/>
                <a:ea typeface="Calibri" pitchFamily="34" charset="-122"/>
                <a:cs typeface="Calibri" pitchFamily="34" charset="-120"/>
              </a:rPr>
              <a:t>× (1 + Wachstum / 2)</a:t>
            </a:r>
            <a:endParaRPr lang="en-US" sz="1100" dirty="0"/>
          </a:p>
        </p:txBody>
      </p:sp>
      <p:sp>
        <p:nvSpPr>
          <p:cNvPr id="12" name="Shape 9"/>
          <p:cNvSpPr/>
          <p:nvPr/>
        </p:nvSpPr>
        <p:spPr>
          <a:xfrm>
            <a:off x="502920" y="2130552"/>
            <a:ext cx="3566160" cy="457200"/>
          </a:xfrm>
          <a:prstGeom prst="roundRect">
            <a:avLst>
              <a:gd name="adj" fmla="val 16000"/>
            </a:avLst>
          </a:prstGeom>
          <a:solidFill>
            <a:srgbClr val="161F22"/>
          </a:solidFill>
          <a:ln w="9525">
            <a:solidFill>
              <a:srgbClr val="5FC4B1"/>
            </a:solidFill>
            <a:prstDash val="solid"/>
          </a:ln>
        </p:spPr>
      </p:sp>
      <p:sp>
        <p:nvSpPr>
          <p:cNvPr id="13" name="Text 10"/>
          <p:cNvSpPr txBox="1"/>
          <p:nvPr/>
        </p:nvSpPr>
        <p:spPr>
          <a:xfrm>
            <a:off x="640080" y="2130552"/>
            <a:ext cx="1371600" cy="457200"/>
          </a:xfrm>
          <a:prstGeom prst="rect">
            <a:avLst/>
          </a:prstGeom>
          <a:noFill/>
          <a:ln/>
        </p:spPr>
        <p:txBody>
          <a:bodyPr wrap="square" lIns="0" tIns="0" rIns="0" bIns="0" rtlCol="0" anchor="ctr"/>
          <a:lstStyle/>
          <a:p>
            <a:pPr algn="l" indent="0" marL="0">
              <a:buNone/>
            </a:pPr>
            <a:r>
              <a:rPr lang="en-US" sz="1300" b="1" dirty="0">
                <a:solidFill>
                  <a:srgbClr val="5FC4B1"/>
                </a:solidFill>
                <a:latin typeface="Calibri" pitchFamily="34" charset="0"/>
                <a:ea typeface="Calibri" pitchFamily="34" charset="-122"/>
                <a:cs typeface="Calibri" pitchFamily="34" charset="-120"/>
              </a:rPr>
              <a:t>× Marge</a:t>
            </a:r>
            <a:endParaRPr lang="en-US" sz="1300" dirty="0"/>
          </a:p>
        </p:txBody>
      </p:sp>
      <p:sp>
        <p:nvSpPr>
          <p:cNvPr id="14" name="Text 11"/>
          <p:cNvSpPr txBox="1"/>
          <p:nvPr/>
        </p:nvSpPr>
        <p:spPr>
          <a:xfrm>
            <a:off x="1965960" y="2130552"/>
            <a:ext cx="2011680" cy="457200"/>
          </a:xfrm>
          <a:prstGeom prst="rect">
            <a:avLst/>
          </a:prstGeom>
          <a:noFill/>
          <a:ln/>
        </p:spPr>
        <p:txBody>
          <a:bodyPr wrap="square" lIns="0" tIns="0" rIns="0" bIns="0" rtlCol="0" anchor="ctr"/>
          <a:lstStyle/>
          <a:p>
            <a:pPr algn="l" indent="0" marL="0">
              <a:buNone/>
            </a:pPr>
            <a:r>
              <a:rPr lang="en-US" sz="1100" dirty="0">
                <a:solidFill>
                  <a:srgbClr val="8E9C9B"/>
                </a:solidFill>
                <a:latin typeface="Calibri" pitchFamily="34" charset="0"/>
                <a:ea typeface="Calibri" pitchFamily="34" charset="-122"/>
                <a:cs typeface="Calibri" pitchFamily="34" charset="-120"/>
              </a:rPr>
              <a:t>läuft auf Zielmarge zu</a:t>
            </a:r>
            <a:endParaRPr lang="en-US" sz="1100" dirty="0"/>
          </a:p>
        </p:txBody>
      </p:sp>
      <p:sp>
        <p:nvSpPr>
          <p:cNvPr id="15" name="Shape 12"/>
          <p:cNvSpPr/>
          <p:nvPr/>
        </p:nvSpPr>
        <p:spPr>
          <a:xfrm>
            <a:off x="502920" y="2660904"/>
            <a:ext cx="3566160" cy="457200"/>
          </a:xfrm>
          <a:prstGeom prst="roundRect">
            <a:avLst>
              <a:gd name="adj" fmla="val 16000"/>
            </a:avLst>
          </a:prstGeom>
          <a:solidFill>
            <a:srgbClr val="1C282B"/>
          </a:solidFill>
          <a:ln w="9525">
            <a:solidFill>
              <a:srgbClr val="DCB264"/>
            </a:solidFill>
            <a:prstDash val="solid"/>
          </a:ln>
        </p:spPr>
      </p:sp>
      <p:sp>
        <p:nvSpPr>
          <p:cNvPr id="16" name="Text 13"/>
          <p:cNvSpPr txBox="1"/>
          <p:nvPr/>
        </p:nvSpPr>
        <p:spPr>
          <a:xfrm>
            <a:off x="640080" y="2660904"/>
            <a:ext cx="1371600" cy="457200"/>
          </a:xfrm>
          <a:prstGeom prst="rect">
            <a:avLst/>
          </a:prstGeom>
          <a:noFill/>
          <a:ln/>
        </p:spPr>
        <p:txBody>
          <a:bodyPr wrap="square" lIns="0" tIns="0" rIns="0" bIns="0" rtlCol="0" anchor="ctr"/>
          <a:lstStyle/>
          <a:p>
            <a:pPr algn="l" indent="0" marL="0">
              <a:buNone/>
            </a:pPr>
            <a:r>
              <a:rPr lang="en-US" sz="1300" b="1" dirty="0">
                <a:solidFill>
                  <a:srgbClr val="DCB264"/>
                </a:solidFill>
                <a:latin typeface="Calibri" pitchFamily="34" charset="0"/>
                <a:ea typeface="Calibri" pitchFamily="34" charset="-122"/>
                <a:cs typeface="Calibri" pitchFamily="34" charset="-120"/>
              </a:rPr>
              <a:t>= EBITDA</a:t>
            </a:r>
            <a:endParaRPr lang="en-US" sz="1300" dirty="0"/>
          </a:p>
        </p:txBody>
      </p:sp>
      <p:sp>
        <p:nvSpPr>
          <p:cNvPr id="17" name="Text 14"/>
          <p:cNvSpPr txBox="1"/>
          <p:nvPr/>
        </p:nvSpPr>
        <p:spPr>
          <a:xfrm>
            <a:off x="1965960" y="2660904"/>
            <a:ext cx="2011680" cy="457200"/>
          </a:xfrm>
          <a:prstGeom prst="rect">
            <a:avLst/>
          </a:prstGeom>
          <a:noFill/>
          <a:ln/>
        </p:spPr>
        <p:txBody>
          <a:bodyPr wrap="square" lIns="0" tIns="0" rIns="0" bIns="0" rtlCol="0" anchor="ctr"/>
          <a:lstStyle/>
          <a:p>
            <a:pPr algn="l" indent="0" marL="0">
              <a:buNone/>
            </a:pPr>
            <a:r>
              <a:rPr lang="en-US" sz="1100" dirty="0">
                <a:solidFill>
                  <a:srgbClr val="8E9C9B"/>
                </a:solidFill>
                <a:latin typeface="Calibri" pitchFamily="34" charset="0"/>
                <a:ea typeface="Calibri" pitchFamily="34" charset="-122"/>
                <a:cs typeface="Calibri" pitchFamily="34" charset="-120"/>
              </a:rPr>
              <a:t>Basis für Bewertung &amp; Covenant</a:t>
            </a:r>
            <a:endParaRPr lang="en-US" sz="1100" dirty="0"/>
          </a:p>
        </p:txBody>
      </p:sp>
      <p:sp>
        <p:nvSpPr>
          <p:cNvPr id="18" name="Shape 15"/>
          <p:cNvSpPr/>
          <p:nvPr/>
        </p:nvSpPr>
        <p:spPr>
          <a:xfrm>
            <a:off x="502920" y="3191256"/>
            <a:ext cx="3566160" cy="457200"/>
          </a:xfrm>
          <a:prstGeom prst="roundRect">
            <a:avLst>
              <a:gd name="adj" fmla="val 16000"/>
            </a:avLst>
          </a:prstGeom>
          <a:solidFill>
            <a:srgbClr val="161F22"/>
          </a:solidFill>
          <a:ln w="9525">
            <a:solidFill>
              <a:srgbClr val="E3897F"/>
            </a:solidFill>
            <a:prstDash val="solid"/>
          </a:ln>
        </p:spPr>
      </p:sp>
      <p:sp>
        <p:nvSpPr>
          <p:cNvPr id="19" name="Text 16"/>
          <p:cNvSpPr txBox="1"/>
          <p:nvPr/>
        </p:nvSpPr>
        <p:spPr>
          <a:xfrm>
            <a:off x="640080" y="3191256"/>
            <a:ext cx="1371600" cy="457200"/>
          </a:xfrm>
          <a:prstGeom prst="rect">
            <a:avLst/>
          </a:prstGeom>
          <a:noFill/>
          <a:ln/>
        </p:spPr>
        <p:txBody>
          <a:bodyPr wrap="square" lIns="0" tIns="0" rIns="0" bIns="0" rtlCol="0" anchor="ctr"/>
          <a:lstStyle/>
          <a:p>
            <a:pPr algn="l" indent="0" marL="0">
              <a:buNone/>
            </a:pPr>
            <a:r>
              <a:rPr lang="en-US" sz="1300" b="1" dirty="0">
                <a:solidFill>
                  <a:srgbClr val="E3897F"/>
                </a:solidFill>
                <a:latin typeface="Calibri" pitchFamily="34" charset="0"/>
                <a:ea typeface="Calibri" pitchFamily="34" charset="-122"/>
                <a:cs typeface="Calibri" pitchFamily="34" charset="-120"/>
              </a:rPr>
              <a:t>− Zins</a:t>
            </a:r>
            <a:endParaRPr lang="en-US" sz="1300" dirty="0"/>
          </a:p>
        </p:txBody>
      </p:sp>
      <p:sp>
        <p:nvSpPr>
          <p:cNvPr id="20" name="Text 17"/>
          <p:cNvSpPr txBox="1"/>
          <p:nvPr/>
        </p:nvSpPr>
        <p:spPr>
          <a:xfrm>
            <a:off x="1965960" y="3191256"/>
            <a:ext cx="2011680" cy="457200"/>
          </a:xfrm>
          <a:prstGeom prst="rect">
            <a:avLst/>
          </a:prstGeom>
          <a:noFill/>
          <a:ln/>
        </p:spPr>
        <p:txBody>
          <a:bodyPr wrap="square" lIns="0" tIns="0" rIns="0" bIns="0" rtlCol="0" anchor="ctr"/>
          <a:lstStyle/>
          <a:p>
            <a:pPr algn="l" indent="0" marL="0">
              <a:buNone/>
            </a:pPr>
            <a:r>
              <a:rPr lang="en-US" sz="1100" dirty="0">
                <a:solidFill>
                  <a:srgbClr val="8E9C9B"/>
                </a:solidFill>
                <a:latin typeface="Calibri" pitchFamily="34" charset="0"/>
                <a:ea typeface="Calibri" pitchFamily="34" charset="-122"/>
                <a:cs typeface="Calibri" pitchFamily="34" charset="-120"/>
              </a:rPr>
              <a:t>Margin Grid</a:t>
            </a:r>
            <a:endParaRPr lang="en-US" sz="1100" dirty="0"/>
          </a:p>
        </p:txBody>
      </p:sp>
      <p:sp>
        <p:nvSpPr>
          <p:cNvPr id="21" name="Shape 18"/>
          <p:cNvSpPr/>
          <p:nvPr/>
        </p:nvSpPr>
        <p:spPr>
          <a:xfrm>
            <a:off x="502920" y="3721608"/>
            <a:ext cx="3566160" cy="457200"/>
          </a:xfrm>
          <a:prstGeom prst="roundRect">
            <a:avLst>
              <a:gd name="adj" fmla="val 16000"/>
            </a:avLst>
          </a:prstGeom>
          <a:solidFill>
            <a:srgbClr val="161F22"/>
          </a:solidFill>
          <a:ln w="9525">
            <a:solidFill>
              <a:srgbClr val="E3897F"/>
            </a:solidFill>
            <a:prstDash val="solid"/>
          </a:ln>
        </p:spPr>
      </p:sp>
      <p:sp>
        <p:nvSpPr>
          <p:cNvPr id="22" name="Text 19"/>
          <p:cNvSpPr txBox="1"/>
          <p:nvPr/>
        </p:nvSpPr>
        <p:spPr>
          <a:xfrm>
            <a:off x="640080" y="3721608"/>
            <a:ext cx="1371600" cy="457200"/>
          </a:xfrm>
          <a:prstGeom prst="rect">
            <a:avLst/>
          </a:prstGeom>
          <a:noFill/>
          <a:ln/>
        </p:spPr>
        <p:txBody>
          <a:bodyPr wrap="square" lIns="0" tIns="0" rIns="0" bIns="0" rtlCol="0" anchor="ctr"/>
          <a:lstStyle/>
          <a:p>
            <a:pPr algn="l" indent="0" marL="0">
              <a:buNone/>
            </a:pPr>
            <a:r>
              <a:rPr lang="en-US" sz="1300" b="1" dirty="0">
                <a:solidFill>
                  <a:srgbClr val="E3897F"/>
                </a:solidFill>
                <a:latin typeface="Calibri" pitchFamily="34" charset="0"/>
                <a:ea typeface="Calibri" pitchFamily="34" charset="-122"/>
                <a:cs typeface="Calibri" pitchFamily="34" charset="-120"/>
              </a:rPr>
              <a:t>− Capex</a:t>
            </a:r>
            <a:endParaRPr lang="en-US" sz="1300" dirty="0"/>
          </a:p>
        </p:txBody>
      </p:sp>
      <p:sp>
        <p:nvSpPr>
          <p:cNvPr id="23" name="Text 20"/>
          <p:cNvSpPr txBox="1"/>
          <p:nvPr/>
        </p:nvSpPr>
        <p:spPr>
          <a:xfrm>
            <a:off x="1965960" y="3721608"/>
            <a:ext cx="2011680" cy="457200"/>
          </a:xfrm>
          <a:prstGeom prst="rect">
            <a:avLst/>
          </a:prstGeom>
          <a:noFill/>
          <a:ln/>
        </p:spPr>
        <p:txBody>
          <a:bodyPr wrap="square" lIns="0" tIns="0" rIns="0" bIns="0" rtlCol="0" anchor="ctr"/>
          <a:lstStyle/>
          <a:p>
            <a:pPr algn="l" indent="0" marL="0">
              <a:buNone/>
            </a:pPr>
            <a:r>
              <a:rPr lang="en-US" sz="1100" dirty="0">
                <a:solidFill>
                  <a:srgbClr val="8E9C9B"/>
                </a:solidFill>
                <a:latin typeface="Calibri" pitchFamily="34" charset="0"/>
                <a:ea typeface="Calibri" pitchFamily="34" charset="-122"/>
                <a:cs typeface="Calibri" pitchFamily="34" charset="-120"/>
              </a:rPr>
              <a:t>Quote × Umsatz</a:t>
            </a:r>
            <a:endParaRPr lang="en-US" sz="1100" dirty="0"/>
          </a:p>
        </p:txBody>
      </p:sp>
      <p:sp>
        <p:nvSpPr>
          <p:cNvPr id="24" name="Shape 21"/>
          <p:cNvSpPr/>
          <p:nvPr/>
        </p:nvSpPr>
        <p:spPr>
          <a:xfrm>
            <a:off x="502920" y="4251960"/>
            <a:ext cx="3566160" cy="457200"/>
          </a:xfrm>
          <a:prstGeom prst="roundRect">
            <a:avLst>
              <a:gd name="adj" fmla="val 16000"/>
            </a:avLst>
          </a:prstGeom>
          <a:solidFill>
            <a:srgbClr val="161F22"/>
          </a:solidFill>
          <a:ln w="9525">
            <a:solidFill>
              <a:srgbClr val="E3897F"/>
            </a:solidFill>
            <a:prstDash val="solid"/>
          </a:ln>
        </p:spPr>
      </p:sp>
      <p:sp>
        <p:nvSpPr>
          <p:cNvPr id="25" name="Text 22"/>
          <p:cNvSpPr txBox="1"/>
          <p:nvPr/>
        </p:nvSpPr>
        <p:spPr>
          <a:xfrm>
            <a:off x="640080" y="4251960"/>
            <a:ext cx="1371600" cy="457200"/>
          </a:xfrm>
          <a:prstGeom prst="rect">
            <a:avLst/>
          </a:prstGeom>
          <a:noFill/>
          <a:ln/>
        </p:spPr>
        <p:txBody>
          <a:bodyPr wrap="square" lIns="0" tIns="0" rIns="0" bIns="0" rtlCol="0" anchor="ctr"/>
          <a:lstStyle/>
          <a:p>
            <a:pPr algn="l" indent="0" marL="0">
              <a:buNone/>
            </a:pPr>
            <a:r>
              <a:rPr lang="en-US" sz="1300" b="1" dirty="0">
                <a:solidFill>
                  <a:srgbClr val="E3897F"/>
                </a:solidFill>
                <a:latin typeface="Calibri" pitchFamily="34" charset="0"/>
                <a:ea typeface="Calibri" pitchFamily="34" charset="-122"/>
                <a:cs typeface="Calibri" pitchFamily="34" charset="-120"/>
              </a:rPr>
              <a:t>− Δ NWC</a:t>
            </a:r>
            <a:endParaRPr lang="en-US" sz="1300" dirty="0"/>
          </a:p>
        </p:txBody>
      </p:sp>
      <p:sp>
        <p:nvSpPr>
          <p:cNvPr id="26" name="Text 23"/>
          <p:cNvSpPr txBox="1"/>
          <p:nvPr/>
        </p:nvSpPr>
        <p:spPr>
          <a:xfrm>
            <a:off x="1965960" y="4251960"/>
            <a:ext cx="2011680" cy="457200"/>
          </a:xfrm>
          <a:prstGeom prst="rect">
            <a:avLst/>
          </a:prstGeom>
          <a:noFill/>
          <a:ln/>
        </p:spPr>
        <p:txBody>
          <a:bodyPr wrap="square" lIns="0" tIns="0" rIns="0" bIns="0" rtlCol="0" anchor="ctr"/>
          <a:lstStyle/>
          <a:p>
            <a:pPr algn="l" indent="0" marL="0">
              <a:buNone/>
            </a:pPr>
            <a:r>
              <a:rPr lang="en-US" sz="1100" dirty="0">
                <a:solidFill>
                  <a:srgbClr val="8E9C9B"/>
                </a:solidFill>
                <a:latin typeface="Calibri" pitchFamily="34" charset="0"/>
                <a:ea typeface="Calibri" pitchFamily="34" charset="-122"/>
                <a:cs typeface="Calibri" pitchFamily="34" charset="-120"/>
              </a:rPr>
              <a:t>Bestandsveränderung</a:t>
            </a:r>
            <a:endParaRPr lang="en-US" sz="1100" dirty="0"/>
          </a:p>
        </p:txBody>
      </p:sp>
      <p:sp>
        <p:nvSpPr>
          <p:cNvPr id="27" name="Shape 24"/>
          <p:cNvSpPr/>
          <p:nvPr/>
        </p:nvSpPr>
        <p:spPr>
          <a:xfrm>
            <a:off x="502920" y="4782312"/>
            <a:ext cx="3566160" cy="457200"/>
          </a:xfrm>
          <a:prstGeom prst="roundRect">
            <a:avLst>
              <a:gd name="adj" fmla="val 16000"/>
            </a:avLst>
          </a:prstGeom>
          <a:solidFill>
            <a:srgbClr val="161F22"/>
          </a:solidFill>
          <a:ln w="9525">
            <a:solidFill>
              <a:srgbClr val="E3897F"/>
            </a:solidFill>
            <a:prstDash val="solid"/>
          </a:ln>
        </p:spPr>
      </p:sp>
      <p:sp>
        <p:nvSpPr>
          <p:cNvPr id="28" name="Text 25"/>
          <p:cNvSpPr txBox="1"/>
          <p:nvPr/>
        </p:nvSpPr>
        <p:spPr>
          <a:xfrm>
            <a:off x="640080" y="4782312"/>
            <a:ext cx="1371600" cy="457200"/>
          </a:xfrm>
          <a:prstGeom prst="rect">
            <a:avLst/>
          </a:prstGeom>
          <a:noFill/>
          <a:ln/>
        </p:spPr>
        <p:txBody>
          <a:bodyPr wrap="square" lIns="0" tIns="0" rIns="0" bIns="0" rtlCol="0" anchor="ctr"/>
          <a:lstStyle/>
          <a:p>
            <a:pPr algn="l" indent="0" marL="0">
              <a:buNone/>
            </a:pPr>
            <a:r>
              <a:rPr lang="en-US" sz="1300" b="1" dirty="0">
                <a:solidFill>
                  <a:srgbClr val="E3897F"/>
                </a:solidFill>
                <a:latin typeface="Calibri" pitchFamily="34" charset="0"/>
                <a:ea typeface="Calibri" pitchFamily="34" charset="-122"/>
                <a:cs typeface="Calibri" pitchFamily="34" charset="-120"/>
              </a:rPr>
              <a:t>− Steuern</a:t>
            </a:r>
            <a:endParaRPr lang="en-US" sz="1300" dirty="0"/>
          </a:p>
        </p:txBody>
      </p:sp>
      <p:sp>
        <p:nvSpPr>
          <p:cNvPr id="29" name="Text 26"/>
          <p:cNvSpPr txBox="1"/>
          <p:nvPr/>
        </p:nvSpPr>
        <p:spPr>
          <a:xfrm>
            <a:off x="1965960" y="4782312"/>
            <a:ext cx="2011680" cy="457200"/>
          </a:xfrm>
          <a:prstGeom prst="rect">
            <a:avLst/>
          </a:prstGeom>
          <a:noFill/>
          <a:ln/>
        </p:spPr>
        <p:txBody>
          <a:bodyPr wrap="square" lIns="0" tIns="0" rIns="0" bIns="0" rtlCol="0" anchor="ctr"/>
          <a:lstStyle/>
          <a:p>
            <a:pPr algn="l" indent="0" marL="0">
              <a:buNone/>
            </a:pPr>
            <a:r>
              <a:rPr lang="en-US" sz="1100" dirty="0">
                <a:solidFill>
                  <a:srgbClr val="8E9C9B"/>
                </a:solidFill>
                <a:latin typeface="Calibri" pitchFamily="34" charset="0"/>
                <a:ea typeface="Calibri" pitchFamily="34" charset="-122"/>
                <a:cs typeface="Calibri" pitchFamily="34" charset="-120"/>
              </a:rPr>
              <a:t>30 %, Zinsschranke</a:t>
            </a:r>
            <a:endParaRPr lang="en-US" sz="1100" dirty="0"/>
          </a:p>
        </p:txBody>
      </p:sp>
      <p:sp>
        <p:nvSpPr>
          <p:cNvPr id="30" name="Shape 27"/>
          <p:cNvSpPr/>
          <p:nvPr/>
        </p:nvSpPr>
        <p:spPr>
          <a:xfrm>
            <a:off x="502920" y="5312664"/>
            <a:ext cx="3566160" cy="457200"/>
          </a:xfrm>
          <a:prstGeom prst="roundRect">
            <a:avLst>
              <a:gd name="adj" fmla="val 16000"/>
            </a:avLst>
          </a:prstGeom>
          <a:solidFill>
            <a:srgbClr val="1C282B"/>
          </a:solidFill>
          <a:ln w="9525">
            <a:solidFill>
              <a:srgbClr val="3B82F6"/>
            </a:solidFill>
            <a:prstDash val="solid"/>
          </a:ln>
        </p:spPr>
      </p:sp>
      <p:sp>
        <p:nvSpPr>
          <p:cNvPr id="31" name="Text 28"/>
          <p:cNvSpPr txBox="1"/>
          <p:nvPr/>
        </p:nvSpPr>
        <p:spPr>
          <a:xfrm>
            <a:off x="640080" y="5312664"/>
            <a:ext cx="1371600" cy="457200"/>
          </a:xfrm>
          <a:prstGeom prst="rect">
            <a:avLst/>
          </a:prstGeom>
          <a:noFill/>
          <a:ln/>
        </p:spPr>
        <p:txBody>
          <a:bodyPr wrap="square" lIns="0" tIns="0" rIns="0" bIns="0" rtlCol="0" anchor="ctr"/>
          <a:lstStyle/>
          <a:p>
            <a:pPr algn="l" indent="0" marL="0">
              <a:buNone/>
            </a:pPr>
            <a:r>
              <a:rPr lang="en-US" sz="1300" b="1" dirty="0">
                <a:solidFill>
                  <a:srgbClr val="3B82F6"/>
                </a:solidFill>
                <a:latin typeface="Calibri" pitchFamily="34" charset="0"/>
                <a:ea typeface="Calibri" pitchFamily="34" charset="-122"/>
                <a:cs typeface="Calibri" pitchFamily="34" charset="-120"/>
              </a:rPr>
              <a:t>= FCF</a:t>
            </a:r>
            <a:endParaRPr lang="en-US" sz="1300" dirty="0"/>
          </a:p>
        </p:txBody>
      </p:sp>
      <p:sp>
        <p:nvSpPr>
          <p:cNvPr id="32" name="Text 29"/>
          <p:cNvSpPr txBox="1"/>
          <p:nvPr/>
        </p:nvSpPr>
        <p:spPr>
          <a:xfrm>
            <a:off x="1965960" y="5312664"/>
            <a:ext cx="2011680" cy="457200"/>
          </a:xfrm>
          <a:prstGeom prst="rect">
            <a:avLst/>
          </a:prstGeom>
          <a:noFill/>
          <a:ln/>
        </p:spPr>
        <p:txBody>
          <a:bodyPr wrap="square" lIns="0" tIns="0" rIns="0" bIns="0" rtlCol="0" anchor="ctr"/>
          <a:lstStyle/>
          <a:p>
            <a:pPr algn="l" indent="0" marL="0">
              <a:buNone/>
            </a:pPr>
            <a:r>
              <a:rPr lang="en-US" sz="1100" dirty="0">
                <a:solidFill>
                  <a:srgbClr val="8E9C9B"/>
                </a:solidFill>
                <a:latin typeface="Calibri" pitchFamily="34" charset="0"/>
                <a:ea typeface="Calibri" pitchFamily="34" charset="-122"/>
                <a:cs typeface="Calibri" pitchFamily="34" charset="-120"/>
              </a:rPr>
              <a:t>tilgt Schulden</a:t>
            </a:r>
            <a:endParaRPr lang="en-US" sz="1100" dirty="0"/>
          </a:p>
        </p:txBody>
      </p:sp>
      <p:sp>
        <p:nvSpPr>
          <p:cNvPr id="33" name="Shape 30"/>
          <p:cNvSpPr/>
          <p:nvPr/>
        </p:nvSpPr>
        <p:spPr>
          <a:xfrm>
            <a:off x="4343400" y="1600200"/>
            <a:ext cx="3886200" cy="1143000"/>
          </a:xfrm>
          <a:prstGeom prst="roundRect">
            <a:avLst>
              <a:gd name="adj" fmla="val 6400"/>
            </a:avLst>
          </a:prstGeom>
          <a:solidFill>
            <a:srgbClr val="1C282B"/>
          </a:solidFill>
          <a:ln w="12700">
            <a:solidFill>
              <a:srgbClr val="DCB264"/>
            </a:solidFill>
            <a:prstDash val="solid"/>
          </a:ln>
        </p:spPr>
      </p:sp>
      <p:sp>
        <p:nvSpPr>
          <p:cNvPr id="34" name="Text 31"/>
          <p:cNvSpPr txBox="1"/>
          <p:nvPr/>
        </p:nvSpPr>
        <p:spPr>
          <a:xfrm>
            <a:off x="4526280" y="1600200"/>
            <a:ext cx="3520440" cy="1143000"/>
          </a:xfrm>
          <a:prstGeom prst="rect">
            <a:avLst/>
          </a:prstGeom>
          <a:noFill/>
          <a:ln/>
        </p:spPr>
        <p:txBody>
          <a:bodyPr wrap="square" lIns="0" tIns="0" rIns="0" bIns="0" rtlCol="0" anchor="ctr"/>
          <a:lstStyle/>
          <a:p>
            <a:pPr algn="ctr" indent="0" marL="0">
              <a:buNone/>
            </a:pPr>
            <a:r>
              <a:rPr lang="en-US" sz="1300" b="1" dirty="0">
                <a:solidFill>
                  <a:srgbClr val="DCB264"/>
                </a:solidFill>
                <a:latin typeface="Calibri" pitchFamily="34" charset="0"/>
                <a:ea typeface="Calibri" pitchFamily="34" charset="-122"/>
                <a:cs typeface="Calibri" pitchFamily="34" charset="-120"/>
              </a:rPr>
              <a:t>Wachstum = Sektor-g + Drift + (Growth_eff − 2) × 1,7 pp × (1 + 0,1 × Value Creation) + Managementwirkung + Rauschen</a:t>
            </a:r>
            <a:endParaRPr lang="en-US" sz="1300" dirty="0"/>
          </a:p>
        </p:txBody>
      </p:sp>
      <p:sp>
        <p:nvSpPr>
          <p:cNvPr id="35" name="Shape 32"/>
          <p:cNvSpPr/>
          <p:nvPr/>
        </p:nvSpPr>
        <p:spPr>
          <a:xfrm>
            <a:off x="4343400" y="2880360"/>
            <a:ext cx="3886200" cy="1417320"/>
          </a:xfrm>
          <a:prstGeom prst="roundRect">
            <a:avLst>
              <a:gd name="adj" fmla="val 5161"/>
            </a:avLst>
          </a:prstGeom>
          <a:solidFill>
            <a:srgbClr val="1C282B"/>
          </a:solidFill>
          <a:ln w="12700">
            <a:solidFill>
              <a:srgbClr val="5FC4B1"/>
            </a:solidFill>
            <a:prstDash val="solid"/>
          </a:ln>
        </p:spPr>
      </p:sp>
      <p:sp>
        <p:nvSpPr>
          <p:cNvPr id="36" name="Text 33"/>
          <p:cNvSpPr txBox="1"/>
          <p:nvPr/>
        </p:nvSpPr>
        <p:spPr>
          <a:xfrm>
            <a:off x="4526280" y="2880360"/>
            <a:ext cx="3520440" cy="1417320"/>
          </a:xfrm>
          <a:prstGeom prst="rect">
            <a:avLst/>
          </a:prstGeom>
          <a:noFill/>
          <a:ln/>
        </p:spPr>
        <p:txBody>
          <a:bodyPr wrap="square" lIns="0" tIns="0" rIns="0" bIns="0" rtlCol="0" anchor="ctr"/>
          <a:lstStyle/>
          <a:p>
            <a:pPr algn="ctr" indent="0" marL="0">
              <a:buNone/>
            </a:pPr>
            <a:r>
              <a:rPr lang="en-US" sz="1200" b="1" dirty="0">
                <a:solidFill>
                  <a:srgbClr val="5FC4B1"/>
                </a:solidFill>
                <a:latin typeface="Calibri" pitchFamily="34" charset="0"/>
                <a:ea typeface="Calibri" pitchFamily="34" charset="-122"/>
                <a:cs typeface="Calibri" pitchFamily="34" charset="-120"/>
              </a:rPr>
              <a:t>Zielmarge = Branchenmarge + (Performance − 2) × 1 pp + Operating Leverage + Managementwirkung − Überdehnung × 1,4 − Mehrkosten Management − Programmbelastung</a:t>
            </a:r>
            <a:endParaRPr lang="en-US" sz="1200" dirty="0"/>
          </a:p>
        </p:txBody>
      </p:sp>
      <p:sp>
        <p:nvSpPr>
          <p:cNvPr id="37" name="Text 34"/>
          <p:cNvSpPr txBox="1"/>
          <p:nvPr/>
        </p:nvSpPr>
        <p:spPr>
          <a:xfrm>
            <a:off x="4343400" y="4480560"/>
            <a:ext cx="3886200" cy="1645920"/>
          </a:xfrm>
          <a:prstGeom prst="rect">
            <a:avLst/>
          </a:prstGeom>
          <a:noFill/>
          <a:ln/>
        </p:spPr>
        <p:txBody>
          <a:bodyPr wrap="square" lIns="0" tIns="0" rIns="0" bIns="0" rtlCol="0" anchor="t"/>
          <a:lstStyle/>
          <a:p>
            <a:pPr marL="177800" indent="-177800">
              <a:spcAft>
                <a:spcPts val="700"/>
              </a:spcAft>
              <a:buSzPct val="100000"/>
              <a:buChar char="•"/>
            </a:pPr>
            <a:r>
              <a:rPr lang="en-US" sz="1200" b="1" dirty="0">
                <a:solidFill>
                  <a:srgbClr val="DCB264"/>
                </a:solidFill>
                <a:latin typeface="Calibri" pitchFamily="34" charset="0"/>
                <a:ea typeface="Calibri" pitchFamily="34" charset="-122"/>
                <a:cs typeface="Calibri" pitchFamily="34" charset="-120"/>
              </a:rPr>
              <a:t>Aufholen: </a:t>
            </a:r>
            <a:pPr indent="0" marL="0">
              <a:buNone/>
            </a:pPr>
            <a:r>
              <a:rPr lang="en-US" sz="1200" dirty="0">
                <a:solidFill>
                  <a:srgbClr val="EDF1EE"/>
                </a:solidFill>
                <a:latin typeface="Calibri" pitchFamily="34" charset="0"/>
                <a:ea typeface="Calibri" pitchFamily="34" charset="-122"/>
                <a:cs typeface="Calibri" pitchFamily="34" charset="-120"/>
              </a:rPr>
              <a:t>30 % der Lücke je HJ (× Value Creation)</a:t>
            </a:r>
            <a:endParaRPr lang="en-US" sz="1200" dirty="0"/>
          </a:p>
          <a:p>
            <a:pPr marL="177800" indent="-177800">
              <a:spcAft>
                <a:spcPts val="700"/>
              </a:spcAft>
              <a:buSzPct val="100000"/>
              <a:buChar char="•"/>
            </a:pPr>
            <a:r>
              <a:rPr lang="en-US" sz="1200" b="1" dirty="0">
                <a:solidFill>
                  <a:srgbClr val="DCB264"/>
                </a:solidFill>
                <a:latin typeface="Calibri" pitchFamily="34" charset="0"/>
                <a:ea typeface="Calibri" pitchFamily="34" charset="-122"/>
                <a:cs typeface="Calibri" pitchFamily="34" charset="-120"/>
              </a:rPr>
              <a:t>Zurückfallen: </a:t>
            </a:r>
            <a:pPr indent="0" marL="0">
              <a:buNone/>
            </a:pPr>
            <a:r>
              <a:rPr lang="en-US" sz="1200" dirty="0">
                <a:solidFill>
                  <a:srgbClr val="EDF1EE"/>
                </a:solidFill>
                <a:latin typeface="Calibri" pitchFamily="34" charset="0"/>
                <a:ea typeface="Calibri" pitchFamily="34" charset="-122"/>
                <a:cs typeface="Calibri" pitchFamily="34" charset="-120"/>
              </a:rPr>
              <a:t>40 % der Lücke je HJ</a:t>
            </a:r>
            <a:endParaRPr lang="en-US" sz="1200" dirty="0"/>
          </a:p>
          <a:p>
            <a:pPr marL="177800" indent="-177800">
              <a:spcAft>
                <a:spcPts val="700"/>
              </a:spcAft>
              <a:buSzPct val="100000"/>
              <a:buChar char="•"/>
            </a:pPr>
            <a:r>
              <a:rPr lang="en-US" sz="1200" b="1" dirty="0">
                <a:solidFill>
                  <a:srgbClr val="DCB264"/>
                </a:solidFill>
                <a:latin typeface="Calibri" pitchFamily="34" charset="0"/>
                <a:ea typeface="Calibri" pitchFamily="34" charset="-122"/>
                <a:cs typeface="Calibri" pitchFamily="34" charset="-120"/>
              </a:rPr>
              <a:t>Management: </a:t>
            </a:r>
            <a:pPr indent="0" marL="0">
              <a:buNone/>
            </a:pPr>
            <a:r>
              <a:rPr lang="en-US" sz="1200" dirty="0">
                <a:solidFill>
                  <a:srgbClr val="EDF1EE"/>
                </a:solidFill>
                <a:latin typeface="Calibri" pitchFamily="34" charset="0"/>
                <a:ea typeface="Calibri" pitchFamily="34" charset="-122"/>
                <a:cs typeface="Calibri" pitchFamily="34" charset="-120"/>
              </a:rPr>
              <a:t>Kompetenzen über 2,5 heben Marge, Wachstum, NWC, Zins und Capex laufend</a:t>
            </a:r>
            <a:endParaRPr lang="en-US" sz="1200" dirty="0"/>
          </a:p>
          <a:p>
            <a:pPr marL="177800" indent="-177800">
              <a:spcAft>
                <a:spcPts val="700"/>
              </a:spcAft>
              <a:buSzPct val="100000"/>
              <a:buChar char="•"/>
            </a:pPr>
            <a:r>
              <a:rPr lang="en-US" sz="1200" b="1" dirty="0">
                <a:solidFill>
                  <a:srgbClr val="DCB264"/>
                </a:solidFill>
                <a:latin typeface="Calibri" pitchFamily="34" charset="0"/>
                <a:ea typeface="Calibri" pitchFamily="34" charset="-122"/>
                <a:cs typeface="Calibri" pitchFamily="34" charset="-120"/>
              </a:rPr>
              <a:t>Rauschen: </a:t>
            </a:r>
            <a:pPr indent="0" marL="0">
              <a:buNone/>
            </a:pPr>
            <a:r>
              <a:rPr lang="en-US" sz="1200" dirty="0">
                <a:solidFill>
                  <a:srgbClr val="EDF1EE"/>
                </a:solidFill>
                <a:latin typeface="Calibri" pitchFamily="34" charset="0"/>
                <a:ea typeface="Calibri" pitchFamily="34" charset="-122"/>
                <a:cs typeface="Calibri" pitchFamily="34" charset="-120"/>
              </a:rPr>
              <a:t>Wachstum σ ≈ 3,5 pp, Marge σ ≈ 0,35 pp</a:t>
            </a:r>
            <a:endParaRPr lang="en-US" sz="1200" dirty="0"/>
          </a:p>
        </p:txBody>
      </p:sp>
      <p:pic>
        <p:nvPicPr>
          <p:cNvPr id="38" name="Image 0" descr="/tmp/claude-0/deck/img/statements.jpg">    </p:cNvPr>
          <p:cNvPicPr>
            <a:picLocks noChangeAspect="1"/>
          </p:cNvPicPr>
          <p:nvPr/>
        </p:nvPicPr>
        <p:blipFill>
          <a:blip r:embed="rId1"/>
          <a:stretch>
            <a:fillRect/>
          </a:stretch>
        </p:blipFill>
        <p:spPr>
          <a:xfrm>
            <a:off x="9052560" y="1600200"/>
            <a:ext cx="2633472" cy="4389120"/>
          </a:xfrm>
          <a:prstGeom prst="rect">
            <a:avLst/>
          </a:prstGeom>
        </p:spPr>
      </p:pic>
      <p:sp>
        <p:nvSpPr>
          <p:cNvPr id="39" name="Shape 35"/>
          <p:cNvSpPr/>
          <p:nvPr/>
        </p:nvSpPr>
        <p:spPr>
          <a:xfrm>
            <a:off x="9052560" y="1600200"/>
            <a:ext cx="2633472" cy="4389120"/>
          </a:xfrm>
          <a:prstGeom prst="rect">
            <a:avLst/>
          </a:prstGeom>
          <a:ln w="9525">
            <a:solidFill>
              <a:srgbClr val="33474B"/>
            </a:solidFill>
            <a:prstDash val="solid"/>
          </a:ln>
        </p:spPr>
      </p:sp>
      <p:sp>
        <p:nvSpPr>
          <p:cNvPr id="40" name="Text 36"/>
          <p:cNvSpPr txBox="1"/>
          <p:nvPr/>
        </p:nvSpPr>
        <p:spPr>
          <a:xfrm>
            <a:off x="8778240" y="6044184"/>
            <a:ext cx="3182112"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Financial Statements einer Beteiligung</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5FC4B1"/>
                </a:solidFill>
                <a:latin typeface="Calibri" pitchFamily="34" charset="0"/>
                <a:ea typeface="Calibri" pitchFamily="34" charset="-122"/>
                <a:cs typeface="Calibri" pitchFamily="34" charset="-120"/>
              </a:rPr>
              <a:t>REIFEGRADE</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People, Performance, Growth – Growth braucht Unterbau</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5FC4B1"/>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5FC4B1"/>
                </a:solidFill>
                <a:latin typeface="Calibri" pitchFamily="34" charset="0"/>
                <a:ea typeface="Calibri" pitchFamily="34" charset="-122"/>
                <a:cs typeface="Calibri" pitchFamily="34" charset="-120"/>
              </a:rPr>
              <a:t>C · VALUE CREATION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24</a:t>
            </a:r>
            <a:endParaRPr lang="en-US" sz="900" dirty="0"/>
          </a:p>
        </p:txBody>
      </p:sp>
      <p:sp>
        <p:nvSpPr>
          <p:cNvPr id="9" name="Text 6"/>
          <p:cNvSpPr txBox="1"/>
          <p:nvPr/>
        </p:nvSpPr>
        <p:spPr>
          <a:xfrm>
            <a:off x="502920" y="1828800"/>
            <a:ext cx="1371600" cy="411480"/>
          </a:xfrm>
          <a:prstGeom prst="rect">
            <a:avLst/>
          </a:prstGeom>
          <a:noFill/>
          <a:ln/>
        </p:spPr>
        <p:txBody>
          <a:bodyPr wrap="square" lIns="0" tIns="0" rIns="0" bIns="0" rtlCol="0" anchor="ctr"/>
          <a:lstStyle/>
          <a:p>
            <a:pPr algn="l" indent="0" marL="0">
              <a:buNone/>
            </a:pPr>
            <a:r>
              <a:rPr lang="en-US" sz="1400" b="1" dirty="0">
                <a:solidFill>
                  <a:srgbClr val="D2A03F"/>
                </a:solidFill>
                <a:latin typeface="Calibri" pitchFamily="34" charset="0"/>
                <a:ea typeface="Calibri" pitchFamily="34" charset="-122"/>
                <a:cs typeface="Calibri" pitchFamily="34" charset="-120"/>
              </a:rPr>
              <a:t>People</a:t>
            </a:r>
            <a:endParaRPr lang="en-US" sz="1400" dirty="0"/>
          </a:p>
        </p:txBody>
      </p:sp>
      <p:sp>
        <p:nvSpPr>
          <p:cNvPr id="10" name="Shape 7"/>
          <p:cNvSpPr/>
          <p:nvPr/>
        </p:nvSpPr>
        <p:spPr>
          <a:xfrm>
            <a:off x="1965960" y="1901952"/>
            <a:ext cx="5029200" cy="274320"/>
          </a:xfrm>
          <a:prstGeom prst="roundRect">
            <a:avLst>
              <a:gd name="adj" fmla="val 16667"/>
            </a:avLst>
          </a:prstGeom>
          <a:solidFill>
            <a:srgbClr val="1C282B"/>
          </a:solidFill>
          <a:ln/>
        </p:spPr>
      </p:sp>
      <p:sp>
        <p:nvSpPr>
          <p:cNvPr id="11" name="Shape 8"/>
          <p:cNvSpPr/>
          <p:nvPr/>
        </p:nvSpPr>
        <p:spPr>
          <a:xfrm>
            <a:off x="1965960" y="1901952"/>
            <a:ext cx="2011680" cy="274320"/>
          </a:xfrm>
          <a:prstGeom prst="roundRect">
            <a:avLst>
              <a:gd name="adj" fmla="val 16667"/>
            </a:avLst>
          </a:prstGeom>
          <a:solidFill>
            <a:srgbClr val="D2A03F"/>
          </a:solidFill>
          <a:ln/>
        </p:spPr>
      </p:sp>
      <p:sp>
        <p:nvSpPr>
          <p:cNvPr id="12" name="Text 9"/>
          <p:cNvSpPr txBox="1"/>
          <p:nvPr/>
        </p:nvSpPr>
        <p:spPr>
          <a:xfrm>
            <a:off x="1965960" y="2212848"/>
            <a:ext cx="5029200" cy="27432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Team-Score des Managements</a:t>
            </a:r>
            <a:endParaRPr lang="en-US" sz="1050" dirty="0"/>
          </a:p>
        </p:txBody>
      </p:sp>
      <p:sp>
        <p:nvSpPr>
          <p:cNvPr id="13" name="Text 10"/>
          <p:cNvSpPr txBox="1"/>
          <p:nvPr/>
        </p:nvSpPr>
        <p:spPr>
          <a:xfrm>
            <a:off x="502920" y="2697480"/>
            <a:ext cx="1371600" cy="411480"/>
          </a:xfrm>
          <a:prstGeom prst="rect">
            <a:avLst/>
          </a:prstGeom>
          <a:noFill/>
          <a:ln/>
        </p:spPr>
        <p:txBody>
          <a:bodyPr wrap="square" lIns="0" tIns="0" rIns="0" bIns="0" rtlCol="0" anchor="ctr"/>
          <a:lstStyle/>
          <a:p>
            <a:pPr algn="l" indent="0" marL="0">
              <a:buNone/>
            </a:pPr>
            <a:r>
              <a:rPr lang="en-US" sz="1400" b="1" dirty="0">
                <a:solidFill>
                  <a:srgbClr val="5FC4B1"/>
                </a:solidFill>
                <a:latin typeface="Calibri" pitchFamily="34" charset="0"/>
                <a:ea typeface="Calibri" pitchFamily="34" charset="-122"/>
                <a:cs typeface="Calibri" pitchFamily="34" charset="-120"/>
              </a:rPr>
              <a:t>Performance</a:t>
            </a:r>
            <a:endParaRPr lang="en-US" sz="1400" dirty="0"/>
          </a:p>
        </p:txBody>
      </p:sp>
      <p:sp>
        <p:nvSpPr>
          <p:cNvPr id="14" name="Shape 11"/>
          <p:cNvSpPr/>
          <p:nvPr/>
        </p:nvSpPr>
        <p:spPr>
          <a:xfrm>
            <a:off x="1965960" y="2770632"/>
            <a:ext cx="5029200" cy="274320"/>
          </a:xfrm>
          <a:prstGeom prst="roundRect">
            <a:avLst>
              <a:gd name="adj" fmla="val 16667"/>
            </a:avLst>
          </a:prstGeom>
          <a:solidFill>
            <a:srgbClr val="1C282B"/>
          </a:solidFill>
          <a:ln/>
        </p:spPr>
      </p:sp>
      <p:sp>
        <p:nvSpPr>
          <p:cNvPr id="15" name="Shape 12"/>
          <p:cNvSpPr/>
          <p:nvPr/>
        </p:nvSpPr>
        <p:spPr>
          <a:xfrm>
            <a:off x="1965960" y="2770632"/>
            <a:ext cx="2011680" cy="274320"/>
          </a:xfrm>
          <a:prstGeom prst="roundRect">
            <a:avLst>
              <a:gd name="adj" fmla="val 16667"/>
            </a:avLst>
          </a:prstGeom>
          <a:solidFill>
            <a:srgbClr val="5FC4B1"/>
          </a:solidFill>
          <a:ln/>
        </p:spPr>
      </p:sp>
      <p:sp>
        <p:nvSpPr>
          <p:cNvPr id="16" name="Text 13"/>
          <p:cNvSpPr txBox="1"/>
          <p:nvPr/>
        </p:nvSpPr>
        <p:spPr>
          <a:xfrm>
            <a:off x="1965960" y="3081528"/>
            <a:ext cx="5029200" cy="27432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Prozessreife: Kosten, Capex, NWC</a:t>
            </a:r>
            <a:endParaRPr lang="en-US" sz="1050" dirty="0"/>
          </a:p>
        </p:txBody>
      </p:sp>
      <p:sp>
        <p:nvSpPr>
          <p:cNvPr id="17" name="Text 14"/>
          <p:cNvSpPr txBox="1"/>
          <p:nvPr/>
        </p:nvSpPr>
        <p:spPr>
          <a:xfrm>
            <a:off x="502920" y="3566160"/>
            <a:ext cx="1371600" cy="411480"/>
          </a:xfrm>
          <a:prstGeom prst="rect">
            <a:avLst/>
          </a:prstGeom>
          <a:noFill/>
          <a:ln/>
        </p:spPr>
        <p:txBody>
          <a:bodyPr wrap="square" lIns="0" tIns="0" rIns="0" bIns="0" rtlCol="0" anchor="ctr"/>
          <a:lstStyle/>
          <a:p>
            <a:pPr algn="l" indent="0" marL="0">
              <a:buNone/>
            </a:pPr>
            <a:r>
              <a:rPr lang="en-US" sz="1400" b="1" dirty="0">
                <a:solidFill>
                  <a:srgbClr val="A855F7"/>
                </a:solidFill>
                <a:latin typeface="Calibri" pitchFamily="34" charset="0"/>
                <a:ea typeface="Calibri" pitchFamily="34" charset="-122"/>
                <a:cs typeface="Calibri" pitchFamily="34" charset="-120"/>
              </a:rPr>
              <a:t>Growth</a:t>
            </a:r>
            <a:endParaRPr lang="en-US" sz="1400" dirty="0"/>
          </a:p>
        </p:txBody>
      </p:sp>
      <p:sp>
        <p:nvSpPr>
          <p:cNvPr id="18" name="Shape 15"/>
          <p:cNvSpPr/>
          <p:nvPr/>
        </p:nvSpPr>
        <p:spPr>
          <a:xfrm>
            <a:off x="1965960" y="3639312"/>
            <a:ext cx="5029200" cy="274320"/>
          </a:xfrm>
          <a:prstGeom prst="roundRect">
            <a:avLst>
              <a:gd name="adj" fmla="val 16667"/>
            </a:avLst>
          </a:prstGeom>
          <a:solidFill>
            <a:srgbClr val="1C282B"/>
          </a:solidFill>
          <a:ln/>
        </p:spPr>
      </p:sp>
      <p:sp>
        <p:nvSpPr>
          <p:cNvPr id="19" name="Shape 16"/>
          <p:cNvSpPr/>
          <p:nvPr/>
        </p:nvSpPr>
        <p:spPr>
          <a:xfrm>
            <a:off x="1965960" y="3639312"/>
            <a:ext cx="3017520" cy="274320"/>
          </a:xfrm>
          <a:prstGeom prst="roundRect">
            <a:avLst>
              <a:gd name="adj" fmla="val 16667"/>
            </a:avLst>
          </a:prstGeom>
          <a:solidFill>
            <a:srgbClr val="A855F7"/>
          </a:solidFill>
          <a:ln/>
        </p:spPr>
      </p:sp>
      <p:sp>
        <p:nvSpPr>
          <p:cNvPr id="20" name="Shape 17"/>
          <p:cNvSpPr/>
          <p:nvPr/>
        </p:nvSpPr>
        <p:spPr>
          <a:xfrm>
            <a:off x="4983480" y="3639312"/>
            <a:ext cx="1207008" cy="274320"/>
          </a:xfrm>
          <a:prstGeom prst="roundRect">
            <a:avLst>
              <a:gd name="adj" fmla="val 16667"/>
            </a:avLst>
          </a:prstGeom>
          <a:solidFill>
            <a:srgbClr val="E3897F">
              <a:alpha val="70000"/>
            </a:srgbClr>
          </a:solidFill>
          <a:ln/>
        </p:spPr>
      </p:sp>
      <p:sp>
        <p:nvSpPr>
          <p:cNvPr id="21" name="Text 18"/>
          <p:cNvSpPr txBox="1"/>
          <p:nvPr/>
        </p:nvSpPr>
        <p:spPr>
          <a:xfrm>
            <a:off x="1965960" y="3950208"/>
            <a:ext cx="5029200" cy="27432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Wachstumsfähigkeit: Vertrieb, Märkte</a:t>
            </a:r>
            <a:endParaRPr lang="en-US" sz="1050" dirty="0"/>
          </a:p>
        </p:txBody>
      </p:sp>
      <p:sp>
        <p:nvSpPr>
          <p:cNvPr id="22" name="Shape 19"/>
          <p:cNvSpPr/>
          <p:nvPr/>
        </p:nvSpPr>
        <p:spPr>
          <a:xfrm>
            <a:off x="3977640" y="1691640"/>
            <a:ext cx="0" cy="2606040"/>
          </a:xfrm>
          <a:prstGeom prst="line">
            <a:avLst/>
          </a:prstGeom>
          <a:noFill/>
          <a:ln w="12700">
            <a:solidFill>
              <a:srgbClr val="8E9C9B"/>
            </a:solidFill>
            <a:prstDash val="dash"/>
          </a:ln>
        </p:spPr>
      </p:sp>
      <p:sp>
        <p:nvSpPr>
          <p:cNvPr id="23" name="Text 20"/>
          <p:cNvSpPr txBox="1"/>
          <p:nvPr/>
        </p:nvSpPr>
        <p:spPr>
          <a:xfrm>
            <a:off x="3429000" y="4315968"/>
            <a:ext cx="1097280" cy="22860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Benchmark 2</a:t>
            </a:r>
            <a:endParaRPr lang="en-US" sz="1000" dirty="0"/>
          </a:p>
        </p:txBody>
      </p:sp>
      <p:sp>
        <p:nvSpPr>
          <p:cNvPr id="24" name="Shape 21"/>
          <p:cNvSpPr/>
          <p:nvPr/>
        </p:nvSpPr>
        <p:spPr>
          <a:xfrm>
            <a:off x="4983480" y="3429000"/>
            <a:ext cx="0" cy="548640"/>
          </a:xfrm>
          <a:prstGeom prst="line">
            <a:avLst/>
          </a:prstGeom>
          <a:noFill/>
          <a:ln w="25400">
            <a:solidFill>
              <a:srgbClr val="DCB264"/>
            </a:solidFill>
            <a:prstDash val="solid"/>
          </a:ln>
        </p:spPr>
      </p:sp>
      <p:sp>
        <p:nvSpPr>
          <p:cNvPr id="25" name="Text 22"/>
          <p:cNvSpPr txBox="1"/>
          <p:nvPr/>
        </p:nvSpPr>
        <p:spPr>
          <a:xfrm>
            <a:off x="5029200" y="3310128"/>
            <a:ext cx="1371600" cy="228600"/>
          </a:xfrm>
          <a:prstGeom prst="rect">
            <a:avLst/>
          </a:prstGeom>
          <a:noFill/>
          <a:ln/>
        </p:spPr>
        <p:txBody>
          <a:bodyPr wrap="square" lIns="0" tIns="0" rIns="0" bIns="0" rtlCol="0" anchor="t"/>
          <a:lstStyle/>
          <a:p>
            <a:pPr algn="l" indent="0" marL="0">
              <a:buNone/>
            </a:pPr>
            <a:r>
              <a:rPr lang="en-US" sz="1000" b="1" dirty="0">
                <a:solidFill>
                  <a:srgbClr val="DCB264"/>
                </a:solidFill>
                <a:latin typeface="Calibri" pitchFamily="34" charset="0"/>
                <a:ea typeface="Calibri" pitchFamily="34" charset="-122"/>
                <a:cs typeface="Calibri" pitchFamily="34" charset="-120"/>
              </a:rPr>
              <a:t>Wirkgrenze 3,0</a:t>
            </a:r>
            <a:endParaRPr lang="en-US" sz="1000" dirty="0"/>
          </a:p>
        </p:txBody>
      </p:sp>
      <p:sp>
        <p:nvSpPr>
          <p:cNvPr id="26" name="Text 23"/>
          <p:cNvSpPr txBox="1"/>
          <p:nvPr/>
        </p:nvSpPr>
        <p:spPr>
          <a:xfrm>
            <a:off x="5367528" y="4041648"/>
            <a:ext cx="1371600" cy="228600"/>
          </a:xfrm>
          <a:prstGeom prst="rect">
            <a:avLst/>
          </a:prstGeom>
          <a:noFill/>
          <a:ln/>
        </p:spPr>
        <p:txBody>
          <a:bodyPr wrap="square" lIns="0" tIns="0" rIns="0" bIns="0" rtlCol="0" anchor="t"/>
          <a:lstStyle/>
          <a:p>
            <a:pPr algn="l" indent="0" marL="0">
              <a:buNone/>
            </a:pPr>
            <a:r>
              <a:rPr lang="en-US" sz="1000" b="1" dirty="0">
                <a:solidFill>
                  <a:srgbClr val="E3897F"/>
                </a:solidFill>
                <a:latin typeface="Calibri" pitchFamily="34" charset="0"/>
                <a:ea typeface="Calibri" pitchFamily="34" charset="-122"/>
                <a:cs typeface="Calibri" pitchFamily="34" charset="-120"/>
              </a:rPr>
              <a:t>Überdehnung</a:t>
            </a:r>
            <a:endParaRPr lang="en-US" sz="1000" dirty="0"/>
          </a:p>
        </p:txBody>
      </p:sp>
      <p:sp>
        <p:nvSpPr>
          <p:cNvPr id="27" name="Shape 24"/>
          <p:cNvSpPr/>
          <p:nvPr/>
        </p:nvSpPr>
        <p:spPr>
          <a:xfrm>
            <a:off x="502920" y="4663440"/>
            <a:ext cx="6858000" cy="640080"/>
          </a:xfrm>
          <a:prstGeom prst="roundRect">
            <a:avLst>
              <a:gd name="adj" fmla="val 11429"/>
            </a:avLst>
          </a:prstGeom>
          <a:solidFill>
            <a:srgbClr val="1C282B"/>
          </a:solidFill>
          <a:ln w="12700">
            <a:solidFill>
              <a:srgbClr val="DCB264"/>
            </a:solidFill>
            <a:prstDash val="solid"/>
          </a:ln>
        </p:spPr>
      </p:sp>
      <p:sp>
        <p:nvSpPr>
          <p:cNvPr id="28" name="Text 25"/>
          <p:cNvSpPr txBox="1"/>
          <p:nvPr/>
        </p:nvSpPr>
        <p:spPr>
          <a:xfrm>
            <a:off x="685800" y="4663440"/>
            <a:ext cx="6492240" cy="640080"/>
          </a:xfrm>
          <a:prstGeom prst="rect">
            <a:avLst/>
          </a:prstGeom>
          <a:noFill/>
          <a:ln/>
        </p:spPr>
        <p:txBody>
          <a:bodyPr wrap="square" lIns="0" tIns="0" rIns="0" bIns="0" rtlCol="0" anchor="ctr"/>
          <a:lstStyle/>
          <a:p>
            <a:pPr algn="ctr" indent="0" marL="0">
              <a:buNone/>
            </a:pPr>
            <a:r>
              <a:rPr lang="en-US" sz="1500" b="1" dirty="0">
                <a:solidFill>
                  <a:srgbClr val="DCB264"/>
                </a:solidFill>
                <a:latin typeface="Calibri" pitchFamily="34" charset="0"/>
                <a:ea typeface="Calibri" pitchFamily="34" charset="-122"/>
                <a:cs typeface="Calibri" pitchFamily="34" charset="-120"/>
              </a:rPr>
              <a:t>Growth wirksam = min( Growth ; People + 1 ; Performance + 1 )</a:t>
            </a:r>
            <a:endParaRPr lang="en-US" sz="1500" dirty="0"/>
          </a:p>
        </p:txBody>
      </p:sp>
      <p:sp>
        <p:nvSpPr>
          <p:cNvPr id="29" name="Text 26"/>
          <p:cNvSpPr txBox="1"/>
          <p:nvPr/>
        </p:nvSpPr>
        <p:spPr>
          <a:xfrm>
            <a:off x="502920" y="5486400"/>
            <a:ext cx="6858000" cy="82296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DCB264"/>
                </a:solidFill>
                <a:latin typeface="Calibri" pitchFamily="34" charset="0"/>
                <a:ea typeface="Calibri" pitchFamily="34" charset="-122"/>
                <a:cs typeface="Calibri" pitchFamily="34" charset="-120"/>
              </a:rPr>
              <a:t>Überdehnung kostet </a:t>
            </a:r>
            <a:pPr indent="0" marL="0">
              <a:buNone/>
            </a:pPr>
            <a:r>
              <a:rPr lang="en-US" sz="1250" dirty="0">
                <a:solidFill>
                  <a:srgbClr val="EDF1EE"/>
                </a:solidFill>
                <a:latin typeface="Calibri" pitchFamily="34" charset="0"/>
                <a:ea typeface="Calibri" pitchFamily="34" charset="-122"/>
                <a:cs typeface="Calibri" pitchFamily="34" charset="-120"/>
              </a:rPr>
              <a:t>1,4 pp Zielmarge und 1,8 Qualitätspunkte je Halbjahr und Stufe</a:t>
            </a:r>
            <a:endParaRPr lang="en-US" sz="1250" dirty="0"/>
          </a:p>
          <a:p>
            <a:pPr marL="177800" indent="-177800">
              <a:spcAft>
                <a:spcPts val="700"/>
              </a:spcAft>
              <a:buSzPct val="100000"/>
              <a:buChar char="•"/>
            </a:pPr>
            <a:r>
              <a:rPr lang="en-US" sz="1250" b="1" dirty="0">
                <a:solidFill>
                  <a:srgbClr val="DCB264"/>
                </a:solidFill>
                <a:latin typeface="Calibri" pitchFamily="34" charset="0"/>
                <a:ea typeface="Calibri" pitchFamily="34" charset="-122"/>
                <a:cs typeface="Calibri" pitchFamily="34" charset="-120"/>
              </a:rPr>
              <a:t>Verfall </a:t>
            </a:r>
            <a:pPr indent="0" marL="0">
              <a:buNone/>
            </a:pPr>
            <a:r>
              <a:rPr lang="en-US" sz="1250" dirty="0">
                <a:solidFill>
                  <a:srgbClr val="EDF1EE"/>
                </a:solidFill>
                <a:latin typeface="Calibri" pitchFamily="34" charset="0"/>
                <a:ea typeface="Calibri" pitchFamily="34" charset="-122"/>
                <a:cs typeface="Calibri" pitchFamily="34" charset="-120"/>
              </a:rPr>
              <a:t>8 % je Stufe über 2 je Halbjahr ohne laufendes Programm</a:t>
            </a:r>
            <a:endParaRPr lang="en-US" sz="1250" dirty="0"/>
          </a:p>
        </p:txBody>
      </p:sp>
      <p:pic>
        <p:nvPicPr>
          <p:cNvPr id="30" name="Image 0" descr="/tmp/claude-0/deck/img/init_pricing.jpg">    </p:cNvPr>
          <p:cNvPicPr>
            <a:picLocks noChangeAspect="1"/>
          </p:cNvPicPr>
          <p:nvPr/>
        </p:nvPicPr>
        <p:blipFill>
          <a:blip r:embed="rId1"/>
          <a:stretch>
            <a:fillRect/>
          </a:stretch>
        </p:blipFill>
        <p:spPr>
          <a:xfrm>
            <a:off x="9379915" y="1600200"/>
            <a:ext cx="2306117" cy="4434840"/>
          </a:xfrm>
          <a:prstGeom prst="rect">
            <a:avLst/>
          </a:prstGeom>
        </p:spPr>
      </p:pic>
      <p:sp>
        <p:nvSpPr>
          <p:cNvPr id="31" name="Shape 27"/>
          <p:cNvSpPr/>
          <p:nvPr/>
        </p:nvSpPr>
        <p:spPr>
          <a:xfrm>
            <a:off x="9379915" y="1600200"/>
            <a:ext cx="2306117" cy="4434840"/>
          </a:xfrm>
          <a:prstGeom prst="rect">
            <a:avLst/>
          </a:prstGeom>
          <a:ln w="9525">
            <a:solidFill>
              <a:srgbClr val="33474B"/>
            </a:solidFill>
            <a:prstDash val="solid"/>
          </a:ln>
        </p:spPr>
      </p:sp>
      <p:sp>
        <p:nvSpPr>
          <p:cNvPr id="32" name="Text 28"/>
          <p:cNvSpPr txBox="1"/>
          <p:nvPr/>
        </p:nvSpPr>
        <p:spPr>
          <a:xfrm>
            <a:off x="9105595" y="6089904"/>
            <a:ext cx="2854757"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Maßnahmenkatalog: Zeile „Davon wirksam“</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5FC4B1"/>
                </a:solidFill>
                <a:latin typeface="Calibri" pitchFamily="34" charset="0"/>
                <a:ea typeface="Calibri" pitchFamily="34" charset="-122"/>
                <a:cs typeface="Calibri" pitchFamily="34" charset="-120"/>
              </a:rPr>
              <a:t>MASSNAHMENKATALOG</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Sieben Maßnahmen, drei Risikoklassen</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5FC4B1"/>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5FC4B1"/>
                </a:solidFill>
                <a:latin typeface="Calibri" pitchFamily="34" charset="0"/>
                <a:ea typeface="Calibri" pitchFamily="34" charset="-122"/>
                <a:cs typeface="Calibri" pitchFamily="34" charset="-120"/>
              </a:rPr>
              <a:t>C · VALUE CREATION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6949440" cy="914400"/>
        </p:xfrm>
        <a:graphic>
          <a:graphicData uri="http://schemas.openxmlformats.org/drawingml/2006/table">
            <a:tbl>
              <a:tblPr/>
              <a:tblGrid>
                <a:gridCol w="1828800"/>
                <a:gridCol w="960120"/>
                <a:gridCol w="822960"/>
                <a:gridCol w="1600200"/>
                <a:gridCol w="1737360"/>
              </a:tblGrid>
              <a:tr h="402336">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Maßnahme</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Klasse</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Reifegrad</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Eignung hoch, wenn …</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Kosten / Risiko</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r>
              <a:tr h="402336">
                <a:tc>
                  <a:txBody>
                    <a:bodyPr/>
                    <a:lstStyle/>
                    <a:p>
                      <a:pPr algn="l" indent="0" marL="0">
                        <a:buNone/>
                      </a:pPr>
                      <a:r>
                        <a:rPr lang="en-US" sz="1100" dirty="0">
                          <a:solidFill>
                            <a:srgbClr val="5FC4B1"/>
                          </a:solidFill>
                          <a:latin typeface="Calibri" pitchFamily="34" charset="0"/>
                          <a:ea typeface="Calibri" pitchFamily="34" charset="-122"/>
                          <a:cs typeface="Calibri" pitchFamily="34" charset="-120"/>
                        </a:rPr>
                        <a:t>Cost-out-Programm</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verlässlich</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+0,8</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Marge &lt; Branche</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0,06 × EBITDA einmalig</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402336">
                <a:tc>
                  <a:txBody>
                    <a:bodyPr/>
                    <a:lstStyle/>
                    <a:p>
                      <a:pPr algn="l" indent="0" marL="0">
                        <a:buNone/>
                      </a:pPr>
                      <a:r>
                        <a:rPr lang="en-US" sz="1100" dirty="0">
                          <a:solidFill>
                            <a:srgbClr val="5FC4B1"/>
                          </a:solidFill>
                          <a:latin typeface="Calibri" pitchFamily="34" charset="0"/>
                          <a:ea typeface="Calibri" pitchFamily="34" charset="-122"/>
                          <a:cs typeface="Calibri" pitchFamily="34" charset="-120"/>
                        </a:rPr>
                        <a:t>NWC-Programm</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verlässlich</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hohe Kapitalbindung</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NWC −3 pp dauerhaft</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402336">
                <a:tc>
                  <a:txBody>
                    <a:bodyPr/>
                    <a:lstStyle/>
                    <a:p>
                      <a:pPr algn="l" indent="0" marL="0">
                        <a:buNone/>
                      </a:pPr>
                      <a:r>
                        <a:rPr lang="en-US" sz="1100" dirty="0">
                          <a:solidFill>
                            <a:srgbClr val="5FC4B1"/>
                          </a:solidFill>
                          <a:latin typeface="Calibri" pitchFamily="34" charset="0"/>
                          <a:ea typeface="Calibri" pitchFamily="34" charset="-122"/>
                          <a:cs typeface="Calibri" pitchFamily="34" charset="-120"/>
                        </a:rPr>
                        <a:t>ERP &amp; Digitalisierung</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Transform.</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EBITDA groß</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Capex +2 pp; Fehlschlag 0,35 × EBITDA</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402336">
                <a:tc>
                  <a:txBody>
                    <a:bodyPr/>
                    <a:lstStyle/>
                    <a:p>
                      <a:pPr algn="l" indent="0" marL="0">
                        <a:buNone/>
                      </a:pPr>
                      <a:r>
                        <a:rPr lang="en-US" sz="1100" dirty="0">
                          <a:solidFill>
                            <a:srgbClr val="5FC4B1"/>
                          </a:solidFill>
                          <a:latin typeface="Calibri" pitchFamily="34" charset="0"/>
                          <a:ea typeface="Calibri" pitchFamily="34" charset="-122"/>
                          <a:cs typeface="Calibri" pitchFamily="34" charset="-120"/>
                        </a:rPr>
                        <a:t>KI-Automatisierung</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Transform.</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groß + reife Prozesse</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Finance Transformation ≥ 4</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402336">
                <a:tc>
                  <a:txBody>
                    <a:bodyPr/>
                    <a:lstStyle/>
                    <a:p>
                      <a:pPr algn="l" indent="0" marL="0">
                        <a:buNone/>
                      </a:pPr>
                      <a:r>
                        <a:rPr lang="en-US" sz="1100" dirty="0">
                          <a:solidFill>
                            <a:srgbClr val="A855F7"/>
                          </a:solidFill>
                          <a:latin typeface="Calibri" pitchFamily="34" charset="0"/>
                          <a:ea typeface="Calibri" pitchFamily="34" charset="-122"/>
                          <a:cs typeface="Calibri" pitchFamily="34" charset="-120"/>
                        </a:rPr>
                        <a:t>Pricing &amp; Cross-Selling</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verlässlich</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+0,8</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Qualität hoch</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Marge −0,5 pp während</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402336">
                <a:tc>
                  <a:txBody>
                    <a:bodyPr/>
                    <a:lstStyle/>
                    <a:p>
                      <a:pPr algn="l" indent="0" marL="0">
                        <a:buNone/>
                      </a:pPr>
                      <a:r>
                        <a:rPr lang="en-US" sz="1100" dirty="0">
                          <a:solidFill>
                            <a:srgbClr val="A855F7"/>
                          </a:solidFill>
                          <a:latin typeface="Calibri" pitchFamily="34" charset="0"/>
                          <a:ea typeface="Calibri" pitchFamily="34" charset="-122"/>
                          <a:cs typeface="Calibri" pitchFamily="34" charset="-120"/>
                        </a:rPr>
                        <a:t>Markt-/Segmentexpansion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marktabh.</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Sektor wächst</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Marge −1 pp; Fehlschlag −0,8 pp</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402336">
                <a:tc>
                  <a:txBody>
                    <a:bodyPr/>
                    <a:lstStyle/>
                    <a:p>
                      <a:pPr algn="l" indent="0" marL="0">
                        <a:buNone/>
                      </a:pPr>
                      <a:r>
                        <a:rPr lang="en-US" sz="1100" dirty="0">
                          <a:solidFill>
                            <a:srgbClr val="A855F7"/>
                          </a:solidFill>
                          <a:latin typeface="Calibri" pitchFamily="34" charset="0"/>
                          <a:ea typeface="Calibri" pitchFamily="34" charset="-122"/>
                          <a:cs typeface="Calibri" pitchFamily="34" charset="-120"/>
                        </a:rPr>
                        <a:t>Add-on M&amp;A</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Transform.</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Plattform, Luft im Covenant</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siehe Buy-and-Build</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bl>
          </a:graphicData>
        </a:graphic>
      </p:graphicFrame>
      <p:sp>
        <p:nvSpPr>
          <p:cNvPr id="10" name="Shape 6"/>
          <p:cNvSpPr/>
          <p:nvPr/>
        </p:nvSpPr>
        <p:spPr>
          <a:xfrm>
            <a:off x="502920" y="4983480"/>
            <a:ext cx="6949440" cy="685800"/>
          </a:xfrm>
          <a:prstGeom prst="roundRect">
            <a:avLst>
              <a:gd name="adj" fmla="val 10667"/>
            </a:avLst>
          </a:prstGeom>
          <a:solidFill>
            <a:srgbClr val="1C282B"/>
          </a:solidFill>
          <a:ln w="12700">
            <a:solidFill>
              <a:srgbClr val="DCB264"/>
            </a:solidFill>
            <a:prstDash val="solid"/>
          </a:ln>
        </p:spPr>
      </p:sp>
      <p:sp>
        <p:nvSpPr>
          <p:cNvPr id="11" name="Text 7"/>
          <p:cNvSpPr txBox="1"/>
          <p:nvPr/>
        </p:nvSpPr>
        <p:spPr>
          <a:xfrm>
            <a:off x="685800" y="4983480"/>
            <a:ext cx="6583680" cy="685800"/>
          </a:xfrm>
          <a:prstGeom prst="rect">
            <a:avLst/>
          </a:prstGeom>
          <a:noFill/>
          <a:ln/>
        </p:spPr>
        <p:txBody>
          <a:bodyPr wrap="square" lIns="0" tIns="0" rIns="0" bIns="0" rtlCol="0" anchor="ctr"/>
          <a:lstStyle/>
          <a:p>
            <a:pPr algn="ctr" indent="0" marL="0">
              <a:buNone/>
            </a:pPr>
            <a:r>
              <a:rPr lang="en-US" sz="1250" b="1" dirty="0">
                <a:solidFill>
                  <a:srgbClr val="DCB264"/>
                </a:solidFill>
                <a:latin typeface="Calibri" pitchFamily="34" charset="0"/>
                <a:ea typeface="Calibri" pitchFamily="34" charset="-122"/>
                <a:cs typeface="Calibri" pitchFamily="34" charset="-120"/>
              </a:rPr>
              <a:t>Gewinn = (0,7 + 3,6 × E / (E + 4)) × Eignung × Streuung × Wiederholungsmalus × Deckenfaktor</a:t>
            </a:r>
            <a:endParaRPr lang="en-US" sz="1250" dirty="0"/>
          </a:p>
        </p:txBody>
      </p:sp>
      <p:sp>
        <p:nvSpPr>
          <p:cNvPr id="12" name="Text 8"/>
          <p:cNvSpPr txBox="1"/>
          <p:nvPr/>
        </p:nvSpPr>
        <p:spPr>
          <a:xfrm>
            <a:off x="502920" y="5760720"/>
            <a:ext cx="6949440" cy="36576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E = effektive Kompetenz der verantwortlichen Rolle (CFO für Performance, Fachfunktion für Growth) · Dauer = max(1; 4 − ⌊E / 1,6⌋) HJ ± Maßnahme</a:t>
            </a:r>
            <a:endParaRPr lang="en-US" sz="1050" dirty="0"/>
          </a:p>
        </p:txBody>
      </p:sp>
      <p:graphicFrame>
        <p:nvGraphicFramePr>
          <p:cNvPr id="13" name="Chart 0" descr=""/>
          <p:cNvGraphicFramePr/>
          <p:nvPr/>
        </p:nvGraphicFramePr>
        <p:xfrm>
          <a:off x="7726680" y="1600200"/>
          <a:ext cx="3959352" cy="45262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5FC4B1"/>
                </a:solidFill>
                <a:latin typeface="Calibri" pitchFamily="34" charset="0"/>
                <a:ea typeface="Calibri" pitchFamily="34" charset="-122"/>
                <a:cs typeface="Calibri" pitchFamily="34" charset="-120"/>
              </a:rPr>
              <a:t>PEOPLE</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Das Management-Team: Kompetenzen und Team-Score</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5FC4B1"/>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5FC4B1"/>
                </a:solidFill>
                <a:latin typeface="Calibri" pitchFamily="34" charset="0"/>
                <a:ea typeface="Calibri" pitchFamily="34" charset="-122"/>
                <a:cs typeface="Calibri" pitchFamily="34" charset="-120"/>
              </a:rPr>
              <a:t>C · VALUE CREATION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7223760" cy="914400"/>
        </p:xfrm>
        <a:graphic>
          <a:graphicData uri="http://schemas.openxmlformats.org/drawingml/2006/table">
            <a:tbl>
              <a:tblPr/>
              <a:tblGrid>
                <a:gridCol w="1325880"/>
                <a:gridCol w="3337560"/>
                <a:gridCol w="2560320"/>
              </a:tblGrid>
              <a:tr h="566928">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Position</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Kompetenzen</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Treibt laufend</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r>
              <a:tr h="566928">
                <a:tc>
                  <a:txBody>
                    <a:bodyPr/>
                    <a:lstStyle/>
                    <a:p>
                      <a:pPr algn="l" indent="0" marL="0">
                        <a:buNone/>
                      </a:pPr>
                      <a:r>
                        <a:rPr lang="en-US" sz="1150" b="1" dirty="0">
                          <a:solidFill>
                            <a:srgbClr val="DCB264"/>
                          </a:solidFill>
                          <a:latin typeface="Calibri" pitchFamily="34" charset="0"/>
                          <a:ea typeface="Calibri" pitchFamily="34" charset="-122"/>
                          <a:cs typeface="Calibri" pitchFamily="34" charset="-120"/>
                        </a:rPr>
                        <a:t>CEO</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Operational Excellence · Growth · Leadership</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Marge, Wachstum; Leadership deckelt das Team</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566928">
                <a:tc>
                  <a:txBody>
                    <a:bodyPr/>
                    <a:lstStyle/>
                    <a:p>
                      <a:pPr algn="l" indent="0" marL="0">
                        <a:buNone/>
                      </a:pPr>
                      <a:r>
                        <a:rPr lang="en-US" sz="1150" b="1" dirty="0">
                          <a:solidFill>
                            <a:srgbClr val="5FC4B1"/>
                          </a:solidFill>
                          <a:latin typeface="Calibri" pitchFamily="34" charset="0"/>
                          <a:ea typeface="Calibri" pitchFamily="34" charset="-122"/>
                          <a:cs typeface="Calibri" pitchFamily="34" charset="-120"/>
                        </a:rPr>
                        <a:t>CFO</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Performance Improvement · Cash &amp; Working Capital · Finance Transformation</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Marge, Kapitalbindung, Zins, Capex</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566928">
                <a:tc>
                  <a:txBody>
                    <a:bodyPr/>
                    <a:lstStyle/>
                    <a:p>
                      <a:pPr algn="l" indent="0" marL="0">
                        <a:buNone/>
                      </a:pPr>
                      <a:r>
                        <a:rPr lang="en-US" sz="1150" b="1" dirty="0">
                          <a:solidFill>
                            <a:srgbClr val="A855F7"/>
                          </a:solidFill>
                          <a:latin typeface="Calibri" pitchFamily="34" charset="0"/>
                          <a:ea typeface="Calibri" pitchFamily="34" charset="-122"/>
                          <a:cs typeface="Calibri" pitchFamily="34" charset="-120"/>
                        </a:rPr>
                        <a:t>Fachfunktion</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Commercial Excellence · Market Expansion · M&amp;A Integration</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50" dirty="0">
                          <a:solidFill>
                            <a:srgbClr val="EDF1EE"/>
                          </a:solidFill>
                          <a:latin typeface="Calibri" pitchFamily="34" charset="0"/>
                          <a:ea typeface="Calibri" pitchFamily="34" charset="-122"/>
                          <a:cs typeface="Calibri" pitchFamily="34" charset="-120"/>
                        </a:rPr>
                        <a:t>Marge, Wachstum; trägt Add-ons</a:t>
                      </a:r>
                      <a:endParaRPr lang="en-US" sz="11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bl>
          </a:graphicData>
        </a:graphic>
      </p:graphicFrame>
      <p:sp>
        <p:nvSpPr>
          <p:cNvPr id="10" name="Shape 6"/>
          <p:cNvSpPr/>
          <p:nvPr/>
        </p:nvSpPr>
        <p:spPr>
          <a:xfrm>
            <a:off x="502920" y="4069080"/>
            <a:ext cx="7223760" cy="658368"/>
          </a:xfrm>
          <a:prstGeom prst="roundRect">
            <a:avLst>
              <a:gd name="adj" fmla="val 11111"/>
            </a:avLst>
          </a:prstGeom>
          <a:solidFill>
            <a:srgbClr val="1C282B"/>
          </a:solidFill>
          <a:ln w="12700">
            <a:solidFill>
              <a:srgbClr val="DCB264"/>
            </a:solidFill>
            <a:prstDash val="solid"/>
          </a:ln>
        </p:spPr>
      </p:sp>
      <p:sp>
        <p:nvSpPr>
          <p:cNvPr id="11" name="Text 7"/>
          <p:cNvSpPr txBox="1"/>
          <p:nvPr/>
        </p:nvSpPr>
        <p:spPr>
          <a:xfrm>
            <a:off x="685800" y="4069080"/>
            <a:ext cx="6858000" cy="658368"/>
          </a:xfrm>
          <a:prstGeom prst="rect">
            <a:avLst/>
          </a:prstGeom>
          <a:noFill/>
          <a:ln/>
        </p:spPr>
        <p:txBody>
          <a:bodyPr wrap="square" lIns="0" tIns="0" rIns="0" bIns="0" rtlCol="0" anchor="ctr"/>
          <a:lstStyle/>
          <a:p>
            <a:pPr algn="ctr" indent="0" marL="0">
              <a:buNone/>
            </a:pPr>
            <a:r>
              <a:rPr lang="en-US" sz="1300" b="1" dirty="0">
                <a:solidFill>
                  <a:srgbClr val="DCB264"/>
                </a:solidFill>
                <a:latin typeface="Calibri" pitchFamily="34" charset="0"/>
                <a:ea typeface="Calibri" pitchFamily="34" charset="-122"/>
                <a:cs typeface="Calibri" pitchFamily="34" charset="-120"/>
              </a:rPr>
              <a:t>Effektive Kompetenz = min(Kompetenz ; Leadership + 1,5) + 0,5 × CEO-Kompetenz der Familie (+0,5 mit MEP)</a:t>
            </a:r>
            <a:endParaRPr lang="en-US" sz="1300" dirty="0"/>
          </a:p>
        </p:txBody>
      </p:sp>
      <p:sp>
        <p:nvSpPr>
          <p:cNvPr id="12" name="Shape 8"/>
          <p:cNvSpPr/>
          <p:nvPr/>
        </p:nvSpPr>
        <p:spPr>
          <a:xfrm>
            <a:off x="502920" y="4846320"/>
            <a:ext cx="7223760" cy="658368"/>
          </a:xfrm>
          <a:prstGeom prst="roundRect">
            <a:avLst>
              <a:gd name="adj" fmla="val 11111"/>
            </a:avLst>
          </a:prstGeom>
          <a:solidFill>
            <a:srgbClr val="1C282B"/>
          </a:solidFill>
          <a:ln w="12700">
            <a:solidFill>
              <a:srgbClr val="5FC4B1"/>
            </a:solidFill>
            <a:prstDash val="solid"/>
          </a:ln>
        </p:spPr>
      </p:sp>
      <p:sp>
        <p:nvSpPr>
          <p:cNvPr id="13" name="Text 9"/>
          <p:cNvSpPr txBox="1"/>
          <p:nvPr/>
        </p:nvSpPr>
        <p:spPr>
          <a:xfrm>
            <a:off x="685800" y="4846320"/>
            <a:ext cx="6858000" cy="658368"/>
          </a:xfrm>
          <a:prstGeom prst="rect">
            <a:avLst/>
          </a:prstGeom>
          <a:noFill/>
          <a:ln/>
        </p:spPr>
        <p:txBody>
          <a:bodyPr wrap="square" lIns="0" tIns="0" rIns="0" bIns="0" rtlCol="0" anchor="ctr"/>
          <a:lstStyle/>
          <a:p>
            <a:pPr algn="ctr" indent="0" marL="0">
              <a:buNone/>
            </a:pPr>
            <a:r>
              <a:rPr lang="en-US" sz="1300" b="1" dirty="0">
                <a:solidFill>
                  <a:srgbClr val="5FC4B1"/>
                </a:solidFill>
                <a:latin typeface="Calibri" pitchFamily="34" charset="0"/>
                <a:ea typeface="Calibri" pitchFamily="34" charset="-122"/>
                <a:cs typeface="Calibri" pitchFamily="34" charset="-120"/>
              </a:rPr>
              <a:t>Team-Score = Ø der drei Positionen, gewichtet nach Bedarf des Cases = People-Reifegrad</a:t>
            </a:r>
            <a:endParaRPr lang="en-US" sz="1300" dirty="0"/>
          </a:p>
        </p:txBody>
      </p:sp>
      <p:sp>
        <p:nvSpPr>
          <p:cNvPr id="14" name="Text 10"/>
          <p:cNvSpPr txBox="1"/>
          <p:nvPr/>
        </p:nvSpPr>
        <p:spPr>
          <a:xfrm>
            <a:off x="502920" y="5623560"/>
            <a:ext cx="7223760" cy="68580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Vakanz: Interim auf 2,0, aber 25 % teurer als der Vorgänger · laufende Wirkung um 2,5 zentriert, höchstens +1,5 · Fachfunktion je Sektor: CTO (Industrials, Healthcare, Software), Head of BD (Services), CMO (Consumer)</a:t>
            </a:r>
            <a:endParaRPr lang="en-US" sz="1050" dirty="0"/>
          </a:p>
        </p:txBody>
      </p:sp>
      <p:pic>
        <p:nvPicPr>
          <p:cNvPr id="15" name="Image 0" descr="/tmp/claude-0/deck/img/hold_stages.jpg">    </p:cNvPr>
          <p:cNvPicPr>
            <a:picLocks noChangeAspect="1"/>
          </p:cNvPicPr>
          <p:nvPr/>
        </p:nvPicPr>
        <p:blipFill>
          <a:blip r:embed="rId1"/>
          <a:stretch>
            <a:fillRect/>
          </a:stretch>
        </p:blipFill>
        <p:spPr>
          <a:xfrm>
            <a:off x="8001000" y="1600200"/>
            <a:ext cx="3685032" cy="4150837"/>
          </a:xfrm>
          <a:prstGeom prst="rect">
            <a:avLst/>
          </a:prstGeom>
        </p:spPr>
      </p:pic>
      <p:sp>
        <p:nvSpPr>
          <p:cNvPr id="16" name="Shape 11"/>
          <p:cNvSpPr/>
          <p:nvPr/>
        </p:nvSpPr>
        <p:spPr>
          <a:xfrm>
            <a:off x="8001000" y="1600200"/>
            <a:ext cx="3685032" cy="4150837"/>
          </a:xfrm>
          <a:prstGeom prst="rect">
            <a:avLst/>
          </a:prstGeom>
          <a:ln w="9525">
            <a:solidFill>
              <a:srgbClr val="33474B"/>
            </a:solidFill>
            <a:prstDash val="solid"/>
          </a:ln>
        </p:spPr>
      </p:sp>
      <p:sp>
        <p:nvSpPr>
          <p:cNvPr id="17" name="Text 12"/>
          <p:cNvSpPr txBox="1"/>
          <p:nvPr/>
        </p:nvSpPr>
        <p:spPr>
          <a:xfrm>
            <a:off x="7726680" y="5805901"/>
            <a:ext cx="4233672"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Reifegrad und Führung: Team-Score als People</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5FC4B1"/>
                </a:solidFill>
                <a:latin typeface="Calibri" pitchFamily="34" charset="0"/>
                <a:ea typeface="Calibri" pitchFamily="34" charset="-122"/>
                <a:cs typeface="Calibri" pitchFamily="34" charset="-120"/>
              </a:rPr>
              <a:t>PEOPLE · HIRING</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Hiring: Shortlist als Deck, Chemie und Ersatz</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5FC4B1"/>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5FC4B1"/>
                </a:solidFill>
                <a:latin typeface="Calibri" pitchFamily="34" charset="0"/>
                <a:ea typeface="Calibri" pitchFamily="34" charset="-122"/>
                <a:cs typeface="Calibri" pitchFamily="34" charset="-120"/>
              </a:rPr>
              <a:t>C · VALUE CREATION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27</a:t>
            </a:r>
            <a:endParaRPr lang="en-US" sz="900" dirty="0"/>
          </a:p>
        </p:txBody>
      </p:sp>
      <p:pic>
        <p:nvPicPr>
          <p:cNvPr id="9" name="Image 0" descr="/tmp/claude-0/deck/img/shortlist.jpg">    </p:cNvPr>
          <p:cNvPicPr>
            <a:picLocks noChangeAspect="1"/>
          </p:cNvPicPr>
          <p:nvPr/>
        </p:nvPicPr>
        <p:blipFill>
          <a:blip r:embed="rId1"/>
          <a:stretch>
            <a:fillRect/>
          </a:stretch>
        </p:blipFill>
        <p:spPr>
          <a:xfrm>
            <a:off x="502920" y="1600200"/>
            <a:ext cx="1959429" cy="4572000"/>
          </a:xfrm>
          <a:prstGeom prst="rect">
            <a:avLst/>
          </a:prstGeom>
        </p:spPr>
      </p:pic>
      <p:sp>
        <p:nvSpPr>
          <p:cNvPr id="10" name="Shape 6"/>
          <p:cNvSpPr/>
          <p:nvPr/>
        </p:nvSpPr>
        <p:spPr>
          <a:xfrm>
            <a:off x="502920" y="1600200"/>
            <a:ext cx="1959429" cy="4572000"/>
          </a:xfrm>
          <a:prstGeom prst="rect">
            <a:avLst/>
          </a:prstGeom>
          <a:ln w="9525">
            <a:solidFill>
              <a:srgbClr val="33474B"/>
            </a:solidFill>
            <a:prstDash val="solid"/>
          </a:ln>
        </p:spPr>
      </p:sp>
      <p:sp>
        <p:nvSpPr>
          <p:cNvPr id="11" name="Text 7"/>
          <p:cNvSpPr txBox="1"/>
          <p:nvPr/>
        </p:nvSpPr>
        <p:spPr>
          <a:xfrm>
            <a:off x="228600" y="6227064"/>
            <a:ext cx="2508069"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Shortlist-Deck für einen CFO</a:t>
            </a:r>
            <a:endParaRPr lang="en-US" sz="950" dirty="0"/>
          </a:p>
        </p:txBody>
      </p:sp>
      <p:sp>
        <p:nvSpPr>
          <p:cNvPr id="12" name="Text 8"/>
          <p:cNvSpPr txBox="1"/>
          <p:nvPr/>
        </p:nvSpPr>
        <p:spPr>
          <a:xfrm>
            <a:off x="2880360" y="1600200"/>
            <a:ext cx="6400800" cy="2377440"/>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DCB264"/>
                </a:solidFill>
                <a:latin typeface="Calibri" pitchFamily="34" charset="0"/>
                <a:ea typeface="Calibri" pitchFamily="34" charset="-122"/>
                <a:cs typeface="Calibri" pitchFamily="34" charset="-120"/>
              </a:rPr>
              <a:t>Deck: </a:t>
            </a:r>
            <a:pPr indent="0" marL="0">
              <a:buNone/>
            </a:pPr>
            <a:r>
              <a:rPr lang="en-US" sz="1250" dirty="0">
                <a:solidFill>
                  <a:srgbClr val="EDF1EE"/>
                </a:solidFill>
                <a:latin typeface="Calibri" pitchFamily="34" charset="0"/>
                <a:ea typeface="Calibri" pitchFamily="34" charset="-122"/>
                <a:cs typeface="Calibri" pitchFamily="34" charset="-120"/>
              </a:rPr>
              <a:t>5 Karten – 3 Spezialisten der Position + 2 aus Branchen-Insider, Serial PE (selten) und Step-up</a:t>
            </a:r>
            <a:endParaRPr lang="en-US" sz="1250" dirty="0"/>
          </a:p>
          <a:p>
            <a:pPr marL="177800" indent="-177800">
              <a:spcAft>
                <a:spcPts val="400"/>
              </a:spcAft>
              <a:buSzPct val="100000"/>
              <a:buChar char="•"/>
            </a:pPr>
            <a:r>
              <a:rPr lang="en-US" sz="1250" b="1" dirty="0">
                <a:solidFill>
                  <a:srgbClr val="DCB264"/>
                </a:solidFill>
                <a:latin typeface="Calibri" pitchFamily="34" charset="0"/>
                <a:ea typeface="Calibri" pitchFamily="34" charset="-122"/>
                <a:cs typeface="Calibri" pitchFamily="34" charset="-120"/>
              </a:rPr>
              <a:t>Assessment: </a:t>
            </a:r>
            <a:pPr indent="0" marL="0">
              <a:buNone/>
            </a:pPr>
            <a:r>
              <a:rPr lang="en-US" sz="1250" dirty="0">
                <a:solidFill>
                  <a:srgbClr val="EDF1EE"/>
                </a:solidFill>
                <a:latin typeface="Calibri" pitchFamily="34" charset="0"/>
                <a:ea typeface="Calibri" pitchFamily="34" charset="-122"/>
                <a:cs typeface="Calibri" pitchFamily="34" charset="-120"/>
              </a:rPr>
              <a:t>Kompetenzen als Bandbreite; ab Verpflichtung zählt das wahre Profil</a:t>
            </a:r>
            <a:endParaRPr lang="en-US" sz="1250" dirty="0"/>
          </a:p>
          <a:p>
            <a:pPr marL="177800" indent="-177800">
              <a:spcAft>
                <a:spcPts val="400"/>
              </a:spcAft>
              <a:buSzPct val="100000"/>
              <a:buChar char="•"/>
            </a:pPr>
            <a:r>
              <a:rPr lang="en-US" sz="1250" b="1" dirty="0">
                <a:solidFill>
                  <a:srgbClr val="DCB264"/>
                </a:solidFill>
                <a:latin typeface="Calibri" pitchFamily="34" charset="0"/>
                <a:ea typeface="Calibri" pitchFamily="34" charset="-122"/>
                <a:cs typeface="Calibri" pitchFamily="34" charset="-120"/>
              </a:rPr>
              <a:t>Seltenheit: </a:t>
            </a:r>
            <a:pPr indent="0" marL="0">
              <a:buNone/>
            </a:pPr>
            <a:r>
              <a:rPr lang="en-US" sz="1250" dirty="0">
                <a:solidFill>
                  <a:srgbClr val="EDF1EE"/>
                </a:solidFill>
                <a:latin typeface="Calibri" pitchFamily="34" charset="0"/>
                <a:ea typeface="Calibri" pitchFamily="34" charset="-122"/>
                <a:cs typeface="Calibri" pitchFamily="34" charset="-120"/>
              </a:rPr>
              <a:t>Bronze &lt; 2,5 · Silber &lt; 3,5 · Gold – nach Assessment-Score, das Gehalt steigt mit</a:t>
            </a:r>
            <a:endParaRPr lang="en-US" sz="1250" dirty="0"/>
          </a:p>
          <a:p>
            <a:pPr marL="177800" indent="-177800">
              <a:spcAft>
                <a:spcPts val="400"/>
              </a:spcAft>
              <a:buSzPct val="100000"/>
              <a:buChar char="•"/>
            </a:pPr>
            <a:r>
              <a:rPr lang="en-US" sz="1250" b="1" dirty="0">
                <a:solidFill>
                  <a:srgbClr val="DCB264"/>
                </a:solidFill>
                <a:latin typeface="Calibri" pitchFamily="34" charset="0"/>
                <a:ea typeface="Calibri" pitchFamily="34" charset="-122"/>
                <a:cs typeface="Calibri" pitchFamily="34" charset="-120"/>
              </a:rPr>
              <a:t>Eigenschaften: </a:t>
            </a:r>
            <a:pPr indent="0" marL="0">
              <a:buNone/>
            </a:pPr>
            <a:r>
              <a:rPr lang="en-US" sz="1250" dirty="0">
                <a:solidFill>
                  <a:srgbClr val="EDF1EE"/>
                </a:solidFill>
                <a:latin typeface="Calibri" pitchFamily="34" charset="0"/>
                <a:ea typeface="Calibri" pitchFamily="34" charset="-122"/>
                <a:cs typeface="Calibri" pitchFamily="34" charset="-120"/>
              </a:rPr>
              <a:t>z. B. Day-1-ready, Flight Risk, Sponsor-erfahren, Co-Investor, Lender-erfahren</a:t>
            </a:r>
            <a:endParaRPr lang="en-US" sz="1250" dirty="0"/>
          </a:p>
          <a:p>
            <a:pPr marL="177800" indent="-177800">
              <a:spcAft>
                <a:spcPts val="400"/>
              </a:spcAft>
              <a:buSzPct val="100000"/>
              <a:buChar char="•"/>
            </a:pPr>
            <a:r>
              <a:rPr lang="en-US" sz="1250" b="1" dirty="0">
                <a:solidFill>
                  <a:srgbClr val="DCB264"/>
                </a:solidFill>
                <a:latin typeface="Calibri" pitchFamily="34" charset="0"/>
                <a:ea typeface="Calibri" pitchFamily="34" charset="-122"/>
                <a:cs typeface="Calibri" pitchFamily="34" charset="-120"/>
              </a:rPr>
              <a:t>Chemie: </a:t>
            </a:r>
            <a:pPr indent="0" marL="0">
              <a:buNone/>
            </a:pPr>
            <a:r>
              <a:rPr lang="en-US" sz="1250" dirty="0">
                <a:solidFill>
                  <a:srgbClr val="EDF1EE"/>
                </a:solidFill>
                <a:latin typeface="Calibri" pitchFamily="34" charset="0"/>
                <a:ea typeface="Calibri" pitchFamily="34" charset="-122"/>
                <a:cs typeface="Calibri" pitchFamily="34" charset="-120"/>
              </a:rPr>
              <a:t>alle drei Positionen gleiche Farbe → eingespielt, jede Kompetenz +0,2</a:t>
            </a:r>
            <a:endParaRPr lang="en-US" sz="1250" dirty="0"/>
          </a:p>
          <a:p>
            <a:pPr marL="177800" indent="-177800">
              <a:spcAft>
                <a:spcPts val="400"/>
              </a:spcAft>
              <a:buSzPct val="100000"/>
              <a:buChar char="•"/>
            </a:pPr>
            <a:r>
              <a:rPr lang="en-US" sz="1250" b="1" dirty="0">
                <a:solidFill>
                  <a:srgbClr val="DCB264"/>
                </a:solidFill>
                <a:latin typeface="Calibri" pitchFamily="34" charset="0"/>
                <a:ea typeface="Calibri" pitchFamily="34" charset="-122"/>
                <a:cs typeface="Calibri" pitchFamily="34" charset="-120"/>
              </a:rPr>
              <a:t>Ersatz: </a:t>
            </a:r>
            <a:pPr indent="0" marL="0">
              <a:buNone/>
            </a:pPr>
            <a:r>
              <a:rPr lang="en-US" sz="1250" dirty="0">
                <a:solidFill>
                  <a:srgbClr val="EDF1EE"/>
                </a:solidFill>
                <a:latin typeface="Calibri" pitchFamily="34" charset="0"/>
                <a:ea typeface="Calibri" pitchFamily="34" charset="-122"/>
                <a:cs typeface="Calibri" pitchFamily="34" charset="-120"/>
              </a:rPr>
              <a:t>Suche auf besetzter Position – Amtsinhaber geht sofort, Interim auf 2,0</a:t>
            </a:r>
            <a:endParaRPr lang="en-US" sz="1250" dirty="0"/>
          </a:p>
        </p:txBody>
      </p:sp>
      <p:sp>
        <p:nvSpPr>
          <p:cNvPr id="13" name="Shape 9"/>
          <p:cNvSpPr/>
          <p:nvPr/>
        </p:nvSpPr>
        <p:spPr>
          <a:xfrm>
            <a:off x="2880360" y="4069080"/>
            <a:ext cx="1497330" cy="1051560"/>
          </a:xfrm>
          <a:prstGeom prst="roundRect">
            <a:avLst>
              <a:gd name="adj" fmla="val 6957"/>
            </a:avLst>
          </a:prstGeom>
          <a:solidFill>
            <a:srgbClr val="161F22"/>
          </a:solidFill>
          <a:ln w="9525">
            <a:solidFill>
              <a:srgbClr val="243033"/>
            </a:solidFill>
            <a:prstDash val="solid"/>
          </a:ln>
        </p:spPr>
      </p:sp>
      <p:sp>
        <p:nvSpPr>
          <p:cNvPr id="14" name="Text 10"/>
          <p:cNvSpPr txBox="1"/>
          <p:nvPr/>
        </p:nvSpPr>
        <p:spPr>
          <a:xfrm>
            <a:off x="2990088" y="4123944"/>
            <a:ext cx="1314450" cy="384048"/>
          </a:xfrm>
          <a:prstGeom prst="rect">
            <a:avLst/>
          </a:prstGeom>
          <a:noFill/>
          <a:ln/>
        </p:spPr>
        <p:txBody>
          <a:bodyPr wrap="square" lIns="0" tIns="0" rIns="0" bIns="0" rtlCol="0" anchor="t"/>
          <a:lstStyle/>
          <a:p>
            <a:pPr algn="l" indent="0" marL="0">
              <a:buNone/>
            </a:pPr>
            <a:r>
              <a:rPr lang="en-US" sz="1600" b="1" dirty="0">
                <a:solidFill>
                  <a:srgbClr val="E3897F"/>
                </a:solidFill>
                <a:latin typeface="Calibri" pitchFamily="34" charset="0"/>
                <a:ea typeface="Calibri" pitchFamily="34" charset="-122"/>
                <a:cs typeface="Calibri" pitchFamily="34" charset="-120"/>
              </a:rPr>
              <a:t>22,5 %</a:t>
            </a:r>
            <a:endParaRPr lang="en-US" sz="1600" dirty="0"/>
          </a:p>
        </p:txBody>
      </p:sp>
      <p:sp>
        <p:nvSpPr>
          <p:cNvPr id="15" name="Text 11"/>
          <p:cNvSpPr txBox="1"/>
          <p:nvPr/>
        </p:nvSpPr>
        <p:spPr>
          <a:xfrm>
            <a:off x="2990088" y="4526280"/>
            <a:ext cx="1314450" cy="548640"/>
          </a:xfrm>
          <a:prstGeom prst="rect">
            <a:avLst/>
          </a:prstGeom>
          <a:noFill/>
          <a:ln/>
        </p:spPr>
        <p:txBody>
          <a:bodyPr wrap="square" lIns="0" tIns="0" rIns="0" bIns="0" rtlCol="0" anchor="t"/>
          <a:lstStyle/>
          <a:p>
            <a:pPr algn="l" indent="0" marL="0">
              <a:buNone/>
            </a:pPr>
            <a:r>
              <a:rPr lang="en-US" sz="1050" dirty="0">
                <a:solidFill>
                  <a:srgbClr val="EDF1EE"/>
                </a:solidFill>
                <a:latin typeface="Calibri" pitchFamily="34" charset="0"/>
                <a:ea typeface="Calibri" pitchFamily="34" charset="-122"/>
                <a:cs typeface="Calibri" pitchFamily="34" charset="-120"/>
              </a:rPr>
              <a:t>Retainer: eines Jahresgehalts</a:t>
            </a:r>
            <a:endParaRPr lang="en-US" sz="1050" dirty="0"/>
          </a:p>
        </p:txBody>
      </p:sp>
      <p:sp>
        <p:nvSpPr>
          <p:cNvPr id="16" name="Shape 12"/>
          <p:cNvSpPr/>
          <p:nvPr/>
        </p:nvSpPr>
        <p:spPr>
          <a:xfrm>
            <a:off x="4514850" y="4069080"/>
            <a:ext cx="1497330" cy="1051560"/>
          </a:xfrm>
          <a:prstGeom prst="roundRect">
            <a:avLst>
              <a:gd name="adj" fmla="val 6957"/>
            </a:avLst>
          </a:prstGeom>
          <a:solidFill>
            <a:srgbClr val="161F22"/>
          </a:solidFill>
          <a:ln w="9525">
            <a:solidFill>
              <a:srgbClr val="243033"/>
            </a:solidFill>
            <a:prstDash val="solid"/>
          </a:ln>
        </p:spPr>
      </p:sp>
      <p:sp>
        <p:nvSpPr>
          <p:cNvPr id="17" name="Text 13"/>
          <p:cNvSpPr txBox="1"/>
          <p:nvPr/>
        </p:nvSpPr>
        <p:spPr>
          <a:xfrm>
            <a:off x="4624578" y="4123944"/>
            <a:ext cx="1314450" cy="384048"/>
          </a:xfrm>
          <a:prstGeom prst="rect">
            <a:avLst/>
          </a:prstGeom>
          <a:noFill/>
          <a:ln/>
        </p:spPr>
        <p:txBody>
          <a:bodyPr wrap="square" lIns="0" tIns="0" rIns="0" bIns="0" rtlCol="0" anchor="t"/>
          <a:lstStyle/>
          <a:p>
            <a:pPr algn="l" indent="0" marL="0">
              <a:buNone/>
            </a:pPr>
            <a:r>
              <a:rPr lang="en-US" sz="1600" b="1" dirty="0">
                <a:solidFill>
                  <a:srgbClr val="E3897F"/>
                </a:solidFill>
                <a:latin typeface="Calibri" pitchFamily="34" charset="0"/>
                <a:ea typeface="Calibri" pitchFamily="34" charset="-122"/>
                <a:cs typeface="Calibri" pitchFamily="34" charset="-120"/>
              </a:rPr>
              <a:t>0,3</a:t>
            </a:r>
            <a:endParaRPr lang="en-US" sz="1600" dirty="0"/>
          </a:p>
        </p:txBody>
      </p:sp>
      <p:sp>
        <p:nvSpPr>
          <p:cNvPr id="18" name="Text 14"/>
          <p:cNvSpPr txBox="1"/>
          <p:nvPr/>
        </p:nvSpPr>
        <p:spPr>
          <a:xfrm>
            <a:off x="4624578" y="4526280"/>
            <a:ext cx="1314450" cy="548640"/>
          </a:xfrm>
          <a:prstGeom prst="rect">
            <a:avLst/>
          </a:prstGeom>
          <a:noFill/>
          <a:ln/>
        </p:spPr>
        <p:txBody>
          <a:bodyPr wrap="square" lIns="0" tIns="0" rIns="0" bIns="0" rtlCol="0" anchor="t"/>
          <a:lstStyle/>
          <a:p>
            <a:pPr algn="l" indent="0" marL="0">
              <a:buNone/>
            </a:pPr>
            <a:r>
              <a:rPr lang="en-US" sz="1050" dirty="0">
                <a:solidFill>
                  <a:srgbClr val="EDF1EE"/>
                </a:solidFill>
                <a:latin typeface="Calibri" pitchFamily="34" charset="0"/>
                <a:ea typeface="Calibri" pitchFamily="34" charset="-122"/>
                <a:cs typeface="Calibri" pitchFamily="34" charset="-120"/>
              </a:rPr>
              <a:t>Signing Bonus in Jahresgehältern</a:t>
            </a:r>
            <a:endParaRPr lang="en-US" sz="1050" dirty="0"/>
          </a:p>
        </p:txBody>
      </p:sp>
      <p:sp>
        <p:nvSpPr>
          <p:cNvPr id="19" name="Shape 15"/>
          <p:cNvSpPr/>
          <p:nvPr/>
        </p:nvSpPr>
        <p:spPr>
          <a:xfrm>
            <a:off x="6149340" y="4069080"/>
            <a:ext cx="1497330" cy="1051560"/>
          </a:xfrm>
          <a:prstGeom prst="roundRect">
            <a:avLst>
              <a:gd name="adj" fmla="val 6957"/>
            </a:avLst>
          </a:prstGeom>
          <a:solidFill>
            <a:srgbClr val="161F22"/>
          </a:solidFill>
          <a:ln w="9525">
            <a:solidFill>
              <a:srgbClr val="243033"/>
            </a:solidFill>
            <a:prstDash val="solid"/>
          </a:ln>
        </p:spPr>
      </p:sp>
      <p:sp>
        <p:nvSpPr>
          <p:cNvPr id="20" name="Text 16"/>
          <p:cNvSpPr txBox="1"/>
          <p:nvPr/>
        </p:nvSpPr>
        <p:spPr>
          <a:xfrm>
            <a:off x="6259068" y="4123944"/>
            <a:ext cx="1314450" cy="384048"/>
          </a:xfrm>
          <a:prstGeom prst="rect">
            <a:avLst/>
          </a:prstGeom>
          <a:noFill/>
          <a:ln/>
        </p:spPr>
        <p:txBody>
          <a:bodyPr wrap="square" lIns="0" tIns="0" rIns="0" bIns="0" rtlCol="0" anchor="t"/>
          <a:lstStyle/>
          <a:p>
            <a:pPr algn="l" indent="0" marL="0">
              <a:buNone/>
            </a:pPr>
            <a:r>
              <a:rPr lang="en-US" sz="1600" b="1" dirty="0">
                <a:solidFill>
                  <a:srgbClr val="E3897F"/>
                </a:solidFill>
                <a:latin typeface="Calibri" pitchFamily="34" charset="0"/>
                <a:ea typeface="Calibri" pitchFamily="34" charset="-122"/>
                <a:cs typeface="Calibri" pitchFamily="34" charset="-120"/>
              </a:rPr>
              <a:t>1 Jahr</a:t>
            </a:r>
            <a:endParaRPr lang="en-US" sz="1600" dirty="0"/>
          </a:p>
        </p:txBody>
      </p:sp>
      <p:sp>
        <p:nvSpPr>
          <p:cNvPr id="21" name="Text 17"/>
          <p:cNvSpPr txBox="1"/>
          <p:nvPr/>
        </p:nvSpPr>
        <p:spPr>
          <a:xfrm>
            <a:off x="6259068" y="4526280"/>
            <a:ext cx="1314450" cy="548640"/>
          </a:xfrm>
          <a:prstGeom prst="rect">
            <a:avLst/>
          </a:prstGeom>
          <a:noFill/>
          <a:ln/>
        </p:spPr>
        <p:txBody>
          <a:bodyPr wrap="square" lIns="0" tIns="0" rIns="0" bIns="0" rtlCol="0" anchor="t"/>
          <a:lstStyle/>
          <a:p>
            <a:pPr algn="l" indent="0" marL="0">
              <a:buNone/>
            </a:pPr>
            <a:r>
              <a:rPr lang="en-US" sz="1050" dirty="0">
                <a:solidFill>
                  <a:srgbClr val="EDF1EE"/>
                </a:solidFill>
                <a:latin typeface="Calibri" pitchFamily="34" charset="0"/>
                <a:ea typeface="Calibri" pitchFamily="34" charset="-122"/>
                <a:cs typeface="Calibri" pitchFamily="34" charset="-120"/>
              </a:rPr>
              <a:t>Abfindung des Vorgängers</a:t>
            </a:r>
            <a:endParaRPr lang="en-US" sz="1050" dirty="0"/>
          </a:p>
        </p:txBody>
      </p:sp>
      <p:sp>
        <p:nvSpPr>
          <p:cNvPr id="22" name="Shape 18"/>
          <p:cNvSpPr/>
          <p:nvPr/>
        </p:nvSpPr>
        <p:spPr>
          <a:xfrm>
            <a:off x="7783830" y="4069080"/>
            <a:ext cx="1497330" cy="1051560"/>
          </a:xfrm>
          <a:prstGeom prst="roundRect">
            <a:avLst>
              <a:gd name="adj" fmla="val 6957"/>
            </a:avLst>
          </a:prstGeom>
          <a:solidFill>
            <a:srgbClr val="161F22"/>
          </a:solidFill>
          <a:ln w="9525">
            <a:solidFill>
              <a:srgbClr val="243033"/>
            </a:solidFill>
            <a:prstDash val="solid"/>
          </a:ln>
        </p:spPr>
      </p:sp>
      <p:sp>
        <p:nvSpPr>
          <p:cNvPr id="23" name="Text 19"/>
          <p:cNvSpPr txBox="1"/>
          <p:nvPr/>
        </p:nvSpPr>
        <p:spPr>
          <a:xfrm>
            <a:off x="7893558" y="4123944"/>
            <a:ext cx="1314450" cy="384048"/>
          </a:xfrm>
          <a:prstGeom prst="rect">
            <a:avLst/>
          </a:prstGeom>
          <a:noFill/>
          <a:ln/>
        </p:spPr>
        <p:txBody>
          <a:bodyPr wrap="square" lIns="0" tIns="0" rIns="0" bIns="0" rtlCol="0" anchor="t"/>
          <a:lstStyle/>
          <a:p>
            <a:pPr algn="l" indent="0" marL="0">
              <a:buNone/>
            </a:pPr>
            <a:r>
              <a:rPr lang="en-US" sz="1600" b="1" dirty="0">
                <a:solidFill>
                  <a:srgbClr val="E3897F"/>
                </a:solidFill>
                <a:latin typeface="Calibri" pitchFamily="34" charset="0"/>
                <a:ea typeface="Calibri" pitchFamily="34" charset="-122"/>
                <a:cs typeface="Calibri" pitchFamily="34" charset="-120"/>
              </a:rPr>
              <a:t>½ Retainer</a:t>
            </a:r>
            <a:endParaRPr lang="en-US" sz="1600" dirty="0"/>
          </a:p>
        </p:txBody>
      </p:sp>
      <p:sp>
        <p:nvSpPr>
          <p:cNvPr id="24" name="Text 20"/>
          <p:cNvSpPr txBox="1"/>
          <p:nvPr/>
        </p:nvSpPr>
        <p:spPr>
          <a:xfrm>
            <a:off x="7893558" y="4526280"/>
            <a:ext cx="1314450" cy="548640"/>
          </a:xfrm>
          <a:prstGeom prst="rect">
            <a:avLst/>
          </a:prstGeom>
          <a:noFill/>
          <a:ln/>
        </p:spPr>
        <p:txBody>
          <a:bodyPr wrap="square" lIns="0" tIns="0" rIns="0" bIns="0" rtlCol="0" anchor="t"/>
          <a:lstStyle/>
          <a:p>
            <a:pPr algn="l" indent="0" marL="0">
              <a:buNone/>
            </a:pPr>
            <a:r>
              <a:rPr lang="en-US" sz="1050" dirty="0">
                <a:solidFill>
                  <a:srgbClr val="EDF1EE"/>
                </a:solidFill>
                <a:latin typeface="Calibri" pitchFamily="34" charset="0"/>
                <a:ea typeface="Calibri" pitchFamily="34" charset="-122"/>
                <a:cs typeface="Calibri" pitchFamily="34" charset="-120"/>
              </a:rPr>
              <a:t>Alle ablehnen: neue Suche, +1 HJ</a:t>
            </a:r>
            <a:endParaRPr lang="en-US" sz="1050" dirty="0"/>
          </a:p>
        </p:txBody>
      </p:sp>
      <p:sp>
        <p:nvSpPr>
          <p:cNvPr id="25" name="Shape 21"/>
          <p:cNvSpPr/>
          <p:nvPr/>
        </p:nvSpPr>
        <p:spPr>
          <a:xfrm>
            <a:off x="2880360" y="5303520"/>
            <a:ext cx="6400800" cy="868680"/>
          </a:xfrm>
          <a:prstGeom prst="roundRect">
            <a:avLst>
              <a:gd name="adj" fmla="val 8421"/>
            </a:avLst>
          </a:prstGeom>
          <a:solidFill>
            <a:srgbClr val="1C282B"/>
          </a:solidFill>
          <a:ln w="9525">
            <a:solidFill>
              <a:srgbClr val="5FC4B1"/>
            </a:solidFill>
            <a:prstDash val="solid"/>
          </a:ln>
        </p:spPr>
      </p:sp>
      <p:sp>
        <p:nvSpPr>
          <p:cNvPr id="26" name="Text 22"/>
          <p:cNvSpPr txBox="1"/>
          <p:nvPr/>
        </p:nvSpPr>
        <p:spPr>
          <a:xfrm>
            <a:off x="3063240" y="5303520"/>
            <a:ext cx="6035040" cy="868680"/>
          </a:xfrm>
          <a:prstGeom prst="rect">
            <a:avLst/>
          </a:prstGeom>
          <a:noFill/>
          <a:ln/>
        </p:spPr>
        <p:txBody>
          <a:bodyPr wrap="square" lIns="0" tIns="0" rIns="0" bIns="0" rtlCol="0" anchor="ctr"/>
          <a:lstStyle/>
          <a:p>
            <a:pPr algn="l" indent="0" marL="0">
              <a:spcAft>
                <a:spcPts val="400"/>
              </a:spcAft>
              <a:buNone/>
            </a:pPr>
            <a:r>
              <a:rPr lang="en-US" sz="1150" b="1" dirty="0">
                <a:solidFill>
                  <a:srgbClr val="5FC4B1"/>
                </a:solidFill>
                <a:latin typeface="Calibri" pitchFamily="34" charset="0"/>
                <a:ea typeface="Calibri" pitchFamily="34" charset="-122"/>
                <a:cs typeface="Calibri" pitchFamily="34" charset="-120"/>
              </a:rPr>
              <a:t>Timing: </a:t>
            </a:r>
            <a:pPr algn="l" indent="0" marL="0">
              <a:spcAft>
                <a:spcPts val="400"/>
              </a:spcAft>
              <a:buNone/>
            </a:pPr>
            <a:r>
              <a:rPr lang="en-US" sz="1150" dirty="0">
                <a:solidFill>
                  <a:srgbClr val="EDF1EE"/>
                </a:solidFill>
                <a:latin typeface="Calibri" pitchFamily="34" charset="0"/>
                <a:ea typeface="Calibri" pitchFamily="34" charset="-122"/>
                <a:cs typeface="Calibri" pitchFamily="34" charset="-120"/>
              </a:rPr>
              <a:t>Die Shortlist liegt im folgenden Halbjahr vor, mit „Starkem Netzwerk“ im Team ein Halbjahr früher. Bis dahin führt ein Interim – 25 % teurer als der Vorgänger.</a:t>
            </a:r>
            <a:endParaRPr lang="en-US" sz="1150" dirty="0"/>
          </a:p>
        </p:txBody>
      </p:sp>
      <p:pic>
        <p:nvPicPr>
          <p:cNvPr id="27" name="Image 1" descr="/tmp/claude-0/deck/img/replace.jpg">    </p:cNvPr>
          <p:cNvPicPr>
            <a:picLocks noChangeAspect="1"/>
          </p:cNvPicPr>
          <p:nvPr/>
        </p:nvPicPr>
        <p:blipFill>
          <a:blip r:embed="rId2"/>
          <a:stretch>
            <a:fillRect/>
          </a:stretch>
        </p:blipFill>
        <p:spPr>
          <a:xfrm>
            <a:off x="9693764" y="1600200"/>
            <a:ext cx="1992268" cy="4572000"/>
          </a:xfrm>
          <a:prstGeom prst="rect">
            <a:avLst/>
          </a:prstGeom>
        </p:spPr>
      </p:pic>
      <p:sp>
        <p:nvSpPr>
          <p:cNvPr id="28" name="Shape 23"/>
          <p:cNvSpPr/>
          <p:nvPr/>
        </p:nvSpPr>
        <p:spPr>
          <a:xfrm>
            <a:off x="9693764" y="1600200"/>
            <a:ext cx="1992268" cy="4572000"/>
          </a:xfrm>
          <a:prstGeom prst="rect">
            <a:avLst/>
          </a:prstGeom>
          <a:ln w="9525">
            <a:solidFill>
              <a:srgbClr val="33474B"/>
            </a:solidFill>
            <a:prstDash val="solid"/>
          </a:ln>
        </p:spPr>
      </p:sp>
      <p:sp>
        <p:nvSpPr>
          <p:cNvPr id="29" name="Text 24"/>
          <p:cNvSpPr txBox="1"/>
          <p:nvPr/>
        </p:nvSpPr>
        <p:spPr>
          <a:xfrm>
            <a:off x="9419444" y="6227064"/>
            <a:ext cx="2540908"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Ersatz suchen: Kosten und Team-Score</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5FC4B1"/>
                </a:solidFill>
                <a:latin typeface="Calibri" pitchFamily="34" charset="0"/>
                <a:ea typeface="Calibri" pitchFamily="34" charset="-122"/>
                <a:cs typeface="Calibri" pitchFamily="34" charset="-120"/>
              </a:rPr>
              <a:t>INCENTIVIERUNG</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Management-Beteiligung (MEP): Bindung durch Wert</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5FC4B1"/>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5FC4B1"/>
                </a:solidFill>
                <a:latin typeface="Calibri" pitchFamily="34" charset="0"/>
                <a:ea typeface="Calibri" pitchFamily="34" charset="-122"/>
                <a:cs typeface="Calibri" pitchFamily="34" charset="-120"/>
              </a:rPr>
              <a:t>C · VALUE CREATION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28</a:t>
            </a:r>
            <a:endParaRPr lang="en-US" sz="900" dirty="0"/>
          </a:p>
        </p:txBody>
      </p:sp>
      <p:graphicFrame>
        <p:nvGraphicFramePr>
          <p:cNvPr id="9" name="Chart 0" descr=""/>
          <p:cNvGraphicFramePr/>
          <p:nvPr/>
        </p:nvGraphicFramePr>
        <p:xfrm>
          <a:off x="502920" y="160020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10" name="Shape 6"/>
          <p:cNvSpPr/>
          <p:nvPr/>
        </p:nvSpPr>
        <p:spPr>
          <a:xfrm>
            <a:off x="7178040" y="1600200"/>
            <a:ext cx="4507992" cy="1005840"/>
          </a:xfrm>
          <a:prstGeom prst="roundRect">
            <a:avLst>
              <a:gd name="adj" fmla="val 7273"/>
            </a:avLst>
          </a:prstGeom>
          <a:solidFill>
            <a:srgbClr val="161F22"/>
          </a:solidFill>
          <a:ln w="9525">
            <a:solidFill>
              <a:srgbClr val="243033"/>
            </a:solidFill>
            <a:prstDash val="solid"/>
          </a:ln>
        </p:spPr>
      </p:sp>
      <p:sp>
        <p:nvSpPr>
          <p:cNvPr id="11" name="Text 7"/>
          <p:cNvSpPr txBox="1"/>
          <p:nvPr/>
        </p:nvSpPr>
        <p:spPr>
          <a:xfrm>
            <a:off x="7360920" y="1600200"/>
            <a:ext cx="1463040" cy="1005840"/>
          </a:xfrm>
          <a:prstGeom prst="rect">
            <a:avLst/>
          </a:prstGeom>
          <a:noFill/>
          <a:ln/>
        </p:spPr>
        <p:txBody>
          <a:bodyPr wrap="square" lIns="0" tIns="0" rIns="0" bIns="0" rtlCol="0" anchor="ctr"/>
          <a:lstStyle/>
          <a:p>
            <a:pPr algn="l" indent="0" marL="0">
              <a:buNone/>
            </a:pPr>
            <a:r>
              <a:rPr lang="en-US" sz="2800" b="1" dirty="0">
                <a:solidFill>
                  <a:srgbClr val="E3897F"/>
                </a:solidFill>
                <a:latin typeface="Calibri" pitchFamily="34" charset="0"/>
                <a:ea typeface="Calibri" pitchFamily="34" charset="-122"/>
                <a:cs typeface="Calibri" pitchFamily="34" charset="-120"/>
              </a:rPr>
              <a:t>6 %</a:t>
            </a:r>
            <a:endParaRPr lang="en-US" sz="2800" dirty="0"/>
          </a:p>
        </p:txBody>
      </p:sp>
      <p:sp>
        <p:nvSpPr>
          <p:cNvPr id="12" name="Text 8"/>
          <p:cNvSpPr txBox="1"/>
          <p:nvPr/>
        </p:nvSpPr>
        <p:spPr>
          <a:xfrm>
            <a:off x="8869680" y="1600200"/>
            <a:ext cx="2697480" cy="1005840"/>
          </a:xfrm>
          <a:prstGeom prst="rect">
            <a:avLst/>
          </a:prstGeom>
          <a:noFill/>
          <a:ln/>
        </p:spPr>
        <p:txBody>
          <a:bodyPr wrap="square" lIns="0" tIns="0" rIns="0" bIns="0" rtlCol="0" anchor="ctr"/>
          <a:lstStyle/>
          <a:p>
            <a:pPr algn="l" indent="0" marL="0">
              <a:buNone/>
            </a:pPr>
            <a:r>
              <a:rPr lang="en-US" sz="1300" dirty="0">
                <a:solidFill>
                  <a:srgbClr val="EDF1EE"/>
                </a:solidFill>
                <a:latin typeface="Calibri" pitchFamily="34" charset="0"/>
                <a:ea typeface="Calibri" pitchFamily="34" charset="-122"/>
                <a:cs typeface="Calibri" pitchFamily="34" charset="-120"/>
              </a:rPr>
              <a:t>Sweet Equity an jedem Rückfluss</a:t>
            </a:r>
            <a:endParaRPr lang="en-US" sz="1300" dirty="0"/>
          </a:p>
        </p:txBody>
      </p:sp>
      <p:sp>
        <p:nvSpPr>
          <p:cNvPr id="13" name="Shape 9"/>
          <p:cNvSpPr/>
          <p:nvPr/>
        </p:nvSpPr>
        <p:spPr>
          <a:xfrm>
            <a:off x="7178040" y="2743200"/>
            <a:ext cx="4507992" cy="1005840"/>
          </a:xfrm>
          <a:prstGeom prst="roundRect">
            <a:avLst>
              <a:gd name="adj" fmla="val 7273"/>
            </a:avLst>
          </a:prstGeom>
          <a:solidFill>
            <a:srgbClr val="161F22"/>
          </a:solidFill>
          <a:ln w="9525">
            <a:solidFill>
              <a:srgbClr val="243033"/>
            </a:solidFill>
            <a:prstDash val="solid"/>
          </a:ln>
        </p:spPr>
      </p:sp>
      <p:sp>
        <p:nvSpPr>
          <p:cNvPr id="14" name="Text 10"/>
          <p:cNvSpPr txBox="1"/>
          <p:nvPr/>
        </p:nvSpPr>
        <p:spPr>
          <a:xfrm>
            <a:off x="7360920" y="2743200"/>
            <a:ext cx="1463040" cy="1005840"/>
          </a:xfrm>
          <a:prstGeom prst="rect">
            <a:avLst/>
          </a:prstGeom>
          <a:noFill/>
          <a:ln/>
        </p:spPr>
        <p:txBody>
          <a:bodyPr wrap="square" lIns="0" tIns="0" rIns="0" bIns="0" rtlCol="0" anchor="ctr"/>
          <a:lstStyle/>
          <a:p>
            <a:pPr algn="l" indent="0" marL="0">
              <a:buNone/>
            </a:pPr>
            <a:r>
              <a:rPr lang="en-US" sz="2800" b="1" dirty="0">
                <a:solidFill>
                  <a:srgbClr val="5FC4B1"/>
                </a:solidFill>
                <a:latin typeface="Calibri" pitchFamily="34" charset="0"/>
                <a:ea typeface="Calibri" pitchFamily="34" charset="-122"/>
                <a:cs typeface="Calibri" pitchFamily="34" charset="-120"/>
              </a:rPr>
              <a:t>+0,5</a:t>
            </a:r>
            <a:endParaRPr lang="en-US" sz="2800" dirty="0"/>
          </a:p>
        </p:txBody>
      </p:sp>
      <p:sp>
        <p:nvSpPr>
          <p:cNvPr id="15" name="Text 11"/>
          <p:cNvSpPr txBox="1"/>
          <p:nvPr/>
        </p:nvSpPr>
        <p:spPr>
          <a:xfrm>
            <a:off x="8869680" y="2743200"/>
            <a:ext cx="2697480" cy="1005840"/>
          </a:xfrm>
          <a:prstGeom prst="rect">
            <a:avLst/>
          </a:prstGeom>
          <a:noFill/>
          <a:ln/>
        </p:spPr>
        <p:txBody>
          <a:bodyPr wrap="square" lIns="0" tIns="0" rIns="0" bIns="0" rtlCol="0" anchor="ctr"/>
          <a:lstStyle/>
          <a:p>
            <a:pPr algn="l" indent="0" marL="0">
              <a:buNone/>
            </a:pPr>
            <a:r>
              <a:rPr lang="en-US" sz="1300" dirty="0">
                <a:solidFill>
                  <a:srgbClr val="EDF1EE"/>
                </a:solidFill>
                <a:latin typeface="Calibri" pitchFamily="34" charset="0"/>
                <a:ea typeface="Calibri" pitchFamily="34" charset="-122"/>
                <a:cs typeface="Calibri" pitchFamily="34" charset="-120"/>
              </a:rPr>
              <a:t>effektive Kompetenz aller Rollen</a:t>
            </a:r>
            <a:endParaRPr lang="en-US" sz="1300" dirty="0"/>
          </a:p>
        </p:txBody>
      </p:sp>
      <p:sp>
        <p:nvSpPr>
          <p:cNvPr id="16" name="Shape 12"/>
          <p:cNvSpPr/>
          <p:nvPr/>
        </p:nvSpPr>
        <p:spPr>
          <a:xfrm>
            <a:off x="7178040" y="3886200"/>
            <a:ext cx="4507992" cy="1005840"/>
          </a:xfrm>
          <a:prstGeom prst="roundRect">
            <a:avLst>
              <a:gd name="adj" fmla="val 7273"/>
            </a:avLst>
          </a:prstGeom>
          <a:solidFill>
            <a:srgbClr val="161F22"/>
          </a:solidFill>
          <a:ln w="9525">
            <a:solidFill>
              <a:srgbClr val="243033"/>
            </a:solidFill>
            <a:prstDash val="solid"/>
          </a:ln>
        </p:spPr>
      </p:sp>
      <p:sp>
        <p:nvSpPr>
          <p:cNvPr id="17" name="Text 13"/>
          <p:cNvSpPr txBox="1"/>
          <p:nvPr/>
        </p:nvSpPr>
        <p:spPr>
          <a:xfrm>
            <a:off x="7360920" y="3886200"/>
            <a:ext cx="1463040" cy="1005840"/>
          </a:xfrm>
          <a:prstGeom prst="rect">
            <a:avLst/>
          </a:prstGeom>
          <a:noFill/>
          <a:ln/>
        </p:spPr>
        <p:txBody>
          <a:bodyPr wrap="square" lIns="0" tIns="0" rIns="0" bIns="0" rtlCol="0" anchor="ctr"/>
          <a:lstStyle/>
          <a:p>
            <a:pPr algn="l" indent="0" marL="0">
              <a:buNone/>
            </a:pPr>
            <a:r>
              <a:rPr lang="en-US" sz="2800" b="1" dirty="0">
                <a:solidFill>
                  <a:srgbClr val="DCB264"/>
                </a:solidFill>
                <a:latin typeface="Calibri" pitchFamily="34" charset="0"/>
                <a:ea typeface="Calibri" pitchFamily="34" charset="-122"/>
                <a:cs typeface="Calibri" pitchFamily="34" charset="-120"/>
              </a:rPr>
              <a:t>0,08×</a:t>
            </a:r>
            <a:endParaRPr lang="en-US" sz="2800" dirty="0"/>
          </a:p>
        </p:txBody>
      </p:sp>
      <p:sp>
        <p:nvSpPr>
          <p:cNvPr id="18" name="Text 14"/>
          <p:cNvSpPr txBox="1"/>
          <p:nvPr/>
        </p:nvSpPr>
        <p:spPr>
          <a:xfrm>
            <a:off x="8869680" y="3886200"/>
            <a:ext cx="2697480" cy="1005840"/>
          </a:xfrm>
          <a:prstGeom prst="rect">
            <a:avLst/>
          </a:prstGeom>
          <a:noFill/>
          <a:ln/>
        </p:spPr>
        <p:txBody>
          <a:bodyPr wrap="square" lIns="0" tIns="0" rIns="0" bIns="0" rtlCol="0" anchor="ctr"/>
          <a:lstStyle/>
          <a:p>
            <a:pPr algn="l" indent="0" marL="0">
              <a:buNone/>
            </a:pPr>
            <a:r>
              <a:rPr lang="en-US" sz="1300" dirty="0">
                <a:solidFill>
                  <a:srgbClr val="EDF1EE"/>
                </a:solidFill>
                <a:latin typeface="Calibri" pitchFamily="34" charset="0"/>
                <a:ea typeface="Calibri" pitchFamily="34" charset="-122"/>
                <a:cs typeface="Calibri" pitchFamily="34" charset="-120"/>
              </a:rPr>
              <a:t>Restrisiko ab 2,2× MOIC</a:t>
            </a:r>
            <a:endParaRPr lang="en-US" sz="1300" dirty="0"/>
          </a:p>
        </p:txBody>
      </p:sp>
      <p:sp>
        <p:nvSpPr>
          <p:cNvPr id="19" name="Shape 15"/>
          <p:cNvSpPr/>
          <p:nvPr/>
        </p:nvSpPr>
        <p:spPr>
          <a:xfrm>
            <a:off x="7178040" y="5120640"/>
            <a:ext cx="4507992" cy="685800"/>
          </a:xfrm>
          <a:prstGeom prst="roundRect">
            <a:avLst>
              <a:gd name="adj" fmla="val 10667"/>
            </a:avLst>
          </a:prstGeom>
          <a:solidFill>
            <a:srgbClr val="1C282B"/>
          </a:solidFill>
          <a:ln w="12700">
            <a:solidFill>
              <a:srgbClr val="DCB264"/>
            </a:solidFill>
            <a:prstDash val="solid"/>
          </a:ln>
        </p:spPr>
      </p:sp>
      <p:sp>
        <p:nvSpPr>
          <p:cNvPr id="20" name="Text 16"/>
          <p:cNvSpPr txBox="1"/>
          <p:nvPr/>
        </p:nvSpPr>
        <p:spPr>
          <a:xfrm>
            <a:off x="7360920" y="5120640"/>
            <a:ext cx="4142232" cy="685800"/>
          </a:xfrm>
          <a:prstGeom prst="rect">
            <a:avLst/>
          </a:prstGeom>
          <a:noFill/>
          <a:ln/>
        </p:spPr>
        <p:txBody>
          <a:bodyPr wrap="square" lIns="0" tIns="0" rIns="0" bIns="0" rtlCol="0" anchor="ctr"/>
          <a:lstStyle/>
          <a:p>
            <a:pPr algn="ctr" indent="0" marL="0">
              <a:buNone/>
            </a:pPr>
            <a:r>
              <a:rPr lang="en-US" sz="1400" b="1" dirty="0">
                <a:solidFill>
                  <a:srgbClr val="DCB264"/>
                </a:solidFill>
                <a:latin typeface="Calibri" pitchFamily="34" charset="0"/>
                <a:ea typeface="Calibri" pitchFamily="34" charset="-122"/>
                <a:cs typeface="Calibri" pitchFamily="34" charset="-120"/>
              </a:rPr>
              <a:t>Abwerbung je HJ = 0,08 % × Rating² × Faktor</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5FC4B1"/>
                </a:solidFill>
                <a:latin typeface="Calibri" pitchFamily="34" charset="0"/>
                <a:ea typeface="Calibri" pitchFamily="34" charset="-122"/>
                <a:cs typeface="Calibri" pitchFamily="34" charset="-120"/>
              </a:rPr>
              <a:t>BUY-AND-BUILD</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Add-on M&amp;A als Mandat: Größe und Preis steuern das Risiko</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5FC4B1"/>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5FC4B1"/>
                </a:solidFill>
                <a:latin typeface="Calibri" pitchFamily="34" charset="0"/>
                <a:ea typeface="Calibri" pitchFamily="34" charset="-122"/>
                <a:cs typeface="Calibri" pitchFamily="34" charset="-120"/>
              </a:rPr>
              <a:t>C · VALUE CREATION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29</a:t>
            </a:r>
            <a:endParaRPr lang="en-US" sz="900" dirty="0"/>
          </a:p>
        </p:txBody>
      </p:sp>
      <p:sp>
        <p:nvSpPr>
          <p:cNvPr id="9" name="Text 6"/>
          <p:cNvSpPr txBox="1"/>
          <p:nvPr/>
        </p:nvSpPr>
        <p:spPr>
          <a:xfrm>
            <a:off x="502920" y="1600200"/>
            <a:ext cx="6400800" cy="228600"/>
          </a:xfrm>
          <a:prstGeom prst="rect">
            <a:avLst/>
          </a:prstGeom>
          <a:noFill/>
          <a:ln/>
        </p:spPr>
        <p:txBody>
          <a:bodyPr wrap="square" lIns="0" tIns="0" rIns="0" bIns="0" rtlCol="0" anchor="t"/>
          <a:lstStyle/>
          <a:p>
            <a:pPr algn="l" indent="0" marL="0">
              <a:buNone/>
            </a:pPr>
            <a:r>
              <a:rPr lang="en-US" sz="1000" b="1" spc="150" kern="0" dirty="0">
                <a:solidFill>
                  <a:srgbClr val="5FC4B1"/>
                </a:solidFill>
                <a:latin typeface="Calibri" pitchFamily="34" charset="0"/>
                <a:ea typeface="Calibri" pitchFamily="34" charset="-122"/>
                <a:cs typeface="Calibri" pitchFamily="34" charset="-120"/>
              </a:rPr>
              <a:t>SCHEITERUNGSRISIKO DER INTEGRATION (REFERENZPLATTFORM)</a:t>
            </a:r>
            <a:endParaRPr lang="en-US" sz="1000" dirty="0"/>
          </a:p>
        </p:txBody>
      </p:sp>
      <p:sp>
        <p:nvSpPr>
          <p:cNvPr id="10" name="Text 7"/>
          <p:cNvSpPr txBox="1"/>
          <p:nvPr/>
        </p:nvSpPr>
        <p:spPr>
          <a:xfrm>
            <a:off x="1737360" y="1828800"/>
            <a:ext cx="5120640" cy="228600"/>
          </a:xfrm>
          <a:prstGeom prst="rect">
            <a:avLst/>
          </a:prstGeom>
          <a:noFill/>
          <a:ln/>
        </p:spPr>
        <p:txBody>
          <a:bodyPr wrap="square" lIns="0" tIns="0" rIns="0" bIns="0" rtlCol="0" anchor="t"/>
          <a:lstStyle/>
          <a:p>
            <a:pPr algn="ctr" indent="0" marL="0">
              <a:buNone/>
            </a:pPr>
            <a:r>
              <a:rPr lang="en-US" sz="1050" dirty="0">
                <a:solidFill>
                  <a:srgbClr val="8E9C9B"/>
                </a:solidFill>
                <a:latin typeface="Calibri" pitchFamily="34" charset="0"/>
                <a:ea typeface="Calibri" pitchFamily="34" charset="-122"/>
                <a:cs typeface="Calibri" pitchFamily="34" charset="-120"/>
              </a:rPr>
              <a:t>Gebot unter der Preisvorstellung des Verkäufers (Turns) →</a:t>
            </a:r>
            <a:endParaRPr lang="en-US" sz="1050" dirty="0"/>
          </a:p>
        </p:txBody>
      </p:sp>
      <p:sp>
        <p:nvSpPr>
          <p:cNvPr id="11" name="Text 8"/>
          <p:cNvSpPr txBox="1"/>
          <p:nvPr/>
        </p:nvSpPr>
        <p:spPr>
          <a:xfrm>
            <a:off x="1737360" y="2084832"/>
            <a:ext cx="1024128" cy="256032"/>
          </a:xfrm>
          <a:prstGeom prst="rect">
            <a:avLst/>
          </a:prstGeom>
          <a:noFill/>
          <a:ln/>
        </p:spPr>
        <p:txBody>
          <a:bodyPr wrap="square" lIns="0" tIns="0" rIns="0" bIns="0" rtlCol="0" anchor="t"/>
          <a:lstStyle/>
          <a:p>
            <a:pPr algn="ctr" indent="0" marL="0">
              <a:buNone/>
            </a:pPr>
            <a:r>
              <a:rPr lang="en-US" sz="1050" b="1" dirty="0">
                <a:solidFill>
                  <a:srgbClr val="8E9C9B"/>
                </a:solidFill>
                <a:latin typeface="Calibri" pitchFamily="34" charset="0"/>
                <a:ea typeface="Calibri" pitchFamily="34" charset="-122"/>
                <a:cs typeface="Calibri" pitchFamily="34" charset="-120"/>
              </a:rPr>
              <a:t>voller Preis</a:t>
            </a:r>
            <a:endParaRPr lang="en-US" sz="1050" dirty="0"/>
          </a:p>
        </p:txBody>
      </p:sp>
      <p:sp>
        <p:nvSpPr>
          <p:cNvPr id="12" name="Text 9"/>
          <p:cNvSpPr txBox="1"/>
          <p:nvPr/>
        </p:nvSpPr>
        <p:spPr>
          <a:xfrm>
            <a:off x="2761488" y="2084832"/>
            <a:ext cx="1024128" cy="256032"/>
          </a:xfrm>
          <a:prstGeom prst="rect">
            <a:avLst/>
          </a:prstGeom>
          <a:noFill/>
          <a:ln/>
        </p:spPr>
        <p:txBody>
          <a:bodyPr wrap="square" lIns="0" tIns="0" rIns="0" bIns="0" rtlCol="0" anchor="t"/>
          <a:lstStyle/>
          <a:p>
            <a:pPr algn="ctr" indent="0" marL="0">
              <a:buNone/>
            </a:pPr>
            <a:r>
              <a:rPr lang="en-US" sz="1050" b="1" dirty="0">
                <a:solidFill>
                  <a:srgbClr val="8E9C9B"/>
                </a:solidFill>
                <a:latin typeface="Calibri" pitchFamily="34" charset="0"/>
                <a:ea typeface="Calibri" pitchFamily="34" charset="-122"/>
                <a:cs typeface="Calibri" pitchFamily="34" charset="-120"/>
              </a:rPr>
              <a:t>−0,5</a:t>
            </a:r>
            <a:endParaRPr lang="en-US" sz="1050" dirty="0"/>
          </a:p>
        </p:txBody>
      </p:sp>
      <p:sp>
        <p:nvSpPr>
          <p:cNvPr id="13" name="Text 10"/>
          <p:cNvSpPr txBox="1"/>
          <p:nvPr/>
        </p:nvSpPr>
        <p:spPr>
          <a:xfrm>
            <a:off x="3785616" y="2084832"/>
            <a:ext cx="1024128" cy="256032"/>
          </a:xfrm>
          <a:prstGeom prst="rect">
            <a:avLst/>
          </a:prstGeom>
          <a:noFill/>
          <a:ln/>
        </p:spPr>
        <p:txBody>
          <a:bodyPr wrap="square" lIns="0" tIns="0" rIns="0" bIns="0" rtlCol="0" anchor="t"/>
          <a:lstStyle/>
          <a:p>
            <a:pPr algn="ctr" indent="0" marL="0">
              <a:buNone/>
            </a:pPr>
            <a:r>
              <a:rPr lang="en-US" sz="1050" b="1" dirty="0">
                <a:solidFill>
                  <a:srgbClr val="8E9C9B"/>
                </a:solidFill>
                <a:latin typeface="Calibri" pitchFamily="34" charset="0"/>
                <a:ea typeface="Calibri" pitchFamily="34" charset="-122"/>
                <a:cs typeface="Calibri" pitchFamily="34" charset="-120"/>
              </a:rPr>
              <a:t>−1,0</a:t>
            </a:r>
            <a:endParaRPr lang="en-US" sz="1050" dirty="0"/>
          </a:p>
        </p:txBody>
      </p:sp>
      <p:sp>
        <p:nvSpPr>
          <p:cNvPr id="14" name="Text 11"/>
          <p:cNvSpPr txBox="1"/>
          <p:nvPr/>
        </p:nvSpPr>
        <p:spPr>
          <a:xfrm>
            <a:off x="4809744" y="2084832"/>
            <a:ext cx="1024128" cy="256032"/>
          </a:xfrm>
          <a:prstGeom prst="rect">
            <a:avLst/>
          </a:prstGeom>
          <a:noFill/>
          <a:ln/>
        </p:spPr>
        <p:txBody>
          <a:bodyPr wrap="square" lIns="0" tIns="0" rIns="0" bIns="0" rtlCol="0" anchor="t"/>
          <a:lstStyle/>
          <a:p>
            <a:pPr algn="ctr" indent="0" marL="0">
              <a:buNone/>
            </a:pPr>
            <a:r>
              <a:rPr lang="en-US" sz="1050" b="1" dirty="0">
                <a:solidFill>
                  <a:srgbClr val="8E9C9B"/>
                </a:solidFill>
                <a:latin typeface="Calibri" pitchFamily="34" charset="0"/>
                <a:ea typeface="Calibri" pitchFamily="34" charset="-122"/>
                <a:cs typeface="Calibri" pitchFamily="34" charset="-120"/>
              </a:rPr>
              <a:t>−1,5</a:t>
            </a:r>
            <a:endParaRPr lang="en-US" sz="1050" dirty="0"/>
          </a:p>
        </p:txBody>
      </p:sp>
      <p:sp>
        <p:nvSpPr>
          <p:cNvPr id="15" name="Text 12"/>
          <p:cNvSpPr txBox="1"/>
          <p:nvPr/>
        </p:nvSpPr>
        <p:spPr>
          <a:xfrm>
            <a:off x="5833872" y="2084832"/>
            <a:ext cx="1024128" cy="256032"/>
          </a:xfrm>
          <a:prstGeom prst="rect">
            <a:avLst/>
          </a:prstGeom>
          <a:noFill/>
          <a:ln/>
        </p:spPr>
        <p:txBody>
          <a:bodyPr wrap="square" lIns="0" tIns="0" rIns="0" bIns="0" rtlCol="0" anchor="t"/>
          <a:lstStyle/>
          <a:p>
            <a:pPr algn="ctr" indent="0" marL="0">
              <a:buNone/>
            </a:pPr>
            <a:r>
              <a:rPr lang="en-US" sz="1050" b="1" dirty="0">
                <a:solidFill>
                  <a:srgbClr val="8E9C9B"/>
                </a:solidFill>
                <a:latin typeface="Calibri" pitchFamily="34" charset="0"/>
                <a:ea typeface="Calibri" pitchFamily="34" charset="-122"/>
                <a:cs typeface="Calibri" pitchFamily="34" charset="-120"/>
              </a:rPr>
              <a:t>−2,0</a:t>
            </a:r>
            <a:endParaRPr lang="en-US" sz="1050" dirty="0"/>
          </a:p>
        </p:txBody>
      </p:sp>
      <p:sp>
        <p:nvSpPr>
          <p:cNvPr id="16" name="Text 13"/>
          <p:cNvSpPr txBox="1"/>
          <p:nvPr/>
        </p:nvSpPr>
        <p:spPr>
          <a:xfrm>
            <a:off x="502920" y="2377440"/>
            <a:ext cx="1188720" cy="420624"/>
          </a:xfrm>
          <a:prstGeom prst="rect">
            <a:avLst/>
          </a:prstGeom>
          <a:noFill/>
          <a:ln/>
        </p:spPr>
        <p:txBody>
          <a:bodyPr wrap="square" lIns="0" tIns="0" rIns="0" bIns="0" rtlCol="0" anchor="ctr"/>
          <a:lstStyle/>
          <a:p>
            <a:pPr algn="r" indent="0" marL="0">
              <a:buNone/>
            </a:pPr>
            <a:r>
              <a:rPr lang="en-US" sz="1050" b="1" dirty="0">
                <a:solidFill>
                  <a:srgbClr val="8E9C9B"/>
                </a:solidFill>
                <a:latin typeface="Calibri" pitchFamily="34" charset="0"/>
                <a:ea typeface="Calibri" pitchFamily="34" charset="-122"/>
                <a:cs typeface="Calibri" pitchFamily="34" charset="-120"/>
              </a:rPr>
              <a:t>10 % EBITDA</a:t>
            </a:r>
            <a:endParaRPr lang="en-US" sz="1050" dirty="0"/>
          </a:p>
        </p:txBody>
      </p:sp>
      <p:sp>
        <p:nvSpPr>
          <p:cNvPr id="17" name="Shape 14"/>
          <p:cNvSpPr/>
          <p:nvPr/>
        </p:nvSpPr>
        <p:spPr>
          <a:xfrm>
            <a:off x="1764792" y="2404872"/>
            <a:ext cx="969264" cy="365760"/>
          </a:xfrm>
          <a:prstGeom prst="roundRect">
            <a:avLst>
              <a:gd name="adj" fmla="val 10000"/>
            </a:avLst>
          </a:prstGeom>
          <a:solidFill>
            <a:srgbClr val="2F6B61"/>
          </a:solidFill>
          <a:ln/>
        </p:spPr>
      </p:sp>
      <p:sp>
        <p:nvSpPr>
          <p:cNvPr id="18" name="Text 15"/>
          <p:cNvSpPr txBox="1"/>
          <p:nvPr/>
        </p:nvSpPr>
        <p:spPr>
          <a:xfrm>
            <a:off x="1737360" y="2377440"/>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2 %</a:t>
            </a:r>
            <a:endParaRPr lang="en-US" sz="1200" dirty="0"/>
          </a:p>
        </p:txBody>
      </p:sp>
      <p:sp>
        <p:nvSpPr>
          <p:cNvPr id="19" name="Shape 16"/>
          <p:cNvSpPr/>
          <p:nvPr/>
        </p:nvSpPr>
        <p:spPr>
          <a:xfrm>
            <a:off x="2788920" y="2404872"/>
            <a:ext cx="969264" cy="365760"/>
          </a:xfrm>
          <a:prstGeom prst="roundRect">
            <a:avLst>
              <a:gd name="adj" fmla="val 10000"/>
            </a:avLst>
          </a:prstGeom>
          <a:solidFill>
            <a:srgbClr val="2F6B61"/>
          </a:solidFill>
          <a:ln/>
        </p:spPr>
      </p:sp>
      <p:sp>
        <p:nvSpPr>
          <p:cNvPr id="20" name="Text 17"/>
          <p:cNvSpPr txBox="1"/>
          <p:nvPr/>
        </p:nvSpPr>
        <p:spPr>
          <a:xfrm>
            <a:off x="2761488" y="2377440"/>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4 %</a:t>
            </a:r>
            <a:endParaRPr lang="en-US" sz="1200" dirty="0"/>
          </a:p>
        </p:txBody>
      </p:sp>
      <p:sp>
        <p:nvSpPr>
          <p:cNvPr id="21" name="Shape 18"/>
          <p:cNvSpPr/>
          <p:nvPr/>
        </p:nvSpPr>
        <p:spPr>
          <a:xfrm>
            <a:off x="3813048" y="2404872"/>
            <a:ext cx="969264" cy="365760"/>
          </a:xfrm>
          <a:prstGeom prst="roundRect">
            <a:avLst>
              <a:gd name="adj" fmla="val 10000"/>
            </a:avLst>
          </a:prstGeom>
          <a:solidFill>
            <a:srgbClr val="2F6B61"/>
          </a:solidFill>
          <a:ln/>
        </p:spPr>
      </p:sp>
      <p:sp>
        <p:nvSpPr>
          <p:cNvPr id="22" name="Text 19"/>
          <p:cNvSpPr txBox="1"/>
          <p:nvPr/>
        </p:nvSpPr>
        <p:spPr>
          <a:xfrm>
            <a:off x="3785616" y="2377440"/>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13 %</a:t>
            </a:r>
            <a:endParaRPr lang="en-US" sz="1200" dirty="0"/>
          </a:p>
        </p:txBody>
      </p:sp>
      <p:sp>
        <p:nvSpPr>
          <p:cNvPr id="23" name="Shape 20"/>
          <p:cNvSpPr/>
          <p:nvPr/>
        </p:nvSpPr>
        <p:spPr>
          <a:xfrm>
            <a:off x="4837176" y="2404872"/>
            <a:ext cx="969264" cy="365760"/>
          </a:xfrm>
          <a:prstGeom prst="roundRect">
            <a:avLst>
              <a:gd name="adj" fmla="val 10000"/>
            </a:avLst>
          </a:prstGeom>
          <a:solidFill>
            <a:srgbClr val="6B6A3A"/>
          </a:solidFill>
          <a:ln/>
        </p:spPr>
      </p:sp>
      <p:sp>
        <p:nvSpPr>
          <p:cNvPr id="24" name="Text 21"/>
          <p:cNvSpPr txBox="1"/>
          <p:nvPr/>
        </p:nvSpPr>
        <p:spPr>
          <a:xfrm>
            <a:off x="4809744" y="2377440"/>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22 %</a:t>
            </a:r>
            <a:endParaRPr lang="en-US" sz="1200" dirty="0"/>
          </a:p>
        </p:txBody>
      </p:sp>
      <p:sp>
        <p:nvSpPr>
          <p:cNvPr id="25" name="Shape 22"/>
          <p:cNvSpPr/>
          <p:nvPr/>
        </p:nvSpPr>
        <p:spPr>
          <a:xfrm>
            <a:off x="5861304" y="2404872"/>
            <a:ext cx="969264" cy="365760"/>
          </a:xfrm>
          <a:prstGeom prst="roundRect">
            <a:avLst>
              <a:gd name="adj" fmla="val 10000"/>
            </a:avLst>
          </a:prstGeom>
          <a:solidFill>
            <a:srgbClr val="7A4B35"/>
          </a:solidFill>
          <a:ln/>
        </p:spPr>
      </p:sp>
      <p:sp>
        <p:nvSpPr>
          <p:cNvPr id="26" name="Text 23"/>
          <p:cNvSpPr txBox="1"/>
          <p:nvPr/>
        </p:nvSpPr>
        <p:spPr>
          <a:xfrm>
            <a:off x="5833872" y="2377440"/>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31 %</a:t>
            </a:r>
            <a:endParaRPr lang="en-US" sz="1200" dirty="0"/>
          </a:p>
        </p:txBody>
      </p:sp>
      <p:sp>
        <p:nvSpPr>
          <p:cNvPr id="27" name="Text 24"/>
          <p:cNvSpPr txBox="1"/>
          <p:nvPr/>
        </p:nvSpPr>
        <p:spPr>
          <a:xfrm>
            <a:off x="502920" y="2798064"/>
            <a:ext cx="1188720" cy="420624"/>
          </a:xfrm>
          <a:prstGeom prst="rect">
            <a:avLst/>
          </a:prstGeom>
          <a:noFill/>
          <a:ln/>
        </p:spPr>
        <p:txBody>
          <a:bodyPr wrap="square" lIns="0" tIns="0" rIns="0" bIns="0" rtlCol="0" anchor="ctr"/>
          <a:lstStyle/>
          <a:p>
            <a:pPr algn="r" indent="0" marL="0">
              <a:buNone/>
            </a:pPr>
            <a:r>
              <a:rPr lang="en-US" sz="1050" b="1" dirty="0">
                <a:solidFill>
                  <a:srgbClr val="8E9C9B"/>
                </a:solidFill>
                <a:latin typeface="Calibri" pitchFamily="34" charset="0"/>
                <a:ea typeface="Calibri" pitchFamily="34" charset="-122"/>
                <a:cs typeface="Calibri" pitchFamily="34" charset="-120"/>
              </a:rPr>
              <a:t>20 % EBITDA</a:t>
            </a:r>
            <a:endParaRPr lang="en-US" sz="1050" dirty="0"/>
          </a:p>
        </p:txBody>
      </p:sp>
      <p:sp>
        <p:nvSpPr>
          <p:cNvPr id="28" name="Shape 25"/>
          <p:cNvSpPr/>
          <p:nvPr/>
        </p:nvSpPr>
        <p:spPr>
          <a:xfrm>
            <a:off x="1764792" y="2825496"/>
            <a:ext cx="969264" cy="365760"/>
          </a:xfrm>
          <a:prstGeom prst="roundRect">
            <a:avLst>
              <a:gd name="adj" fmla="val 10000"/>
            </a:avLst>
          </a:prstGeom>
          <a:solidFill>
            <a:srgbClr val="2F6B61"/>
          </a:solidFill>
          <a:ln/>
        </p:spPr>
      </p:sp>
      <p:sp>
        <p:nvSpPr>
          <p:cNvPr id="29" name="Text 26"/>
          <p:cNvSpPr txBox="1"/>
          <p:nvPr/>
        </p:nvSpPr>
        <p:spPr>
          <a:xfrm>
            <a:off x="1737360" y="2798064"/>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5 %</a:t>
            </a:r>
            <a:endParaRPr lang="en-US" sz="1200" dirty="0"/>
          </a:p>
        </p:txBody>
      </p:sp>
      <p:sp>
        <p:nvSpPr>
          <p:cNvPr id="30" name="Shape 27"/>
          <p:cNvSpPr/>
          <p:nvPr/>
        </p:nvSpPr>
        <p:spPr>
          <a:xfrm>
            <a:off x="2788920" y="2825496"/>
            <a:ext cx="969264" cy="365760"/>
          </a:xfrm>
          <a:prstGeom prst="roundRect">
            <a:avLst>
              <a:gd name="adj" fmla="val 10000"/>
            </a:avLst>
          </a:prstGeom>
          <a:solidFill>
            <a:srgbClr val="2F6B61"/>
          </a:solidFill>
          <a:ln/>
        </p:spPr>
      </p:sp>
      <p:sp>
        <p:nvSpPr>
          <p:cNvPr id="31" name="Text 28"/>
          <p:cNvSpPr txBox="1"/>
          <p:nvPr/>
        </p:nvSpPr>
        <p:spPr>
          <a:xfrm>
            <a:off x="2761488" y="2798064"/>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14 %</a:t>
            </a:r>
            <a:endParaRPr lang="en-US" sz="1200" dirty="0"/>
          </a:p>
        </p:txBody>
      </p:sp>
      <p:sp>
        <p:nvSpPr>
          <p:cNvPr id="32" name="Shape 29"/>
          <p:cNvSpPr/>
          <p:nvPr/>
        </p:nvSpPr>
        <p:spPr>
          <a:xfrm>
            <a:off x="3813048" y="2825496"/>
            <a:ext cx="969264" cy="365760"/>
          </a:xfrm>
          <a:prstGeom prst="roundRect">
            <a:avLst>
              <a:gd name="adj" fmla="val 10000"/>
            </a:avLst>
          </a:prstGeom>
          <a:solidFill>
            <a:srgbClr val="6B6A3A"/>
          </a:solidFill>
          <a:ln/>
        </p:spPr>
      </p:sp>
      <p:sp>
        <p:nvSpPr>
          <p:cNvPr id="33" name="Text 30"/>
          <p:cNvSpPr txBox="1"/>
          <p:nvPr/>
        </p:nvSpPr>
        <p:spPr>
          <a:xfrm>
            <a:off x="3785616" y="2798064"/>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23 %</a:t>
            </a:r>
            <a:endParaRPr lang="en-US" sz="1200" dirty="0"/>
          </a:p>
        </p:txBody>
      </p:sp>
      <p:sp>
        <p:nvSpPr>
          <p:cNvPr id="34" name="Shape 31"/>
          <p:cNvSpPr/>
          <p:nvPr/>
        </p:nvSpPr>
        <p:spPr>
          <a:xfrm>
            <a:off x="4837176" y="2825496"/>
            <a:ext cx="969264" cy="365760"/>
          </a:xfrm>
          <a:prstGeom prst="roundRect">
            <a:avLst>
              <a:gd name="adj" fmla="val 10000"/>
            </a:avLst>
          </a:prstGeom>
          <a:solidFill>
            <a:srgbClr val="7A4B35"/>
          </a:solidFill>
          <a:ln/>
        </p:spPr>
      </p:sp>
      <p:sp>
        <p:nvSpPr>
          <p:cNvPr id="35" name="Text 32"/>
          <p:cNvSpPr txBox="1"/>
          <p:nvPr/>
        </p:nvSpPr>
        <p:spPr>
          <a:xfrm>
            <a:off x="4809744" y="2798064"/>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32 %</a:t>
            </a:r>
            <a:endParaRPr lang="en-US" sz="1200" dirty="0"/>
          </a:p>
        </p:txBody>
      </p:sp>
      <p:sp>
        <p:nvSpPr>
          <p:cNvPr id="36" name="Shape 33"/>
          <p:cNvSpPr/>
          <p:nvPr/>
        </p:nvSpPr>
        <p:spPr>
          <a:xfrm>
            <a:off x="5861304" y="2825496"/>
            <a:ext cx="969264" cy="365760"/>
          </a:xfrm>
          <a:prstGeom prst="roundRect">
            <a:avLst>
              <a:gd name="adj" fmla="val 10000"/>
            </a:avLst>
          </a:prstGeom>
          <a:solidFill>
            <a:srgbClr val="7A4B35"/>
          </a:solidFill>
          <a:ln/>
        </p:spPr>
      </p:sp>
      <p:sp>
        <p:nvSpPr>
          <p:cNvPr id="37" name="Text 34"/>
          <p:cNvSpPr txBox="1"/>
          <p:nvPr/>
        </p:nvSpPr>
        <p:spPr>
          <a:xfrm>
            <a:off x="5833872" y="2798064"/>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41 %</a:t>
            </a:r>
            <a:endParaRPr lang="en-US" sz="1200" dirty="0"/>
          </a:p>
        </p:txBody>
      </p:sp>
      <p:sp>
        <p:nvSpPr>
          <p:cNvPr id="38" name="Text 35"/>
          <p:cNvSpPr txBox="1"/>
          <p:nvPr/>
        </p:nvSpPr>
        <p:spPr>
          <a:xfrm>
            <a:off x="502920" y="3218688"/>
            <a:ext cx="1188720" cy="420624"/>
          </a:xfrm>
          <a:prstGeom prst="rect">
            <a:avLst/>
          </a:prstGeom>
          <a:noFill/>
          <a:ln/>
        </p:spPr>
        <p:txBody>
          <a:bodyPr wrap="square" lIns="0" tIns="0" rIns="0" bIns="0" rtlCol="0" anchor="ctr"/>
          <a:lstStyle/>
          <a:p>
            <a:pPr algn="r" indent="0" marL="0">
              <a:buNone/>
            </a:pPr>
            <a:r>
              <a:rPr lang="en-US" sz="1050" b="1" dirty="0">
                <a:solidFill>
                  <a:srgbClr val="8E9C9B"/>
                </a:solidFill>
                <a:latin typeface="Calibri" pitchFamily="34" charset="0"/>
                <a:ea typeface="Calibri" pitchFamily="34" charset="-122"/>
                <a:cs typeface="Calibri" pitchFamily="34" charset="-120"/>
              </a:rPr>
              <a:t>25 % EBITDA</a:t>
            </a:r>
            <a:endParaRPr lang="en-US" sz="1050" dirty="0"/>
          </a:p>
        </p:txBody>
      </p:sp>
      <p:sp>
        <p:nvSpPr>
          <p:cNvPr id="39" name="Shape 36"/>
          <p:cNvSpPr/>
          <p:nvPr/>
        </p:nvSpPr>
        <p:spPr>
          <a:xfrm>
            <a:off x="1764792" y="3246120"/>
            <a:ext cx="969264" cy="365760"/>
          </a:xfrm>
          <a:prstGeom prst="roundRect">
            <a:avLst>
              <a:gd name="adj" fmla="val 10000"/>
            </a:avLst>
          </a:prstGeom>
          <a:solidFill>
            <a:srgbClr val="2F6B61"/>
          </a:solidFill>
          <a:ln/>
        </p:spPr>
      </p:sp>
      <p:sp>
        <p:nvSpPr>
          <p:cNvPr id="40" name="Text 37"/>
          <p:cNvSpPr txBox="1"/>
          <p:nvPr/>
        </p:nvSpPr>
        <p:spPr>
          <a:xfrm>
            <a:off x="1737360" y="3218688"/>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10 %</a:t>
            </a:r>
            <a:endParaRPr lang="en-US" sz="1200" dirty="0"/>
          </a:p>
        </p:txBody>
      </p:sp>
      <p:sp>
        <p:nvSpPr>
          <p:cNvPr id="41" name="Shape 38"/>
          <p:cNvSpPr/>
          <p:nvPr/>
        </p:nvSpPr>
        <p:spPr>
          <a:xfrm>
            <a:off x="2788920" y="3246120"/>
            <a:ext cx="969264" cy="365760"/>
          </a:xfrm>
          <a:prstGeom prst="roundRect">
            <a:avLst>
              <a:gd name="adj" fmla="val 10000"/>
            </a:avLst>
          </a:prstGeom>
          <a:solidFill>
            <a:srgbClr val="6B6A3A"/>
          </a:solidFill>
          <a:ln/>
        </p:spPr>
      </p:sp>
      <p:sp>
        <p:nvSpPr>
          <p:cNvPr id="42" name="Text 39"/>
          <p:cNvSpPr txBox="1"/>
          <p:nvPr/>
        </p:nvSpPr>
        <p:spPr>
          <a:xfrm>
            <a:off x="2761488" y="3218688"/>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19 %</a:t>
            </a:r>
            <a:endParaRPr lang="en-US" sz="1200" dirty="0"/>
          </a:p>
        </p:txBody>
      </p:sp>
      <p:sp>
        <p:nvSpPr>
          <p:cNvPr id="43" name="Shape 40"/>
          <p:cNvSpPr/>
          <p:nvPr/>
        </p:nvSpPr>
        <p:spPr>
          <a:xfrm>
            <a:off x="3813048" y="3246120"/>
            <a:ext cx="969264" cy="365760"/>
          </a:xfrm>
          <a:prstGeom prst="roundRect">
            <a:avLst>
              <a:gd name="adj" fmla="val 10000"/>
            </a:avLst>
          </a:prstGeom>
          <a:solidFill>
            <a:srgbClr val="6B6A3A"/>
          </a:solidFill>
          <a:ln/>
        </p:spPr>
      </p:sp>
      <p:sp>
        <p:nvSpPr>
          <p:cNvPr id="44" name="Text 41"/>
          <p:cNvSpPr txBox="1"/>
          <p:nvPr/>
        </p:nvSpPr>
        <p:spPr>
          <a:xfrm>
            <a:off x="3785616" y="3218688"/>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28 %</a:t>
            </a:r>
            <a:endParaRPr lang="en-US" sz="1200" dirty="0"/>
          </a:p>
        </p:txBody>
      </p:sp>
      <p:sp>
        <p:nvSpPr>
          <p:cNvPr id="45" name="Shape 42"/>
          <p:cNvSpPr/>
          <p:nvPr/>
        </p:nvSpPr>
        <p:spPr>
          <a:xfrm>
            <a:off x="4837176" y="3246120"/>
            <a:ext cx="969264" cy="365760"/>
          </a:xfrm>
          <a:prstGeom prst="roundRect">
            <a:avLst>
              <a:gd name="adj" fmla="val 10000"/>
            </a:avLst>
          </a:prstGeom>
          <a:solidFill>
            <a:srgbClr val="7A4B35"/>
          </a:solidFill>
          <a:ln/>
        </p:spPr>
      </p:sp>
      <p:sp>
        <p:nvSpPr>
          <p:cNvPr id="46" name="Text 43"/>
          <p:cNvSpPr txBox="1"/>
          <p:nvPr/>
        </p:nvSpPr>
        <p:spPr>
          <a:xfrm>
            <a:off x="4809744" y="3218688"/>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37 %</a:t>
            </a:r>
            <a:endParaRPr lang="en-US" sz="1200" dirty="0"/>
          </a:p>
        </p:txBody>
      </p:sp>
      <p:sp>
        <p:nvSpPr>
          <p:cNvPr id="47" name="Shape 44"/>
          <p:cNvSpPr/>
          <p:nvPr/>
        </p:nvSpPr>
        <p:spPr>
          <a:xfrm>
            <a:off x="5861304" y="3246120"/>
            <a:ext cx="969264" cy="365760"/>
          </a:xfrm>
          <a:prstGeom prst="roundRect">
            <a:avLst>
              <a:gd name="adj" fmla="val 10000"/>
            </a:avLst>
          </a:prstGeom>
          <a:solidFill>
            <a:srgbClr val="7A4B35"/>
          </a:solidFill>
          <a:ln/>
        </p:spPr>
      </p:sp>
      <p:sp>
        <p:nvSpPr>
          <p:cNvPr id="48" name="Text 45"/>
          <p:cNvSpPr txBox="1"/>
          <p:nvPr/>
        </p:nvSpPr>
        <p:spPr>
          <a:xfrm>
            <a:off x="5833872" y="3218688"/>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46 %</a:t>
            </a:r>
            <a:endParaRPr lang="en-US" sz="1200" dirty="0"/>
          </a:p>
        </p:txBody>
      </p:sp>
      <p:sp>
        <p:nvSpPr>
          <p:cNvPr id="49" name="Text 46"/>
          <p:cNvSpPr txBox="1"/>
          <p:nvPr/>
        </p:nvSpPr>
        <p:spPr>
          <a:xfrm>
            <a:off x="502920" y="3639312"/>
            <a:ext cx="1188720" cy="420624"/>
          </a:xfrm>
          <a:prstGeom prst="rect">
            <a:avLst/>
          </a:prstGeom>
          <a:noFill/>
          <a:ln/>
        </p:spPr>
        <p:txBody>
          <a:bodyPr wrap="square" lIns="0" tIns="0" rIns="0" bIns="0" rtlCol="0" anchor="ctr"/>
          <a:lstStyle/>
          <a:p>
            <a:pPr algn="r" indent="0" marL="0">
              <a:buNone/>
            </a:pPr>
            <a:r>
              <a:rPr lang="en-US" sz="1050" b="1" dirty="0">
                <a:solidFill>
                  <a:srgbClr val="8E9C9B"/>
                </a:solidFill>
                <a:latin typeface="Calibri" pitchFamily="34" charset="0"/>
                <a:ea typeface="Calibri" pitchFamily="34" charset="-122"/>
                <a:cs typeface="Calibri" pitchFamily="34" charset="-120"/>
              </a:rPr>
              <a:t>30 % EBITDA</a:t>
            </a:r>
            <a:endParaRPr lang="en-US" sz="1050" dirty="0"/>
          </a:p>
        </p:txBody>
      </p:sp>
      <p:sp>
        <p:nvSpPr>
          <p:cNvPr id="50" name="Shape 47"/>
          <p:cNvSpPr/>
          <p:nvPr/>
        </p:nvSpPr>
        <p:spPr>
          <a:xfrm>
            <a:off x="1764792" y="3666744"/>
            <a:ext cx="969264" cy="365760"/>
          </a:xfrm>
          <a:prstGeom prst="roundRect">
            <a:avLst>
              <a:gd name="adj" fmla="val 10000"/>
            </a:avLst>
          </a:prstGeom>
          <a:solidFill>
            <a:srgbClr val="6B6A3A"/>
          </a:solidFill>
          <a:ln/>
        </p:spPr>
      </p:sp>
      <p:sp>
        <p:nvSpPr>
          <p:cNvPr id="51" name="Text 48"/>
          <p:cNvSpPr txBox="1"/>
          <p:nvPr/>
        </p:nvSpPr>
        <p:spPr>
          <a:xfrm>
            <a:off x="1737360" y="3639312"/>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15 %</a:t>
            </a:r>
            <a:endParaRPr lang="en-US" sz="1200" dirty="0"/>
          </a:p>
        </p:txBody>
      </p:sp>
      <p:sp>
        <p:nvSpPr>
          <p:cNvPr id="52" name="Shape 49"/>
          <p:cNvSpPr/>
          <p:nvPr/>
        </p:nvSpPr>
        <p:spPr>
          <a:xfrm>
            <a:off x="2788920" y="3666744"/>
            <a:ext cx="969264" cy="365760"/>
          </a:xfrm>
          <a:prstGeom prst="roundRect">
            <a:avLst>
              <a:gd name="adj" fmla="val 10000"/>
            </a:avLst>
          </a:prstGeom>
          <a:solidFill>
            <a:srgbClr val="6B6A3A"/>
          </a:solidFill>
          <a:ln/>
        </p:spPr>
      </p:sp>
      <p:sp>
        <p:nvSpPr>
          <p:cNvPr id="53" name="Text 50"/>
          <p:cNvSpPr txBox="1"/>
          <p:nvPr/>
        </p:nvSpPr>
        <p:spPr>
          <a:xfrm>
            <a:off x="2761488" y="3639312"/>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24 %</a:t>
            </a:r>
            <a:endParaRPr lang="en-US" sz="1200" dirty="0"/>
          </a:p>
        </p:txBody>
      </p:sp>
      <p:sp>
        <p:nvSpPr>
          <p:cNvPr id="54" name="Shape 51"/>
          <p:cNvSpPr/>
          <p:nvPr/>
        </p:nvSpPr>
        <p:spPr>
          <a:xfrm>
            <a:off x="3813048" y="3666744"/>
            <a:ext cx="969264" cy="365760"/>
          </a:xfrm>
          <a:prstGeom prst="roundRect">
            <a:avLst>
              <a:gd name="adj" fmla="val 10000"/>
            </a:avLst>
          </a:prstGeom>
          <a:solidFill>
            <a:srgbClr val="7A4B35"/>
          </a:solidFill>
          <a:ln/>
        </p:spPr>
      </p:sp>
      <p:sp>
        <p:nvSpPr>
          <p:cNvPr id="55" name="Text 52"/>
          <p:cNvSpPr txBox="1"/>
          <p:nvPr/>
        </p:nvSpPr>
        <p:spPr>
          <a:xfrm>
            <a:off x="3785616" y="3639312"/>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33 %</a:t>
            </a:r>
            <a:endParaRPr lang="en-US" sz="1200" dirty="0"/>
          </a:p>
        </p:txBody>
      </p:sp>
      <p:sp>
        <p:nvSpPr>
          <p:cNvPr id="56" name="Shape 53"/>
          <p:cNvSpPr/>
          <p:nvPr/>
        </p:nvSpPr>
        <p:spPr>
          <a:xfrm>
            <a:off x="4837176" y="3666744"/>
            <a:ext cx="969264" cy="365760"/>
          </a:xfrm>
          <a:prstGeom prst="roundRect">
            <a:avLst>
              <a:gd name="adj" fmla="val 10000"/>
            </a:avLst>
          </a:prstGeom>
          <a:solidFill>
            <a:srgbClr val="7A4B35"/>
          </a:solidFill>
          <a:ln/>
        </p:spPr>
      </p:sp>
      <p:sp>
        <p:nvSpPr>
          <p:cNvPr id="57" name="Text 54"/>
          <p:cNvSpPr txBox="1"/>
          <p:nvPr/>
        </p:nvSpPr>
        <p:spPr>
          <a:xfrm>
            <a:off x="4809744" y="3639312"/>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42 %</a:t>
            </a:r>
            <a:endParaRPr lang="en-US" sz="1200" dirty="0"/>
          </a:p>
        </p:txBody>
      </p:sp>
      <p:sp>
        <p:nvSpPr>
          <p:cNvPr id="58" name="Shape 55"/>
          <p:cNvSpPr/>
          <p:nvPr/>
        </p:nvSpPr>
        <p:spPr>
          <a:xfrm>
            <a:off x="5861304" y="3666744"/>
            <a:ext cx="969264" cy="365760"/>
          </a:xfrm>
          <a:prstGeom prst="roundRect">
            <a:avLst>
              <a:gd name="adj" fmla="val 10000"/>
            </a:avLst>
          </a:prstGeom>
          <a:solidFill>
            <a:srgbClr val="7A3434"/>
          </a:solidFill>
          <a:ln/>
        </p:spPr>
      </p:sp>
      <p:sp>
        <p:nvSpPr>
          <p:cNvPr id="59" name="Text 56"/>
          <p:cNvSpPr txBox="1"/>
          <p:nvPr/>
        </p:nvSpPr>
        <p:spPr>
          <a:xfrm>
            <a:off x="5833872" y="3639312"/>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51 %</a:t>
            </a:r>
            <a:endParaRPr lang="en-US" sz="1200" dirty="0"/>
          </a:p>
        </p:txBody>
      </p:sp>
      <p:sp>
        <p:nvSpPr>
          <p:cNvPr id="60" name="Text 57"/>
          <p:cNvSpPr txBox="1"/>
          <p:nvPr/>
        </p:nvSpPr>
        <p:spPr>
          <a:xfrm>
            <a:off x="502920" y="4059936"/>
            <a:ext cx="1188720" cy="420624"/>
          </a:xfrm>
          <a:prstGeom prst="rect">
            <a:avLst/>
          </a:prstGeom>
          <a:noFill/>
          <a:ln/>
        </p:spPr>
        <p:txBody>
          <a:bodyPr wrap="square" lIns="0" tIns="0" rIns="0" bIns="0" rtlCol="0" anchor="ctr"/>
          <a:lstStyle/>
          <a:p>
            <a:pPr algn="r" indent="0" marL="0">
              <a:buNone/>
            </a:pPr>
            <a:r>
              <a:rPr lang="en-US" sz="1050" b="1" dirty="0">
                <a:solidFill>
                  <a:srgbClr val="8E9C9B"/>
                </a:solidFill>
                <a:latin typeface="Calibri" pitchFamily="34" charset="0"/>
                <a:ea typeface="Calibri" pitchFamily="34" charset="-122"/>
                <a:cs typeface="Calibri" pitchFamily="34" charset="-120"/>
              </a:rPr>
              <a:t>40 % EBITDA</a:t>
            </a:r>
            <a:endParaRPr lang="en-US" sz="1050" dirty="0"/>
          </a:p>
        </p:txBody>
      </p:sp>
      <p:sp>
        <p:nvSpPr>
          <p:cNvPr id="61" name="Shape 58"/>
          <p:cNvSpPr/>
          <p:nvPr/>
        </p:nvSpPr>
        <p:spPr>
          <a:xfrm>
            <a:off x="1764792" y="4087368"/>
            <a:ext cx="969264" cy="365760"/>
          </a:xfrm>
          <a:prstGeom prst="roundRect">
            <a:avLst>
              <a:gd name="adj" fmla="val 10000"/>
            </a:avLst>
          </a:prstGeom>
          <a:solidFill>
            <a:srgbClr val="6B6A3A"/>
          </a:solidFill>
          <a:ln/>
        </p:spPr>
      </p:sp>
      <p:sp>
        <p:nvSpPr>
          <p:cNvPr id="62" name="Text 59"/>
          <p:cNvSpPr txBox="1"/>
          <p:nvPr/>
        </p:nvSpPr>
        <p:spPr>
          <a:xfrm>
            <a:off x="1737360" y="4059936"/>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25 %</a:t>
            </a:r>
            <a:endParaRPr lang="en-US" sz="1200" dirty="0"/>
          </a:p>
        </p:txBody>
      </p:sp>
      <p:sp>
        <p:nvSpPr>
          <p:cNvPr id="63" name="Shape 60"/>
          <p:cNvSpPr/>
          <p:nvPr/>
        </p:nvSpPr>
        <p:spPr>
          <a:xfrm>
            <a:off x="2788920" y="4087368"/>
            <a:ext cx="969264" cy="365760"/>
          </a:xfrm>
          <a:prstGeom prst="roundRect">
            <a:avLst>
              <a:gd name="adj" fmla="val 10000"/>
            </a:avLst>
          </a:prstGeom>
          <a:solidFill>
            <a:srgbClr val="7A4B35"/>
          </a:solidFill>
          <a:ln/>
        </p:spPr>
      </p:sp>
      <p:sp>
        <p:nvSpPr>
          <p:cNvPr id="64" name="Text 61"/>
          <p:cNvSpPr txBox="1"/>
          <p:nvPr/>
        </p:nvSpPr>
        <p:spPr>
          <a:xfrm>
            <a:off x="2761488" y="4059936"/>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34 %</a:t>
            </a:r>
            <a:endParaRPr lang="en-US" sz="1200" dirty="0"/>
          </a:p>
        </p:txBody>
      </p:sp>
      <p:sp>
        <p:nvSpPr>
          <p:cNvPr id="65" name="Shape 62"/>
          <p:cNvSpPr/>
          <p:nvPr/>
        </p:nvSpPr>
        <p:spPr>
          <a:xfrm>
            <a:off x="3813048" y="4087368"/>
            <a:ext cx="969264" cy="365760"/>
          </a:xfrm>
          <a:prstGeom prst="roundRect">
            <a:avLst>
              <a:gd name="adj" fmla="val 10000"/>
            </a:avLst>
          </a:prstGeom>
          <a:solidFill>
            <a:srgbClr val="7A4B35"/>
          </a:solidFill>
          <a:ln/>
        </p:spPr>
      </p:sp>
      <p:sp>
        <p:nvSpPr>
          <p:cNvPr id="66" name="Text 63"/>
          <p:cNvSpPr txBox="1"/>
          <p:nvPr/>
        </p:nvSpPr>
        <p:spPr>
          <a:xfrm>
            <a:off x="3785616" y="4059936"/>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43 %</a:t>
            </a:r>
            <a:endParaRPr lang="en-US" sz="1200" dirty="0"/>
          </a:p>
        </p:txBody>
      </p:sp>
      <p:sp>
        <p:nvSpPr>
          <p:cNvPr id="67" name="Shape 64"/>
          <p:cNvSpPr/>
          <p:nvPr/>
        </p:nvSpPr>
        <p:spPr>
          <a:xfrm>
            <a:off x="4837176" y="4087368"/>
            <a:ext cx="969264" cy="365760"/>
          </a:xfrm>
          <a:prstGeom prst="roundRect">
            <a:avLst>
              <a:gd name="adj" fmla="val 10000"/>
            </a:avLst>
          </a:prstGeom>
          <a:solidFill>
            <a:srgbClr val="7A3434"/>
          </a:solidFill>
          <a:ln/>
        </p:spPr>
      </p:sp>
      <p:sp>
        <p:nvSpPr>
          <p:cNvPr id="68" name="Text 65"/>
          <p:cNvSpPr txBox="1"/>
          <p:nvPr/>
        </p:nvSpPr>
        <p:spPr>
          <a:xfrm>
            <a:off x="4809744" y="4059936"/>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52 %</a:t>
            </a:r>
            <a:endParaRPr lang="en-US" sz="1200" dirty="0"/>
          </a:p>
        </p:txBody>
      </p:sp>
      <p:sp>
        <p:nvSpPr>
          <p:cNvPr id="69" name="Shape 66"/>
          <p:cNvSpPr/>
          <p:nvPr/>
        </p:nvSpPr>
        <p:spPr>
          <a:xfrm>
            <a:off x="5861304" y="4087368"/>
            <a:ext cx="969264" cy="365760"/>
          </a:xfrm>
          <a:prstGeom prst="roundRect">
            <a:avLst>
              <a:gd name="adj" fmla="val 10000"/>
            </a:avLst>
          </a:prstGeom>
          <a:solidFill>
            <a:srgbClr val="7A3434"/>
          </a:solidFill>
          <a:ln/>
        </p:spPr>
      </p:sp>
      <p:sp>
        <p:nvSpPr>
          <p:cNvPr id="70" name="Text 67"/>
          <p:cNvSpPr txBox="1"/>
          <p:nvPr/>
        </p:nvSpPr>
        <p:spPr>
          <a:xfrm>
            <a:off x="5833872" y="4059936"/>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61 %</a:t>
            </a:r>
            <a:endParaRPr lang="en-US" sz="1200" dirty="0"/>
          </a:p>
        </p:txBody>
      </p:sp>
      <p:sp>
        <p:nvSpPr>
          <p:cNvPr id="71" name="Text 68"/>
          <p:cNvSpPr txBox="1"/>
          <p:nvPr/>
        </p:nvSpPr>
        <p:spPr>
          <a:xfrm>
            <a:off x="502920" y="4480560"/>
            <a:ext cx="1188720" cy="420624"/>
          </a:xfrm>
          <a:prstGeom prst="rect">
            <a:avLst/>
          </a:prstGeom>
          <a:noFill/>
          <a:ln/>
        </p:spPr>
        <p:txBody>
          <a:bodyPr wrap="square" lIns="0" tIns="0" rIns="0" bIns="0" rtlCol="0" anchor="ctr"/>
          <a:lstStyle/>
          <a:p>
            <a:pPr algn="r" indent="0" marL="0">
              <a:buNone/>
            </a:pPr>
            <a:r>
              <a:rPr lang="en-US" sz="1050" b="1" dirty="0">
                <a:solidFill>
                  <a:srgbClr val="8E9C9B"/>
                </a:solidFill>
                <a:latin typeface="Calibri" pitchFamily="34" charset="0"/>
                <a:ea typeface="Calibri" pitchFamily="34" charset="-122"/>
                <a:cs typeface="Calibri" pitchFamily="34" charset="-120"/>
              </a:rPr>
              <a:t>50 % EBITDA</a:t>
            </a:r>
            <a:endParaRPr lang="en-US" sz="1050" dirty="0"/>
          </a:p>
        </p:txBody>
      </p:sp>
      <p:sp>
        <p:nvSpPr>
          <p:cNvPr id="72" name="Shape 69"/>
          <p:cNvSpPr/>
          <p:nvPr/>
        </p:nvSpPr>
        <p:spPr>
          <a:xfrm>
            <a:off x="1764792" y="4507992"/>
            <a:ext cx="969264" cy="365760"/>
          </a:xfrm>
          <a:prstGeom prst="roundRect">
            <a:avLst>
              <a:gd name="adj" fmla="val 10000"/>
            </a:avLst>
          </a:prstGeom>
          <a:solidFill>
            <a:srgbClr val="7A4B35"/>
          </a:solidFill>
          <a:ln/>
        </p:spPr>
      </p:sp>
      <p:sp>
        <p:nvSpPr>
          <p:cNvPr id="73" name="Text 70"/>
          <p:cNvSpPr txBox="1"/>
          <p:nvPr/>
        </p:nvSpPr>
        <p:spPr>
          <a:xfrm>
            <a:off x="1737360" y="4480560"/>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35 %</a:t>
            </a:r>
            <a:endParaRPr lang="en-US" sz="1200" dirty="0"/>
          </a:p>
        </p:txBody>
      </p:sp>
      <p:sp>
        <p:nvSpPr>
          <p:cNvPr id="74" name="Shape 71"/>
          <p:cNvSpPr/>
          <p:nvPr/>
        </p:nvSpPr>
        <p:spPr>
          <a:xfrm>
            <a:off x="2788920" y="4507992"/>
            <a:ext cx="969264" cy="365760"/>
          </a:xfrm>
          <a:prstGeom prst="roundRect">
            <a:avLst>
              <a:gd name="adj" fmla="val 10000"/>
            </a:avLst>
          </a:prstGeom>
          <a:solidFill>
            <a:srgbClr val="7A4B35"/>
          </a:solidFill>
          <a:ln/>
        </p:spPr>
      </p:sp>
      <p:sp>
        <p:nvSpPr>
          <p:cNvPr id="75" name="Text 72"/>
          <p:cNvSpPr txBox="1"/>
          <p:nvPr/>
        </p:nvSpPr>
        <p:spPr>
          <a:xfrm>
            <a:off x="2761488" y="4480560"/>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44 %</a:t>
            </a:r>
            <a:endParaRPr lang="en-US" sz="1200" dirty="0"/>
          </a:p>
        </p:txBody>
      </p:sp>
      <p:sp>
        <p:nvSpPr>
          <p:cNvPr id="76" name="Shape 73"/>
          <p:cNvSpPr/>
          <p:nvPr/>
        </p:nvSpPr>
        <p:spPr>
          <a:xfrm>
            <a:off x="3813048" y="4507992"/>
            <a:ext cx="969264" cy="365760"/>
          </a:xfrm>
          <a:prstGeom prst="roundRect">
            <a:avLst>
              <a:gd name="adj" fmla="val 10000"/>
            </a:avLst>
          </a:prstGeom>
          <a:solidFill>
            <a:srgbClr val="7A3434"/>
          </a:solidFill>
          <a:ln/>
        </p:spPr>
      </p:sp>
      <p:sp>
        <p:nvSpPr>
          <p:cNvPr id="77" name="Text 74"/>
          <p:cNvSpPr txBox="1"/>
          <p:nvPr/>
        </p:nvSpPr>
        <p:spPr>
          <a:xfrm>
            <a:off x="3785616" y="4480560"/>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53 %</a:t>
            </a:r>
            <a:endParaRPr lang="en-US" sz="1200" dirty="0"/>
          </a:p>
        </p:txBody>
      </p:sp>
      <p:sp>
        <p:nvSpPr>
          <p:cNvPr id="78" name="Shape 75"/>
          <p:cNvSpPr/>
          <p:nvPr/>
        </p:nvSpPr>
        <p:spPr>
          <a:xfrm>
            <a:off x="4837176" y="4507992"/>
            <a:ext cx="969264" cy="365760"/>
          </a:xfrm>
          <a:prstGeom prst="roundRect">
            <a:avLst>
              <a:gd name="adj" fmla="val 10000"/>
            </a:avLst>
          </a:prstGeom>
          <a:solidFill>
            <a:srgbClr val="7A3434"/>
          </a:solidFill>
          <a:ln/>
        </p:spPr>
      </p:sp>
      <p:sp>
        <p:nvSpPr>
          <p:cNvPr id="79" name="Text 76"/>
          <p:cNvSpPr txBox="1"/>
          <p:nvPr/>
        </p:nvSpPr>
        <p:spPr>
          <a:xfrm>
            <a:off x="4809744" y="4480560"/>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62 %</a:t>
            </a:r>
            <a:endParaRPr lang="en-US" sz="1200" dirty="0"/>
          </a:p>
        </p:txBody>
      </p:sp>
      <p:sp>
        <p:nvSpPr>
          <p:cNvPr id="80" name="Shape 77"/>
          <p:cNvSpPr/>
          <p:nvPr/>
        </p:nvSpPr>
        <p:spPr>
          <a:xfrm>
            <a:off x="5861304" y="4507992"/>
            <a:ext cx="969264" cy="365760"/>
          </a:xfrm>
          <a:prstGeom prst="roundRect">
            <a:avLst>
              <a:gd name="adj" fmla="val 10000"/>
            </a:avLst>
          </a:prstGeom>
          <a:solidFill>
            <a:srgbClr val="7A3434"/>
          </a:solidFill>
          <a:ln/>
        </p:spPr>
      </p:sp>
      <p:sp>
        <p:nvSpPr>
          <p:cNvPr id="81" name="Text 78"/>
          <p:cNvSpPr txBox="1"/>
          <p:nvPr/>
        </p:nvSpPr>
        <p:spPr>
          <a:xfrm>
            <a:off x="5833872" y="4480560"/>
            <a:ext cx="1024128" cy="420624"/>
          </a:xfrm>
          <a:prstGeom prst="rect">
            <a:avLst/>
          </a:prstGeom>
          <a:noFill/>
          <a:ln/>
        </p:spPr>
        <p:txBody>
          <a:bodyPr wrap="square" lIns="0" tIns="0" rIns="0" bIns="0" rtlCol="0" anchor="ctr"/>
          <a:lstStyle/>
          <a:p>
            <a:pPr algn="ctr" indent="0" marL="0">
              <a:buNone/>
            </a:pPr>
            <a:r>
              <a:rPr lang="en-US" sz="1200" b="1" dirty="0">
                <a:solidFill>
                  <a:srgbClr val="EDF1EE"/>
                </a:solidFill>
                <a:latin typeface="Calibri" pitchFamily="34" charset="0"/>
                <a:ea typeface="Calibri" pitchFamily="34" charset="-122"/>
                <a:cs typeface="Calibri" pitchFamily="34" charset="-120"/>
              </a:rPr>
              <a:t>71 %</a:t>
            </a:r>
            <a:endParaRPr lang="en-US" sz="1200" dirty="0"/>
          </a:p>
        </p:txBody>
      </p:sp>
      <p:sp>
        <p:nvSpPr>
          <p:cNvPr id="82" name="Text 79"/>
          <p:cNvSpPr txBox="1"/>
          <p:nvPr/>
        </p:nvSpPr>
        <p:spPr>
          <a:xfrm>
            <a:off x="502920" y="1828800"/>
            <a:ext cx="1188720" cy="228600"/>
          </a:xfrm>
          <a:prstGeom prst="rect">
            <a:avLst/>
          </a:prstGeom>
          <a:noFill/>
          <a:ln/>
        </p:spPr>
        <p:txBody>
          <a:bodyPr wrap="square" lIns="0" tIns="0" rIns="0" bIns="0" rtlCol="0" anchor="t"/>
          <a:lstStyle/>
          <a:p>
            <a:pPr algn="r" indent="0" marL="0">
              <a:buNone/>
            </a:pPr>
            <a:r>
              <a:rPr lang="en-US" sz="1050" dirty="0">
                <a:solidFill>
                  <a:srgbClr val="8E9C9B"/>
                </a:solidFill>
                <a:latin typeface="Calibri" pitchFamily="34" charset="0"/>
                <a:ea typeface="Calibri" pitchFamily="34" charset="-122"/>
                <a:cs typeface="Calibri" pitchFamily="34" charset="-120"/>
              </a:rPr>
              <a:t>Zielgröße ↓</a:t>
            </a:r>
            <a:endParaRPr lang="en-US" sz="1050" dirty="0"/>
          </a:p>
        </p:txBody>
      </p:sp>
      <p:sp>
        <p:nvSpPr>
          <p:cNvPr id="83" name="Text 80"/>
          <p:cNvSpPr txBox="1"/>
          <p:nvPr/>
        </p:nvSpPr>
        <p:spPr>
          <a:xfrm>
            <a:off x="502920" y="5074920"/>
            <a:ext cx="7315200" cy="1280160"/>
          </a:xfrm>
          <a:prstGeom prst="rect">
            <a:avLst/>
          </a:prstGeom>
          <a:noFill/>
          <a:ln/>
        </p:spPr>
        <p:txBody>
          <a:bodyPr wrap="square" lIns="0" tIns="0" rIns="0" bIns="0" rtlCol="0" anchor="t"/>
          <a:lstStyle/>
          <a:p>
            <a:pPr marL="177800" indent="-177800">
              <a:spcAft>
                <a:spcPts val="300"/>
              </a:spcAft>
              <a:buSzPct val="100000"/>
              <a:buChar char="•"/>
            </a:pPr>
            <a:r>
              <a:rPr lang="en-US" sz="1150" b="1" dirty="0">
                <a:solidFill>
                  <a:srgbClr val="DCB264"/>
                </a:solidFill>
                <a:latin typeface="Calibri" pitchFamily="34" charset="0"/>
                <a:ea typeface="Calibri" pitchFamily="34" charset="-122"/>
                <a:cs typeface="Calibri" pitchFamily="34" charset="-120"/>
              </a:rPr>
              <a:t>Preis: </a:t>
            </a:r>
            <a:pPr indent="0" marL="0">
              <a:buNone/>
            </a:pPr>
            <a:r>
              <a:rPr lang="en-US" sz="1150" dirty="0">
                <a:solidFill>
                  <a:srgbClr val="EDF1EE"/>
                </a:solidFill>
                <a:latin typeface="Calibri" pitchFamily="34" charset="0"/>
                <a:ea typeface="Calibri" pitchFamily="34" charset="-122"/>
                <a:cs typeface="Calibri" pitchFamily="34" charset="-120"/>
              </a:rPr>
              <a:t>Plattform-Multiple − Arbitrage; Arbitrage = Größenabschlag (bis 2,4 Turns, kleiner bei großen Zielen) − Markthitze − Konkurrenz</a:t>
            </a:r>
            <a:endParaRPr lang="en-US" sz="1150" dirty="0"/>
          </a:p>
          <a:p>
            <a:pPr marL="177800" indent="-177800">
              <a:spcAft>
                <a:spcPts val="300"/>
              </a:spcAft>
              <a:buSzPct val="100000"/>
              <a:buChar char="•"/>
            </a:pPr>
            <a:r>
              <a:rPr lang="en-US" sz="1150" b="1" dirty="0">
                <a:solidFill>
                  <a:srgbClr val="DCB264"/>
                </a:solidFill>
                <a:latin typeface="Calibri" pitchFamily="34" charset="0"/>
                <a:ea typeface="Calibri" pitchFamily="34" charset="-122"/>
                <a:cs typeface="Calibri" pitchFamily="34" charset="-120"/>
              </a:rPr>
              <a:t>Finanzierung: </a:t>
            </a:r>
            <a:pPr indent="0" marL="0">
              <a:buNone/>
            </a:pPr>
            <a:r>
              <a:rPr lang="en-US" sz="1150" dirty="0">
                <a:solidFill>
                  <a:srgbClr val="EDF1EE"/>
                </a:solidFill>
                <a:latin typeface="Calibri" pitchFamily="34" charset="0"/>
                <a:ea typeface="Calibri" pitchFamily="34" charset="-122"/>
                <a:cs typeface="Calibri" pitchFamily="34" charset="-120"/>
              </a:rPr>
              <a:t>Pro-forma-Leverage ≤ Covenant − 0,6; Rest optional als Eigenkapital aus dem Fonds</a:t>
            </a:r>
            <a:endParaRPr lang="en-US" sz="1150" dirty="0"/>
          </a:p>
          <a:p>
            <a:pPr marL="177800" indent="-177800">
              <a:spcAft>
                <a:spcPts val="300"/>
              </a:spcAft>
              <a:buSzPct val="100000"/>
              <a:buChar char="•"/>
            </a:pPr>
            <a:r>
              <a:rPr lang="en-US" sz="1150" b="1" dirty="0">
                <a:solidFill>
                  <a:srgbClr val="DCB264"/>
                </a:solidFill>
                <a:latin typeface="Calibri" pitchFamily="34" charset="0"/>
                <a:ea typeface="Calibri" pitchFamily="34" charset="-122"/>
                <a:cs typeface="Calibri" pitchFamily="34" charset="-120"/>
              </a:rPr>
              <a:t>Plattform: </a:t>
            </a:r>
            <a:pPr indent="0" marL="0">
              <a:buNone/>
            </a:pPr>
            <a:r>
              <a:rPr lang="en-US" sz="1150" dirty="0">
                <a:solidFill>
                  <a:srgbClr val="EDF1EE"/>
                </a:solidFill>
                <a:latin typeface="Calibri" pitchFamily="34" charset="0"/>
                <a:ea typeface="Calibri" pitchFamily="34" charset="-122"/>
                <a:cs typeface="Calibri" pitchFamily="34" charset="-120"/>
              </a:rPr>
              <a:t>Prozessreife −5 pp je Stufe über 2, Team −4,5 pp je Ratingpunkt, Leverage +6 pp je Turn über 3,0×</a:t>
            </a:r>
            <a:endParaRPr lang="en-US" sz="1150" dirty="0"/>
          </a:p>
          <a:p>
            <a:pPr marL="177800" indent="-177800">
              <a:spcAft>
                <a:spcPts val="300"/>
              </a:spcAft>
              <a:buSzPct val="100000"/>
              <a:buChar char="•"/>
            </a:pPr>
            <a:r>
              <a:rPr lang="en-US" sz="1150" b="1" dirty="0">
                <a:solidFill>
                  <a:srgbClr val="DCB264"/>
                </a:solidFill>
                <a:latin typeface="Calibri" pitchFamily="34" charset="0"/>
                <a:ea typeface="Calibri" pitchFamily="34" charset="-122"/>
                <a:cs typeface="Calibri" pitchFamily="34" charset="-120"/>
              </a:rPr>
              <a:t>Ergebnis: </a:t>
            </a:r>
            <a:pPr indent="0" marL="0">
              <a:buNone/>
            </a:pPr>
            <a:r>
              <a:rPr lang="en-US" sz="1150" dirty="0">
                <a:solidFill>
                  <a:srgbClr val="EDF1EE"/>
                </a:solidFill>
                <a:latin typeface="Calibri" pitchFamily="34" charset="0"/>
                <a:ea typeface="Calibri" pitchFamily="34" charset="-122"/>
                <a:cs typeface="Calibri" pitchFamily="34" charset="-120"/>
              </a:rPr>
              <a:t>Erfolg = EBITDA + Growth +1,0 · Scheitern = 35 % Umsatz, volle Schuld, Marge −1,8 pp, Qualität −7</a:t>
            </a:r>
            <a:endParaRPr lang="en-US" sz="1150" dirty="0"/>
          </a:p>
        </p:txBody>
      </p:sp>
      <p:pic>
        <p:nvPicPr>
          <p:cNvPr id="84" name="Image 0" descr="/tmp/claude-0/deck/img/addon_b.jpg">    </p:cNvPr>
          <p:cNvPicPr>
            <a:picLocks noChangeAspect="1"/>
          </p:cNvPicPr>
          <p:nvPr/>
        </p:nvPicPr>
        <p:blipFill>
          <a:blip r:embed="rId1"/>
          <a:stretch>
            <a:fillRect/>
          </a:stretch>
        </p:blipFill>
        <p:spPr>
          <a:xfrm>
            <a:off x="8656374" y="1600200"/>
            <a:ext cx="3029658" cy="4389120"/>
          </a:xfrm>
          <a:prstGeom prst="rect">
            <a:avLst/>
          </a:prstGeom>
        </p:spPr>
      </p:pic>
      <p:sp>
        <p:nvSpPr>
          <p:cNvPr id="85" name="Shape 81"/>
          <p:cNvSpPr/>
          <p:nvPr/>
        </p:nvSpPr>
        <p:spPr>
          <a:xfrm>
            <a:off x="8656374" y="1600200"/>
            <a:ext cx="3029658" cy="4389120"/>
          </a:xfrm>
          <a:prstGeom prst="rect">
            <a:avLst/>
          </a:prstGeom>
          <a:ln w="9525">
            <a:solidFill>
              <a:srgbClr val="33474B"/>
            </a:solidFill>
            <a:prstDash val="solid"/>
          </a:ln>
        </p:spPr>
      </p:sp>
      <p:sp>
        <p:nvSpPr>
          <p:cNvPr id="86" name="Text 82"/>
          <p:cNvSpPr txBox="1"/>
          <p:nvPr/>
        </p:nvSpPr>
        <p:spPr>
          <a:xfrm>
            <a:off x="8382054" y="6044184"/>
            <a:ext cx="3578298"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Add-on-Mandat im Maßnahmenkatalog</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5FC4B1"/>
                </a:solidFill>
                <a:latin typeface="Calibri" pitchFamily="34" charset="0"/>
                <a:ea typeface="Calibri" pitchFamily="34" charset="-122"/>
                <a:cs typeface="Calibri" pitchFamily="34" charset="-120"/>
              </a:rPr>
              <a:t>MULTIPLE</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Wie Qualität und Wachstum das Multiple bewegen</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5FC4B1"/>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5FC4B1"/>
                </a:solidFill>
                <a:latin typeface="Calibri" pitchFamily="34" charset="0"/>
                <a:ea typeface="Calibri" pitchFamily="34" charset="-122"/>
                <a:cs typeface="Calibri" pitchFamily="34" charset="-120"/>
              </a:rPr>
              <a:t>C · VALUE CREATION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30</a:t>
            </a:r>
            <a:endParaRPr lang="en-US" sz="900" dirty="0"/>
          </a:p>
        </p:txBody>
      </p:sp>
      <p:sp>
        <p:nvSpPr>
          <p:cNvPr id="9" name="Shape 6"/>
          <p:cNvSpPr/>
          <p:nvPr/>
        </p:nvSpPr>
        <p:spPr>
          <a:xfrm>
            <a:off x="502920" y="1600200"/>
            <a:ext cx="7406640" cy="777240"/>
          </a:xfrm>
          <a:prstGeom prst="roundRect">
            <a:avLst>
              <a:gd name="adj" fmla="val 9412"/>
            </a:avLst>
          </a:prstGeom>
          <a:solidFill>
            <a:srgbClr val="1C282B"/>
          </a:solidFill>
          <a:ln w="12700">
            <a:solidFill>
              <a:srgbClr val="DCB264"/>
            </a:solidFill>
            <a:prstDash val="solid"/>
          </a:ln>
        </p:spPr>
      </p:sp>
      <p:sp>
        <p:nvSpPr>
          <p:cNvPr id="10" name="Text 7"/>
          <p:cNvSpPr txBox="1"/>
          <p:nvPr/>
        </p:nvSpPr>
        <p:spPr>
          <a:xfrm>
            <a:off x="685800" y="1600200"/>
            <a:ext cx="7040880" cy="777240"/>
          </a:xfrm>
          <a:prstGeom prst="rect">
            <a:avLst/>
          </a:prstGeom>
          <a:noFill/>
          <a:ln/>
        </p:spPr>
        <p:txBody>
          <a:bodyPr wrap="square" lIns="0" tIns="0" rIns="0" bIns="0" rtlCol="0" anchor="ctr"/>
          <a:lstStyle/>
          <a:p>
            <a:pPr algn="ctr" indent="0" marL="0">
              <a:buNone/>
            </a:pPr>
            <a:r>
              <a:rPr lang="en-US" sz="1500" b="1" dirty="0">
                <a:solidFill>
                  <a:srgbClr val="DCB264"/>
                </a:solidFill>
                <a:latin typeface="Calibri" pitchFamily="34" charset="0"/>
                <a:ea typeface="Calibri" pitchFamily="34" charset="-122"/>
                <a:cs typeface="Calibri" pitchFamily="34" charset="-120"/>
              </a:rPr>
              <a:t>Multiple = Sektor-Multiple × (0,7 + 0,006 × Qualität) × (1 + Wachstumsprämie) × Altbestandsabschlag</a:t>
            </a:r>
            <a:endParaRPr lang="en-US" sz="1500" dirty="0"/>
          </a:p>
        </p:txBody>
      </p:sp>
      <p:sp>
        <p:nvSpPr>
          <p:cNvPr id="11" name="Shape 8"/>
          <p:cNvSpPr/>
          <p:nvPr/>
        </p:nvSpPr>
        <p:spPr>
          <a:xfrm>
            <a:off x="502920" y="2606040"/>
            <a:ext cx="3611880" cy="960120"/>
          </a:xfrm>
          <a:prstGeom prst="roundRect">
            <a:avLst>
              <a:gd name="adj" fmla="val 7619"/>
            </a:avLst>
          </a:prstGeom>
          <a:solidFill>
            <a:srgbClr val="161F22"/>
          </a:solidFill>
          <a:ln w="9525">
            <a:solidFill>
              <a:srgbClr val="3B82F6"/>
            </a:solidFill>
            <a:prstDash val="solid"/>
          </a:ln>
        </p:spPr>
      </p:sp>
      <p:sp>
        <p:nvSpPr>
          <p:cNvPr id="12" name="Text 9"/>
          <p:cNvSpPr txBox="1"/>
          <p:nvPr/>
        </p:nvSpPr>
        <p:spPr>
          <a:xfrm>
            <a:off x="667512" y="2679192"/>
            <a:ext cx="3291840" cy="320040"/>
          </a:xfrm>
          <a:prstGeom prst="rect">
            <a:avLst/>
          </a:prstGeom>
          <a:noFill/>
          <a:ln/>
        </p:spPr>
        <p:txBody>
          <a:bodyPr wrap="square" lIns="0" tIns="0" rIns="0" bIns="0" rtlCol="0" anchor="t"/>
          <a:lstStyle/>
          <a:p>
            <a:pPr algn="l" indent="0" marL="0">
              <a:buNone/>
            </a:pPr>
            <a:r>
              <a:rPr lang="en-US" sz="1400" b="1" dirty="0">
                <a:solidFill>
                  <a:srgbClr val="3B82F6"/>
                </a:solidFill>
                <a:latin typeface="Calibri" pitchFamily="34" charset="0"/>
                <a:ea typeface="Calibri" pitchFamily="34" charset="-122"/>
                <a:cs typeface="Calibri" pitchFamily="34" charset="-120"/>
              </a:rPr>
              <a:t>Sektor-Multiple</a:t>
            </a:r>
            <a:endParaRPr lang="en-US" sz="1400" dirty="0"/>
          </a:p>
        </p:txBody>
      </p:sp>
      <p:sp>
        <p:nvSpPr>
          <p:cNvPr id="13" name="Text 10"/>
          <p:cNvSpPr txBox="1"/>
          <p:nvPr/>
        </p:nvSpPr>
        <p:spPr>
          <a:xfrm>
            <a:off x="667512" y="3017520"/>
            <a:ext cx="3291840" cy="502920"/>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Marktzyklus, ±5 % je HJ, Expansion/Abschwung</a:t>
            </a:r>
            <a:endParaRPr lang="en-US" sz="1150" dirty="0"/>
          </a:p>
        </p:txBody>
      </p:sp>
      <p:sp>
        <p:nvSpPr>
          <p:cNvPr id="14" name="Shape 11"/>
          <p:cNvSpPr/>
          <p:nvPr/>
        </p:nvSpPr>
        <p:spPr>
          <a:xfrm>
            <a:off x="4251960" y="2606040"/>
            <a:ext cx="3611880" cy="960120"/>
          </a:xfrm>
          <a:prstGeom prst="roundRect">
            <a:avLst>
              <a:gd name="adj" fmla="val 7619"/>
            </a:avLst>
          </a:prstGeom>
          <a:solidFill>
            <a:srgbClr val="161F22"/>
          </a:solidFill>
          <a:ln w="9525">
            <a:solidFill>
              <a:srgbClr val="5FC4B1"/>
            </a:solidFill>
            <a:prstDash val="solid"/>
          </a:ln>
        </p:spPr>
      </p:sp>
      <p:sp>
        <p:nvSpPr>
          <p:cNvPr id="15" name="Text 12"/>
          <p:cNvSpPr txBox="1"/>
          <p:nvPr/>
        </p:nvSpPr>
        <p:spPr>
          <a:xfrm>
            <a:off x="4416552" y="2679192"/>
            <a:ext cx="3291840" cy="320040"/>
          </a:xfrm>
          <a:prstGeom prst="rect">
            <a:avLst/>
          </a:prstGeom>
          <a:noFill/>
          <a:ln/>
        </p:spPr>
        <p:txBody>
          <a:bodyPr wrap="square" lIns="0" tIns="0" rIns="0" bIns="0" rtlCol="0" anchor="t"/>
          <a:lstStyle/>
          <a:p>
            <a:pPr algn="l" indent="0" marL="0">
              <a:buNone/>
            </a:pPr>
            <a:r>
              <a:rPr lang="en-US" sz="1400" b="1" dirty="0">
                <a:solidFill>
                  <a:srgbClr val="5FC4B1"/>
                </a:solidFill>
                <a:latin typeface="Calibri" pitchFamily="34" charset="0"/>
                <a:ea typeface="Calibri" pitchFamily="34" charset="-122"/>
                <a:cs typeface="Calibri" pitchFamily="34" charset="-120"/>
              </a:rPr>
              <a:t>Qualitätsfaktor</a:t>
            </a:r>
            <a:endParaRPr lang="en-US" sz="1400" dirty="0"/>
          </a:p>
        </p:txBody>
      </p:sp>
      <p:sp>
        <p:nvSpPr>
          <p:cNvPr id="16" name="Text 13"/>
          <p:cNvSpPr txBox="1"/>
          <p:nvPr/>
        </p:nvSpPr>
        <p:spPr>
          <a:xfrm>
            <a:off x="4416552" y="3017520"/>
            <a:ext cx="3291840" cy="502920"/>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Q 40 → 0,94 · Q 60 → 1,06 · Q 80 → 1,18</a:t>
            </a:r>
            <a:endParaRPr lang="en-US" sz="1150" dirty="0"/>
          </a:p>
        </p:txBody>
      </p:sp>
      <p:sp>
        <p:nvSpPr>
          <p:cNvPr id="17" name="Shape 14"/>
          <p:cNvSpPr/>
          <p:nvPr/>
        </p:nvSpPr>
        <p:spPr>
          <a:xfrm>
            <a:off x="502920" y="3703320"/>
            <a:ext cx="3611880" cy="960120"/>
          </a:xfrm>
          <a:prstGeom prst="roundRect">
            <a:avLst>
              <a:gd name="adj" fmla="val 7619"/>
            </a:avLst>
          </a:prstGeom>
          <a:solidFill>
            <a:srgbClr val="161F22"/>
          </a:solidFill>
          <a:ln w="9525">
            <a:solidFill>
              <a:srgbClr val="DCB264"/>
            </a:solidFill>
            <a:prstDash val="solid"/>
          </a:ln>
        </p:spPr>
      </p:sp>
      <p:sp>
        <p:nvSpPr>
          <p:cNvPr id="18" name="Text 15"/>
          <p:cNvSpPr txBox="1"/>
          <p:nvPr/>
        </p:nvSpPr>
        <p:spPr>
          <a:xfrm>
            <a:off x="667512" y="3776472"/>
            <a:ext cx="3291840" cy="320040"/>
          </a:xfrm>
          <a:prstGeom prst="rect">
            <a:avLst/>
          </a:prstGeom>
          <a:noFill/>
          <a:ln/>
        </p:spPr>
        <p:txBody>
          <a:bodyPr wrap="square" lIns="0" tIns="0" rIns="0" bIns="0" rtlCol="0" anchor="t"/>
          <a:lstStyle/>
          <a:p>
            <a:pPr algn="l" indent="0" marL="0">
              <a:buNone/>
            </a:pPr>
            <a:r>
              <a:rPr lang="en-US" sz="1400" b="1" dirty="0">
                <a:solidFill>
                  <a:srgbClr val="DCB264"/>
                </a:solidFill>
                <a:latin typeface="Calibri" pitchFamily="34" charset="0"/>
                <a:ea typeface="Calibri" pitchFamily="34" charset="-122"/>
                <a:cs typeface="Calibri" pitchFamily="34" charset="-120"/>
              </a:rPr>
              <a:t>Wachstumsprämie</a:t>
            </a:r>
            <a:endParaRPr lang="en-US" sz="1400" dirty="0"/>
          </a:p>
        </p:txBody>
      </p:sp>
      <p:sp>
        <p:nvSpPr>
          <p:cNvPr id="19" name="Text 16"/>
          <p:cNvSpPr txBox="1"/>
          <p:nvPr/>
        </p:nvSpPr>
        <p:spPr>
          <a:xfrm>
            <a:off x="667512" y="4114800"/>
            <a:ext cx="3291840" cy="502920"/>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+7 % je pp Umsatz-CAGR über Sektor, −20 % bis +55 %, ab 1 Jahr Haltedauer</a:t>
            </a:r>
            <a:endParaRPr lang="en-US" sz="1150" dirty="0"/>
          </a:p>
        </p:txBody>
      </p:sp>
      <p:sp>
        <p:nvSpPr>
          <p:cNvPr id="20" name="Shape 17"/>
          <p:cNvSpPr/>
          <p:nvPr/>
        </p:nvSpPr>
        <p:spPr>
          <a:xfrm>
            <a:off x="4251960" y="3703320"/>
            <a:ext cx="3611880" cy="960120"/>
          </a:xfrm>
          <a:prstGeom prst="roundRect">
            <a:avLst>
              <a:gd name="adj" fmla="val 7619"/>
            </a:avLst>
          </a:prstGeom>
          <a:solidFill>
            <a:srgbClr val="161F22"/>
          </a:solidFill>
          <a:ln w="9525">
            <a:solidFill>
              <a:srgbClr val="8E9C9B"/>
            </a:solidFill>
            <a:prstDash val="solid"/>
          </a:ln>
        </p:spPr>
      </p:sp>
      <p:sp>
        <p:nvSpPr>
          <p:cNvPr id="21" name="Text 18"/>
          <p:cNvSpPr txBox="1"/>
          <p:nvPr/>
        </p:nvSpPr>
        <p:spPr>
          <a:xfrm>
            <a:off x="4416552" y="3776472"/>
            <a:ext cx="3291840" cy="320040"/>
          </a:xfrm>
          <a:prstGeom prst="rect">
            <a:avLst/>
          </a:prstGeom>
          <a:noFill/>
          <a:ln/>
        </p:spPr>
        <p:txBody>
          <a:bodyPr wrap="square" lIns="0" tIns="0" rIns="0" bIns="0" rtlCol="0" anchor="t"/>
          <a:lstStyle/>
          <a:p>
            <a:pPr algn="l" indent="0" marL="0">
              <a:buNone/>
            </a:pPr>
            <a:r>
              <a:rPr lang="en-US" sz="1400" b="1" dirty="0">
                <a:solidFill>
                  <a:srgbClr val="8E9C9B"/>
                </a:solidFill>
                <a:latin typeface="Calibri" pitchFamily="34" charset="0"/>
                <a:ea typeface="Calibri" pitchFamily="34" charset="-122"/>
                <a:cs typeface="Calibri" pitchFamily="34" charset="-120"/>
              </a:rPr>
              <a:t>Deckel</a:t>
            </a:r>
            <a:endParaRPr lang="en-US" sz="1400" dirty="0"/>
          </a:p>
        </p:txBody>
      </p:sp>
      <p:sp>
        <p:nvSpPr>
          <p:cNvPr id="22" name="Text 19"/>
          <p:cNvSpPr txBox="1"/>
          <p:nvPr/>
        </p:nvSpPr>
        <p:spPr>
          <a:xfrm>
            <a:off x="4416552" y="4114800"/>
            <a:ext cx="3291840" cy="502920"/>
          </a:xfrm>
          <a:prstGeom prst="rect">
            <a:avLst/>
          </a:prstGeom>
          <a:noFill/>
          <a:ln/>
        </p:spPr>
        <p:txBody>
          <a:bodyPr wrap="square" lIns="0" tIns="0" rIns="0" bIns="0" rtlCol="0" anchor="t"/>
          <a:lstStyle/>
          <a:p>
            <a:pPr algn="l" indent="0" marL="0">
              <a:buNone/>
            </a:pPr>
            <a:r>
              <a:rPr lang="en-US" sz="1150" dirty="0">
                <a:solidFill>
                  <a:srgbClr val="EDF1EE"/>
                </a:solidFill>
                <a:latin typeface="Calibri" pitchFamily="34" charset="0"/>
                <a:ea typeface="Calibri" pitchFamily="34" charset="-122"/>
                <a:cs typeface="Calibri" pitchFamily="34" charset="-120"/>
              </a:rPr>
              <a:t>höchstens 1,85 × Sektor-Multiple</a:t>
            </a:r>
            <a:endParaRPr lang="en-US" sz="1150" dirty="0"/>
          </a:p>
        </p:txBody>
      </p:sp>
      <p:sp>
        <p:nvSpPr>
          <p:cNvPr id="23" name="Text 20"/>
          <p:cNvSpPr txBox="1"/>
          <p:nvPr/>
        </p:nvSpPr>
        <p:spPr>
          <a:xfrm>
            <a:off x="502920" y="4892040"/>
            <a:ext cx="7315200" cy="228600"/>
          </a:xfrm>
          <a:prstGeom prst="rect">
            <a:avLst/>
          </a:prstGeom>
          <a:noFill/>
          <a:ln/>
        </p:spPr>
        <p:txBody>
          <a:bodyPr wrap="square" lIns="0" tIns="0" rIns="0" bIns="0" rtlCol="0" anchor="t"/>
          <a:lstStyle/>
          <a:p>
            <a:pPr algn="l" indent="0" marL="0">
              <a:buNone/>
            </a:pPr>
            <a:r>
              <a:rPr lang="en-US" sz="1000" b="1" spc="150" kern="0" dirty="0">
                <a:solidFill>
                  <a:srgbClr val="DCB264"/>
                </a:solidFill>
                <a:latin typeface="Calibri" pitchFamily="34" charset="0"/>
                <a:ea typeface="Calibri" pitchFamily="34" charset="-122"/>
                <a:cs typeface="Calibri" pitchFamily="34" charset="-120"/>
              </a:rPr>
              <a:t>QUALITÄT JE HALBJAHR BEWEGT SICH DURCH</a:t>
            </a:r>
            <a:endParaRPr lang="en-US" sz="1000" dirty="0"/>
          </a:p>
        </p:txBody>
      </p:sp>
      <p:sp>
        <p:nvSpPr>
          <p:cNvPr id="24" name="Shape 21"/>
          <p:cNvSpPr/>
          <p:nvPr/>
        </p:nvSpPr>
        <p:spPr>
          <a:xfrm>
            <a:off x="502920" y="5166360"/>
            <a:ext cx="2377440" cy="457200"/>
          </a:xfrm>
          <a:prstGeom prst="roundRect">
            <a:avLst>
              <a:gd name="adj" fmla="val 16000"/>
            </a:avLst>
          </a:prstGeom>
          <a:solidFill>
            <a:srgbClr val="1C282B"/>
          </a:solidFill>
          <a:ln w="9525">
            <a:solidFill>
              <a:srgbClr val="243033"/>
            </a:solidFill>
            <a:prstDash val="solid"/>
          </a:ln>
        </p:spPr>
      </p:sp>
      <p:sp>
        <p:nvSpPr>
          <p:cNvPr id="25" name="Text 22"/>
          <p:cNvSpPr txBox="1"/>
          <p:nvPr/>
        </p:nvSpPr>
        <p:spPr>
          <a:xfrm>
            <a:off x="612648" y="5166360"/>
            <a:ext cx="274320" cy="457200"/>
          </a:xfrm>
          <a:prstGeom prst="rect">
            <a:avLst/>
          </a:prstGeom>
          <a:noFill/>
          <a:ln/>
        </p:spPr>
        <p:txBody>
          <a:bodyPr wrap="square" lIns="0" tIns="0" rIns="0" bIns="0" rtlCol="0" anchor="ctr"/>
          <a:lstStyle/>
          <a:p>
            <a:pPr algn="l" indent="0" marL="0">
              <a:buNone/>
            </a:pPr>
            <a:r>
              <a:rPr lang="en-US" sz="1600" b="1" dirty="0">
                <a:solidFill>
                  <a:srgbClr val="5FC4B1"/>
                </a:solidFill>
                <a:latin typeface="Calibri" pitchFamily="34" charset="0"/>
                <a:ea typeface="Calibri" pitchFamily="34" charset="-122"/>
                <a:cs typeface="Calibri" pitchFamily="34" charset="-120"/>
              </a:rPr>
              <a:t>+</a:t>
            </a:r>
            <a:endParaRPr lang="en-US" sz="1600" dirty="0"/>
          </a:p>
        </p:txBody>
      </p:sp>
      <p:sp>
        <p:nvSpPr>
          <p:cNvPr id="26" name="Text 23"/>
          <p:cNvSpPr txBox="1"/>
          <p:nvPr/>
        </p:nvSpPr>
        <p:spPr>
          <a:xfrm>
            <a:off x="886968" y="5166360"/>
            <a:ext cx="1920240" cy="457200"/>
          </a:xfrm>
          <a:prstGeom prst="rect">
            <a:avLst/>
          </a:prstGeom>
          <a:noFill/>
          <a:ln/>
        </p:spPr>
        <p:txBody>
          <a:bodyPr wrap="square" lIns="0" tIns="0" rIns="0" bIns="0" rtlCol="0" anchor="ctr"/>
          <a:lstStyle/>
          <a:p>
            <a:pPr algn="l" indent="0" marL="0">
              <a:buNone/>
            </a:pPr>
            <a:r>
              <a:rPr lang="en-US" sz="1100" dirty="0">
                <a:solidFill>
                  <a:srgbClr val="EDF1EE"/>
                </a:solidFill>
                <a:latin typeface="Calibri" pitchFamily="34" charset="0"/>
                <a:ea typeface="Calibri" pitchFamily="34" charset="-122"/>
                <a:cs typeface="Calibri" pitchFamily="34" charset="-120"/>
              </a:rPr>
              <a:t>Wachstum über Sektor (×0,30)</a:t>
            </a:r>
            <a:endParaRPr lang="en-US" sz="1100" dirty="0"/>
          </a:p>
        </p:txBody>
      </p:sp>
      <p:sp>
        <p:nvSpPr>
          <p:cNvPr id="27" name="Shape 24"/>
          <p:cNvSpPr/>
          <p:nvPr/>
        </p:nvSpPr>
        <p:spPr>
          <a:xfrm>
            <a:off x="2990088" y="5166360"/>
            <a:ext cx="2377440" cy="457200"/>
          </a:xfrm>
          <a:prstGeom prst="roundRect">
            <a:avLst>
              <a:gd name="adj" fmla="val 16000"/>
            </a:avLst>
          </a:prstGeom>
          <a:solidFill>
            <a:srgbClr val="1C282B"/>
          </a:solidFill>
          <a:ln w="9525">
            <a:solidFill>
              <a:srgbClr val="243033"/>
            </a:solidFill>
            <a:prstDash val="solid"/>
          </a:ln>
        </p:spPr>
      </p:sp>
      <p:sp>
        <p:nvSpPr>
          <p:cNvPr id="28" name="Text 25"/>
          <p:cNvSpPr txBox="1"/>
          <p:nvPr/>
        </p:nvSpPr>
        <p:spPr>
          <a:xfrm>
            <a:off x="3099816" y="5166360"/>
            <a:ext cx="274320" cy="457200"/>
          </a:xfrm>
          <a:prstGeom prst="rect">
            <a:avLst/>
          </a:prstGeom>
          <a:noFill/>
          <a:ln/>
        </p:spPr>
        <p:txBody>
          <a:bodyPr wrap="square" lIns="0" tIns="0" rIns="0" bIns="0" rtlCol="0" anchor="ctr"/>
          <a:lstStyle/>
          <a:p>
            <a:pPr algn="l" indent="0" marL="0">
              <a:buNone/>
            </a:pPr>
            <a:r>
              <a:rPr lang="en-US" sz="1600" b="1" dirty="0">
                <a:solidFill>
                  <a:srgbClr val="5FC4B1"/>
                </a:solidFill>
                <a:latin typeface="Calibri" pitchFamily="34" charset="0"/>
                <a:ea typeface="Calibri" pitchFamily="34" charset="-122"/>
                <a:cs typeface="Calibri" pitchFamily="34" charset="-120"/>
              </a:rPr>
              <a:t>+</a:t>
            </a:r>
            <a:endParaRPr lang="en-US" sz="1600" dirty="0"/>
          </a:p>
        </p:txBody>
      </p:sp>
      <p:sp>
        <p:nvSpPr>
          <p:cNvPr id="29" name="Text 26"/>
          <p:cNvSpPr txBox="1"/>
          <p:nvPr/>
        </p:nvSpPr>
        <p:spPr>
          <a:xfrm>
            <a:off x="3374136" y="5166360"/>
            <a:ext cx="1920240" cy="457200"/>
          </a:xfrm>
          <a:prstGeom prst="rect">
            <a:avLst/>
          </a:prstGeom>
          <a:noFill/>
          <a:ln/>
        </p:spPr>
        <p:txBody>
          <a:bodyPr wrap="square" lIns="0" tIns="0" rIns="0" bIns="0" rtlCol="0" anchor="ctr"/>
          <a:lstStyle/>
          <a:p>
            <a:pPr algn="l" indent="0" marL="0">
              <a:buNone/>
            </a:pPr>
            <a:r>
              <a:rPr lang="en-US" sz="1100" dirty="0">
                <a:solidFill>
                  <a:srgbClr val="EDF1EE"/>
                </a:solidFill>
                <a:latin typeface="Calibri" pitchFamily="34" charset="0"/>
                <a:ea typeface="Calibri" pitchFamily="34" charset="-122"/>
                <a:cs typeface="Calibri" pitchFamily="34" charset="-120"/>
              </a:rPr>
              <a:t>Marge über Benchmark (×0,35)</a:t>
            </a:r>
            <a:endParaRPr lang="en-US" sz="1100" dirty="0"/>
          </a:p>
        </p:txBody>
      </p:sp>
      <p:sp>
        <p:nvSpPr>
          <p:cNvPr id="30" name="Shape 27"/>
          <p:cNvSpPr/>
          <p:nvPr/>
        </p:nvSpPr>
        <p:spPr>
          <a:xfrm>
            <a:off x="5477256" y="5166360"/>
            <a:ext cx="2377440" cy="457200"/>
          </a:xfrm>
          <a:prstGeom prst="roundRect">
            <a:avLst>
              <a:gd name="adj" fmla="val 16000"/>
            </a:avLst>
          </a:prstGeom>
          <a:solidFill>
            <a:srgbClr val="1C282B"/>
          </a:solidFill>
          <a:ln w="9525">
            <a:solidFill>
              <a:srgbClr val="243033"/>
            </a:solidFill>
            <a:prstDash val="solid"/>
          </a:ln>
        </p:spPr>
      </p:sp>
      <p:sp>
        <p:nvSpPr>
          <p:cNvPr id="31" name="Text 28"/>
          <p:cNvSpPr txBox="1"/>
          <p:nvPr/>
        </p:nvSpPr>
        <p:spPr>
          <a:xfrm>
            <a:off x="5586984" y="5166360"/>
            <a:ext cx="274320" cy="457200"/>
          </a:xfrm>
          <a:prstGeom prst="rect">
            <a:avLst/>
          </a:prstGeom>
          <a:noFill/>
          <a:ln/>
        </p:spPr>
        <p:txBody>
          <a:bodyPr wrap="square" lIns="0" tIns="0" rIns="0" bIns="0" rtlCol="0" anchor="ctr"/>
          <a:lstStyle/>
          <a:p>
            <a:pPr algn="l" indent="0" marL="0">
              <a:buNone/>
            </a:pPr>
            <a:r>
              <a:rPr lang="en-US" sz="1600" b="1" dirty="0">
                <a:solidFill>
                  <a:srgbClr val="5FC4B1"/>
                </a:solidFill>
                <a:latin typeface="Calibri" pitchFamily="34" charset="0"/>
                <a:ea typeface="Calibri" pitchFamily="34" charset="-122"/>
                <a:cs typeface="Calibri" pitchFamily="34" charset="-120"/>
              </a:rPr>
              <a:t>+</a:t>
            </a:r>
            <a:endParaRPr lang="en-US" sz="1600" dirty="0"/>
          </a:p>
        </p:txBody>
      </p:sp>
      <p:sp>
        <p:nvSpPr>
          <p:cNvPr id="32" name="Text 29"/>
          <p:cNvSpPr txBox="1"/>
          <p:nvPr/>
        </p:nvSpPr>
        <p:spPr>
          <a:xfrm>
            <a:off x="5861304" y="5166360"/>
            <a:ext cx="1920240" cy="457200"/>
          </a:xfrm>
          <a:prstGeom prst="rect">
            <a:avLst/>
          </a:prstGeom>
          <a:noFill/>
          <a:ln/>
        </p:spPr>
        <p:txBody>
          <a:bodyPr wrap="square" lIns="0" tIns="0" rIns="0" bIns="0" rtlCol="0" anchor="ctr"/>
          <a:lstStyle/>
          <a:p>
            <a:pPr algn="l" indent="0" marL="0">
              <a:buNone/>
            </a:pPr>
            <a:r>
              <a:rPr lang="en-US" sz="1100" dirty="0">
                <a:solidFill>
                  <a:srgbClr val="EDF1EE"/>
                </a:solidFill>
                <a:latin typeface="Calibri" pitchFamily="34" charset="0"/>
                <a:ea typeface="Calibri" pitchFamily="34" charset="-122"/>
                <a:cs typeface="Calibri" pitchFamily="34" charset="-120"/>
              </a:rPr>
              <a:t>People &gt; 2 (×0,35)</a:t>
            </a:r>
            <a:endParaRPr lang="en-US" sz="1100" dirty="0"/>
          </a:p>
        </p:txBody>
      </p:sp>
      <p:sp>
        <p:nvSpPr>
          <p:cNvPr id="33" name="Shape 30"/>
          <p:cNvSpPr/>
          <p:nvPr/>
        </p:nvSpPr>
        <p:spPr>
          <a:xfrm>
            <a:off x="502920" y="5715000"/>
            <a:ext cx="2377440" cy="457200"/>
          </a:xfrm>
          <a:prstGeom prst="roundRect">
            <a:avLst>
              <a:gd name="adj" fmla="val 16000"/>
            </a:avLst>
          </a:prstGeom>
          <a:solidFill>
            <a:srgbClr val="1C282B"/>
          </a:solidFill>
          <a:ln w="9525">
            <a:solidFill>
              <a:srgbClr val="243033"/>
            </a:solidFill>
            <a:prstDash val="solid"/>
          </a:ln>
        </p:spPr>
      </p:sp>
      <p:sp>
        <p:nvSpPr>
          <p:cNvPr id="34" name="Text 31"/>
          <p:cNvSpPr txBox="1"/>
          <p:nvPr/>
        </p:nvSpPr>
        <p:spPr>
          <a:xfrm>
            <a:off x="612648" y="5715000"/>
            <a:ext cx="274320" cy="457200"/>
          </a:xfrm>
          <a:prstGeom prst="rect">
            <a:avLst/>
          </a:prstGeom>
          <a:noFill/>
          <a:ln/>
        </p:spPr>
        <p:txBody>
          <a:bodyPr wrap="square" lIns="0" tIns="0" rIns="0" bIns="0" rtlCol="0" anchor="ctr"/>
          <a:lstStyle/>
          <a:p>
            <a:pPr algn="l" indent="0" marL="0">
              <a:buNone/>
            </a:pPr>
            <a:r>
              <a:rPr lang="en-US" sz="1600" b="1" dirty="0">
                <a:solidFill>
                  <a:srgbClr val="E3897F"/>
                </a:solidFill>
                <a:latin typeface="Calibri" pitchFamily="34" charset="0"/>
                <a:ea typeface="Calibri" pitchFamily="34" charset="-122"/>
                <a:cs typeface="Calibri" pitchFamily="34" charset="-120"/>
              </a:rPr>
              <a:t>−</a:t>
            </a:r>
            <a:endParaRPr lang="en-US" sz="1600" dirty="0"/>
          </a:p>
        </p:txBody>
      </p:sp>
      <p:sp>
        <p:nvSpPr>
          <p:cNvPr id="35" name="Text 32"/>
          <p:cNvSpPr txBox="1"/>
          <p:nvPr/>
        </p:nvSpPr>
        <p:spPr>
          <a:xfrm>
            <a:off x="886968" y="5715000"/>
            <a:ext cx="1920240" cy="457200"/>
          </a:xfrm>
          <a:prstGeom prst="rect">
            <a:avLst/>
          </a:prstGeom>
          <a:noFill/>
          <a:ln/>
        </p:spPr>
        <p:txBody>
          <a:bodyPr wrap="square" lIns="0" tIns="0" rIns="0" bIns="0" rtlCol="0" anchor="ctr"/>
          <a:lstStyle/>
          <a:p>
            <a:pPr algn="l" indent="0" marL="0">
              <a:buNone/>
            </a:pPr>
            <a:r>
              <a:rPr lang="en-US" sz="1100" dirty="0">
                <a:solidFill>
                  <a:srgbClr val="EDF1EE"/>
                </a:solidFill>
                <a:latin typeface="Calibri" pitchFamily="34" charset="0"/>
                <a:ea typeface="Calibri" pitchFamily="34" charset="-122"/>
                <a:cs typeface="Calibri" pitchFamily="34" charset="-120"/>
              </a:rPr>
              <a:t>Überdehnung (×1,8)</a:t>
            </a:r>
            <a:endParaRPr lang="en-US" sz="1100" dirty="0"/>
          </a:p>
        </p:txBody>
      </p:sp>
      <p:sp>
        <p:nvSpPr>
          <p:cNvPr id="36" name="Shape 33"/>
          <p:cNvSpPr/>
          <p:nvPr/>
        </p:nvSpPr>
        <p:spPr>
          <a:xfrm>
            <a:off x="2990088" y="5715000"/>
            <a:ext cx="2377440" cy="457200"/>
          </a:xfrm>
          <a:prstGeom prst="roundRect">
            <a:avLst>
              <a:gd name="adj" fmla="val 16000"/>
            </a:avLst>
          </a:prstGeom>
          <a:solidFill>
            <a:srgbClr val="1C282B"/>
          </a:solidFill>
          <a:ln w="9525">
            <a:solidFill>
              <a:srgbClr val="243033"/>
            </a:solidFill>
            <a:prstDash val="solid"/>
          </a:ln>
        </p:spPr>
      </p:sp>
      <p:sp>
        <p:nvSpPr>
          <p:cNvPr id="37" name="Text 34"/>
          <p:cNvSpPr txBox="1"/>
          <p:nvPr/>
        </p:nvSpPr>
        <p:spPr>
          <a:xfrm>
            <a:off x="3099816" y="5715000"/>
            <a:ext cx="274320" cy="457200"/>
          </a:xfrm>
          <a:prstGeom prst="rect">
            <a:avLst/>
          </a:prstGeom>
          <a:noFill/>
          <a:ln/>
        </p:spPr>
        <p:txBody>
          <a:bodyPr wrap="square" lIns="0" tIns="0" rIns="0" bIns="0" rtlCol="0" anchor="ctr"/>
          <a:lstStyle/>
          <a:p>
            <a:pPr algn="l" indent="0" marL="0">
              <a:buNone/>
            </a:pPr>
            <a:r>
              <a:rPr lang="en-US" sz="1600" b="1" dirty="0">
                <a:solidFill>
                  <a:srgbClr val="E3897F"/>
                </a:solidFill>
                <a:latin typeface="Calibri" pitchFamily="34" charset="0"/>
                <a:ea typeface="Calibri" pitchFamily="34" charset="-122"/>
                <a:cs typeface="Calibri" pitchFamily="34" charset="-120"/>
              </a:rPr>
              <a:t>−</a:t>
            </a:r>
            <a:endParaRPr lang="en-US" sz="1600" dirty="0"/>
          </a:p>
        </p:txBody>
      </p:sp>
      <p:sp>
        <p:nvSpPr>
          <p:cNvPr id="38" name="Text 35"/>
          <p:cNvSpPr txBox="1"/>
          <p:nvPr/>
        </p:nvSpPr>
        <p:spPr>
          <a:xfrm>
            <a:off x="3374136" y="5715000"/>
            <a:ext cx="1920240" cy="457200"/>
          </a:xfrm>
          <a:prstGeom prst="rect">
            <a:avLst/>
          </a:prstGeom>
          <a:noFill/>
          <a:ln/>
        </p:spPr>
        <p:txBody>
          <a:bodyPr wrap="square" lIns="0" tIns="0" rIns="0" bIns="0" rtlCol="0" anchor="ctr"/>
          <a:lstStyle/>
          <a:p>
            <a:pPr algn="l" indent="0" marL="0">
              <a:buNone/>
            </a:pPr>
            <a:r>
              <a:rPr lang="en-US" sz="1100" dirty="0">
                <a:solidFill>
                  <a:srgbClr val="EDF1EE"/>
                </a:solidFill>
                <a:latin typeface="Calibri" pitchFamily="34" charset="0"/>
                <a:ea typeface="Calibri" pitchFamily="34" charset="-122"/>
                <a:cs typeface="Calibri" pitchFamily="34" charset="-120"/>
              </a:rPr>
              <a:t>Leverage &gt; 5×</a:t>
            </a:r>
            <a:endParaRPr lang="en-US" sz="1100" dirty="0"/>
          </a:p>
        </p:txBody>
      </p:sp>
      <p:sp>
        <p:nvSpPr>
          <p:cNvPr id="39" name="Shape 36"/>
          <p:cNvSpPr/>
          <p:nvPr/>
        </p:nvSpPr>
        <p:spPr>
          <a:xfrm>
            <a:off x="5477256" y="5715000"/>
            <a:ext cx="2377440" cy="457200"/>
          </a:xfrm>
          <a:prstGeom prst="roundRect">
            <a:avLst>
              <a:gd name="adj" fmla="val 16000"/>
            </a:avLst>
          </a:prstGeom>
          <a:solidFill>
            <a:srgbClr val="1C282B"/>
          </a:solidFill>
          <a:ln w="9525">
            <a:solidFill>
              <a:srgbClr val="243033"/>
            </a:solidFill>
            <a:prstDash val="solid"/>
          </a:ln>
        </p:spPr>
      </p:sp>
      <p:sp>
        <p:nvSpPr>
          <p:cNvPr id="40" name="Text 37"/>
          <p:cNvSpPr txBox="1"/>
          <p:nvPr/>
        </p:nvSpPr>
        <p:spPr>
          <a:xfrm>
            <a:off x="5586984" y="5715000"/>
            <a:ext cx="274320" cy="457200"/>
          </a:xfrm>
          <a:prstGeom prst="rect">
            <a:avLst/>
          </a:prstGeom>
          <a:noFill/>
          <a:ln/>
        </p:spPr>
        <p:txBody>
          <a:bodyPr wrap="square" lIns="0" tIns="0" rIns="0" bIns="0" rtlCol="0" anchor="ctr"/>
          <a:lstStyle/>
          <a:p>
            <a:pPr algn="l" indent="0" marL="0">
              <a:buNone/>
            </a:pPr>
            <a:r>
              <a:rPr lang="en-US" sz="1600" b="1" dirty="0">
                <a:solidFill>
                  <a:srgbClr val="E3897F"/>
                </a:solidFill>
                <a:latin typeface="Calibri" pitchFamily="34" charset="0"/>
                <a:ea typeface="Calibri" pitchFamily="34" charset="-122"/>
                <a:cs typeface="Calibri" pitchFamily="34" charset="-120"/>
              </a:rPr>
              <a:t>−</a:t>
            </a:r>
            <a:endParaRPr lang="en-US" sz="1600" dirty="0"/>
          </a:p>
        </p:txBody>
      </p:sp>
      <p:sp>
        <p:nvSpPr>
          <p:cNvPr id="41" name="Text 38"/>
          <p:cNvSpPr txBox="1"/>
          <p:nvPr/>
        </p:nvSpPr>
        <p:spPr>
          <a:xfrm>
            <a:off x="5861304" y="5715000"/>
            <a:ext cx="1920240" cy="457200"/>
          </a:xfrm>
          <a:prstGeom prst="rect">
            <a:avLst/>
          </a:prstGeom>
          <a:noFill/>
          <a:ln/>
        </p:spPr>
        <p:txBody>
          <a:bodyPr wrap="square" lIns="0" tIns="0" rIns="0" bIns="0" rtlCol="0" anchor="ctr"/>
          <a:lstStyle/>
          <a:p>
            <a:pPr algn="l" indent="0" marL="0">
              <a:buNone/>
            </a:pPr>
            <a:r>
              <a:rPr lang="en-US" sz="1100" dirty="0">
                <a:solidFill>
                  <a:srgbClr val="EDF1EE"/>
                </a:solidFill>
                <a:latin typeface="Calibri" pitchFamily="34" charset="0"/>
                <a:ea typeface="Calibri" pitchFamily="34" charset="-122"/>
                <a:cs typeface="Calibri" pitchFamily="34" charset="-120"/>
              </a:rPr>
              <a:t>Alterung ab HJ 8</a:t>
            </a:r>
            <a:endParaRPr lang="en-US" sz="1100" dirty="0"/>
          </a:p>
        </p:txBody>
      </p:sp>
      <p:pic>
        <p:nvPicPr>
          <p:cNvPr id="42" name="Image 0" descr="/tmp/claude-0/deck/img/hold_more.jpg">    </p:cNvPr>
          <p:cNvPicPr>
            <a:picLocks noChangeAspect="1"/>
          </p:cNvPicPr>
          <p:nvPr/>
        </p:nvPicPr>
        <p:blipFill>
          <a:blip r:embed="rId1"/>
          <a:stretch>
            <a:fillRect/>
          </a:stretch>
        </p:blipFill>
        <p:spPr>
          <a:xfrm>
            <a:off x="8571390" y="1600200"/>
            <a:ext cx="3114642" cy="4480560"/>
          </a:xfrm>
          <a:prstGeom prst="rect">
            <a:avLst/>
          </a:prstGeom>
        </p:spPr>
      </p:pic>
      <p:sp>
        <p:nvSpPr>
          <p:cNvPr id="43" name="Shape 39"/>
          <p:cNvSpPr/>
          <p:nvPr/>
        </p:nvSpPr>
        <p:spPr>
          <a:xfrm>
            <a:off x="8571390" y="1600200"/>
            <a:ext cx="3114642" cy="4480560"/>
          </a:xfrm>
          <a:prstGeom prst="rect">
            <a:avLst/>
          </a:prstGeom>
          <a:ln w="9525">
            <a:solidFill>
              <a:srgbClr val="33474B"/>
            </a:solidFill>
            <a:prstDash val="solid"/>
          </a:ln>
        </p:spPr>
      </p:sp>
      <p:sp>
        <p:nvSpPr>
          <p:cNvPr id="44" name="Text 40"/>
          <p:cNvSpPr txBox="1"/>
          <p:nvPr/>
        </p:nvSpPr>
        <p:spPr>
          <a:xfrm>
            <a:off x="8297070" y="6135624"/>
            <a:ext cx="3663282"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Detailansicht: Marktmultiple gegen Einstieg, Assetqualität</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5FC4B1"/>
                </a:solidFill>
                <a:latin typeface="Calibri" pitchFamily="34" charset="0"/>
                <a:ea typeface="Calibri" pitchFamily="34" charset="-122"/>
                <a:cs typeface="Calibri" pitchFamily="34" charset="-120"/>
              </a:rPr>
              <a:t>RISIKEN</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Ereignisse, Covenant Breach und Equity Cure</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5FC4B1"/>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5FC4B1"/>
                </a:solidFill>
                <a:latin typeface="Calibri" pitchFamily="34" charset="0"/>
                <a:ea typeface="Calibri" pitchFamily="34" charset="-122"/>
                <a:cs typeface="Calibri" pitchFamily="34" charset="-120"/>
              </a:rPr>
              <a:t>C · VALUE CREATION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31</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6583680" cy="914400"/>
        </p:xfrm>
        <a:graphic>
          <a:graphicData uri="http://schemas.openxmlformats.org/drawingml/2006/table">
            <a:tbl>
              <a:tblPr/>
              <a:tblGrid>
                <a:gridCol w="2331720"/>
                <a:gridCol w="2743200"/>
                <a:gridCol w="1508760"/>
              </a:tblGrid>
              <a:tr h="365760">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Ereignis (10 % je HJ)</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Wirkung</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Abwehr ab 4</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r>
              <a:tr h="365760">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Schlüsselkunde kündigt</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Umsatz −20 %, Drift −0,8</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Due Diligence</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CEO verlässt Unternehmen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vakant, Qualität −6, Marge −0,5</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Value Creation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CFO wirft hin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vakant, Qualität −3</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Value Creation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Wettbewerber senkt Preise</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Marge −2,5 pp, dauerhaft −1,5</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Value Creation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Investitionsstau aufgedeckt</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0,8 × EBITDA Schuld, Capex +1,5</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Due Diligence</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Regulatorische Auflage</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Marge −1,2 pp, dauerhaft −0,8</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Value Creation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100" dirty="0">
                          <a:solidFill>
                            <a:srgbClr val="5FC4B1"/>
                          </a:solidFill>
                          <a:latin typeface="Calibri" pitchFamily="34" charset="0"/>
                          <a:ea typeface="Calibri" pitchFamily="34" charset="-122"/>
                          <a:cs typeface="Calibri" pitchFamily="34" charset="-120"/>
                        </a:rPr>
                        <a:t>Großauftrag gewonnen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Umsatz +14 %, Qualität +3</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100" dirty="0">
                          <a:solidFill>
                            <a:srgbClr val="5FC4B1"/>
                          </a:solidFill>
                          <a:latin typeface="Calibri" pitchFamily="34" charset="0"/>
                          <a:ea typeface="Calibri" pitchFamily="34" charset="-122"/>
                          <a:cs typeface="Calibri" pitchFamily="34" charset="-120"/>
                        </a:rPr>
                        <a:t>Add-on-Gelegenheit</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Umsatz +25 %, 1,6 × EBITDA Schuld</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100" dirty="0">
                          <a:solidFill>
                            <a:srgbClr val="5FC4B1"/>
                          </a:solidFill>
                          <a:latin typeface="Calibri" pitchFamily="34" charset="0"/>
                          <a:ea typeface="Calibri" pitchFamily="34" charset="-122"/>
                          <a:cs typeface="Calibri" pitchFamily="34" charset="-120"/>
                        </a:rPr>
                        <a:t>Projekt vorgezogen</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laufende Maßnahme 1 HJ früher</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100" dirty="0">
                          <a:solidFill>
                            <a:srgbClr val="EDF1E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bl>
          </a:graphicData>
        </a:graphic>
      </p:graphicFrame>
      <p:sp>
        <p:nvSpPr>
          <p:cNvPr id="10" name="Shape 6"/>
          <p:cNvSpPr/>
          <p:nvPr/>
        </p:nvSpPr>
        <p:spPr>
          <a:xfrm>
            <a:off x="7315200" y="1600200"/>
            <a:ext cx="4370832" cy="731520"/>
          </a:xfrm>
          <a:prstGeom prst="roundRect">
            <a:avLst>
              <a:gd name="adj" fmla="val 10000"/>
            </a:avLst>
          </a:prstGeom>
          <a:solidFill>
            <a:srgbClr val="161F22"/>
          </a:solidFill>
          <a:ln w="12700">
            <a:solidFill>
              <a:srgbClr val="DCB264"/>
            </a:solidFill>
            <a:prstDash val="solid"/>
          </a:ln>
        </p:spPr>
      </p:sp>
      <p:sp>
        <p:nvSpPr>
          <p:cNvPr id="11" name="Text 7"/>
          <p:cNvSpPr txBox="1"/>
          <p:nvPr/>
        </p:nvSpPr>
        <p:spPr>
          <a:xfrm>
            <a:off x="7479792" y="1655064"/>
            <a:ext cx="4023360" cy="320040"/>
          </a:xfrm>
          <a:prstGeom prst="rect">
            <a:avLst/>
          </a:prstGeom>
          <a:noFill/>
          <a:ln/>
        </p:spPr>
        <p:txBody>
          <a:bodyPr wrap="square" lIns="0" tIns="0" rIns="0" bIns="0" rtlCol="0" anchor="t"/>
          <a:lstStyle/>
          <a:p>
            <a:pPr algn="l" indent="0" marL="0">
              <a:buNone/>
            </a:pPr>
            <a:r>
              <a:rPr lang="en-US" sz="1400" b="1" dirty="0">
                <a:solidFill>
                  <a:srgbClr val="DCB264"/>
                </a:solidFill>
                <a:latin typeface="Calibri" pitchFamily="34" charset="0"/>
                <a:ea typeface="Calibri" pitchFamily="34" charset="-122"/>
                <a:cs typeface="Calibri" pitchFamily="34" charset="-120"/>
              </a:rPr>
              <a:t>Leverage &gt; Covenant</a:t>
            </a:r>
            <a:endParaRPr lang="en-US" sz="1400" dirty="0"/>
          </a:p>
        </p:txBody>
      </p:sp>
      <p:sp>
        <p:nvSpPr>
          <p:cNvPr id="12" name="Text 8"/>
          <p:cNvSpPr txBox="1"/>
          <p:nvPr/>
        </p:nvSpPr>
        <p:spPr>
          <a:xfrm>
            <a:off x="7479792" y="1984248"/>
            <a:ext cx="4023360" cy="320040"/>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1. Bruch: Warnung</a:t>
            </a:r>
            <a:endParaRPr lang="en-US" sz="1200" dirty="0"/>
          </a:p>
        </p:txBody>
      </p:sp>
      <p:sp>
        <p:nvSpPr>
          <p:cNvPr id="13" name="Shape 9"/>
          <p:cNvSpPr/>
          <p:nvPr/>
        </p:nvSpPr>
        <p:spPr>
          <a:xfrm>
            <a:off x="7315200" y="2468880"/>
            <a:ext cx="4370832" cy="731520"/>
          </a:xfrm>
          <a:prstGeom prst="roundRect">
            <a:avLst>
              <a:gd name="adj" fmla="val 10000"/>
            </a:avLst>
          </a:prstGeom>
          <a:solidFill>
            <a:srgbClr val="161F22"/>
          </a:solidFill>
          <a:ln w="12700">
            <a:solidFill>
              <a:srgbClr val="E3897F"/>
            </a:solidFill>
            <a:prstDash val="solid"/>
          </a:ln>
        </p:spPr>
      </p:sp>
      <p:sp>
        <p:nvSpPr>
          <p:cNvPr id="14" name="Text 10"/>
          <p:cNvSpPr txBox="1"/>
          <p:nvPr/>
        </p:nvSpPr>
        <p:spPr>
          <a:xfrm>
            <a:off x="7479792" y="2523744"/>
            <a:ext cx="4023360" cy="320040"/>
          </a:xfrm>
          <a:prstGeom prst="rect">
            <a:avLst/>
          </a:prstGeom>
          <a:noFill/>
          <a:ln/>
        </p:spPr>
        <p:txBody>
          <a:bodyPr wrap="square" lIns="0" tIns="0" rIns="0" bIns="0" rtlCol="0" anchor="t"/>
          <a:lstStyle/>
          <a:p>
            <a:pPr algn="l" indent="0" marL="0">
              <a:buNone/>
            </a:pPr>
            <a:r>
              <a:rPr lang="en-US" sz="1400" b="1" dirty="0">
                <a:solidFill>
                  <a:srgbClr val="E3897F"/>
                </a:solidFill>
                <a:latin typeface="Calibri" pitchFamily="34" charset="0"/>
                <a:ea typeface="Calibri" pitchFamily="34" charset="-122"/>
                <a:cs typeface="Calibri" pitchFamily="34" charset="-120"/>
              </a:rPr>
              <a:t>2. Halbjahr in Folge</a:t>
            </a:r>
            <a:endParaRPr lang="en-US" sz="1400" dirty="0"/>
          </a:p>
        </p:txBody>
      </p:sp>
      <p:sp>
        <p:nvSpPr>
          <p:cNvPr id="15" name="Text 11"/>
          <p:cNvSpPr txBox="1"/>
          <p:nvPr/>
        </p:nvSpPr>
        <p:spPr>
          <a:xfrm>
            <a:off x="7479792" y="2852928"/>
            <a:ext cx="4023360" cy="320040"/>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Enforcement: Totalverlust</a:t>
            </a:r>
            <a:endParaRPr lang="en-US" sz="1200" dirty="0"/>
          </a:p>
        </p:txBody>
      </p:sp>
      <p:sp>
        <p:nvSpPr>
          <p:cNvPr id="16" name="Shape 12"/>
          <p:cNvSpPr/>
          <p:nvPr/>
        </p:nvSpPr>
        <p:spPr>
          <a:xfrm>
            <a:off x="7315200" y="3337560"/>
            <a:ext cx="4370832" cy="731520"/>
          </a:xfrm>
          <a:prstGeom prst="roundRect">
            <a:avLst>
              <a:gd name="adj" fmla="val 10000"/>
            </a:avLst>
          </a:prstGeom>
          <a:solidFill>
            <a:srgbClr val="161F22"/>
          </a:solidFill>
          <a:ln w="12700">
            <a:solidFill>
              <a:srgbClr val="5FC4B1"/>
            </a:solidFill>
            <a:prstDash val="solid"/>
          </a:ln>
        </p:spPr>
      </p:sp>
      <p:sp>
        <p:nvSpPr>
          <p:cNvPr id="17" name="Text 13"/>
          <p:cNvSpPr txBox="1"/>
          <p:nvPr/>
        </p:nvSpPr>
        <p:spPr>
          <a:xfrm>
            <a:off x="7479792" y="3392424"/>
            <a:ext cx="4023360" cy="320040"/>
          </a:xfrm>
          <a:prstGeom prst="rect">
            <a:avLst/>
          </a:prstGeom>
          <a:noFill/>
          <a:ln/>
        </p:spPr>
        <p:txBody>
          <a:bodyPr wrap="square" lIns="0" tIns="0" rIns="0" bIns="0" rtlCol="0" anchor="t"/>
          <a:lstStyle/>
          <a:p>
            <a:pPr algn="l" indent="0" marL="0">
              <a:buNone/>
            </a:pPr>
            <a:r>
              <a:rPr lang="en-US" sz="1400" b="1" dirty="0">
                <a:solidFill>
                  <a:srgbClr val="5FC4B1"/>
                </a:solidFill>
                <a:latin typeface="Calibri" pitchFamily="34" charset="0"/>
                <a:ea typeface="Calibri" pitchFamily="34" charset="-122"/>
                <a:cs typeface="Calibri" pitchFamily="34" charset="-120"/>
              </a:rPr>
              <a:t>Equity Cure</a:t>
            </a:r>
            <a:endParaRPr lang="en-US" sz="1400" dirty="0"/>
          </a:p>
        </p:txBody>
      </p:sp>
      <p:sp>
        <p:nvSpPr>
          <p:cNvPr id="18" name="Text 14"/>
          <p:cNvSpPr txBox="1"/>
          <p:nvPr/>
        </p:nvSpPr>
        <p:spPr>
          <a:xfrm>
            <a:off x="7479792" y="3721608"/>
            <a:ext cx="4023360" cy="320040"/>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Fonds schießt Eigenkapital nach</a:t>
            </a:r>
            <a:endParaRPr lang="en-US" sz="1200" dirty="0"/>
          </a:p>
        </p:txBody>
      </p:sp>
      <p:pic>
        <p:nvPicPr>
          <p:cNvPr id="19" name="Image 0" descr="/tmp/claude-0/deck/img/equity.jpg">    </p:cNvPr>
          <p:cNvPicPr>
            <a:picLocks noChangeAspect="1"/>
          </p:cNvPicPr>
          <p:nvPr/>
        </p:nvPicPr>
        <p:blipFill>
          <a:blip r:embed="rId1"/>
          <a:stretch>
            <a:fillRect/>
          </a:stretch>
        </p:blipFill>
        <p:spPr>
          <a:xfrm>
            <a:off x="7315200" y="4297680"/>
            <a:ext cx="1220848" cy="1737360"/>
          </a:xfrm>
          <a:prstGeom prst="rect">
            <a:avLst/>
          </a:prstGeom>
        </p:spPr>
      </p:pic>
      <p:sp>
        <p:nvSpPr>
          <p:cNvPr id="20" name="Shape 15"/>
          <p:cNvSpPr/>
          <p:nvPr/>
        </p:nvSpPr>
        <p:spPr>
          <a:xfrm>
            <a:off x="7315200" y="4297680"/>
            <a:ext cx="1220848" cy="1737360"/>
          </a:xfrm>
          <a:prstGeom prst="rect">
            <a:avLst/>
          </a:prstGeom>
          <a:ln w="9525">
            <a:solidFill>
              <a:srgbClr val="33474B"/>
            </a:solidFill>
            <a:prstDash val="solid"/>
          </a:ln>
        </p:spPr>
      </p:sp>
      <p:sp>
        <p:nvSpPr>
          <p:cNvPr id="21" name="Text 16"/>
          <p:cNvSpPr txBox="1"/>
          <p:nvPr/>
        </p:nvSpPr>
        <p:spPr>
          <a:xfrm>
            <a:off x="7040880" y="6089904"/>
            <a:ext cx="1769488"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Dialog „Eigenkapital nachschießen“</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5FC4B1"/>
                </a:solidFill>
                <a:latin typeface="Calibri" pitchFamily="34" charset="0"/>
                <a:ea typeface="Calibri" pitchFamily="34" charset="-122"/>
                <a:cs typeface="Calibri" pitchFamily="34" charset="-120"/>
              </a:rPr>
              <a:t>PORTFOLIO-MONITORING</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Monitoring: Performance gegen Benchmark</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5FC4B1"/>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5FC4B1"/>
                </a:solidFill>
                <a:latin typeface="Calibri" pitchFamily="34" charset="0"/>
                <a:ea typeface="Calibri" pitchFamily="34" charset="-122"/>
                <a:cs typeface="Calibri" pitchFamily="34" charset="-120"/>
              </a:rPr>
              <a:t>C · VALUE CREATION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32</a:t>
            </a:r>
            <a:endParaRPr lang="en-US" sz="900" dirty="0"/>
          </a:p>
        </p:txBody>
      </p:sp>
      <p:pic>
        <p:nvPicPr>
          <p:cNvPr id="9" name="Image 0" descr="/tmp/claude-0/deck/img/hold_attn.jpg">    </p:cNvPr>
          <p:cNvPicPr>
            <a:picLocks noChangeAspect="1"/>
          </p:cNvPicPr>
          <p:nvPr/>
        </p:nvPicPr>
        <p:blipFill>
          <a:blip r:embed="rId1"/>
          <a:stretch>
            <a:fillRect/>
          </a:stretch>
        </p:blipFill>
        <p:spPr>
          <a:xfrm>
            <a:off x="502920" y="1600200"/>
            <a:ext cx="3037955" cy="4480560"/>
          </a:xfrm>
          <a:prstGeom prst="rect">
            <a:avLst/>
          </a:prstGeom>
        </p:spPr>
      </p:pic>
      <p:sp>
        <p:nvSpPr>
          <p:cNvPr id="10" name="Shape 6"/>
          <p:cNvSpPr/>
          <p:nvPr/>
        </p:nvSpPr>
        <p:spPr>
          <a:xfrm>
            <a:off x="502920" y="1600200"/>
            <a:ext cx="3037955" cy="4480560"/>
          </a:xfrm>
          <a:prstGeom prst="rect">
            <a:avLst/>
          </a:prstGeom>
          <a:ln w="9525">
            <a:solidFill>
              <a:srgbClr val="33474B"/>
            </a:solidFill>
            <a:prstDash val="solid"/>
          </a:ln>
        </p:spPr>
      </p:sp>
      <p:sp>
        <p:nvSpPr>
          <p:cNvPr id="11" name="Text 7"/>
          <p:cNvSpPr txBox="1"/>
          <p:nvPr/>
        </p:nvSpPr>
        <p:spPr>
          <a:xfrm>
            <a:off x="228600" y="6135624"/>
            <a:ext cx="3586595"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Karte mit Warnhinweisen</a:t>
            </a:r>
            <a:endParaRPr lang="en-US" sz="950" dirty="0"/>
          </a:p>
        </p:txBody>
      </p:sp>
      <p:sp>
        <p:nvSpPr>
          <p:cNvPr id="12" name="Text 8"/>
          <p:cNvSpPr txBox="1"/>
          <p:nvPr/>
        </p:nvSpPr>
        <p:spPr>
          <a:xfrm>
            <a:off x="4160520" y="1600200"/>
            <a:ext cx="3657600" cy="228600"/>
          </a:xfrm>
          <a:prstGeom prst="rect">
            <a:avLst/>
          </a:prstGeom>
          <a:noFill/>
          <a:ln/>
        </p:spPr>
        <p:txBody>
          <a:bodyPr wrap="square" lIns="0" tIns="0" rIns="0" bIns="0" rtlCol="0" anchor="t"/>
          <a:lstStyle/>
          <a:p>
            <a:pPr algn="l" indent="0" marL="0">
              <a:buNone/>
            </a:pPr>
            <a:r>
              <a:rPr lang="en-US" sz="1000" b="1" spc="150" kern="0" dirty="0">
                <a:solidFill>
                  <a:srgbClr val="5FC4B1"/>
                </a:solidFill>
                <a:latin typeface="Calibri" pitchFamily="34" charset="0"/>
                <a:ea typeface="Calibri" pitchFamily="34" charset="-122"/>
                <a:cs typeface="Calibri" pitchFamily="34" charset="-120"/>
              </a:rPr>
              <a:t>BEFUNDE NACH GEWICHT (HEALTHOF)</a:t>
            </a:r>
            <a:endParaRPr lang="en-US" sz="1000" dirty="0"/>
          </a:p>
        </p:txBody>
      </p:sp>
      <p:sp>
        <p:nvSpPr>
          <p:cNvPr id="13" name="Shape 9"/>
          <p:cNvSpPr/>
          <p:nvPr/>
        </p:nvSpPr>
        <p:spPr>
          <a:xfrm>
            <a:off x="4160520" y="1920240"/>
            <a:ext cx="3657600" cy="484632"/>
          </a:xfrm>
          <a:prstGeom prst="roundRect">
            <a:avLst>
              <a:gd name="adj" fmla="val 15094"/>
            </a:avLst>
          </a:prstGeom>
          <a:solidFill>
            <a:srgbClr val="161F22"/>
          </a:solidFill>
          <a:ln w="9525">
            <a:solidFill>
              <a:srgbClr val="243033"/>
            </a:solidFill>
            <a:prstDash val="solid"/>
          </a:ln>
        </p:spPr>
      </p:sp>
      <p:sp>
        <p:nvSpPr>
          <p:cNvPr id="14" name="Text 10"/>
          <p:cNvSpPr txBox="1"/>
          <p:nvPr/>
        </p:nvSpPr>
        <p:spPr>
          <a:xfrm>
            <a:off x="4297680" y="1920240"/>
            <a:ext cx="640080" cy="484632"/>
          </a:xfrm>
          <a:prstGeom prst="rect">
            <a:avLst/>
          </a:prstGeom>
          <a:noFill/>
          <a:ln/>
        </p:spPr>
        <p:txBody>
          <a:bodyPr wrap="square" lIns="0" tIns="0" rIns="0" bIns="0" rtlCol="0" anchor="ctr"/>
          <a:lstStyle/>
          <a:p>
            <a:pPr algn="l" indent="0" marL="0">
              <a:buNone/>
            </a:pPr>
            <a:r>
              <a:rPr lang="en-US" sz="1500" b="1" dirty="0">
                <a:solidFill>
                  <a:srgbClr val="E3897F"/>
                </a:solidFill>
                <a:latin typeface="Calibri" pitchFamily="34" charset="0"/>
                <a:ea typeface="Calibri" pitchFamily="34" charset="-122"/>
                <a:cs typeface="Calibri" pitchFamily="34" charset="-120"/>
              </a:rPr>
              <a:t>100</a:t>
            </a:r>
            <a:endParaRPr lang="en-US" sz="1500" dirty="0"/>
          </a:p>
        </p:txBody>
      </p:sp>
      <p:sp>
        <p:nvSpPr>
          <p:cNvPr id="15" name="Text 11"/>
          <p:cNvSpPr txBox="1"/>
          <p:nvPr/>
        </p:nvSpPr>
        <p:spPr>
          <a:xfrm>
            <a:off x="4937760" y="1920240"/>
            <a:ext cx="2788920" cy="484632"/>
          </a:xfrm>
          <a:prstGeom prst="rect">
            <a:avLst/>
          </a:prstGeom>
          <a:noFill/>
          <a:ln/>
        </p:spPr>
        <p:txBody>
          <a:bodyPr wrap="square" lIns="0" tIns="0" rIns="0" bIns="0" rtlCol="0" anchor="ctr"/>
          <a:lstStyle/>
          <a:p>
            <a:pPr algn="l" indent="0" marL="0">
              <a:buNone/>
            </a:pPr>
            <a:r>
              <a:rPr lang="en-US" sz="1250" dirty="0">
                <a:solidFill>
                  <a:srgbClr val="EDF1EE"/>
                </a:solidFill>
                <a:latin typeface="Calibri" pitchFamily="34" charset="0"/>
                <a:ea typeface="Calibri" pitchFamily="34" charset="-122"/>
                <a:cs typeface="Calibri" pitchFamily="34" charset="-120"/>
              </a:rPr>
              <a:t>Covenant gebrochen</a:t>
            </a:r>
            <a:endParaRPr lang="en-US" sz="1250" dirty="0"/>
          </a:p>
        </p:txBody>
      </p:sp>
      <p:sp>
        <p:nvSpPr>
          <p:cNvPr id="16" name="Shape 12"/>
          <p:cNvSpPr/>
          <p:nvPr/>
        </p:nvSpPr>
        <p:spPr>
          <a:xfrm>
            <a:off x="4160520" y="2496312"/>
            <a:ext cx="3657600" cy="484632"/>
          </a:xfrm>
          <a:prstGeom prst="roundRect">
            <a:avLst>
              <a:gd name="adj" fmla="val 15094"/>
            </a:avLst>
          </a:prstGeom>
          <a:solidFill>
            <a:srgbClr val="161F22"/>
          </a:solidFill>
          <a:ln w="9525">
            <a:solidFill>
              <a:srgbClr val="243033"/>
            </a:solidFill>
            <a:prstDash val="solid"/>
          </a:ln>
        </p:spPr>
      </p:sp>
      <p:sp>
        <p:nvSpPr>
          <p:cNvPr id="17" name="Text 13"/>
          <p:cNvSpPr txBox="1"/>
          <p:nvPr/>
        </p:nvSpPr>
        <p:spPr>
          <a:xfrm>
            <a:off x="4297680" y="2496312"/>
            <a:ext cx="640080" cy="484632"/>
          </a:xfrm>
          <a:prstGeom prst="rect">
            <a:avLst/>
          </a:prstGeom>
          <a:noFill/>
          <a:ln/>
        </p:spPr>
        <p:txBody>
          <a:bodyPr wrap="square" lIns="0" tIns="0" rIns="0" bIns="0" rtlCol="0" anchor="ctr"/>
          <a:lstStyle/>
          <a:p>
            <a:pPr algn="l" indent="0" marL="0">
              <a:buNone/>
            </a:pPr>
            <a:r>
              <a:rPr lang="en-US" sz="1500" b="1" dirty="0">
                <a:solidFill>
                  <a:srgbClr val="E3897F"/>
                </a:solidFill>
                <a:latin typeface="Calibri" pitchFamily="34" charset="0"/>
                <a:ea typeface="Calibri" pitchFamily="34" charset="-122"/>
                <a:cs typeface="Calibri" pitchFamily="34" charset="-120"/>
              </a:rPr>
              <a:t>88</a:t>
            </a:r>
            <a:endParaRPr lang="en-US" sz="1500" dirty="0"/>
          </a:p>
        </p:txBody>
      </p:sp>
      <p:sp>
        <p:nvSpPr>
          <p:cNvPr id="18" name="Text 14"/>
          <p:cNvSpPr txBox="1"/>
          <p:nvPr/>
        </p:nvSpPr>
        <p:spPr>
          <a:xfrm>
            <a:off x="4937760" y="2496312"/>
            <a:ext cx="2788920" cy="484632"/>
          </a:xfrm>
          <a:prstGeom prst="rect">
            <a:avLst/>
          </a:prstGeom>
          <a:noFill/>
          <a:ln/>
        </p:spPr>
        <p:txBody>
          <a:bodyPr wrap="square" lIns="0" tIns="0" rIns="0" bIns="0" rtlCol="0" anchor="ctr"/>
          <a:lstStyle/>
          <a:p>
            <a:pPr algn="l" indent="0" marL="0">
              <a:buNone/>
            </a:pPr>
            <a:r>
              <a:rPr lang="en-US" sz="1250" dirty="0">
                <a:solidFill>
                  <a:srgbClr val="EDF1EE"/>
                </a:solidFill>
                <a:latin typeface="Calibri" pitchFamily="34" charset="0"/>
                <a:ea typeface="Calibri" pitchFamily="34" charset="-122"/>
                <a:cs typeface="Calibri" pitchFamily="34" charset="-120"/>
              </a:rPr>
              <a:t>Covenant-Luft &lt; 0,4×</a:t>
            </a:r>
            <a:endParaRPr lang="en-US" sz="1250" dirty="0"/>
          </a:p>
        </p:txBody>
      </p:sp>
      <p:sp>
        <p:nvSpPr>
          <p:cNvPr id="19" name="Shape 15"/>
          <p:cNvSpPr/>
          <p:nvPr/>
        </p:nvSpPr>
        <p:spPr>
          <a:xfrm>
            <a:off x="4160520" y="3072384"/>
            <a:ext cx="3657600" cy="484632"/>
          </a:xfrm>
          <a:prstGeom prst="roundRect">
            <a:avLst>
              <a:gd name="adj" fmla="val 15094"/>
            </a:avLst>
          </a:prstGeom>
          <a:solidFill>
            <a:srgbClr val="161F22"/>
          </a:solidFill>
          <a:ln w="9525">
            <a:solidFill>
              <a:srgbClr val="243033"/>
            </a:solidFill>
            <a:prstDash val="solid"/>
          </a:ln>
        </p:spPr>
      </p:sp>
      <p:sp>
        <p:nvSpPr>
          <p:cNvPr id="20" name="Text 16"/>
          <p:cNvSpPr txBox="1"/>
          <p:nvPr/>
        </p:nvSpPr>
        <p:spPr>
          <a:xfrm>
            <a:off x="4297680" y="3072384"/>
            <a:ext cx="640080" cy="484632"/>
          </a:xfrm>
          <a:prstGeom prst="rect">
            <a:avLst/>
          </a:prstGeom>
          <a:noFill/>
          <a:ln/>
        </p:spPr>
        <p:txBody>
          <a:bodyPr wrap="square" lIns="0" tIns="0" rIns="0" bIns="0" rtlCol="0" anchor="ctr"/>
          <a:lstStyle/>
          <a:p>
            <a:pPr algn="l" indent="0" marL="0">
              <a:buNone/>
            </a:pPr>
            <a:r>
              <a:rPr lang="en-US" sz="1500" b="1" dirty="0">
                <a:solidFill>
                  <a:srgbClr val="E3897F"/>
                </a:solidFill>
                <a:latin typeface="Calibri" pitchFamily="34" charset="0"/>
                <a:ea typeface="Calibri" pitchFamily="34" charset="-122"/>
                <a:cs typeface="Calibri" pitchFamily="34" charset="-120"/>
              </a:rPr>
              <a:t>74</a:t>
            </a:r>
            <a:endParaRPr lang="en-US" sz="1500" dirty="0"/>
          </a:p>
        </p:txBody>
      </p:sp>
      <p:sp>
        <p:nvSpPr>
          <p:cNvPr id="21" name="Text 17"/>
          <p:cNvSpPr txBox="1"/>
          <p:nvPr/>
        </p:nvSpPr>
        <p:spPr>
          <a:xfrm>
            <a:off x="4937760" y="3072384"/>
            <a:ext cx="2788920" cy="484632"/>
          </a:xfrm>
          <a:prstGeom prst="rect">
            <a:avLst/>
          </a:prstGeom>
          <a:noFill/>
          <a:ln/>
        </p:spPr>
        <p:txBody>
          <a:bodyPr wrap="square" lIns="0" tIns="0" rIns="0" bIns="0" rtlCol="0" anchor="ctr"/>
          <a:lstStyle/>
          <a:p>
            <a:pPr algn="l" indent="0" marL="0">
              <a:buNone/>
            </a:pPr>
            <a:r>
              <a:rPr lang="en-US" sz="1250" dirty="0">
                <a:solidFill>
                  <a:srgbClr val="EDF1EE"/>
                </a:solidFill>
                <a:latin typeface="Calibri" pitchFamily="34" charset="0"/>
                <a:ea typeface="Calibri" pitchFamily="34" charset="-122"/>
                <a:cs typeface="Calibri" pitchFamily="34" charset="-120"/>
              </a:rPr>
              <a:t>Position vakant</a:t>
            </a:r>
            <a:endParaRPr lang="en-US" sz="1250" dirty="0"/>
          </a:p>
        </p:txBody>
      </p:sp>
      <p:sp>
        <p:nvSpPr>
          <p:cNvPr id="22" name="Shape 18"/>
          <p:cNvSpPr/>
          <p:nvPr/>
        </p:nvSpPr>
        <p:spPr>
          <a:xfrm>
            <a:off x="4160520" y="3648456"/>
            <a:ext cx="3657600" cy="484632"/>
          </a:xfrm>
          <a:prstGeom prst="roundRect">
            <a:avLst>
              <a:gd name="adj" fmla="val 15094"/>
            </a:avLst>
          </a:prstGeom>
          <a:solidFill>
            <a:srgbClr val="161F22"/>
          </a:solidFill>
          <a:ln w="9525">
            <a:solidFill>
              <a:srgbClr val="243033"/>
            </a:solidFill>
            <a:prstDash val="solid"/>
          </a:ln>
        </p:spPr>
      </p:sp>
      <p:sp>
        <p:nvSpPr>
          <p:cNvPr id="23" name="Text 19"/>
          <p:cNvSpPr txBox="1"/>
          <p:nvPr/>
        </p:nvSpPr>
        <p:spPr>
          <a:xfrm>
            <a:off x="4297680" y="3648456"/>
            <a:ext cx="640080" cy="484632"/>
          </a:xfrm>
          <a:prstGeom prst="rect">
            <a:avLst/>
          </a:prstGeom>
          <a:noFill/>
          <a:ln/>
        </p:spPr>
        <p:txBody>
          <a:bodyPr wrap="square" lIns="0" tIns="0" rIns="0" bIns="0" rtlCol="0" anchor="ctr"/>
          <a:lstStyle/>
          <a:p>
            <a:pPr algn="l" indent="0" marL="0">
              <a:buNone/>
            </a:pPr>
            <a:r>
              <a:rPr lang="en-US" sz="1500" b="1" dirty="0">
                <a:solidFill>
                  <a:srgbClr val="E3897F"/>
                </a:solidFill>
                <a:latin typeface="Calibri" pitchFamily="34" charset="0"/>
                <a:ea typeface="Calibri" pitchFamily="34" charset="-122"/>
                <a:cs typeface="Calibri" pitchFamily="34" charset="-120"/>
              </a:rPr>
              <a:t>66</a:t>
            </a:r>
            <a:endParaRPr lang="en-US" sz="1500" dirty="0"/>
          </a:p>
        </p:txBody>
      </p:sp>
      <p:sp>
        <p:nvSpPr>
          <p:cNvPr id="24" name="Text 20"/>
          <p:cNvSpPr txBox="1"/>
          <p:nvPr/>
        </p:nvSpPr>
        <p:spPr>
          <a:xfrm>
            <a:off x="4937760" y="3648456"/>
            <a:ext cx="2788920" cy="484632"/>
          </a:xfrm>
          <a:prstGeom prst="rect">
            <a:avLst/>
          </a:prstGeom>
          <a:noFill/>
          <a:ln/>
        </p:spPr>
        <p:txBody>
          <a:bodyPr wrap="square" lIns="0" tIns="0" rIns="0" bIns="0" rtlCol="0" anchor="ctr"/>
          <a:lstStyle/>
          <a:p>
            <a:pPr algn="l" indent="0" marL="0">
              <a:buNone/>
            </a:pPr>
            <a:r>
              <a:rPr lang="en-US" sz="1250" dirty="0">
                <a:solidFill>
                  <a:srgbClr val="EDF1EE"/>
                </a:solidFill>
                <a:latin typeface="Calibri" pitchFamily="34" charset="0"/>
                <a:ea typeface="Calibri" pitchFamily="34" charset="-122"/>
                <a:cs typeface="Calibri" pitchFamily="34" charset="-120"/>
              </a:rPr>
              <a:t>unter Einstand (&lt; 0,95×)</a:t>
            </a:r>
            <a:endParaRPr lang="en-US" sz="1250" dirty="0"/>
          </a:p>
        </p:txBody>
      </p:sp>
      <p:sp>
        <p:nvSpPr>
          <p:cNvPr id="25" name="Shape 21"/>
          <p:cNvSpPr/>
          <p:nvPr/>
        </p:nvSpPr>
        <p:spPr>
          <a:xfrm>
            <a:off x="4160520" y="4224528"/>
            <a:ext cx="3657600" cy="484632"/>
          </a:xfrm>
          <a:prstGeom prst="roundRect">
            <a:avLst>
              <a:gd name="adj" fmla="val 15094"/>
            </a:avLst>
          </a:prstGeom>
          <a:solidFill>
            <a:srgbClr val="161F22"/>
          </a:solidFill>
          <a:ln w="9525">
            <a:solidFill>
              <a:srgbClr val="243033"/>
            </a:solidFill>
            <a:prstDash val="solid"/>
          </a:ln>
        </p:spPr>
      </p:sp>
      <p:sp>
        <p:nvSpPr>
          <p:cNvPr id="26" name="Text 22"/>
          <p:cNvSpPr txBox="1"/>
          <p:nvPr/>
        </p:nvSpPr>
        <p:spPr>
          <a:xfrm>
            <a:off x="4297680" y="4224528"/>
            <a:ext cx="640080" cy="484632"/>
          </a:xfrm>
          <a:prstGeom prst="rect">
            <a:avLst/>
          </a:prstGeom>
          <a:noFill/>
          <a:ln/>
        </p:spPr>
        <p:txBody>
          <a:bodyPr wrap="square" lIns="0" tIns="0" rIns="0" bIns="0" rtlCol="0" anchor="ctr"/>
          <a:lstStyle/>
          <a:p>
            <a:pPr algn="l" indent="0" marL="0">
              <a:buNone/>
            </a:pPr>
            <a:r>
              <a:rPr lang="en-US" sz="1500" b="1" dirty="0">
                <a:solidFill>
                  <a:srgbClr val="E3897F"/>
                </a:solidFill>
                <a:latin typeface="Calibri" pitchFamily="34" charset="0"/>
                <a:ea typeface="Calibri" pitchFamily="34" charset="-122"/>
                <a:cs typeface="Calibri" pitchFamily="34" charset="-120"/>
              </a:rPr>
              <a:t>58</a:t>
            </a:r>
            <a:endParaRPr lang="en-US" sz="1500" dirty="0"/>
          </a:p>
        </p:txBody>
      </p:sp>
      <p:sp>
        <p:nvSpPr>
          <p:cNvPr id="27" name="Text 23"/>
          <p:cNvSpPr txBox="1"/>
          <p:nvPr/>
        </p:nvSpPr>
        <p:spPr>
          <a:xfrm>
            <a:off x="4937760" y="4224528"/>
            <a:ext cx="2788920" cy="484632"/>
          </a:xfrm>
          <a:prstGeom prst="rect">
            <a:avLst/>
          </a:prstGeom>
          <a:noFill/>
          <a:ln/>
        </p:spPr>
        <p:txBody>
          <a:bodyPr wrap="square" lIns="0" tIns="0" rIns="0" bIns="0" rtlCol="0" anchor="ctr"/>
          <a:lstStyle/>
          <a:p>
            <a:pPr algn="l" indent="0" marL="0">
              <a:buNone/>
            </a:pPr>
            <a:r>
              <a:rPr lang="en-US" sz="1250" dirty="0">
                <a:solidFill>
                  <a:srgbClr val="EDF1EE"/>
                </a:solidFill>
                <a:latin typeface="Calibri" pitchFamily="34" charset="0"/>
                <a:ea typeface="Calibri" pitchFamily="34" charset="-122"/>
                <a:cs typeface="Calibri" pitchFamily="34" charset="-120"/>
              </a:rPr>
              <a:t>Wachstum überdehnt</a:t>
            </a:r>
            <a:endParaRPr lang="en-US" sz="1250" dirty="0"/>
          </a:p>
        </p:txBody>
      </p:sp>
      <p:sp>
        <p:nvSpPr>
          <p:cNvPr id="28" name="Shape 24"/>
          <p:cNvSpPr/>
          <p:nvPr/>
        </p:nvSpPr>
        <p:spPr>
          <a:xfrm>
            <a:off x="4160520" y="4800600"/>
            <a:ext cx="3657600" cy="484632"/>
          </a:xfrm>
          <a:prstGeom prst="roundRect">
            <a:avLst>
              <a:gd name="adj" fmla="val 15094"/>
            </a:avLst>
          </a:prstGeom>
          <a:solidFill>
            <a:srgbClr val="1C282B"/>
          </a:solidFill>
          <a:ln w="9525">
            <a:solidFill>
              <a:srgbClr val="243033"/>
            </a:solidFill>
            <a:prstDash val="solid"/>
          </a:ln>
        </p:spPr>
      </p:sp>
      <p:sp>
        <p:nvSpPr>
          <p:cNvPr id="29" name="Text 25"/>
          <p:cNvSpPr txBox="1"/>
          <p:nvPr/>
        </p:nvSpPr>
        <p:spPr>
          <a:xfrm>
            <a:off x="4297680" y="4800600"/>
            <a:ext cx="640080" cy="484632"/>
          </a:xfrm>
          <a:prstGeom prst="rect">
            <a:avLst/>
          </a:prstGeom>
          <a:noFill/>
          <a:ln/>
        </p:spPr>
        <p:txBody>
          <a:bodyPr wrap="square" lIns="0" tIns="0" rIns="0" bIns="0" rtlCol="0" anchor="ctr"/>
          <a:lstStyle/>
          <a:p>
            <a:pPr algn="l" indent="0" marL="0">
              <a:buNone/>
            </a:pPr>
            <a:r>
              <a:rPr lang="en-US" sz="1500" b="1" dirty="0">
                <a:solidFill>
                  <a:srgbClr val="DCB264"/>
                </a:solidFill>
                <a:latin typeface="Calibri" pitchFamily="34" charset="0"/>
                <a:ea typeface="Calibri" pitchFamily="34" charset="-122"/>
                <a:cs typeface="Calibri" pitchFamily="34" charset="-120"/>
              </a:rPr>
              <a:t>44</a:t>
            </a:r>
            <a:endParaRPr lang="en-US" sz="1500" dirty="0"/>
          </a:p>
        </p:txBody>
      </p:sp>
      <p:sp>
        <p:nvSpPr>
          <p:cNvPr id="30" name="Text 26"/>
          <p:cNvSpPr txBox="1"/>
          <p:nvPr/>
        </p:nvSpPr>
        <p:spPr>
          <a:xfrm>
            <a:off x="4937760" y="4800600"/>
            <a:ext cx="2788920" cy="484632"/>
          </a:xfrm>
          <a:prstGeom prst="rect">
            <a:avLst/>
          </a:prstGeom>
          <a:noFill/>
          <a:ln/>
        </p:spPr>
        <p:txBody>
          <a:bodyPr wrap="square" lIns="0" tIns="0" rIns="0" bIns="0" rtlCol="0" anchor="ctr"/>
          <a:lstStyle/>
          <a:p>
            <a:pPr algn="l" indent="0" marL="0">
              <a:buNone/>
            </a:pPr>
            <a:r>
              <a:rPr lang="en-US" sz="1250" dirty="0">
                <a:solidFill>
                  <a:srgbClr val="EDF1EE"/>
                </a:solidFill>
                <a:latin typeface="Calibri" pitchFamily="34" charset="0"/>
                <a:ea typeface="Calibri" pitchFamily="34" charset="-122"/>
                <a:cs typeface="Calibri" pitchFamily="34" charset="-120"/>
              </a:rPr>
              <a:t>Marge unter Benchmark</a:t>
            </a:r>
            <a:endParaRPr lang="en-US" sz="1250" dirty="0"/>
          </a:p>
        </p:txBody>
      </p:sp>
      <p:sp>
        <p:nvSpPr>
          <p:cNvPr id="31" name="Shape 27"/>
          <p:cNvSpPr/>
          <p:nvPr/>
        </p:nvSpPr>
        <p:spPr>
          <a:xfrm>
            <a:off x="4160520" y="5376672"/>
            <a:ext cx="3657600" cy="484632"/>
          </a:xfrm>
          <a:prstGeom prst="roundRect">
            <a:avLst>
              <a:gd name="adj" fmla="val 15094"/>
            </a:avLst>
          </a:prstGeom>
          <a:solidFill>
            <a:srgbClr val="1C282B"/>
          </a:solidFill>
          <a:ln w="9525">
            <a:solidFill>
              <a:srgbClr val="243033"/>
            </a:solidFill>
            <a:prstDash val="solid"/>
          </a:ln>
        </p:spPr>
      </p:sp>
      <p:sp>
        <p:nvSpPr>
          <p:cNvPr id="32" name="Text 28"/>
          <p:cNvSpPr txBox="1"/>
          <p:nvPr/>
        </p:nvSpPr>
        <p:spPr>
          <a:xfrm>
            <a:off x="4297680" y="5376672"/>
            <a:ext cx="640080" cy="484632"/>
          </a:xfrm>
          <a:prstGeom prst="rect">
            <a:avLst/>
          </a:prstGeom>
          <a:noFill/>
          <a:ln/>
        </p:spPr>
        <p:txBody>
          <a:bodyPr wrap="square" lIns="0" tIns="0" rIns="0" bIns="0" rtlCol="0" anchor="ctr"/>
          <a:lstStyle/>
          <a:p>
            <a:pPr algn="l" indent="0" marL="0">
              <a:buNone/>
            </a:pPr>
            <a:r>
              <a:rPr lang="en-US" sz="1500" b="1" dirty="0">
                <a:solidFill>
                  <a:srgbClr val="DCB264"/>
                </a:solidFill>
                <a:latin typeface="Calibri" pitchFamily="34" charset="0"/>
                <a:ea typeface="Calibri" pitchFamily="34" charset="-122"/>
                <a:cs typeface="Calibri" pitchFamily="34" charset="-120"/>
              </a:rPr>
              <a:t>38</a:t>
            </a:r>
            <a:endParaRPr lang="en-US" sz="1500" dirty="0"/>
          </a:p>
        </p:txBody>
      </p:sp>
      <p:sp>
        <p:nvSpPr>
          <p:cNvPr id="33" name="Text 29"/>
          <p:cNvSpPr txBox="1"/>
          <p:nvPr/>
        </p:nvSpPr>
        <p:spPr>
          <a:xfrm>
            <a:off x="4937760" y="5376672"/>
            <a:ext cx="2788920" cy="484632"/>
          </a:xfrm>
          <a:prstGeom prst="rect">
            <a:avLst/>
          </a:prstGeom>
          <a:noFill/>
          <a:ln/>
        </p:spPr>
        <p:txBody>
          <a:bodyPr wrap="square" lIns="0" tIns="0" rIns="0" bIns="0" rtlCol="0" anchor="ctr"/>
          <a:lstStyle/>
          <a:p>
            <a:pPr algn="l" indent="0" marL="0">
              <a:buNone/>
            </a:pPr>
            <a:r>
              <a:rPr lang="en-US" sz="1250" dirty="0">
                <a:solidFill>
                  <a:srgbClr val="EDF1EE"/>
                </a:solidFill>
                <a:latin typeface="Calibri" pitchFamily="34" charset="0"/>
                <a:ea typeface="Calibri" pitchFamily="34" charset="-122"/>
                <a:cs typeface="Calibri" pitchFamily="34" charset="-120"/>
              </a:rPr>
              <a:t>keine Maßnahme aktiv</a:t>
            </a:r>
            <a:endParaRPr lang="en-US" sz="1250" dirty="0"/>
          </a:p>
        </p:txBody>
      </p:sp>
      <p:sp>
        <p:nvSpPr>
          <p:cNvPr id="34" name="Shape 30"/>
          <p:cNvSpPr/>
          <p:nvPr/>
        </p:nvSpPr>
        <p:spPr>
          <a:xfrm>
            <a:off x="4160520" y="4754880"/>
            <a:ext cx="3657600" cy="0"/>
          </a:xfrm>
          <a:prstGeom prst="line">
            <a:avLst/>
          </a:prstGeom>
          <a:noFill/>
          <a:ln w="12700">
            <a:solidFill>
              <a:srgbClr val="DCB264"/>
            </a:solidFill>
            <a:prstDash val="dash"/>
          </a:ln>
        </p:spPr>
      </p:sp>
      <p:sp>
        <p:nvSpPr>
          <p:cNvPr id="35" name="Text 31"/>
          <p:cNvSpPr txBox="1"/>
          <p:nvPr/>
        </p:nvSpPr>
        <p:spPr>
          <a:xfrm>
            <a:off x="4160520" y="5989320"/>
            <a:ext cx="3657600" cy="274320"/>
          </a:xfrm>
          <a:prstGeom prst="rect">
            <a:avLst/>
          </a:prstGeom>
          <a:noFill/>
          <a:ln/>
        </p:spPr>
        <p:txBody>
          <a:bodyPr wrap="square" lIns="0" tIns="0" rIns="0" bIns="0" rtlCol="0" anchor="t"/>
          <a:lstStyle/>
          <a:p>
            <a:pPr algn="l" indent="0" marL="0">
              <a:buNone/>
            </a:pPr>
            <a:r>
              <a:rPr lang="en-US" sz="1050" b="1" dirty="0">
                <a:solidFill>
                  <a:srgbClr val="DCB264"/>
                </a:solidFill>
                <a:latin typeface="Calibri" pitchFamily="34" charset="0"/>
                <a:ea typeface="Calibri" pitchFamily="34" charset="-122"/>
                <a:cs typeface="Calibri" pitchFamily="34" charset="-120"/>
              </a:rPr>
              <a:t>↑ ab 55: „Needs Attention“</a:t>
            </a:r>
            <a:endParaRPr lang="en-US" sz="1050" dirty="0"/>
          </a:p>
        </p:txBody>
      </p:sp>
      <p:pic>
        <p:nvPicPr>
          <p:cNvPr id="36" name="Image 1" descr="/tmp/claude-0/deck/img/hold_perf.jpg">    </p:cNvPr>
          <p:cNvPicPr>
            <a:picLocks noChangeAspect="1"/>
          </p:cNvPicPr>
          <p:nvPr/>
        </p:nvPicPr>
        <p:blipFill>
          <a:blip r:embed="rId2"/>
          <a:stretch>
            <a:fillRect/>
          </a:stretch>
        </p:blipFill>
        <p:spPr>
          <a:xfrm>
            <a:off x="8920445" y="1600200"/>
            <a:ext cx="2765587" cy="4480560"/>
          </a:xfrm>
          <a:prstGeom prst="rect">
            <a:avLst/>
          </a:prstGeom>
        </p:spPr>
      </p:pic>
      <p:sp>
        <p:nvSpPr>
          <p:cNvPr id="37" name="Shape 32"/>
          <p:cNvSpPr/>
          <p:nvPr/>
        </p:nvSpPr>
        <p:spPr>
          <a:xfrm>
            <a:off x="8920445" y="1600200"/>
            <a:ext cx="2765587" cy="4480560"/>
          </a:xfrm>
          <a:prstGeom prst="rect">
            <a:avLst/>
          </a:prstGeom>
          <a:ln w="9525">
            <a:solidFill>
              <a:srgbClr val="33474B"/>
            </a:solidFill>
            <a:prstDash val="solid"/>
          </a:ln>
        </p:spPr>
      </p:sp>
      <p:sp>
        <p:nvSpPr>
          <p:cNvPr id="38" name="Text 33"/>
          <p:cNvSpPr txBox="1"/>
          <p:nvPr/>
        </p:nvSpPr>
        <p:spPr>
          <a:xfrm>
            <a:off x="8646125" y="6135624"/>
            <a:ext cx="3314227"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Performance-Vergleich und Wertbeitrag</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5FC4B1"/>
                </a:solidFill>
                <a:latin typeface="Calibri" pitchFamily="34" charset="0"/>
                <a:ea typeface="Calibri" pitchFamily="34" charset="-122"/>
                <a:cs typeface="Calibri" pitchFamily="34" charset="-120"/>
              </a:rPr>
              <a:t>KERNAUSSAGEN</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Was in der Value Creation zählt</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5FC4B1"/>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5FC4B1"/>
                </a:solidFill>
                <a:latin typeface="Calibri" pitchFamily="34" charset="0"/>
                <a:ea typeface="Calibri" pitchFamily="34" charset="-122"/>
                <a:cs typeface="Calibri" pitchFamily="34" charset="-120"/>
              </a:rPr>
              <a:t>C · VALUE CREATION</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33</a:t>
            </a:r>
            <a:endParaRPr lang="en-US" sz="900" dirty="0"/>
          </a:p>
        </p:txBody>
      </p:sp>
      <p:sp>
        <p:nvSpPr>
          <p:cNvPr id="9" name="Shape 6"/>
          <p:cNvSpPr/>
          <p:nvPr/>
        </p:nvSpPr>
        <p:spPr>
          <a:xfrm>
            <a:off x="502920" y="1600200"/>
            <a:ext cx="5410048" cy="1417320"/>
          </a:xfrm>
          <a:prstGeom prst="roundRect">
            <a:avLst>
              <a:gd name="adj" fmla="val 5161"/>
            </a:avLst>
          </a:prstGeom>
          <a:solidFill>
            <a:srgbClr val="161F22"/>
          </a:solidFill>
          <a:ln w="9525">
            <a:solidFill>
              <a:srgbClr val="243033"/>
            </a:solidFill>
            <a:prstDash val="solid"/>
          </a:ln>
        </p:spPr>
      </p:sp>
      <p:sp>
        <p:nvSpPr>
          <p:cNvPr id="10" name="Shape 7"/>
          <p:cNvSpPr/>
          <p:nvPr/>
        </p:nvSpPr>
        <p:spPr>
          <a:xfrm>
            <a:off x="731520" y="1856232"/>
            <a:ext cx="457200" cy="457200"/>
          </a:xfrm>
          <a:prstGeom prst="ellipse">
            <a:avLst/>
          </a:prstGeom>
          <a:solidFill>
            <a:srgbClr val="5FC4B1"/>
          </a:solidFill>
          <a:ln/>
        </p:spPr>
      </p:sp>
      <p:sp>
        <p:nvSpPr>
          <p:cNvPr id="11" name="Text 8"/>
          <p:cNvSpPr txBox="1"/>
          <p:nvPr/>
        </p:nvSpPr>
        <p:spPr>
          <a:xfrm>
            <a:off x="731520" y="1856232"/>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1</a:t>
            </a:r>
            <a:endParaRPr lang="en-US" sz="1600" dirty="0"/>
          </a:p>
        </p:txBody>
      </p:sp>
      <p:sp>
        <p:nvSpPr>
          <p:cNvPr id="12" name="Text 9"/>
          <p:cNvSpPr txBox="1"/>
          <p:nvPr/>
        </p:nvSpPr>
        <p:spPr>
          <a:xfrm>
            <a:off x="1371600" y="1783080"/>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EBITDA ist der größte Hebel</a:t>
            </a:r>
            <a:endParaRPr lang="en-US" sz="1600" dirty="0"/>
          </a:p>
        </p:txBody>
      </p:sp>
      <p:sp>
        <p:nvSpPr>
          <p:cNvPr id="13" name="Text 10"/>
          <p:cNvSpPr txBox="1"/>
          <p:nvPr/>
        </p:nvSpPr>
        <p:spPr>
          <a:xfrm>
            <a:off x="1371600" y="2221992"/>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Im Mittel der Simulation stammt der größte Teil des Gewinns aus EBITDA-Wachstum.</a:t>
            </a:r>
            <a:endParaRPr lang="en-US" sz="1250" dirty="0"/>
          </a:p>
        </p:txBody>
      </p:sp>
      <p:sp>
        <p:nvSpPr>
          <p:cNvPr id="14" name="Shape 11"/>
          <p:cNvSpPr/>
          <p:nvPr/>
        </p:nvSpPr>
        <p:spPr>
          <a:xfrm>
            <a:off x="6278728" y="1600200"/>
            <a:ext cx="5410048" cy="1417320"/>
          </a:xfrm>
          <a:prstGeom prst="roundRect">
            <a:avLst>
              <a:gd name="adj" fmla="val 5161"/>
            </a:avLst>
          </a:prstGeom>
          <a:solidFill>
            <a:srgbClr val="161F22"/>
          </a:solidFill>
          <a:ln w="9525">
            <a:solidFill>
              <a:srgbClr val="243033"/>
            </a:solidFill>
            <a:prstDash val="solid"/>
          </a:ln>
        </p:spPr>
      </p:sp>
      <p:sp>
        <p:nvSpPr>
          <p:cNvPr id="15" name="Shape 12"/>
          <p:cNvSpPr/>
          <p:nvPr/>
        </p:nvSpPr>
        <p:spPr>
          <a:xfrm>
            <a:off x="6507328" y="1856232"/>
            <a:ext cx="457200" cy="457200"/>
          </a:xfrm>
          <a:prstGeom prst="ellipse">
            <a:avLst/>
          </a:prstGeom>
          <a:solidFill>
            <a:srgbClr val="5FC4B1"/>
          </a:solidFill>
          <a:ln/>
        </p:spPr>
      </p:sp>
      <p:sp>
        <p:nvSpPr>
          <p:cNvPr id="16" name="Text 13"/>
          <p:cNvSpPr txBox="1"/>
          <p:nvPr/>
        </p:nvSpPr>
        <p:spPr>
          <a:xfrm>
            <a:off x="6507328" y="1856232"/>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2</a:t>
            </a:r>
            <a:endParaRPr lang="en-US" sz="1600" dirty="0"/>
          </a:p>
        </p:txBody>
      </p:sp>
      <p:sp>
        <p:nvSpPr>
          <p:cNvPr id="17" name="Text 14"/>
          <p:cNvSpPr txBox="1"/>
          <p:nvPr/>
        </p:nvSpPr>
        <p:spPr>
          <a:xfrm>
            <a:off x="7147408" y="1783080"/>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Balance statt Tunnelblick</a:t>
            </a:r>
            <a:endParaRPr lang="en-US" sz="1600" dirty="0"/>
          </a:p>
        </p:txBody>
      </p:sp>
      <p:sp>
        <p:nvSpPr>
          <p:cNvPr id="18" name="Text 15"/>
          <p:cNvSpPr txBox="1"/>
          <p:nvPr/>
        </p:nvSpPr>
        <p:spPr>
          <a:xfrm>
            <a:off x="7147408" y="2221992"/>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Growth wirkt nur bis People + 1 und Performance + 1 – darüber schadet es.</a:t>
            </a:r>
            <a:endParaRPr lang="en-US" sz="1250" dirty="0"/>
          </a:p>
        </p:txBody>
      </p:sp>
      <p:sp>
        <p:nvSpPr>
          <p:cNvPr id="19" name="Shape 16"/>
          <p:cNvSpPr/>
          <p:nvPr/>
        </p:nvSpPr>
        <p:spPr>
          <a:xfrm>
            <a:off x="502920" y="3172968"/>
            <a:ext cx="5410048" cy="1417320"/>
          </a:xfrm>
          <a:prstGeom prst="roundRect">
            <a:avLst>
              <a:gd name="adj" fmla="val 5161"/>
            </a:avLst>
          </a:prstGeom>
          <a:solidFill>
            <a:srgbClr val="161F22"/>
          </a:solidFill>
          <a:ln w="9525">
            <a:solidFill>
              <a:srgbClr val="243033"/>
            </a:solidFill>
            <a:prstDash val="solid"/>
          </a:ln>
        </p:spPr>
      </p:sp>
      <p:sp>
        <p:nvSpPr>
          <p:cNvPr id="20" name="Shape 17"/>
          <p:cNvSpPr/>
          <p:nvPr/>
        </p:nvSpPr>
        <p:spPr>
          <a:xfrm>
            <a:off x="731520" y="3429000"/>
            <a:ext cx="457200" cy="457200"/>
          </a:xfrm>
          <a:prstGeom prst="ellipse">
            <a:avLst/>
          </a:prstGeom>
          <a:solidFill>
            <a:srgbClr val="5FC4B1"/>
          </a:solidFill>
          <a:ln/>
        </p:spPr>
      </p:sp>
      <p:sp>
        <p:nvSpPr>
          <p:cNvPr id="21" name="Text 18"/>
          <p:cNvSpPr txBox="1"/>
          <p:nvPr/>
        </p:nvSpPr>
        <p:spPr>
          <a:xfrm>
            <a:off x="731520" y="3429000"/>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3</a:t>
            </a:r>
            <a:endParaRPr lang="en-US" sz="1600" dirty="0"/>
          </a:p>
        </p:txBody>
      </p:sp>
      <p:sp>
        <p:nvSpPr>
          <p:cNvPr id="22" name="Text 19"/>
          <p:cNvSpPr txBox="1"/>
          <p:nvPr/>
        </p:nvSpPr>
        <p:spPr>
          <a:xfrm>
            <a:off x="1371600" y="3355848"/>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Die passende Maßnahme wählen</a:t>
            </a:r>
            <a:endParaRPr lang="en-US" sz="1600" dirty="0"/>
          </a:p>
        </p:txBody>
      </p:sp>
      <p:sp>
        <p:nvSpPr>
          <p:cNvPr id="23" name="Text 20"/>
          <p:cNvSpPr txBox="1"/>
          <p:nvPr/>
        </p:nvSpPr>
        <p:spPr>
          <a:xfrm>
            <a:off x="1371600" y="3794760"/>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Eignung hängt am Defizit: Cost-out bei schwacher Marge, Expansion in wachsenden Märkten.</a:t>
            </a:r>
            <a:endParaRPr lang="en-US" sz="1250" dirty="0"/>
          </a:p>
        </p:txBody>
      </p:sp>
      <p:sp>
        <p:nvSpPr>
          <p:cNvPr id="24" name="Shape 21"/>
          <p:cNvSpPr/>
          <p:nvPr/>
        </p:nvSpPr>
        <p:spPr>
          <a:xfrm>
            <a:off x="6278728" y="3172968"/>
            <a:ext cx="5410048" cy="1417320"/>
          </a:xfrm>
          <a:prstGeom prst="roundRect">
            <a:avLst>
              <a:gd name="adj" fmla="val 5161"/>
            </a:avLst>
          </a:prstGeom>
          <a:solidFill>
            <a:srgbClr val="161F22"/>
          </a:solidFill>
          <a:ln w="9525">
            <a:solidFill>
              <a:srgbClr val="243033"/>
            </a:solidFill>
            <a:prstDash val="solid"/>
          </a:ln>
        </p:spPr>
      </p:sp>
      <p:sp>
        <p:nvSpPr>
          <p:cNvPr id="25" name="Shape 22"/>
          <p:cNvSpPr/>
          <p:nvPr/>
        </p:nvSpPr>
        <p:spPr>
          <a:xfrm>
            <a:off x="6507328" y="3429000"/>
            <a:ext cx="457200" cy="457200"/>
          </a:xfrm>
          <a:prstGeom prst="ellipse">
            <a:avLst/>
          </a:prstGeom>
          <a:solidFill>
            <a:srgbClr val="5FC4B1"/>
          </a:solidFill>
          <a:ln/>
        </p:spPr>
      </p:sp>
      <p:sp>
        <p:nvSpPr>
          <p:cNvPr id="26" name="Text 23"/>
          <p:cNvSpPr txBox="1"/>
          <p:nvPr/>
        </p:nvSpPr>
        <p:spPr>
          <a:xfrm>
            <a:off x="6507328" y="3429000"/>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4</a:t>
            </a:r>
            <a:endParaRPr lang="en-US" sz="1600" dirty="0"/>
          </a:p>
        </p:txBody>
      </p:sp>
      <p:sp>
        <p:nvSpPr>
          <p:cNvPr id="27" name="Text 24"/>
          <p:cNvSpPr txBox="1"/>
          <p:nvPr/>
        </p:nvSpPr>
        <p:spPr>
          <a:xfrm>
            <a:off x="7147408" y="3355848"/>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Die passende Besetzung zählt</a:t>
            </a:r>
            <a:endParaRPr lang="en-US" sz="1600" dirty="0"/>
          </a:p>
        </p:txBody>
      </p:sp>
      <p:sp>
        <p:nvSpPr>
          <p:cNvPr id="28" name="Text 25"/>
          <p:cNvSpPr txBox="1"/>
          <p:nvPr/>
        </p:nvSpPr>
        <p:spPr>
          <a:xfrm>
            <a:off x="7147408" y="3794760"/>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Kompetenzen wirken in Programmen und laufend; ein passendes Profil schlägt den höheren Score.</a:t>
            </a:r>
            <a:endParaRPr lang="en-US" sz="1250" dirty="0"/>
          </a:p>
        </p:txBody>
      </p:sp>
      <p:sp>
        <p:nvSpPr>
          <p:cNvPr id="29" name="Shape 26"/>
          <p:cNvSpPr/>
          <p:nvPr/>
        </p:nvSpPr>
        <p:spPr>
          <a:xfrm>
            <a:off x="502920" y="4745736"/>
            <a:ext cx="5410048" cy="1417320"/>
          </a:xfrm>
          <a:prstGeom prst="roundRect">
            <a:avLst>
              <a:gd name="adj" fmla="val 5161"/>
            </a:avLst>
          </a:prstGeom>
          <a:solidFill>
            <a:srgbClr val="161F22"/>
          </a:solidFill>
          <a:ln w="9525">
            <a:solidFill>
              <a:srgbClr val="243033"/>
            </a:solidFill>
            <a:prstDash val="solid"/>
          </a:ln>
        </p:spPr>
      </p:sp>
      <p:sp>
        <p:nvSpPr>
          <p:cNvPr id="30" name="Shape 27"/>
          <p:cNvSpPr/>
          <p:nvPr/>
        </p:nvSpPr>
        <p:spPr>
          <a:xfrm>
            <a:off x="731520" y="5001768"/>
            <a:ext cx="457200" cy="457200"/>
          </a:xfrm>
          <a:prstGeom prst="ellipse">
            <a:avLst/>
          </a:prstGeom>
          <a:solidFill>
            <a:srgbClr val="5FC4B1"/>
          </a:solidFill>
          <a:ln/>
        </p:spPr>
      </p:sp>
      <p:sp>
        <p:nvSpPr>
          <p:cNvPr id="31" name="Text 28"/>
          <p:cNvSpPr txBox="1"/>
          <p:nvPr/>
        </p:nvSpPr>
        <p:spPr>
          <a:xfrm>
            <a:off x="731520" y="5001768"/>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5</a:t>
            </a:r>
            <a:endParaRPr lang="en-US" sz="1600" dirty="0"/>
          </a:p>
        </p:txBody>
      </p:sp>
      <p:sp>
        <p:nvSpPr>
          <p:cNvPr id="32" name="Text 29"/>
          <p:cNvSpPr txBox="1"/>
          <p:nvPr/>
        </p:nvSpPr>
        <p:spPr>
          <a:xfrm>
            <a:off x="1371600" y="4928616"/>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Buy-and-Build mit Maß</a:t>
            </a:r>
            <a:endParaRPr lang="en-US" sz="1600" dirty="0"/>
          </a:p>
        </p:txBody>
      </p:sp>
      <p:sp>
        <p:nvSpPr>
          <p:cNvPr id="33" name="Text 30"/>
          <p:cNvSpPr txBox="1"/>
          <p:nvPr/>
        </p:nvSpPr>
        <p:spPr>
          <a:xfrm>
            <a:off x="1371600" y="5367528"/>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Kleine Zukäufe zum vollen Preis sind sicher; große oder billige erhöhen das Risiko stark.</a:t>
            </a:r>
            <a:endParaRPr lang="en-US" sz="1250" dirty="0"/>
          </a:p>
        </p:txBody>
      </p:sp>
      <p:sp>
        <p:nvSpPr>
          <p:cNvPr id="34" name="Shape 31"/>
          <p:cNvSpPr/>
          <p:nvPr/>
        </p:nvSpPr>
        <p:spPr>
          <a:xfrm>
            <a:off x="6278728" y="4745736"/>
            <a:ext cx="5410048" cy="1417320"/>
          </a:xfrm>
          <a:prstGeom prst="roundRect">
            <a:avLst>
              <a:gd name="adj" fmla="val 5161"/>
            </a:avLst>
          </a:prstGeom>
          <a:solidFill>
            <a:srgbClr val="161F22"/>
          </a:solidFill>
          <a:ln w="9525">
            <a:solidFill>
              <a:srgbClr val="243033"/>
            </a:solidFill>
            <a:prstDash val="solid"/>
          </a:ln>
        </p:spPr>
      </p:sp>
      <p:sp>
        <p:nvSpPr>
          <p:cNvPr id="35" name="Shape 32"/>
          <p:cNvSpPr/>
          <p:nvPr/>
        </p:nvSpPr>
        <p:spPr>
          <a:xfrm>
            <a:off x="6507328" y="5001768"/>
            <a:ext cx="457200" cy="457200"/>
          </a:xfrm>
          <a:prstGeom prst="ellipse">
            <a:avLst/>
          </a:prstGeom>
          <a:solidFill>
            <a:srgbClr val="5FC4B1"/>
          </a:solidFill>
          <a:ln/>
        </p:spPr>
      </p:sp>
      <p:sp>
        <p:nvSpPr>
          <p:cNvPr id="36" name="Text 33"/>
          <p:cNvSpPr txBox="1"/>
          <p:nvPr/>
        </p:nvSpPr>
        <p:spPr>
          <a:xfrm>
            <a:off x="6507328" y="5001768"/>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6</a:t>
            </a:r>
            <a:endParaRPr lang="en-US" sz="1600" dirty="0"/>
          </a:p>
        </p:txBody>
      </p:sp>
      <p:sp>
        <p:nvSpPr>
          <p:cNvPr id="37" name="Text 34"/>
          <p:cNvSpPr txBox="1"/>
          <p:nvPr/>
        </p:nvSpPr>
        <p:spPr>
          <a:xfrm>
            <a:off x="7147408" y="4928616"/>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Leverage verstärkt jedes Risiko</a:t>
            </a:r>
            <a:endParaRPr lang="en-US" sz="1600" dirty="0"/>
          </a:p>
        </p:txBody>
      </p:sp>
      <p:sp>
        <p:nvSpPr>
          <p:cNvPr id="38" name="Text 35"/>
          <p:cNvSpPr txBox="1"/>
          <p:nvPr/>
        </p:nvSpPr>
        <p:spPr>
          <a:xfrm>
            <a:off x="7147408" y="5367528"/>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Ereignisse und Abschwünge treffen gehebelte Beteiligungen härter – bis zum Enforcement.</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9538E"/>
                </a:solidFill>
                <a:latin typeface="Calibri" pitchFamily="34" charset="0"/>
                <a:ea typeface="Calibri" pitchFamily="34" charset="-122"/>
                <a:cs typeface="Calibri" pitchFamily="34" charset="-120"/>
              </a:rPr>
              <a:t>EXIT-TIMING</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Haltedauer</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9538E"/>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9538E"/>
                </a:solidFill>
                <a:latin typeface="Calibri" pitchFamily="34" charset="0"/>
                <a:ea typeface="Calibri" pitchFamily="34" charset="-122"/>
                <a:cs typeface="Calibri" pitchFamily="34" charset="-120"/>
              </a:rPr>
              <a:t>D · EXIT</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34</a:t>
            </a:r>
            <a:endParaRPr lang="en-US" sz="900" dirty="0"/>
          </a:p>
        </p:txBody>
      </p:sp>
      <p:graphicFrame>
        <p:nvGraphicFramePr>
          <p:cNvPr id="9" name="Chart 0" descr=""/>
          <p:cNvGraphicFramePr/>
          <p:nvPr/>
        </p:nvGraphicFramePr>
        <p:xfrm>
          <a:off x="502920" y="160020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02920" y="5806440"/>
            <a:ext cx="6949440" cy="27432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Frühester Exit nach 4 HJ Haltedauer; Gebote 3 HJ nach dem Start – ein Verkaufsprozess lässt sich darum nur bis HJ 17 starten.</a:t>
            </a:r>
            <a:endParaRPr lang="en-US" sz="1050" dirty="0"/>
          </a:p>
        </p:txBody>
      </p:sp>
      <p:sp>
        <p:nvSpPr>
          <p:cNvPr id="11" name="Shape 7"/>
          <p:cNvSpPr/>
          <p:nvPr/>
        </p:nvSpPr>
        <p:spPr>
          <a:xfrm>
            <a:off x="7726680" y="1600200"/>
            <a:ext cx="3959352" cy="941832"/>
          </a:xfrm>
          <a:prstGeom prst="roundRect">
            <a:avLst>
              <a:gd name="adj" fmla="val 7767"/>
            </a:avLst>
          </a:prstGeom>
          <a:solidFill>
            <a:srgbClr val="161F22"/>
          </a:solidFill>
          <a:ln w="9525">
            <a:solidFill>
              <a:srgbClr val="243033"/>
            </a:solidFill>
            <a:prstDash val="solid"/>
          </a:ln>
        </p:spPr>
      </p:sp>
      <p:sp>
        <p:nvSpPr>
          <p:cNvPr id="12" name="Text 8"/>
          <p:cNvSpPr txBox="1"/>
          <p:nvPr/>
        </p:nvSpPr>
        <p:spPr>
          <a:xfrm>
            <a:off x="7882128" y="1673352"/>
            <a:ext cx="3657600" cy="384048"/>
          </a:xfrm>
          <a:prstGeom prst="rect">
            <a:avLst/>
          </a:prstGeom>
          <a:noFill/>
          <a:ln/>
        </p:spPr>
        <p:txBody>
          <a:bodyPr wrap="square" lIns="0" tIns="0" rIns="0" bIns="0" rtlCol="0" anchor="t"/>
          <a:lstStyle/>
          <a:p>
            <a:pPr algn="l" indent="0" marL="0">
              <a:buNone/>
            </a:pPr>
            <a:r>
              <a:rPr lang="en-US" sz="1900" b="1" dirty="0">
                <a:solidFill>
                  <a:srgbClr val="EDF1EE"/>
                </a:solidFill>
                <a:latin typeface="Calibri" pitchFamily="34" charset="0"/>
                <a:ea typeface="Calibri" pitchFamily="34" charset="-122"/>
                <a:cs typeface="Calibri" pitchFamily="34" charset="-120"/>
              </a:rPr>
              <a:t>4 HJ</a:t>
            </a:r>
            <a:endParaRPr lang="en-US" sz="1900" dirty="0"/>
          </a:p>
        </p:txBody>
      </p:sp>
      <p:sp>
        <p:nvSpPr>
          <p:cNvPr id="13" name="Text 9"/>
          <p:cNvSpPr txBox="1"/>
          <p:nvPr/>
        </p:nvSpPr>
        <p:spPr>
          <a:xfrm>
            <a:off x="7882128" y="2103120"/>
            <a:ext cx="3657600" cy="365760"/>
          </a:xfrm>
          <a:prstGeom prst="rect">
            <a:avLst/>
          </a:prstGeom>
          <a:noFill/>
          <a:ln/>
        </p:spPr>
        <p:txBody>
          <a:bodyPr wrap="square" lIns="0" tIns="0" rIns="0" bIns="0" rtlCol="0" anchor="t"/>
          <a:lstStyle/>
          <a:p>
            <a:pPr algn="l" indent="0" marL="0">
              <a:buNone/>
            </a:pPr>
            <a:r>
              <a:rPr lang="en-US" sz="1200" dirty="0">
                <a:solidFill>
                  <a:srgbClr val="8E9C9B"/>
                </a:solidFill>
                <a:latin typeface="Calibri" pitchFamily="34" charset="0"/>
                <a:ea typeface="Calibri" pitchFamily="34" charset="-122"/>
                <a:cs typeface="Calibri" pitchFamily="34" charset="-120"/>
              </a:rPr>
              <a:t>Mindesthaltedauer (2 Jahre)</a:t>
            </a:r>
            <a:endParaRPr lang="en-US" sz="1200" dirty="0"/>
          </a:p>
        </p:txBody>
      </p:sp>
      <p:sp>
        <p:nvSpPr>
          <p:cNvPr id="14" name="Shape 10"/>
          <p:cNvSpPr/>
          <p:nvPr/>
        </p:nvSpPr>
        <p:spPr>
          <a:xfrm>
            <a:off x="7726680" y="2679192"/>
            <a:ext cx="3959352" cy="941832"/>
          </a:xfrm>
          <a:prstGeom prst="roundRect">
            <a:avLst>
              <a:gd name="adj" fmla="val 7767"/>
            </a:avLst>
          </a:prstGeom>
          <a:solidFill>
            <a:srgbClr val="161F22"/>
          </a:solidFill>
          <a:ln w="9525">
            <a:solidFill>
              <a:srgbClr val="243033"/>
            </a:solidFill>
            <a:prstDash val="solid"/>
          </a:ln>
        </p:spPr>
      </p:sp>
      <p:sp>
        <p:nvSpPr>
          <p:cNvPr id="15" name="Text 11"/>
          <p:cNvSpPr txBox="1"/>
          <p:nvPr/>
        </p:nvSpPr>
        <p:spPr>
          <a:xfrm>
            <a:off x="7882128" y="2752344"/>
            <a:ext cx="3657600" cy="384048"/>
          </a:xfrm>
          <a:prstGeom prst="rect">
            <a:avLst/>
          </a:prstGeom>
          <a:noFill/>
          <a:ln/>
        </p:spPr>
        <p:txBody>
          <a:bodyPr wrap="square" lIns="0" tIns="0" rIns="0" bIns="0" rtlCol="0" anchor="t"/>
          <a:lstStyle/>
          <a:p>
            <a:pPr algn="l" indent="0" marL="0">
              <a:buNone/>
            </a:pPr>
            <a:r>
              <a:rPr lang="en-US" sz="1900" b="1" dirty="0">
                <a:solidFill>
                  <a:srgbClr val="DCB264"/>
                </a:solidFill>
                <a:latin typeface="Calibri" pitchFamily="34" charset="0"/>
                <a:ea typeface="Calibri" pitchFamily="34" charset="-122"/>
                <a:cs typeface="Calibri" pitchFamily="34" charset="-120"/>
              </a:rPr>
              <a:t>ab 8 HJ</a:t>
            </a:r>
            <a:endParaRPr lang="en-US" sz="1900" dirty="0"/>
          </a:p>
        </p:txBody>
      </p:sp>
      <p:sp>
        <p:nvSpPr>
          <p:cNvPr id="16" name="Text 12"/>
          <p:cNvSpPr txBox="1"/>
          <p:nvPr/>
        </p:nvSpPr>
        <p:spPr>
          <a:xfrm>
            <a:off x="7882128" y="3182112"/>
            <a:ext cx="3657600" cy="365760"/>
          </a:xfrm>
          <a:prstGeom prst="rect">
            <a:avLst/>
          </a:prstGeom>
          <a:noFill/>
          <a:ln/>
        </p:spPr>
        <p:txBody>
          <a:bodyPr wrap="square" lIns="0" tIns="0" rIns="0" bIns="0" rtlCol="0" anchor="t"/>
          <a:lstStyle/>
          <a:p>
            <a:pPr algn="l" indent="0" marL="0">
              <a:buNone/>
            </a:pPr>
            <a:r>
              <a:rPr lang="en-US" sz="1200" dirty="0">
                <a:solidFill>
                  <a:srgbClr val="8E9C9B"/>
                </a:solidFill>
                <a:latin typeface="Calibri" pitchFamily="34" charset="0"/>
                <a:ea typeface="Calibri" pitchFamily="34" charset="-122"/>
                <a:cs typeface="Calibri" pitchFamily="34" charset="-120"/>
              </a:rPr>
              <a:t>−2 % je HJ, max. −20 % (staleDisc)</a:t>
            </a:r>
            <a:endParaRPr lang="en-US" sz="1200" dirty="0"/>
          </a:p>
        </p:txBody>
      </p:sp>
      <p:sp>
        <p:nvSpPr>
          <p:cNvPr id="17" name="Shape 13"/>
          <p:cNvSpPr/>
          <p:nvPr/>
        </p:nvSpPr>
        <p:spPr>
          <a:xfrm>
            <a:off x="7726680" y="3758184"/>
            <a:ext cx="3959352" cy="941832"/>
          </a:xfrm>
          <a:prstGeom prst="roundRect">
            <a:avLst>
              <a:gd name="adj" fmla="val 7767"/>
            </a:avLst>
          </a:prstGeom>
          <a:solidFill>
            <a:srgbClr val="161F22"/>
          </a:solidFill>
          <a:ln w="9525">
            <a:solidFill>
              <a:srgbClr val="243033"/>
            </a:solidFill>
            <a:prstDash val="solid"/>
          </a:ln>
        </p:spPr>
      </p:sp>
      <p:sp>
        <p:nvSpPr>
          <p:cNvPr id="18" name="Text 14"/>
          <p:cNvSpPr txBox="1"/>
          <p:nvPr/>
        </p:nvSpPr>
        <p:spPr>
          <a:xfrm>
            <a:off x="7882128" y="3831336"/>
            <a:ext cx="3657600" cy="384048"/>
          </a:xfrm>
          <a:prstGeom prst="rect">
            <a:avLst/>
          </a:prstGeom>
          <a:noFill/>
          <a:ln/>
        </p:spPr>
        <p:txBody>
          <a:bodyPr wrap="square" lIns="0" tIns="0" rIns="0" bIns="0" rtlCol="0" anchor="t"/>
          <a:lstStyle/>
          <a:p>
            <a:pPr algn="l" indent="0" marL="0">
              <a:buNone/>
            </a:pPr>
            <a:r>
              <a:rPr lang="en-US" sz="1900" b="1" dirty="0">
                <a:solidFill>
                  <a:srgbClr val="E3897F"/>
                </a:solidFill>
                <a:latin typeface="Calibri" pitchFamily="34" charset="0"/>
                <a:ea typeface="Calibri" pitchFamily="34" charset="-122"/>
                <a:cs typeface="Calibri" pitchFamily="34" charset="-120"/>
              </a:rPr>
              <a:t>letzte 4 HJ</a:t>
            </a:r>
            <a:endParaRPr lang="en-US" sz="1900" dirty="0"/>
          </a:p>
        </p:txBody>
      </p:sp>
      <p:sp>
        <p:nvSpPr>
          <p:cNvPr id="19" name="Text 15"/>
          <p:cNvSpPr txBox="1"/>
          <p:nvPr/>
        </p:nvSpPr>
        <p:spPr>
          <a:xfrm>
            <a:off x="7882128" y="4261104"/>
            <a:ext cx="3657600" cy="365760"/>
          </a:xfrm>
          <a:prstGeom prst="rect">
            <a:avLst/>
          </a:prstGeom>
          <a:noFill/>
          <a:ln/>
        </p:spPr>
        <p:txBody>
          <a:bodyPr wrap="square" lIns="0" tIns="0" rIns="0" bIns="0" rtlCol="0" anchor="t"/>
          <a:lstStyle/>
          <a:p>
            <a:pPr algn="l" indent="0" marL="0">
              <a:buNone/>
            </a:pPr>
            <a:r>
              <a:rPr lang="en-US" sz="1200" dirty="0">
                <a:solidFill>
                  <a:srgbClr val="8E9C9B"/>
                </a:solidFill>
                <a:latin typeface="Calibri" pitchFamily="34" charset="0"/>
                <a:ea typeface="Calibri" pitchFamily="34" charset="-122"/>
                <a:cs typeface="Calibri" pitchFamily="34" charset="-120"/>
              </a:rPr>
              <a:t>bis −2,6 Turns im Transaktionspreis</a:t>
            </a:r>
            <a:endParaRPr lang="en-US" sz="1200" dirty="0"/>
          </a:p>
        </p:txBody>
      </p:sp>
      <p:sp>
        <p:nvSpPr>
          <p:cNvPr id="20" name="Shape 16"/>
          <p:cNvSpPr/>
          <p:nvPr/>
        </p:nvSpPr>
        <p:spPr>
          <a:xfrm>
            <a:off x="7726680" y="4837176"/>
            <a:ext cx="3959352" cy="941832"/>
          </a:xfrm>
          <a:prstGeom prst="roundRect">
            <a:avLst>
              <a:gd name="adj" fmla="val 7767"/>
            </a:avLst>
          </a:prstGeom>
          <a:solidFill>
            <a:srgbClr val="161F22"/>
          </a:solidFill>
          <a:ln w="9525">
            <a:solidFill>
              <a:srgbClr val="243033"/>
            </a:solidFill>
            <a:prstDash val="solid"/>
          </a:ln>
        </p:spPr>
      </p:sp>
      <p:sp>
        <p:nvSpPr>
          <p:cNvPr id="21" name="Text 17"/>
          <p:cNvSpPr txBox="1"/>
          <p:nvPr/>
        </p:nvSpPr>
        <p:spPr>
          <a:xfrm>
            <a:off x="7882128" y="4910328"/>
            <a:ext cx="3657600" cy="384048"/>
          </a:xfrm>
          <a:prstGeom prst="rect">
            <a:avLst/>
          </a:prstGeom>
          <a:noFill/>
          <a:ln/>
        </p:spPr>
        <p:txBody>
          <a:bodyPr wrap="square" lIns="0" tIns="0" rIns="0" bIns="0" rtlCol="0" anchor="t"/>
          <a:lstStyle/>
          <a:p>
            <a:pPr algn="l" indent="0" marL="0">
              <a:buNone/>
            </a:pPr>
            <a:r>
              <a:rPr lang="en-US" sz="1900" b="1" dirty="0">
                <a:solidFill>
                  <a:srgbClr val="E3897F"/>
                </a:solidFill>
                <a:latin typeface="Calibri" pitchFamily="34" charset="0"/>
                <a:ea typeface="Calibri" pitchFamily="34" charset="-122"/>
                <a:cs typeface="Calibri" pitchFamily="34" charset="-120"/>
              </a:rPr>
              <a:t>HJ 20</a:t>
            </a:r>
            <a:endParaRPr lang="en-US" sz="1900" dirty="0"/>
          </a:p>
        </p:txBody>
      </p:sp>
      <p:sp>
        <p:nvSpPr>
          <p:cNvPr id="22" name="Text 18"/>
          <p:cNvSpPr txBox="1"/>
          <p:nvPr/>
        </p:nvSpPr>
        <p:spPr>
          <a:xfrm>
            <a:off x="7882128" y="5340096"/>
            <a:ext cx="3657600" cy="365760"/>
          </a:xfrm>
          <a:prstGeom prst="rect">
            <a:avLst/>
          </a:prstGeom>
          <a:noFill/>
          <a:ln/>
        </p:spPr>
        <p:txBody>
          <a:bodyPr wrap="square" lIns="0" tIns="0" rIns="0" bIns="0" rtlCol="0" anchor="t"/>
          <a:lstStyle/>
          <a:p>
            <a:pPr algn="l" indent="0" marL="0">
              <a:buNone/>
            </a:pPr>
            <a:r>
              <a:rPr lang="en-US" sz="1200" dirty="0">
                <a:solidFill>
                  <a:srgbClr val="8E9C9B"/>
                </a:solidFill>
                <a:latin typeface="Calibri" pitchFamily="34" charset="0"/>
                <a:ea typeface="Calibri" pitchFamily="34" charset="-122"/>
                <a:cs typeface="Calibri" pitchFamily="34" charset="-120"/>
              </a:rPr>
              <a:t>Tail-End: Bewertung −2,6 Turns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9538E"/>
                </a:solidFill>
                <a:latin typeface="Calibri" pitchFamily="34" charset="0"/>
                <a:ea typeface="Calibri" pitchFamily="34" charset="-122"/>
                <a:cs typeface="Calibri" pitchFamily="34" charset="-120"/>
              </a:rPr>
              <a:t>EXIT-ROUTEN</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Drei Wege aus einer Beteiligung</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9538E"/>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9538E"/>
                </a:solidFill>
                <a:latin typeface="Calibri" pitchFamily="34" charset="0"/>
                <a:ea typeface="Calibri" pitchFamily="34" charset="-122"/>
                <a:cs typeface="Calibri" pitchFamily="34" charset="-120"/>
              </a:rPr>
              <a:t>D · EXIT</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35</a:t>
            </a:r>
            <a:endParaRPr lang="en-US"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185855" cy="914400"/>
        </p:xfrm>
        <a:graphic>
          <a:graphicData uri="http://schemas.openxmlformats.org/drawingml/2006/table">
            <a:tbl>
              <a:tblPr/>
              <a:tblGrid>
                <a:gridCol w="2514600"/>
                <a:gridCol w="1554480"/>
                <a:gridCol w="2514600"/>
                <a:gridCol w="822960"/>
                <a:gridCol w="3776472"/>
              </a:tblGrid>
              <a:tr h="566928">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Route</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Dauer</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Preis</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Kosten</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Besonderheit</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r>
              <a:tr h="566928">
                <a:tc>
                  <a:txBody>
                    <a:bodyPr/>
                    <a:lstStyle/>
                    <a:p>
                      <a:pPr algn="l" indent="0" marL="0">
                        <a:buNone/>
                      </a:pPr>
                      <a:r>
                        <a:rPr lang="en-US" sz="1250" dirty="0">
                          <a:solidFill>
                            <a:srgbClr val="5FC4B1"/>
                          </a:solidFill>
                          <a:latin typeface="Calibri" pitchFamily="34" charset="0"/>
                          <a:ea typeface="Calibri" pitchFamily="34" charset="-122"/>
                          <a:cs typeface="Calibri" pitchFamily="34" charset="-120"/>
                        </a:rPr>
                        <a:t>Auktion (Verkaufsprozess)</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50" dirty="0">
                          <a:solidFill>
                            <a:srgbClr val="EDF1EE"/>
                          </a:solidFill>
                          <a:latin typeface="Calibri" pitchFamily="34" charset="0"/>
                          <a:ea typeface="Calibri" pitchFamily="34" charset="-122"/>
                          <a:cs typeface="Calibri" pitchFamily="34" charset="-120"/>
                        </a:rPr>
                        <a:t>Gebote nach 3 HJ, Start bis HJ 17</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50" dirty="0">
                          <a:solidFill>
                            <a:srgbClr val="EDF1EE"/>
                          </a:solidFill>
                          <a:latin typeface="Calibri" pitchFamily="34" charset="0"/>
                          <a:ea typeface="Calibri" pitchFamily="34" charset="-122"/>
                          <a:cs typeface="Calibri" pitchFamily="34" charset="-120"/>
                        </a:rPr>
                        <a:t>Gebote 86–108 % des Fair Value</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50" dirty="0">
                          <a:solidFill>
                            <a:srgbClr val="EDF1EE"/>
                          </a:solidFill>
                          <a:latin typeface="Calibri" pitchFamily="34" charset="0"/>
                          <a:ea typeface="Calibri" pitchFamily="34" charset="-122"/>
                          <a:cs typeface="Calibri" pitchFamily="34" charset="-120"/>
                        </a:rPr>
                        <a:t>3 %</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50" dirty="0">
                          <a:solidFill>
                            <a:srgbClr val="EDF1EE"/>
                          </a:solidFill>
                          <a:latin typeface="Calibri" pitchFamily="34" charset="0"/>
                          <a:ea typeface="Calibri" pitchFamily="34" charset="-122"/>
                          <a:cs typeface="Calibri" pitchFamily="34" charset="-120"/>
                        </a:rPr>
                        <a:t>+2 % je Execution-Punkt; annehmen, nachverhandeln oder abbrechen</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566928">
                <a:tc>
                  <a:txBody>
                    <a:bodyPr/>
                    <a:lstStyle/>
                    <a:p>
                      <a:pPr algn="l" indent="0" marL="0">
                        <a:buNone/>
                      </a:pPr>
                      <a:r>
                        <a:rPr lang="en-US" sz="1250" dirty="0">
                          <a:solidFill>
                            <a:srgbClr val="DCB264"/>
                          </a:solidFill>
                          <a:latin typeface="Calibri" pitchFamily="34" charset="0"/>
                          <a:ea typeface="Calibri" pitchFamily="34" charset="-122"/>
                          <a:cs typeface="Calibri" pitchFamily="34" charset="-120"/>
                        </a:rPr>
                        <a:t>Bilateral</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50" dirty="0">
                          <a:solidFill>
                            <a:srgbClr val="EDF1EE"/>
                          </a:solidFill>
                          <a:latin typeface="Calibri" pitchFamily="34" charset="0"/>
                          <a:ea typeface="Calibri" pitchFamily="34" charset="-122"/>
                          <a:cs typeface="Calibri" pitchFamily="34" charset="-120"/>
                        </a:rPr>
                        <a:t>sofort</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50" dirty="0">
                          <a:solidFill>
                            <a:srgbClr val="EDF1EE"/>
                          </a:solidFill>
                          <a:latin typeface="Calibri" pitchFamily="34" charset="0"/>
                          <a:ea typeface="Calibri" pitchFamily="34" charset="-122"/>
                          <a:cs typeface="Calibri" pitchFamily="34" charset="-120"/>
                        </a:rPr>
                        <a:t>−0,5 Turns</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50" dirty="0">
                          <a:solidFill>
                            <a:srgbClr val="EDF1EE"/>
                          </a:solidFill>
                          <a:latin typeface="Calibri" pitchFamily="34" charset="0"/>
                          <a:ea typeface="Calibri" pitchFamily="34" charset="-122"/>
                          <a:cs typeface="Calibri" pitchFamily="34" charset="-120"/>
                        </a:rPr>
                        <a:t>2 %</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50" dirty="0">
                          <a:solidFill>
                            <a:srgbClr val="EDF1EE"/>
                          </a:solidFill>
                          <a:latin typeface="Calibri" pitchFamily="34" charset="0"/>
                          <a:ea typeface="Calibri" pitchFamily="34" charset="-122"/>
                          <a:cs typeface="Calibri" pitchFamily="34" charset="-120"/>
                        </a:rPr>
                        <a:t>sicher, schnell; auch während einer Prozesssperre</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566928">
                <a:tc>
                  <a:txBody>
                    <a:bodyPr/>
                    <a:lstStyle/>
                    <a:p>
                      <a:pPr algn="l" indent="0" marL="0">
                        <a:buNone/>
                      </a:pPr>
                      <a:r>
                        <a:rPr lang="en-US" sz="1250" dirty="0">
                          <a:solidFill>
                            <a:srgbClr val="E3897F"/>
                          </a:solidFill>
                          <a:latin typeface="Calibri" pitchFamily="34" charset="0"/>
                          <a:ea typeface="Calibri" pitchFamily="34" charset="-122"/>
                          <a:cs typeface="Calibri" pitchFamily="34" charset="-120"/>
                        </a:rPr>
                        <a:t>Tail-End</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50" dirty="0">
                          <a:solidFill>
                            <a:srgbClr val="EDF1EE"/>
                          </a:solidFill>
                          <a:latin typeface="Calibri" pitchFamily="34" charset="0"/>
                          <a:ea typeface="Calibri" pitchFamily="34" charset="-122"/>
                          <a:cs typeface="Calibri" pitchFamily="34" charset="-120"/>
                        </a:rPr>
                        <a:t>HJ 20</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50" dirty="0">
                          <a:solidFill>
                            <a:srgbClr val="EDF1EE"/>
                          </a:solidFill>
                          <a:latin typeface="Calibri" pitchFamily="34" charset="0"/>
                          <a:ea typeface="Calibri" pitchFamily="34" charset="-122"/>
                          <a:cs typeface="Calibri" pitchFamily="34" charset="-120"/>
                        </a:rPr>
                        <a:t>Bewertung −2,6 Turns</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50" dirty="0">
                          <a:solidFill>
                            <a:srgbClr val="EDF1EE"/>
                          </a:solidFill>
                          <a:latin typeface="Calibri" pitchFamily="34" charset="0"/>
                          <a:ea typeface="Calibri" pitchFamily="34" charset="-122"/>
                          <a:cs typeface="Calibri" pitchFamily="34" charset="-120"/>
                        </a:rPr>
                        <a:t>2 %</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50" dirty="0">
                          <a:solidFill>
                            <a:srgbClr val="EDF1EE"/>
                          </a:solidFill>
                          <a:latin typeface="Calibri" pitchFamily="34" charset="0"/>
                          <a:ea typeface="Calibri" pitchFamily="34" charset="-122"/>
                          <a:cs typeface="Calibri" pitchFamily="34" charset="-120"/>
                        </a:rPr>
                        <a:t>Zwangsverwertung am Laufzeitende</a:t>
                      </a:r>
                      <a:endParaRPr lang="en-US" sz="12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bl>
          </a:graphicData>
        </a:graphic>
      </p:graphicFrame>
      <p:pic>
        <p:nvPicPr>
          <p:cNvPr id="10" name="Image 0" descr="/tmp/claude-0/deck/img/hold_exit.jpg">    </p:cNvPr>
          <p:cNvPicPr>
            <a:picLocks noChangeAspect="1"/>
          </p:cNvPicPr>
          <p:nvPr/>
        </p:nvPicPr>
        <p:blipFill>
          <a:blip r:embed="rId1"/>
          <a:stretch>
            <a:fillRect/>
          </a:stretch>
        </p:blipFill>
        <p:spPr>
          <a:xfrm>
            <a:off x="502920" y="4160520"/>
            <a:ext cx="2273898" cy="868680"/>
          </a:xfrm>
          <a:prstGeom prst="rect">
            <a:avLst/>
          </a:prstGeom>
        </p:spPr>
      </p:pic>
      <p:sp>
        <p:nvSpPr>
          <p:cNvPr id="11" name="Shape 6"/>
          <p:cNvSpPr/>
          <p:nvPr/>
        </p:nvSpPr>
        <p:spPr>
          <a:xfrm>
            <a:off x="502920" y="4160520"/>
            <a:ext cx="2273898" cy="868680"/>
          </a:xfrm>
          <a:prstGeom prst="rect">
            <a:avLst/>
          </a:prstGeom>
          <a:ln w="9525">
            <a:solidFill>
              <a:srgbClr val="33474B"/>
            </a:solidFill>
            <a:prstDash val="solid"/>
          </a:ln>
        </p:spPr>
      </p:sp>
      <p:sp>
        <p:nvSpPr>
          <p:cNvPr id="12" name="Text 7"/>
          <p:cNvSpPr txBox="1"/>
          <p:nvPr/>
        </p:nvSpPr>
        <p:spPr>
          <a:xfrm>
            <a:off x="228600" y="5084064"/>
            <a:ext cx="2822538"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Exit-Pfad: frühestens nach 4 Halbjahren Haltedauer</a:t>
            </a:r>
            <a:endParaRPr lang="en-US" sz="950" dirty="0"/>
          </a:p>
        </p:txBody>
      </p:sp>
      <p:sp>
        <p:nvSpPr>
          <p:cNvPr id="13" name="Shape 8"/>
          <p:cNvSpPr/>
          <p:nvPr/>
        </p:nvSpPr>
        <p:spPr>
          <a:xfrm>
            <a:off x="4480560" y="4160520"/>
            <a:ext cx="7205472" cy="640080"/>
          </a:xfrm>
          <a:prstGeom prst="roundRect">
            <a:avLst>
              <a:gd name="adj" fmla="val 11429"/>
            </a:avLst>
          </a:prstGeom>
          <a:solidFill>
            <a:srgbClr val="1C282B"/>
          </a:solidFill>
          <a:ln w="12700">
            <a:solidFill>
              <a:srgbClr val="DCB264"/>
            </a:solidFill>
            <a:prstDash val="solid"/>
          </a:ln>
        </p:spPr>
      </p:sp>
      <p:sp>
        <p:nvSpPr>
          <p:cNvPr id="14" name="Text 9"/>
          <p:cNvSpPr txBox="1"/>
          <p:nvPr/>
        </p:nvSpPr>
        <p:spPr>
          <a:xfrm>
            <a:off x="4663440" y="4160520"/>
            <a:ext cx="6839712" cy="640080"/>
          </a:xfrm>
          <a:prstGeom prst="rect">
            <a:avLst/>
          </a:prstGeom>
          <a:noFill/>
          <a:ln/>
        </p:spPr>
        <p:txBody>
          <a:bodyPr wrap="square" lIns="0" tIns="0" rIns="0" bIns="0" rtlCol="0" anchor="ctr"/>
          <a:lstStyle/>
          <a:p>
            <a:pPr algn="ctr" indent="0" marL="0">
              <a:buNone/>
            </a:pPr>
            <a:r>
              <a:rPr lang="en-US" sz="1400" b="1" dirty="0">
                <a:solidFill>
                  <a:srgbClr val="DCB264"/>
                </a:solidFill>
                <a:latin typeface="Calibri" pitchFamily="34" charset="0"/>
                <a:ea typeface="Calibri" pitchFamily="34" charset="-122"/>
                <a:cs typeface="Calibri" pitchFamily="34" charset="-120"/>
              </a:rPr>
              <a:t>Deal-MOIC = (Nettoerlös + Rekapitalisierungen) / verbleibende Kostenbasis</a:t>
            </a:r>
            <a:endParaRPr lang="en-US" sz="1400" dirty="0"/>
          </a:p>
        </p:txBody>
      </p:sp>
      <p:sp>
        <p:nvSpPr>
          <p:cNvPr id="15" name="Text 10"/>
          <p:cNvSpPr txBox="1"/>
          <p:nvPr/>
        </p:nvSpPr>
        <p:spPr>
          <a:xfrm>
            <a:off x="4480560" y="4937760"/>
            <a:ext cx="7205472" cy="82296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Ein abgebrochener Prozess sperrt für ein Jahr einen neuen Verkaufsprozess; bilateral bleibt möglich. Nachverhandeln: 60 % Chance auf 5–8 % mehr, 25 % Risiko, dass der Bieter abspringt. Mindesthaltedauer 4 Halbjahre, letzter Prozessstart in HJ 17, höchstens 3 Prozesse parallel.</a:t>
            </a:r>
            <a:endParaRPr lang="en-US" sz="1150" dirty="0"/>
          </a:p>
        </p:txBody>
      </p:sp>
      <p:sp>
        <p:nvSpPr>
          <p:cNvPr id="16" name="Text 11"/>
          <p:cNvSpPr txBox="1"/>
          <p:nvPr/>
        </p:nvSpPr>
        <p:spPr>
          <a:xfrm>
            <a:off x="502920" y="5897880"/>
            <a:ext cx="11185855" cy="27432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Teilexits (Continuation Vehicle, Börsengang) sind in der Engine angelegt, im Spiel aber derzeit nicht wählbar.</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9538E"/>
                </a:solidFill>
                <a:latin typeface="Calibri" pitchFamily="34" charset="0"/>
                <a:ea typeface="Calibri" pitchFamily="34" charset="-122"/>
                <a:cs typeface="Calibri" pitchFamily="34" charset="-120"/>
              </a:rPr>
              <a:t>KÄUFER</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Wer bietet – und warum unterschiedlich</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9538E"/>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9538E"/>
                </a:solidFill>
                <a:latin typeface="Calibri" pitchFamily="34" charset="0"/>
                <a:ea typeface="Calibri" pitchFamily="34" charset="-122"/>
                <a:cs typeface="Calibri" pitchFamily="34" charset="-120"/>
              </a:rPr>
              <a:t>D · EXIT</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36</a:t>
            </a:r>
            <a:endParaRPr lang="en-US" sz="900" dirty="0"/>
          </a:p>
        </p:txBody>
      </p:sp>
      <p:sp>
        <p:nvSpPr>
          <p:cNvPr id="9" name="Shape 6"/>
          <p:cNvSpPr/>
          <p:nvPr/>
        </p:nvSpPr>
        <p:spPr>
          <a:xfrm>
            <a:off x="502920" y="1600200"/>
            <a:ext cx="5852160" cy="1325880"/>
          </a:xfrm>
          <a:prstGeom prst="roundRect">
            <a:avLst>
              <a:gd name="adj" fmla="val 5517"/>
            </a:avLst>
          </a:prstGeom>
          <a:solidFill>
            <a:srgbClr val="161F22"/>
          </a:solidFill>
          <a:ln w="12700">
            <a:solidFill>
              <a:srgbClr val="5FC4B1"/>
            </a:solidFill>
            <a:prstDash val="solid"/>
          </a:ln>
        </p:spPr>
      </p:sp>
      <p:sp>
        <p:nvSpPr>
          <p:cNvPr id="10" name="Text 7"/>
          <p:cNvSpPr txBox="1"/>
          <p:nvPr/>
        </p:nvSpPr>
        <p:spPr>
          <a:xfrm>
            <a:off x="731520" y="1709928"/>
            <a:ext cx="3291840" cy="365760"/>
          </a:xfrm>
          <a:prstGeom prst="rect">
            <a:avLst/>
          </a:prstGeom>
          <a:noFill/>
          <a:ln/>
        </p:spPr>
        <p:txBody>
          <a:bodyPr wrap="square" lIns="0" tIns="0" rIns="0" bIns="0" rtlCol="0" anchor="t"/>
          <a:lstStyle/>
          <a:p>
            <a:pPr algn="l" indent="0" marL="0">
              <a:buNone/>
            </a:pPr>
            <a:r>
              <a:rPr lang="en-US" sz="1700" b="1" dirty="0">
                <a:solidFill>
                  <a:srgbClr val="5FC4B1"/>
                </a:solidFill>
                <a:latin typeface="Calibri" pitchFamily="34" charset="0"/>
                <a:ea typeface="Calibri" pitchFamily="34" charset="-122"/>
                <a:cs typeface="Calibri" pitchFamily="34" charset="-120"/>
              </a:rPr>
              <a:t>Strategischer Käufer</a:t>
            </a:r>
            <a:endParaRPr lang="en-US" sz="1700" dirty="0"/>
          </a:p>
        </p:txBody>
      </p:sp>
      <p:sp>
        <p:nvSpPr>
          <p:cNvPr id="11" name="Text 8"/>
          <p:cNvSpPr txBox="1"/>
          <p:nvPr/>
        </p:nvSpPr>
        <p:spPr>
          <a:xfrm>
            <a:off x="3886200" y="1728216"/>
            <a:ext cx="2286000" cy="365760"/>
          </a:xfrm>
          <a:prstGeom prst="rect">
            <a:avLst/>
          </a:prstGeom>
          <a:noFill/>
          <a:ln/>
        </p:spPr>
        <p:txBody>
          <a:bodyPr wrap="square" lIns="0" tIns="0" rIns="0" bIns="0" rtlCol="0" anchor="t"/>
          <a:lstStyle/>
          <a:p>
            <a:pPr algn="r" indent="0" marL="0">
              <a:buNone/>
            </a:pPr>
            <a:r>
              <a:rPr lang="en-US" sz="1300" b="1" dirty="0">
                <a:solidFill>
                  <a:srgbClr val="EDF1EE"/>
                </a:solidFill>
                <a:latin typeface="Calibri" pitchFamily="34" charset="0"/>
                <a:ea typeface="Calibri" pitchFamily="34" charset="-122"/>
                <a:cs typeface="Calibri" pitchFamily="34" charset="-120"/>
              </a:rPr>
              <a:t>92–108 % des Fair Value</a:t>
            </a:r>
            <a:endParaRPr lang="en-US" sz="1300" dirty="0"/>
          </a:p>
        </p:txBody>
      </p:sp>
      <p:sp>
        <p:nvSpPr>
          <p:cNvPr id="12" name="Text 9"/>
          <p:cNvSpPr txBox="1"/>
          <p:nvPr/>
        </p:nvSpPr>
        <p:spPr>
          <a:xfrm>
            <a:off x="731520" y="2148840"/>
            <a:ext cx="5394960" cy="731520"/>
          </a:xfrm>
          <a:prstGeom prst="rect">
            <a:avLst/>
          </a:prstGeom>
          <a:noFill/>
          <a:ln/>
        </p:spPr>
        <p:txBody>
          <a:bodyPr wrap="square" lIns="0" tIns="0" rIns="0" bIns="0" rtlCol="0" anchor="t"/>
          <a:lstStyle/>
          <a:p>
            <a:pPr algn="l" indent="0" marL="0">
              <a:buNone/>
            </a:pPr>
            <a:r>
              <a:rPr lang="en-US" sz="1200" dirty="0">
                <a:solidFill>
                  <a:srgbClr val="8E9C9B"/>
                </a:solidFill>
                <a:latin typeface="Calibri" pitchFamily="34" charset="0"/>
                <a:ea typeface="Calibri" pitchFamily="34" charset="-122"/>
                <a:cs typeface="Calibri" pitchFamily="34" charset="-120"/>
              </a:rPr>
              <a:t>60 % Chance auf Synergien (100–108 %) · 12 % Vollzugsrisiko · CMO im Consumer-Sektor: +0,4×</a:t>
            </a:r>
            <a:endParaRPr lang="en-US" sz="1200" dirty="0"/>
          </a:p>
        </p:txBody>
      </p:sp>
      <p:sp>
        <p:nvSpPr>
          <p:cNvPr id="13" name="Shape 10"/>
          <p:cNvSpPr/>
          <p:nvPr/>
        </p:nvSpPr>
        <p:spPr>
          <a:xfrm>
            <a:off x="502920" y="3081528"/>
            <a:ext cx="5852160" cy="1325880"/>
          </a:xfrm>
          <a:prstGeom prst="roundRect">
            <a:avLst>
              <a:gd name="adj" fmla="val 5517"/>
            </a:avLst>
          </a:prstGeom>
          <a:solidFill>
            <a:srgbClr val="161F22"/>
          </a:solidFill>
          <a:ln w="12700">
            <a:solidFill>
              <a:srgbClr val="3B82F6"/>
            </a:solidFill>
            <a:prstDash val="solid"/>
          </a:ln>
        </p:spPr>
      </p:sp>
      <p:sp>
        <p:nvSpPr>
          <p:cNvPr id="14" name="Text 11"/>
          <p:cNvSpPr txBox="1"/>
          <p:nvPr/>
        </p:nvSpPr>
        <p:spPr>
          <a:xfrm>
            <a:off x="731520" y="3191256"/>
            <a:ext cx="3291840" cy="365760"/>
          </a:xfrm>
          <a:prstGeom prst="rect">
            <a:avLst/>
          </a:prstGeom>
          <a:noFill/>
          <a:ln/>
        </p:spPr>
        <p:txBody>
          <a:bodyPr wrap="square" lIns="0" tIns="0" rIns="0" bIns="0" rtlCol="0" anchor="t"/>
          <a:lstStyle/>
          <a:p>
            <a:pPr algn="l" indent="0" marL="0">
              <a:buNone/>
            </a:pPr>
            <a:r>
              <a:rPr lang="en-US" sz="1700" b="1" dirty="0">
                <a:solidFill>
                  <a:srgbClr val="3B82F6"/>
                </a:solidFill>
                <a:latin typeface="Calibri" pitchFamily="34" charset="0"/>
                <a:ea typeface="Calibri" pitchFamily="34" charset="-122"/>
                <a:cs typeface="Calibri" pitchFamily="34" charset="-120"/>
              </a:rPr>
              <a:t>Finanzinvestor (SBO)</a:t>
            </a:r>
            <a:endParaRPr lang="en-US" sz="1700" dirty="0"/>
          </a:p>
        </p:txBody>
      </p:sp>
      <p:sp>
        <p:nvSpPr>
          <p:cNvPr id="15" name="Text 12"/>
          <p:cNvSpPr txBox="1"/>
          <p:nvPr/>
        </p:nvSpPr>
        <p:spPr>
          <a:xfrm>
            <a:off x="3886200" y="3209544"/>
            <a:ext cx="2286000" cy="365760"/>
          </a:xfrm>
          <a:prstGeom prst="rect">
            <a:avLst/>
          </a:prstGeom>
          <a:noFill/>
          <a:ln/>
        </p:spPr>
        <p:txBody>
          <a:bodyPr wrap="square" lIns="0" tIns="0" rIns="0" bIns="0" rtlCol="0" anchor="t"/>
          <a:lstStyle/>
          <a:p>
            <a:pPr algn="r" indent="0" marL="0">
              <a:buNone/>
            </a:pPr>
            <a:r>
              <a:rPr lang="en-US" sz="1300" b="1" dirty="0">
                <a:solidFill>
                  <a:srgbClr val="EDF1EE"/>
                </a:solidFill>
                <a:latin typeface="Calibri" pitchFamily="34" charset="0"/>
                <a:ea typeface="Calibri" pitchFamily="34" charset="-122"/>
                <a:cs typeface="Calibri" pitchFamily="34" charset="-120"/>
              </a:rPr>
              <a:t>90–102 % des Fair Value</a:t>
            </a:r>
            <a:endParaRPr lang="en-US" sz="1300" dirty="0"/>
          </a:p>
        </p:txBody>
      </p:sp>
      <p:sp>
        <p:nvSpPr>
          <p:cNvPr id="16" name="Text 13"/>
          <p:cNvSpPr txBox="1"/>
          <p:nvPr/>
        </p:nvSpPr>
        <p:spPr>
          <a:xfrm>
            <a:off x="731520" y="3630168"/>
            <a:ext cx="5394960" cy="731520"/>
          </a:xfrm>
          <a:prstGeom prst="rect">
            <a:avLst/>
          </a:prstGeom>
          <a:noFill/>
          <a:ln/>
        </p:spPr>
        <p:txBody>
          <a:bodyPr wrap="square" lIns="0" tIns="0" rIns="0" bIns="0" rtlCol="0" anchor="t"/>
          <a:lstStyle/>
          <a:p>
            <a:pPr algn="l" indent="0" marL="0">
              <a:buNone/>
            </a:pPr>
            <a:r>
              <a:rPr lang="en-US" sz="1200" dirty="0">
                <a:solidFill>
                  <a:srgbClr val="8E9C9B"/>
                </a:solidFill>
                <a:latin typeface="Calibri" pitchFamily="34" charset="0"/>
                <a:ea typeface="Calibri" pitchFamily="34" charset="-122"/>
                <a:cs typeface="Calibri" pitchFamily="34" charset="-120"/>
              </a:rPr>
              <a:t>Investor außerhalb der Kohorte, bietet immer mit · sieht nur veröffentlichte Kennzahlen · sicherer Vollzug</a:t>
            </a:r>
            <a:endParaRPr lang="en-US" sz="1200" dirty="0"/>
          </a:p>
        </p:txBody>
      </p:sp>
      <p:sp>
        <p:nvSpPr>
          <p:cNvPr id="17" name="Shape 14"/>
          <p:cNvSpPr/>
          <p:nvPr/>
        </p:nvSpPr>
        <p:spPr>
          <a:xfrm>
            <a:off x="502920" y="4562856"/>
            <a:ext cx="5852160" cy="1325880"/>
          </a:xfrm>
          <a:prstGeom prst="roundRect">
            <a:avLst>
              <a:gd name="adj" fmla="val 5517"/>
            </a:avLst>
          </a:prstGeom>
          <a:solidFill>
            <a:srgbClr val="161F22"/>
          </a:solidFill>
          <a:ln w="12700">
            <a:solidFill>
              <a:srgbClr val="DCB264"/>
            </a:solidFill>
            <a:prstDash val="solid"/>
          </a:ln>
        </p:spPr>
      </p:sp>
      <p:sp>
        <p:nvSpPr>
          <p:cNvPr id="18" name="Text 15"/>
          <p:cNvSpPr txBox="1"/>
          <p:nvPr/>
        </p:nvSpPr>
        <p:spPr>
          <a:xfrm>
            <a:off x="731520" y="4672584"/>
            <a:ext cx="3291840" cy="365760"/>
          </a:xfrm>
          <a:prstGeom prst="rect">
            <a:avLst/>
          </a:prstGeom>
          <a:noFill/>
          <a:ln/>
        </p:spPr>
        <p:txBody>
          <a:bodyPr wrap="square" lIns="0" tIns="0" rIns="0" bIns="0" rtlCol="0" anchor="t"/>
          <a:lstStyle/>
          <a:p>
            <a:pPr algn="l" indent="0" marL="0">
              <a:buNone/>
            </a:pPr>
            <a:r>
              <a:rPr lang="en-US" sz="1700" b="1" dirty="0">
                <a:solidFill>
                  <a:srgbClr val="DCB264"/>
                </a:solidFill>
                <a:latin typeface="Calibri" pitchFamily="34" charset="0"/>
                <a:ea typeface="Calibri" pitchFamily="34" charset="-122"/>
                <a:cs typeface="Calibri" pitchFamily="34" charset="-120"/>
              </a:rPr>
              <a:t>Family Office</a:t>
            </a:r>
            <a:endParaRPr lang="en-US" sz="1700" dirty="0"/>
          </a:p>
        </p:txBody>
      </p:sp>
      <p:sp>
        <p:nvSpPr>
          <p:cNvPr id="19" name="Text 16"/>
          <p:cNvSpPr txBox="1"/>
          <p:nvPr/>
        </p:nvSpPr>
        <p:spPr>
          <a:xfrm>
            <a:off x="3886200" y="4690872"/>
            <a:ext cx="2286000" cy="365760"/>
          </a:xfrm>
          <a:prstGeom prst="rect">
            <a:avLst/>
          </a:prstGeom>
          <a:noFill/>
          <a:ln/>
        </p:spPr>
        <p:txBody>
          <a:bodyPr wrap="square" lIns="0" tIns="0" rIns="0" bIns="0" rtlCol="0" anchor="t"/>
          <a:lstStyle/>
          <a:p>
            <a:pPr algn="r" indent="0" marL="0">
              <a:buNone/>
            </a:pPr>
            <a:r>
              <a:rPr lang="en-US" sz="1300" b="1" dirty="0">
                <a:solidFill>
                  <a:srgbClr val="EDF1EE"/>
                </a:solidFill>
                <a:latin typeface="Calibri" pitchFamily="34" charset="0"/>
                <a:ea typeface="Calibri" pitchFamily="34" charset="-122"/>
                <a:cs typeface="Calibri" pitchFamily="34" charset="-120"/>
              </a:rPr>
              <a:t>86–92 % des Fair Value</a:t>
            </a:r>
            <a:endParaRPr lang="en-US" sz="1300" dirty="0"/>
          </a:p>
        </p:txBody>
      </p:sp>
      <p:sp>
        <p:nvSpPr>
          <p:cNvPr id="20" name="Text 17"/>
          <p:cNvSpPr txBox="1"/>
          <p:nvPr/>
        </p:nvSpPr>
        <p:spPr>
          <a:xfrm>
            <a:off x="731520" y="5111496"/>
            <a:ext cx="5394960" cy="731520"/>
          </a:xfrm>
          <a:prstGeom prst="rect">
            <a:avLst/>
          </a:prstGeom>
          <a:noFill/>
          <a:ln/>
        </p:spPr>
        <p:txBody>
          <a:bodyPr wrap="square" lIns="0" tIns="0" rIns="0" bIns="0" rtlCol="0" anchor="t"/>
          <a:lstStyle/>
          <a:p>
            <a:pPr algn="l" indent="0" marL="0">
              <a:buNone/>
            </a:pPr>
            <a:r>
              <a:rPr lang="en-US" sz="1200" dirty="0">
                <a:solidFill>
                  <a:srgbClr val="8E9C9B"/>
                </a:solidFill>
                <a:latin typeface="Calibri" pitchFamily="34" charset="0"/>
                <a:ea typeface="Calibri" pitchFamily="34" charset="-122"/>
                <a:cs typeface="Calibri" pitchFamily="34" charset="-120"/>
              </a:rPr>
              <a:t>Zahlt am wenigsten, vollzieht aber sicher</a:t>
            </a:r>
            <a:endParaRPr lang="en-US" sz="1200" dirty="0"/>
          </a:p>
        </p:txBody>
      </p:sp>
      <p:sp>
        <p:nvSpPr>
          <p:cNvPr id="21" name="Text 18"/>
          <p:cNvSpPr txBox="1"/>
          <p:nvPr/>
        </p:nvSpPr>
        <p:spPr>
          <a:xfrm>
            <a:off x="502920" y="6035040"/>
            <a:ext cx="5852160" cy="27432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Fair Value: Bewertungsmultiple × (1 + 2 % × Execution) − Endfälligkeitsdruck</a:t>
            </a:r>
            <a:endParaRPr lang="en-US" sz="1050" dirty="0"/>
          </a:p>
        </p:txBody>
      </p:sp>
      <p:pic>
        <p:nvPicPr>
          <p:cNvPr id="22" name="Image 0" descr="/tmp/claude-0/deck/img/offers.jpg">    </p:cNvPr>
          <p:cNvPicPr>
            <a:picLocks noChangeAspect="1"/>
          </p:cNvPicPr>
          <p:nvPr/>
        </p:nvPicPr>
        <p:blipFill>
          <a:blip r:embed="rId1"/>
          <a:stretch>
            <a:fillRect/>
          </a:stretch>
        </p:blipFill>
        <p:spPr>
          <a:xfrm>
            <a:off x="6949724" y="1600200"/>
            <a:ext cx="2148556" cy="4434840"/>
          </a:xfrm>
          <a:prstGeom prst="rect">
            <a:avLst/>
          </a:prstGeom>
        </p:spPr>
      </p:pic>
      <p:sp>
        <p:nvSpPr>
          <p:cNvPr id="23" name="Shape 19"/>
          <p:cNvSpPr/>
          <p:nvPr/>
        </p:nvSpPr>
        <p:spPr>
          <a:xfrm>
            <a:off x="6949724" y="1600200"/>
            <a:ext cx="2148556" cy="4434840"/>
          </a:xfrm>
          <a:prstGeom prst="rect">
            <a:avLst/>
          </a:prstGeom>
          <a:ln w="9525">
            <a:solidFill>
              <a:srgbClr val="33474B"/>
            </a:solidFill>
            <a:prstDash val="solid"/>
          </a:ln>
        </p:spPr>
      </p:sp>
      <p:sp>
        <p:nvSpPr>
          <p:cNvPr id="24" name="Text 20"/>
          <p:cNvSpPr txBox="1"/>
          <p:nvPr/>
        </p:nvSpPr>
        <p:spPr>
          <a:xfrm>
            <a:off x="6675404" y="6089904"/>
            <a:ext cx="2697196"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Gebot des Strategen</a:t>
            </a:r>
            <a:endParaRPr lang="en-US" sz="950" dirty="0"/>
          </a:p>
        </p:txBody>
      </p:sp>
      <p:pic>
        <p:nvPicPr>
          <p:cNvPr id="25" name="Image 1" descr="/tmp/claude-0/deck/img/offers_fo.jpg">    </p:cNvPr>
          <p:cNvPicPr>
            <a:picLocks noChangeAspect="1"/>
          </p:cNvPicPr>
          <p:nvPr/>
        </p:nvPicPr>
        <p:blipFill>
          <a:blip r:embed="rId2"/>
          <a:stretch>
            <a:fillRect/>
          </a:stretch>
        </p:blipFill>
        <p:spPr>
          <a:xfrm>
            <a:off x="9241385" y="1600200"/>
            <a:ext cx="2444647" cy="4434840"/>
          </a:xfrm>
          <a:prstGeom prst="rect">
            <a:avLst/>
          </a:prstGeom>
        </p:spPr>
      </p:pic>
      <p:sp>
        <p:nvSpPr>
          <p:cNvPr id="26" name="Shape 21"/>
          <p:cNvSpPr/>
          <p:nvPr/>
        </p:nvSpPr>
        <p:spPr>
          <a:xfrm>
            <a:off x="9241385" y="1600200"/>
            <a:ext cx="2444647" cy="4434840"/>
          </a:xfrm>
          <a:prstGeom prst="rect">
            <a:avLst/>
          </a:prstGeom>
          <a:ln w="9525">
            <a:solidFill>
              <a:srgbClr val="33474B"/>
            </a:solidFill>
            <a:prstDash val="solid"/>
          </a:ln>
        </p:spPr>
      </p:sp>
      <p:sp>
        <p:nvSpPr>
          <p:cNvPr id="27" name="Text 22"/>
          <p:cNvSpPr txBox="1"/>
          <p:nvPr/>
        </p:nvSpPr>
        <p:spPr>
          <a:xfrm>
            <a:off x="8967065" y="6089904"/>
            <a:ext cx="2993287"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Gebot des Finanzinvestors</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9538E"/>
                </a:solidFill>
                <a:latin typeface="Calibri" pitchFamily="34" charset="0"/>
                <a:ea typeface="Calibri" pitchFamily="34" charset="-122"/>
                <a:cs typeface="Calibri" pitchFamily="34" charset="-120"/>
              </a:rPr>
              <a:t>EXIT-RECHNUNG</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Vom Enterprise Value zum Nettoerlös</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9538E"/>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9538E"/>
                </a:solidFill>
                <a:latin typeface="Calibri" pitchFamily="34" charset="0"/>
                <a:ea typeface="Calibri" pitchFamily="34" charset="-122"/>
                <a:cs typeface="Calibri" pitchFamily="34" charset="-120"/>
              </a:rPr>
              <a:t>D · EXIT</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37</a:t>
            </a:r>
            <a:endParaRPr lang="en-US" sz="900" dirty="0"/>
          </a:p>
        </p:txBody>
      </p:sp>
      <p:sp>
        <p:nvSpPr>
          <p:cNvPr id="9" name="Shape 6"/>
          <p:cNvSpPr/>
          <p:nvPr/>
        </p:nvSpPr>
        <p:spPr>
          <a:xfrm>
            <a:off x="717194" y="2187341"/>
            <a:ext cx="699211" cy="2658979"/>
          </a:xfrm>
          <a:prstGeom prst="rect">
            <a:avLst/>
          </a:prstGeom>
          <a:solidFill>
            <a:srgbClr val="3B82F6"/>
          </a:solidFill>
          <a:ln/>
        </p:spPr>
      </p:sp>
      <p:sp>
        <p:nvSpPr>
          <p:cNvPr id="10" name="Text 7"/>
          <p:cNvSpPr txBox="1"/>
          <p:nvPr/>
        </p:nvSpPr>
        <p:spPr>
          <a:xfrm>
            <a:off x="534314" y="1940453"/>
            <a:ext cx="1064971" cy="228600"/>
          </a:xfrm>
          <a:prstGeom prst="rect">
            <a:avLst/>
          </a:prstGeom>
          <a:noFill/>
          <a:ln/>
        </p:spPr>
        <p:txBody>
          <a:bodyPr wrap="square" lIns="0" tIns="0" rIns="0" bIns="0" rtlCol="0" anchor="t"/>
          <a:lstStyle/>
          <a:p>
            <a:pPr algn="ctr" indent="0" marL="0">
              <a:buNone/>
            </a:pPr>
            <a:r>
              <a:rPr lang="en-US" sz="1100" b="1" dirty="0">
                <a:solidFill>
                  <a:srgbClr val="3B82F6"/>
                </a:solidFill>
                <a:latin typeface="Calibri" pitchFamily="34" charset="0"/>
                <a:ea typeface="Calibri" pitchFamily="34" charset="-122"/>
                <a:cs typeface="Calibri" pitchFamily="34" charset="-120"/>
              </a:rPr>
              <a:t>170</a:t>
            </a:r>
            <a:endParaRPr lang="en-US" sz="1100" dirty="0"/>
          </a:p>
        </p:txBody>
      </p:sp>
      <p:sp>
        <p:nvSpPr>
          <p:cNvPr id="11" name="Shape 8"/>
          <p:cNvSpPr/>
          <p:nvPr/>
        </p:nvSpPr>
        <p:spPr>
          <a:xfrm>
            <a:off x="1416406" y="2187341"/>
            <a:ext cx="428549" cy="0"/>
          </a:xfrm>
          <a:prstGeom prst="line">
            <a:avLst/>
          </a:prstGeom>
          <a:noFill/>
          <a:ln w="9525">
            <a:solidFill>
              <a:srgbClr val="4A5C5F"/>
            </a:solidFill>
            <a:prstDash val="dash"/>
          </a:ln>
        </p:spPr>
      </p:sp>
      <p:sp>
        <p:nvSpPr>
          <p:cNvPr id="12" name="Text 9"/>
          <p:cNvSpPr txBox="1"/>
          <p:nvPr/>
        </p:nvSpPr>
        <p:spPr>
          <a:xfrm>
            <a:off x="502920" y="4901184"/>
            <a:ext cx="1127760" cy="50292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EV</a:t>
            </a:r>
            <a:endParaRPr lang="en-US" sz="1000" dirty="0"/>
          </a:p>
          <a:p>
            <a:pPr algn="ctr" indent="0" marL="0">
              <a:buNone/>
            </a:pPr>
            <a:r>
              <a:rPr lang="en-US" sz="1000" dirty="0">
                <a:solidFill>
                  <a:srgbClr val="8E9C9B"/>
                </a:solidFill>
                <a:latin typeface="Calibri" pitchFamily="34" charset="0"/>
                <a:ea typeface="Calibri" pitchFamily="34" charset="-122"/>
                <a:cs typeface="Calibri" pitchFamily="34" charset="-120"/>
              </a:rPr>
              <a:t>20,3 × 8,4</a:t>
            </a:r>
            <a:endParaRPr lang="en-US" sz="1000" dirty="0"/>
          </a:p>
        </p:txBody>
      </p:sp>
      <p:sp>
        <p:nvSpPr>
          <p:cNvPr id="13" name="Shape 10"/>
          <p:cNvSpPr/>
          <p:nvPr/>
        </p:nvSpPr>
        <p:spPr>
          <a:xfrm>
            <a:off x="1844954" y="2187341"/>
            <a:ext cx="699211" cy="1010412"/>
          </a:xfrm>
          <a:prstGeom prst="rect">
            <a:avLst/>
          </a:prstGeom>
          <a:solidFill>
            <a:srgbClr val="E3897F"/>
          </a:solidFill>
          <a:ln/>
        </p:spPr>
      </p:sp>
      <p:sp>
        <p:nvSpPr>
          <p:cNvPr id="14" name="Text 11"/>
          <p:cNvSpPr txBox="1"/>
          <p:nvPr/>
        </p:nvSpPr>
        <p:spPr>
          <a:xfrm>
            <a:off x="1662074" y="1940453"/>
            <a:ext cx="1064971" cy="228600"/>
          </a:xfrm>
          <a:prstGeom prst="rect">
            <a:avLst/>
          </a:prstGeom>
          <a:noFill/>
          <a:ln/>
        </p:spPr>
        <p:txBody>
          <a:bodyPr wrap="square" lIns="0" tIns="0" rIns="0" bIns="0" rtlCol="0" anchor="t"/>
          <a:lstStyle/>
          <a:p>
            <a:pPr algn="ctr" indent="0" marL="0">
              <a:buNone/>
            </a:pPr>
            <a:r>
              <a:rPr lang="en-US" sz="1100" b="1" dirty="0">
                <a:solidFill>
                  <a:srgbClr val="E3897F"/>
                </a:solidFill>
                <a:latin typeface="Calibri" pitchFamily="34" charset="0"/>
                <a:ea typeface="Calibri" pitchFamily="34" charset="-122"/>
                <a:cs typeface="Calibri" pitchFamily="34" charset="-120"/>
              </a:rPr>
              <a:t>−64,6</a:t>
            </a:r>
            <a:endParaRPr lang="en-US" sz="1100" dirty="0"/>
          </a:p>
        </p:txBody>
      </p:sp>
      <p:sp>
        <p:nvSpPr>
          <p:cNvPr id="15" name="Shape 12"/>
          <p:cNvSpPr/>
          <p:nvPr/>
        </p:nvSpPr>
        <p:spPr>
          <a:xfrm>
            <a:off x="2544166" y="3197753"/>
            <a:ext cx="428549" cy="0"/>
          </a:xfrm>
          <a:prstGeom prst="line">
            <a:avLst/>
          </a:prstGeom>
          <a:noFill/>
          <a:ln w="9525">
            <a:solidFill>
              <a:srgbClr val="4A5C5F"/>
            </a:solidFill>
            <a:prstDash val="dash"/>
          </a:ln>
        </p:spPr>
      </p:sp>
      <p:sp>
        <p:nvSpPr>
          <p:cNvPr id="16" name="Text 13"/>
          <p:cNvSpPr txBox="1"/>
          <p:nvPr/>
        </p:nvSpPr>
        <p:spPr>
          <a:xfrm>
            <a:off x="1630680" y="4901184"/>
            <a:ext cx="1127760" cy="50292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 Netto-</a:t>
            </a:r>
            <a:endParaRPr lang="en-US" sz="1000" dirty="0"/>
          </a:p>
          <a:p>
            <a:pPr algn="ctr" indent="0" marL="0">
              <a:buNone/>
            </a:pPr>
            <a:r>
              <a:rPr lang="en-US" sz="1000" dirty="0">
                <a:solidFill>
                  <a:srgbClr val="8E9C9B"/>
                </a:solidFill>
                <a:latin typeface="Calibri" pitchFamily="34" charset="0"/>
                <a:ea typeface="Calibri" pitchFamily="34" charset="-122"/>
                <a:cs typeface="Calibri" pitchFamily="34" charset="-120"/>
              </a:rPr>
              <a:t>verschuldung</a:t>
            </a:r>
            <a:endParaRPr lang="en-US" sz="1000" dirty="0"/>
          </a:p>
        </p:txBody>
      </p:sp>
      <p:sp>
        <p:nvSpPr>
          <p:cNvPr id="17" name="Shape 14"/>
          <p:cNvSpPr/>
          <p:nvPr/>
        </p:nvSpPr>
        <p:spPr>
          <a:xfrm>
            <a:off x="2972714" y="3204009"/>
            <a:ext cx="699211" cy="1642311"/>
          </a:xfrm>
          <a:prstGeom prst="rect">
            <a:avLst/>
          </a:prstGeom>
          <a:solidFill>
            <a:srgbClr val="3B82F6"/>
          </a:solidFill>
          <a:ln/>
        </p:spPr>
      </p:sp>
      <p:sp>
        <p:nvSpPr>
          <p:cNvPr id="18" name="Text 15"/>
          <p:cNvSpPr txBox="1"/>
          <p:nvPr/>
        </p:nvSpPr>
        <p:spPr>
          <a:xfrm>
            <a:off x="2789834" y="2957121"/>
            <a:ext cx="1064971" cy="228600"/>
          </a:xfrm>
          <a:prstGeom prst="rect">
            <a:avLst/>
          </a:prstGeom>
          <a:noFill/>
          <a:ln/>
        </p:spPr>
        <p:txBody>
          <a:bodyPr wrap="square" lIns="0" tIns="0" rIns="0" bIns="0" rtlCol="0" anchor="t"/>
          <a:lstStyle/>
          <a:p>
            <a:pPr algn="ctr" indent="0" marL="0">
              <a:buNone/>
            </a:pPr>
            <a:r>
              <a:rPr lang="en-US" sz="1100" b="1" dirty="0">
                <a:solidFill>
                  <a:srgbClr val="3B82F6"/>
                </a:solidFill>
                <a:latin typeface="Calibri" pitchFamily="34" charset="0"/>
                <a:ea typeface="Calibri" pitchFamily="34" charset="-122"/>
                <a:cs typeface="Calibri" pitchFamily="34" charset="-120"/>
              </a:rPr>
              <a:t>105</a:t>
            </a:r>
            <a:endParaRPr lang="en-US" sz="1100" dirty="0"/>
          </a:p>
        </p:txBody>
      </p:sp>
      <p:sp>
        <p:nvSpPr>
          <p:cNvPr id="19" name="Shape 16"/>
          <p:cNvSpPr/>
          <p:nvPr/>
        </p:nvSpPr>
        <p:spPr>
          <a:xfrm>
            <a:off x="3671926" y="3204009"/>
            <a:ext cx="428549" cy="0"/>
          </a:xfrm>
          <a:prstGeom prst="line">
            <a:avLst/>
          </a:prstGeom>
          <a:noFill/>
          <a:ln w="9525">
            <a:solidFill>
              <a:srgbClr val="4A5C5F"/>
            </a:solidFill>
            <a:prstDash val="dash"/>
          </a:ln>
        </p:spPr>
      </p:sp>
      <p:sp>
        <p:nvSpPr>
          <p:cNvPr id="20" name="Text 17"/>
          <p:cNvSpPr txBox="1"/>
          <p:nvPr/>
        </p:nvSpPr>
        <p:spPr>
          <a:xfrm>
            <a:off x="2758440" y="4901184"/>
            <a:ext cx="1127760" cy="50292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 Equity</a:t>
            </a:r>
            <a:endParaRPr lang="en-US" sz="1000" dirty="0"/>
          </a:p>
          <a:p>
            <a:pPr algn="ctr" indent="0" marL="0">
              <a:buNone/>
            </a:pPr>
            <a:r>
              <a:rPr lang="en-US" sz="1000" dirty="0">
                <a:solidFill>
                  <a:srgbClr val="8E9C9B"/>
                </a:solidFill>
                <a:latin typeface="Calibri" pitchFamily="34" charset="0"/>
                <a:ea typeface="Calibri" pitchFamily="34" charset="-122"/>
                <a:cs typeface="Calibri" pitchFamily="34" charset="-120"/>
              </a:rPr>
              <a:t>Value</a:t>
            </a:r>
            <a:endParaRPr lang="en-US" sz="1000" dirty="0"/>
          </a:p>
        </p:txBody>
      </p:sp>
      <p:sp>
        <p:nvSpPr>
          <p:cNvPr id="21" name="Shape 18"/>
          <p:cNvSpPr/>
          <p:nvPr/>
        </p:nvSpPr>
        <p:spPr>
          <a:xfrm>
            <a:off x="4100474" y="3204009"/>
            <a:ext cx="699211" cy="48487"/>
          </a:xfrm>
          <a:prstGeom prst="rect">
            <a:avLst/>
          </a:prstGeom>
          <a:solidFill>
            <a:srgbClr val="E3897F"/>
          </a:solidFill>
          <a:ln/>
        </p:spPr>
      </p:sp>
      <p:sp>
        <p:nvSpPr>
          <p:cNvPr id="22" name="Text 19"/>
          <p:cNvSpPr txBox="1"/>
          <p:nvPr/>
        </p:nvSpPr>
        <p:spPr>
          <a:xfrm>
            <a:off x="3917594" y="2957121"/>
            <a:ext cx="1064971" cy="228600"/>
          </a:xfrm>
          <a:prstGeom prst="rect">
            <a:avLst/>
          </a:prstGeom>
          <a:noFill/>
          <a:ln/>
        </p:spPr>
        <p:txBody>
          <a:bodyPr wrap="square" lIns="0" tIns="0" rIns="0" bIns="0" rtlCol="0" anchor="t"/>
          <a:lstStyle/>
          <a:p>
            <a:pPr algn="ctr" indent="0" marL="0">
              <a:buNone/>
            </a:pPr>
            <a:r>
              <a:rPr lang="en-US" sz="1100" b="1" dirty="0">
                <a:solidFill>
                  <a:srgbClr val="E3897F"/>
                </a:solidFill>
                <a:latin typeface="Calibri" pitchFamily="34" charset="0"/>
                <a:ea typeface="Calibri" pitchFamily="34" charset="-122"/>
                <a:cs typeface="Calibri" pitchFamily="34" charset="-120"/>
              </a:rPr>
              <a:t>−3,1</a:t>
            </a:r>
            <a:endParaRPr lang="en-US" sz="1100" dirty="0"/>
          </a:p>
        </p:txBody>
      </p:sp>
      <p:sp>
        <p:nvSpPr>
          <p:cNvPr id="23" name="Shape 20"/>
          <p:cNvSpPr/>
          <p:nvPr/>
        </p:nvSpPr>
        <p:spPr>
          <a:xfrm>
            <a:off x="4799686" y="3252497"/>
            <a:ext cx="428549" cy="0"/>
          </a:xfrm>
          <a:prstGeom prst="line">
            <a:avLst/>
          </a:prstGeom>
          <a:noFill/>
          <a:ln w="9525">
            <a:solidFill>
              <a:srgbClr val="4A5C5F"/>
            </a:solidFill>
            <a:prstDash val="dash"/>
          </a:ln>
        </p:spPr>
      </p:sp>
      <p:sp>
        <p:nvSpPr>
          <p:cNvPr id="24" name="Text 21"/>
          <p:cNvSpPr txBox="1"/>
          <p:nvPr/>
        </p:nvSpPr>
        <p:spPr>
          <a:xfrm>
            <a:off x="3886200" y="4901184"/>
            <a:ext cx="1127760" cy="50292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 Transakt.-</a:t>
            </a:r>
            <a:endParaRPr lang="en-US" sz="1000" dirty="0"/>
          </a:p>
          <a:p>
            <a:pPr algn="ctr" indent="0" marL="0">
              <a:buNone/>
            </a:pPr>
            <a:r>
              <a:rPr lang="en-US" sz="1000" dirty="0">
                <a:solidFill>
                  <a:srgbClr val="8E9C9B"/>
                </a:solidFill>
                <a:latin typeface="Calibri" pitchFamily="34" charset="0"/>
                <a:ea typeface="Calibri" pitchFamily="34" charset="-122"/>
                <a:cs typeface="Calibri" pitchFamily="34" charset="-120"/>
              </a:rPr>
              <a:t>kosten 3 %</a:t>
            </a:r>
            <a:endParaRPr lang="en-US" sz="1000" dirty="0"/>
          </a:p>
        </p:txBody>
      </p:sp>
      <p:sp>
        <p:nvSpPr>
          <p:cNvPr id="25" name="Shape 22"/>
          <p:cNvSpPr/>
          <p:nvPr/>
        </p:nvSpPr>
        <p:spPr>
          <a:xfrm>
            <a:off x="5228234" y="3252497"/>
            <a:ext cx="699211" cy="18288"/>
          </a:xfrm>
          <a:prstGeom prst="rect">
            <a:avLst/>
          </a:prstGeom>
          <a:solidFill>
            <a:srgbClr val="5FC4B1"/>
          </a:solidFill>
          <a:ln/>
        </p:spPr>
      </p:sp>
      <p:sp>
        <p:nvSpPr>
          <p:cNvPr id="26" name="Text 23"/>
          <p:cNvSpPr txBox="1"/>
          <p:nvPr/>
        </p:nvSpPr>
        <p:spPr>
          <a:xfrm>
            <a:off x="5045354" y="3005609"/>
            <a:ext cx="1064971" cy="228600"/>
          </a:xfrm>
          <a:prstGeom prst="rect">
            <a:avLst/>
          </a:prstGeom>
          <a:noFill/>
          <a:ln/>
        </p:spPr>
        <p:txBody>
          <a:bodyPr wrap="square" lIns="0" tIns="0" rIns="0" bIns="0" rtlCol="0" anchor="t"/>
          <a:lstStyle/>
          <a:p>
            <a:pPr algn="ctr" indent="0" marL="0">
              <a:buNone/>
            </a:pPr>
            <a:r>
              <a:rPr lang="en-US" sz="1100" b="1" dirty="0">
                <a:solidFill>
                  <a:srgbClr val="5FC4B1"/>
                </a:solidFill>
                <a:latin typeface="Calibri" pitchFamily="34" charset="0"/>
                <a:ea typeface="Calibri" pitchFamily="34" charset="-122"/>
                <a:cs typeface="Calibri" pitchFamily="34" charset="-120"/>
              </a:rPr>
              <a:t>0</a:t>
            </a:r>
            <a:endParaRPr lang="en-US" sz="1100" dirty="0"/>
          </a:p>
        </p:txBody>
      </p:sp>
      <p:sp>
        <p:nvSpPr>
          <p:cNvPr id="27" name="Shape 24"/>
          <p:cNvSpPr/>
          <p:nvPr/>
        </p:nvSpPr>
        <p:spPr>
          <a:xfrm>
            <a:off x="5927446" y="3252497"/>
            <a:ext cx="428549" cy="0"/>
          </a:xfrm>
          <a:prstGeom prst="line">
            <a:avLst/>
          </a:prstGeom>
          <a:noFill/>
          <a:ln w="9525">
            <a:solidFill>
              <a:srgbClr val="4A5C5F"/>
            </a:solidFill>
            <a:prstDash val="dash"/>
          </a:ln>
        </p:spPr>
      </p:sp>
      <p:sp>
        <p:nvSpPr>
          <p:cNvPr id="28" name="Text 25"/>
          <p:cNvSpPr txBox="1"/>
          <p:nvPr/>
        </p:nvSpPr>
        <p:spPr>
          <a:xfrm>
            <a:off x="5013960" y="4901184"/>
            <a:ext cx="1127760" cy="50292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 MEP 6 %</a:t>
            </a:r>
            <a:endParaRPr lang="en-US" sz="1000" dirty="0"/>
          </a:p>
          <a:p>
            <a:pPr algn="ctr" indent="0" marL="0">
              <a:buNone/>
            </a:pPr>
            <a:r>
              <a:rPr lang="en-US" sz="1000" dirty="0">
                <a:solidFill>
                  <a:srgbClr val="8E9C9B"/>
                </a:solidFill>
                <a:latin typeface="Calibri" pitchFamily="34" charset="0"/>
                <a:ea typeface="Calibri" pitchFamily="34" charset="-122"/>
                <a:cs typeface="Calibri" pitchFamily="34" charset="-120"/>
              </a:rPr>
              <a:t>(hier keins)</a:t>
            </a:r>
            <a:endParaRPr lang="en-US" sz="1000" dirty="0"/>
          </a:p>
        </p:txBody>
      </p:sp>
      <p:sp>
        <p:nvSpPr>
          <p:cNvPr id="29" name="Shape 26"/>
          <p:cNvSpPr/>
          <p:nvPr/>
        </p:nvSpPr>
        <p:spPr>
          <a:xfrm>
            <a:off x="6355994" y="3250933"/>
            <a:ext cx="699211" cy="1595387"/>
          </a:xfrm>
          <a:prstGeom prst="rect">
            <a:avLst/>
          </a:prstGeom>
          <a:solidFill>
            <a:srgbClr val="DCB264"/>
          </a:solidFill>
          <a:ln/>
        </p:spPr>
      </p:sp>
      <p:sp>
        <p:nvSpPr>
          <p:cNvPr id="30" name="Text 27"/>
          <p:cNvSpPr txBox="1"/>
          <p:nvPr/>
        </p:nvSpPr>
        <p:spPr>
          <a:xfrm>
            <a:off x="6173114" y="3004045"/>
            <a:ext cx="1064971" cy="228600"/>
          </a:xfrm>
          <a:prstGeom prst="rect">
            <a:avLst/>
          </a:prstGeom>
          <a:noFill/>
          <a:ln/>
        </p:spPr>
        <p:txBody>
          <a:bodyPr wrap="square" lIns="0" tIns="0" rIns="0" bIns="0" rtlCol="0" anchor="t"/>
          <a:lstStyle/>
          <a:p>
            <a:pPr algn="ctr" indent="0" marL="0">
              <a:buNone/>
            </a:pPr>
            <a:r>
              <a:rPr lang="en-US" sz="1100" b="1" dirty="0">
                <a:solidFill>
                  <a:srgbClr val="DCB264"/>
                </a:solidFill>
                <a:latin typeface="Calibri" pitchFamily="34" charset="0"/>
                <a:ea typeface="Calibri" pitchFamily="34" charset="-122"/>
                <a:cs typeface="Calibri" pitchFamily="34" charset="-120"/>
              </a:rPr>
              <a:t>102</a:t>
            </a:r>
            <a:endParaRPr lang="en-US" sz="1100" dirty="0"/>
          </a:p>
        </p:txBody>
      </p:sp>
      <p:sp>
        <p:nvSpPr>
          <p:cNvPr id="31" name="Text 28"/>
          <p:cNvSpPr txBox="1"/>
          <p:nvPr/>
        </p:nvSpPr>
        <p:spPr>
          <a:xfrm>
            <a:off x="6141720" y="4901184"/>
            <a:ext cx="1127760" cy="502920"/>
          </a:xfrm>
          <a:prstGeom prst="rect">
            <a:avLst/>
          </a:prstGeom>
          <a:noFill/>
          <a:ln/>
        </p:spPr>
        <p:txBody>
          <a:bodyPr wrap="square" lIns="0" tIns="0" rIns="0" bIns="0" rtlCol="0" anchor="t"/>
          <a:lstStyle/>
          <a:p>
            <a:pPr algn="ctr" indent="0" marL="0">
              <a:buNone/>
            </a:pPr>
            <a:r>
              <a:rPr lang="en-US" sz="1000" dirty="0">
                <a:solidFill>
                  <a:srgbClr val="8E9C9B"/>
                </a:solidFill>
                <a:latin typeface="Calibri" pitchFamily="34" charset="0"/>
                <a:ea typeface="Calibri" pitchFamily="34" charset="-122"/>
                <a:cs typeface="Calibri" pitchFamily="34" charset="-120"/>
              </a:rPr>
              <a:t>= Netto-</a:t>
            </a:r>
            <a:endParaRPr lang="en-US" sz="1000" dirty="0"/>
          </a:p>
          <a:p>
            <a:pPr algn="ctr" indent="0" marL="0">
              <a:buNone/>
            </a:pPr>
            <a:r>
              <a:rPr lang="en-US" sz="1000" dirty="0">
                <a:solidFill>
                  <a:srgbClr val="8E9C9B"/>
                </a:solidFill>
                <a:latin typeface="Calibri" pitchFamily="34" charset="0"/>
                <a:ea typeface="Calibri" pitchFamily="34" charset="-122"/>
                <a:cs typeface="Calibri" pitchFamily="34" charset="-120"/>
              </a:rPr>
              <a:t>erlös</a:t>
            </a:r>
            <a:endParaRPr lang="en-US" sz="1000" dirty="0"/>
          </a:p>
        </p:txBody>
      </p:sp>
      <p:sp>
        <p:nvSpPr>
          <p:cNvPr id="32" name="Shape 29"/>
          <p:cNvSpPr/>
          <p:nvPr/>
        </p:nvSpPr>
        <p:spPr>
          <a:xfrm>
            <a:off x="502920" y="4846320"/>
            <a:ext cx="6766560" cy="0"/>
          </a:xfrm>
          <a:prstGeom prst="line">
            <a:avLst/>
          </a:prstGeom>
          <a:noFill/>
          <a:ln w="9525">
            <a:solidFill>
              <a:srgbClr val="243033"/>
            </a:solidFill>
            <a:prstDash val="solid"/>
          </a:ln>
        </p:spPr>
      </p:sp>
      <p:sp>
        <p:nvSpPr>
          <p:cNvPr id="33" name="Shape 30"/>
          <p:cNvSpPr/>
          <p:nvPr/>
        </p:nvSpPr>
        <p:spPr>
          <a:xfrm>
            <a:off x="502920" y="5440680"/>
            <a:ext cx="2148840" cy="868680"/>
          </a:xfrm>
          <a:prstGeom prst="roundRect">
            <a:avLst>
              <a:gd name="adj" fmla="val 8421"/>
            </a:avLst>
          </a:prstGeom>
          <a:solidFill>
            <a:srgbClr val="161F22"/>
          </a:solidFill>
          <a:ln w="9525">
            <a:solidFill>
              <a:srgbClr val="243033"/>
            </a:solidFill>
            <a:prstDash val="solid"/>
          </a:ln>
        </p:spPr>
      </p:sp>
      <p:sp>
        <p:nvSpPr>
          <p:cNvPr id="34" name="Text 31"/>
          <p:cNvSpPr txBox="1"/>
          <p:nvPr/>
        </p:nvSpPr>
        <p:spPr>
          <a:xfrm>
            <a:off x="640080" y="5468112"/>
            <a:ext cx="1920240" cy="457200"/>
          </a:xfrm>
          <a:prstGeom prst="rect">
            <a:avLst/>
          </a:prstGeom>
          <a:noFill/>
          <a:ln/>
        </p:spPr>
        <p:txBody>
          <a:bodyPr wrap="square" lIns="0" tIns="0" rIns="0" bIns="0" rtlCol="0" anchor="t"/>
          <a:lstStyle/>
          <a:p>
            <a:pPr algn="l" indent="0" marL="0">
              <a:buNone/>
            </a:pPr>
            <a:r>
              <a:rPr lang="en-US" sz="2200" b="1" dirty="0">
                <a:solidFill>
                  <a:srgbClr val="EDF1EE"/>
                </a:solidFill>
                <a:latin typeface="Calibri" pitchFamily="34" charset="0"/>
                <a:ea typeface="Calibri" pitchFamily="34" charset="-122"/>
                <a:cs typeface="Calibri" pitchFamily="34" charset="-120"/>
              </a:rPr>
              <a:t>48,8</a:t>
            </a:r>
            <a:endParaRPr lang="en-US" sz="2200" dirty="0"/>
          </a:p>
        </p:txBody>
      </p:sp>
      <p:sp>
        <p:nvSpPr>
          <p:cNvPr id="35" name="Text 32"/>
          <p:cNvSpPr txBox="1"/>
          <p:nvPr/>
        </p:nvSpPr>
        <p:spPr>
          <a:xfrm>
            <a:off x="640080" y="5925312"/>
            <a:ext cx="1920240" cy="32004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Mio. € Eigenkapital (Einstand)</a:t>
            </a:r>
            <a:endParaRPr lang="en-US" sz="1050" dirty="0"/>
          </a:p>
        </p:txBody>
      </p:sp>
      <p:sp>
        <p:nvSpPr>
          <p:cNvPr id="36" name="Shape 33"/>
          <p:cNvSpPr/>
          <p:nvPr/>
        </p:nvSpPr>
        <p:spPr>
          <a:xfrm>
            <a:off x="2788920" y="5440680"/>
            <a:ext cx="2148840" cy="868680"/>
          </a:xfrm>
          <a:prstGeom prst="roundRect">
            <a:avLst>
              <a:gd name="adj" fmla="val 8421"/>
            </a:avLst>
          </a:prstGeom>
          <a:solidFill>
            <a:srgbClr val="161F22"/>
          </a:solidFill>
          <a:ln w="9525">
            <a:solidFill>
              <a:srgbClr val="243033"/>
            </a:solidFill>
            <a:prstDash val="solid"/>
          </a:ln>
        </p:spPr>
      </p:sp>
      <p:sp>
        <p:nvSpPr>
          <p:cNvPr id="37" name="Text 34"/>
          <p:cNvSpPr txBox="1"/>
          <p:nvPr/>
        </p:nvSpPr>
        <p:spPr>
          <a:xfrm>
            <a:off x="2926080" y="5468112"/>
            <a:ext cx="1920240" cy="457200"/>
          </a:xfrm>
          <a:prstGeom prst="rect">
            <a:avLst/>
          </a:prstGeom>
          <a:noFill/>
          <a:ln/>
        </p:spPr>
        <p:txBody>
          <a:bodyPr wrap="square" lIns="0" tIns="0" rIns="0" bIns="0" rtlCol="0" anchor="t"/>
          <a:lstStyle/>
          <a:p>
            <a:pPr algn="l" indent="0" marL="0">
              <a:buNone/>
            </a:pPr>
            <a:r>
              <a:rPr lang="en-US" sz="2200" b="1" dirty="0">
                <a:solidFill>
                  <a:srgbClr val="DCB264"/>
                </a:solidFill>
                <a:latin typeface="Calibri" pitchFamily="34" charset="0"/>
                <a:ea typeface="Calibri" pitchFamily="34" charset="-122"/>
                <a:cs typeface="Calibri" pitchFamily="34" charset="-120"/>
              </a:rPr>
              <a:t>102</a:t>
            </a:r>
            <a:endParaRPr lang="en-US" sz="2200" dirty="0"/>
          </a:p>
        </p:txBody>
      </p:sp>
      <p:sp>
        <p:nvSpPr>
          <p:cNvPr id="38" name="Text 35"/>
          <p:cNvSpPr txBox="1"/>
          <p:nvPr/>
        </p:nvSpPr>
        <p:spPr>
          <a:xfrm>
            <a:off x="2926080" y="5925312"/>
            <a:ext cx="1920240" cy="32004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Mio. € Nettoerlös</a:t>
            </a:r>
            <a:endParaRPr lang="en-US" sz="1050" dirty="0"/>
          </a:p>
        </p:txBody>
      </p:sp>
      <p:sp>
        <p:nvSpPr>
          <p:cNvPr id="39" name="Shape 36"/>
          <p:cNvSpPr/>
          <p:nvPr/>
        </p:nvSpPr>
        <p:spPr>
          <a:xfrm>
            <a:off x="5074920" y="5440680"/>
            <a:ext cx="2148840" cy="868680"/>
          </a:xfrm>
          <a:prstGeom prst="roundRect">
            <a:avLst>
              <a:gd name="adj" fmla="val 8421"/>
            </a:avLst>
          </a:prstGeom>
          <a:solidFill>
            <a:srgbClr val="161F22"/>
          </a:solidFill>
          <a:ln w="9525">
            <a:solidFill>
              <a:srgbClr val="243033"/>
            </a:solidFill>
            <a:prstDash val="solid"/>
          </a:ln>
        </p:spPr>
      </p:sp>
      <p:sp>
        <p:nvSpPr>
          <p:cNvPr id="40" name="Text 37"/>
          <p:cNvSpPr txBox="1"/>
          <p:nvPr/>
        </p:nvSpPr>
        <p:spPr>
          <a:xfrm>
            <a:off x="5212080" y="5468112"/>
            <a:ext cx="1920240" cy="457200"/>
          </a:xfrm>
          <a:prstGeom prst="rect">
            <a:avLst/>
          </a:prstGeom>
          <a:noFill/>
          <a:ln/>
        </p:spPr>
        <p:txBody>
          <a:bodyPr wrap="square" lIns="0" tIns="0" rIns="0" bIns="0" rtlCol="0" anchor="t"/>
          <a:lstStyle/>
          <a:p>
            <a:pPr algn="l" indent="0" marL="0">
              <a:buNone/>
            </a:pPr>
            <a:r>
              <a:rPr lang="en-US" sz="2200" b="1" dirty="0">
                <a:solidFill>
                  <a:srgbClr val="5FC4B1"/>
                </a:solidFill>
                <a:latin typeface="Calibri" pitchFamily="34" charset="0"/>
                <a:ea typeface="Calibri" pitchFamily="34" charset="-122"/>
                <a:cs typeface="Calibri" pitchFamily="34" charset="-120"/>
              </a:rPr>
              <a:t>2,09×</a:t>
            </a:r>
            <a:endParaRPr lang="en-US" sz="2200" dirty="0"/>
          </a:p>
        </p:txBody>
      </p:sp>
      <p:sp>
        <p:nvSpPr>
          <p:cNvPr id="41" name="Text 38"/>
          <p:cNvSpPr txBox="1"/>
          <p:nvPr/>
        </p:nvSpPr>
        <p:spPr>
          <a:xfrm>
            <a:off x="5212080" y="5925312"/>
            <a:ext cx="1920240" cy="32004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MOIC des Deals</a:t>
            </a:r>
            <a:endParaRPr lang="en-US" sz="1050" dirty="0"/>
          </a:p>
        </p:txBody>
      </p:sp>
      <p:pic>
        <p:nvPicPr>
          <p:cNvPr id="42" name="Image 0" descr="/tmp/claude-0/deck/img/exit_result.jpg">    </p:cNvPr>
          <p:cNvPicPr>
            <a:picLocks noChangeAspect="1"/>
          </p:cNvPicPr>
          <p:nvPr/>
        </p:nvPicPr>
        <p:blipFill>
          <a:blip r:embed="rId1"/>
          <a:stretch>
            <a:fillRect/>
          </a:stretch>
        </p:blipFill>
        <p:spPr>
          <a:xfrm>
            <a:off x="9735179" y="1600200"/>
            <a:ext cx="1950853" cy="4572000"/>
          </a:xfrm>
          <a:prstGeom prst="rect">
            <a:avLst/>
          </a:prstGeom>
        </p:spPr>
      </p:pic>
      <p:sp>
        <p:nvSpPr>
          <p:cNvPr id="43" name="Shape 39"/>
          <p:cNvSpPr/>
          <p:nvPr/>
        </p:nvSpPr>
        <p:spPr>
          <a:xfrm>
            <a:off x="9735179" y="1600200"/>
            <a:ext cx="1950853" cy="4572000"/>
          </a:xfrm>
          <a:prstGeom prst="rect">
            <a:avLst/>
          </a:prstGeom>
          <a:ln w="9525">
            <a:solidFill>
              <a:srgbClr val="33474B"/>
            </a:solidFill>
            <a:prstDash val="solid"/>
          </a:ln>
        </p:spPr>
      </p:sp>
      <p:sp>
        <p:nvSpPr>
          <p:cNvPr id="44" name="Text 40"/>
          <p:cNvSpPr txBox="1"/>
          <p:nvPr/>
        </p:nvSpPr>
        <p:spPr>
          <a:xfrm>
            <a:off x="9460859" y="6227064"/>
            <a:ext cx="2499493"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Exit-Abrechnung mit Value Bridge</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9538E"/>
                </a:solidFill>
                <a:latin typeface="Calibri" pitchFamily="34" charset="0"/>
                <a:ea typeface="Calibri" pitchFamily="34" charset="-122"/>
                <a:cs typeface="Calibri" pitchFamily="34" charset="-120"/>
              </a:rPr>
              <a:t>LAUFZEITENDE</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Tail-End: Bewertung ist nicht Verkaufspreis</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9538E"/>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9538E"/>
                </a:solidFill>
                <a:latin typeface="Calibri" pitchFamily="34" charset="0"/>
                <a:ea typeface="Calibri" pitchFamily="34" charset="-122"/>
                <a:cs typeface="Calibri" pitchFamily="34" charset="-120"/>
              </a:rPr>
              <a:t>D · EXIT</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38</a:t>
            </a:r>
            <a:endParaRPr lang="en-US" sz="900" dirty="0"/>
          </a:p>
        </p:txBody>
      </p:sp>
      <p:pic>
        <p:nvPicPr>
          <p:cNvPr id="9" name="Image 0" descr="/tmp/claude-0/deck/img/tail.jpg">    </p:cNvPr>
          <p:cNvPicPr>
            <a:picLocks noChangeAspect="1"/>
          </p:cNvPicPr>
          <p:nvPr/>
        </p:nvPicPr>
        <p:blipFill>
          <a:blip r:embed="rId1"/>
          <a:stretch>
            <a:fillRect/>
          </a:stretch>
        </p:blipFill>
        <p:spPr>
          <a:xfrm>
            <a:off x="502920" y="1600200"/>
            <a:ext cx="3753853" cy="2377440"/>
          </a:xfrm>
          <a:prstGeom prst="rect">
            <a:avLst/>
          </a:prstGeom>
        </p:spPr>
      </p:pic>
      <p:sp>
        <p:nvSpPr>
          <p:cNvPr id="10" name="Shape 6"/>
          <p:cNvSpPr/>
          <p:nvPr/>
        </p:nvSpPr>
        <p:spPr>
          <a:xfrm>
            <a:off x="502920" y="1600200"/>
            <a:ext cx="3753853" cy="2377440"/>
          </a:xfrm>
          <a:prstGeom prst="rect">
            <a:avLst/>
          </a:prstGeom>
          <a:ln w="9525">
            <a:solidFill>
              <a:srgbClr val="33474B"/>
            </a:solidFill>
            <a:prstDash val="solid"/>
          </a:ln>
        </p:spPr>
      </p:sp>
      <p:sp>
        <p:nvSpPr>
          <p:cNvPr id="11" name="Text 7"/>
          <p:cNvSpPr txBox="1"/>
          <p:nvPr/>
        </p:nvSpPr>
        <p:spPr>
          <a:xfrm>
            <a:off x="228600" y="4032504"/>
            <a:ext cx="4302493" cy="274320"/>
          </a:xfrm>
          <a:prstGeom prst="rect">
            <a:avLst/>
          </a:prstGeom>
          <a:noFill/>
          <a:ln/>
        </p:spPr>
        <p:txBody>
          <a:bodyPr wrap="square" lIns="0" tIns="0" rIns="0" bIns="0" rtlCol="0" anchor="t"/>
          <a:lstStyle/>
          <a:p>
            <a:pPr algn="ctr" indent="0" marL="0">
              <a:buNone/>
            </a:pPr>
            <a:r>
              <a:rPr lang="en-US" sz="950" dirty="0">
                <a:solidFill>
                  <a:srgbClr val="8E9C9B"/>
                </a:solidFill>
                <a:latin typeface="Calibri" pitchFamily="34" charset="0"/>
                <a:ea typeface="Calibri" pitchFamily="34" charset="-122"/>
                <a:cs typeface="Calibri" pitchFamily="34" charset="-120"/>
              </a:rPr>
              <a:t>Kopfzeile in Halbjahr 19: Wertung mit und ohne Exit</a:t>
            </a:r>
            <a:endParaRPr lang="en-US" sz="950" dirty="0"/>
          </a:p>
        </p:txBody>
      </p:sp>
      <p:sp>
        <p:nvSpPr>
          <p:cNvPr id="12" name="Shape 8"/>
          <p:cNvSpPr/>
          <p:nvPr/>
        </p:nvSpPr>
        <p:spPr>
          <a:xfrm>
            <a:off x="502920" y="4389120"/>
            <a:ext cx="1828800" cy="1143000"/>
          </a:xfrm>
          <a:prstGeom prst="roundRect">
            <a:avLst>
              <a:gd name="adj" fmla="val 6400"/>
            </a:avLst>
          </a:prstGeom>
          <a:solidFill>
            <a:srgbClr val="161F22"/>
          </a:solidFill>
          <a:ln w="9525">
            <a:solidFill>
              <a:srgbClr val="243033"/>
            </a:solidFill>
            <a:prstDash val="solid"/>
          </a:ln>
        </p:spPr>
      </p:sp>
      <p:sp>
        <p:nvSpPr>
          <p:cNvPr id="13" name="Text 9"/>
          <p:cNvSpPr txBox="1"/>
          <p:nvPr/>
        </p:nvSpPr>
        <p:spPr>
          <a:xfrm>
            <a:off x="640080" y="4462272"/>
            <a:ext cx="1600200" cy="640080"/>
          </a:xfrm>
          <a:prstGeom prst="rect">
            <a:avLst/>
          </a:prstGeom>
          <a:noFill/>
          <a:ln/>
        </p:spPr>
        <p:txBody>
          <a:bodyPr wrap="square" lIns="0" tIns="0" rIns="0" bIns="0" rtlCol="0" anchor="t"/>
          <a:lstStyle/>
          <a:p>
            <a:pPr algn="l" indent="0" marL="0">
              <a:buNone/>
            </a:pPr>
            <a:r>
              <a:rPr lang="en-US" sz="2800" b="1" dirty="0">
                <a:solidFill>
                  <a:srgbClr val="EDF1EE"/>
                </a:solidFill>
                <a:latin typeface="Calibri" pitchFamily="34" charset="0"/>
                <a:ea typeface="Calibri" pitchFamily="34" charset="-122"/>
                <a:cs typeface="Calibri" pitchFamily="34" charset="-120"/>
              </a:rPr>
              <a:t>1,41×</a:t>
            </a:r>
            <a:endParaRPr lang="en-US" sz="2800" dirty="0"/>
          </a:p>
        </p:txBody>
      </p:sp>
      <p:sp>
        <p:nvSpPr>
          <p:cNvPr id="14" name="Text 10"/>
          <p:cNvSpPr txBox="1"/>
          <p:nvPr/>
        </p:nvSpPr>
        <p:spPr>
          <a:xfrm>
            <a:off x="640080" y="4965192"/>
            <a:ext cx="1600200" cy="54864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TVPI laut Bewertung</a:t>
            </a:r>
            <a:endParaRPr lang="en-US" sz="1050" dirty="0"/>
          </a:p>
        </p:txBody>
      </p:sp>
      <p:sp>
        <p:nvSpPr>
          <p:cNvPr id="15" name="Shape 11"/>
          <p:cNvSpPr/>
          <p:nvPr/>
        </p:nvSpPr>
        <p:spPr>
          <a:xfrm>
            <a:off x="2468880" y="4389120"/>
            <a:ext cx="1828800" cy="1143000"/>
          </a:xfrm>
          <a:prstGeom prst="roundRect">
            <a:avLst>
              <a:gd name="adj" fmla="val 6400"/>
            </a:avLst>
          </a:prstGeom>
          <a:solidFill>
            <a:srgbClr val="161F22"/>
          </a:solidFill>
          <a:ln w="9525">
            <a:solidFill>
              <a:srgbClr val="243033"/>
            </a:solidFill>
            <a:prstDash val="solid"/>
          </a:ln>
        </p:spPr>
      </p:sp>
      <p:sp>
        <p:nvSpPr>
          <p:cNvPr id="16" name="Text 12"/>
          <p:cNvSpPr txBox="1"/>
          <p:nvPr/>
        </p:nvSpPr>
        <p:spPr>
          <a:xfrm>
            <a:off x="2606040" y="4462272"/>
            <a:ext cx="1600200" cy="640080"/>
          </a:xfrm>
          <a:prstGeom prst="rect">
            <a:avLst/>
          </a:prstGeom>
          <a:noFill/>
          <a:ln/>
        </p:spPr>
        <p:txBody>
          <a:bodyPr wrap="square" lIns="0" tIns="0" rIns="0" bIns="0" rtlCol="0" anchor="t"/>
          <a:lstStyle/>
          <a:p>
            <a:pPr algn="l" indent="0" marL="0">
              <a:buNone/>
            </a:pPr>
            <a:r>
              <a:rPr lang="en-US" sz="2800" b="1" dirty="0">
                <a:solidFill>
                  <a:srgbClr val="E3897F"/>
                </a:solidFill>
                <a:latin typeface="Calibri" pitchFamily="34" charset="0"/>
                <a:ea typeface="Calibri" pitchFamily="34" charset="-122"/>
                <a:cs typeface="Calibri" pitchFamily="34" charset="-120"/>
              </a:rPr>
              <a:t>1,02×</a:t>
            </a:r>
            <a:endParaRPr lang="en-US" sz="2800" dirty="0"/>
          </a:p>
        </p:txBody>
      </p:sp>
      <p:sp>
        <p:nvSpPr>
          <p:cNvPr id="17" name="Text 13"/>
          <p:cNvSpPr txBox="1"/>
          <p:nvPr/>
        </p:nvSpPr>
        <p:spPr>
          <a:xfrm>
            <a:off x="2606040" y="4965192"/>
            <a:ext cx="1600200" cy="54864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TVPI nach Tail-End-Verwertung</a:t>
            </a:r>
            <a:endParaRPr lang="en-US" sz="1050" dirty="0"/>
          </a:p>
        </p:txBody>
      </p:sp>
      <p:sp>
        <p:nvSpPr>
          <p:cNvPr id="18" name="Shape 14"/>
          <p:cNvSpPr/>
          <p:nvPr/>
        </p:nvSpPr>
        <p:spPr>
          <a:xfrm>
            <a:off x="4434840" y="4389120"/>
            <a:ext cx="1828800" cy="1143000"/>
          </a:xfrm>
          <a:prstGeom prst="roundRect">
            <a:avLst>
              <a:gd name="adj" fmla="val 6400"/>
            </a:avLst>
          </a:prstGeom>
          <a:solidFill>
            <a:srgbClr val="161F22"/>
          </a:solidFill>
          <a:ln w="9525">
            <a:solidFill>
              <a:srgbClr val="243033"/>
            </a:solidFill>
            <a:prstDash val="solid"/>
          </a:ln>
        </p:spPr>
      </p:sp>
      <p:sp>
        <p:nvSpPr>
          <p:cNvPr id="19" name="Text 15"/>
          <p:cNvSpPr txBox="1"/>
          <p:nvPr/>
        </p:nvSpPr>
        <p:spPr>
          <a:xfrm>
            <a:off x="4572000" y="4462272"/>
            <a:ext cx="1600200" cy="640080"/>
          </a:xfrm>
          <a:prstGeom prst="rect">
            <a:avLst/>
          </a:prstGeom>
          <a:noFill/>
          <a:ln/>
        </p:spPr>
        <p:txBody>
          <a:bodyPr wrap="square" lIns="0" tIns="0" rIns="0" bIns="0" rtlCol="0" anchor="t"/>
          <a:lstStyle/>
          <a:p>
            <a:pPr algn="l" indent="0" marL="0">
              <a:buNone/>
            </a:pPr>
            <a:r>
              <a:rPr lang="en-US" sz="2800" b="1" dirty="0">
                <a:solidFill>
                  <a:srgbClr val="E3897F"/>
                </a:solidFill>
                <a:latin typeface="Calibri" pitchFamily="34" charset="0"/>
                <a:ea typeface="Calibri" pitchFamily="34" charset="-122"/>
                <a:cs typeface="Calibri" pitchFamily="34" charset="-120"/>
              </a:rPr>
              <a:t>−0,39×</a:t>
            </a:r>
            <a:endParaRPr lang="en-US" sz="2800" dirty="0"/>
          </a:p>
        </p:txBody>
      </p:sp>
      <p:sp>
        <p:nvSpPr>
          <p:cNvPr id="20" name="Text 16"/>
          <p:cNvSpPr txBox="1"/>
          <p:nvPr/>
        </p:nvSpPr>
        <p:spPr>
          <a:xfrm>
            <a:off x="4572000" y="4965192"/>
            <a:ext cx="1600200" cy="548640"/>
          </a:xfrm>
          <a:prstGeom prst="rect">
            <a:avLst/>
          </a:prstGeom>
          <a:noFill/>
          <a:ln/>
        </p:spPr>
        <p:txBody>
          <a:bodyPr wrap="square" lIns="0" tIns="0" rIns="0" bIns="0" rtlCol="0" anchor="t"/>
          <a:lstStyle/>
          <a:p>
            <a:pPr algn="l" indent="0" marL="0">
              <a:buNone/>
            </a:pPr>
            <a:r>
              <a:rPr lang="en-US" sz="1050" dirty="0">
                <a:solidFill>
                  <a:srgbClr val="8E9C9B"/>
                </a:solidFill>
                <a:latin typeface="Calibri" pitchFamily="34" charset="0"/>
                <a:ea typeface="Calibri" pitchFamily="34" charset="-122"/>
                <a:cs typeface="Calibri" pitchFamily="34" charset="-120"/>
              </a:rPr>
              <a:t>Abschlag durch Zwangsverkauf</a:t>
            </a:r>
            <a:endParaRPr lang="en-US" sz="1050" dirty="0"/>
          </a:p>
        </p:txBody>
      </p:sp>
      <p:sp>
        <p:nvSpPr>
          <p:cNvPr id="21" name="Text 17"/>
          <p:cNvSpPr txBox="1"/>
          <p:nvPr/>
        </p:nvSpPr>
        <p:spPr>
          <a:xfrm>
            <a:off x="6583680" y="1600200"/>
            <a:ext cx="5029200" cy="228600"/>
          </a:xfrm>
          <a:prstGeom prst="rect">
            <a:avLst/>
          </a:prstGeom>
          <a:noFill/>
          <a:ln/>
        </p:spPr>
        <p:txBody>
          <a:bodyPr wrap="square" lIns="0" tIns="0" rIns="0" bIns="0" rtlCol="0" anchor="t"/>
          <a:lstStyle/>
          <a:p>
            <a:pPr algn="l" indent="0" marL="0">
              <a:buNone/>
            </a:pPr>
            <a:r>
              <a:rPr lang="en-US" sz="1000" b="1" spc="150" kern="0" dirty="0">
                <a:solidFill>
                  <a:srgbClr val="D9538E"/>
                </a:solidFill>
                <a:latin typeface="Calibri" pitchFamily="34" charset="0"/>
                <a:ea typeface="Calibri" pitchFamily="34" charset="-122"/>
                <a:cs typeface="Calibri" pitchFamily="34" charset="-120"/>
              </a:rPr>
              <a:t>WARUM DAS SO IST</a:t>
            </a:r>
            <a:endParaRPr lang="en-US" sz="1000" dirty="0"/>
          </a:p>
        </p:txBody>
      </p:sp>
      <p:sp>
        <p:nvSpPr>
          <p:cNvPr id="22" name="Text 18"/>
          <p:cNvSpPr txBox="1"/>
          <p:nvPr/>
        </p:nvSpPr>
        <p:spPr>
          <a:xfrm>
            <a:off x="6583680" y="1920240"/>
            <a:ext cx="5102352" cy="3108960"/>
          </a:xfrm>
          <a:prstGeom prst="rect">
            <a:avLst/>
          </a:prstGeom>
          <a:noFill/>
          <a:ln/>
        </p:spPr>
        <p:txBody>
          <a:bodyPr wrap="square" lIns="0" tIns="0" rIns="0" bIns="0" rtlCol="0" anchor="t"/>
          <a:lstStyle/>
          <a:p>
            <a:pPr marL="177800" indent="-177800">
              <a:spcAft>
                <a:spcPts val="900"/>
              </a:spcAft>
              <a:buSzPct val="100000"/>
              <a:buChar char="•"/>
            </a:pPr>
            <a:r>
              <a:rPr lang="en-US" sz="1350" b="1" dirty="0">
                <a:solidFill>
                  <a:srgbClr val="DCB264"/>
                </a:solidFill>
                <a:latin typeface="Calibri" pitchFamily="34" charset="0"/>
                <a:ea typeface="Calibri" pitchFamily="34" charset="-122"/>
                <a:cs typeface="Calibri" pitchFamily="34" charset="-120"/>
              </a:rPr>
              <a:t>NAV: </a:t>
            </a:r>
            <a:pPr indent="0" marL="0">
              <a:buNone/>
            </a:pPr>
            <a:r>
              <a:rPr lang="en-US" sz="1350" dirty="0">
                <a:solidFill>
                  <a:srgbClr val="EDF1EE"/>
                </a:solidFill>
                <a:latin typeface="Calibri" pitchFamily="34" charset="0"/>
                <a:ea typeface="Calibri" pitchFamily="34" charset="-122"/>
                <a:cs typeface="Calibri" pitchFamily="34" charset="-120"/>
              </a:rPr>
              <a:t>bewertet zum Marktmultiple (markMultiple) – ohne Endfälligkeitsdruck.</a:t>
            </a:r>
            <a:endParaRPr lang="en-US" sz="1350" dirty="0"/>
          </a:p>
          <a:p>
            <a:pPr marL="177800" indent="-177800">
              <a:spcAft>
                <a:spcPts val="900"/>
              </a:spcAft>
              <a:buSzPct val="100000"/>
              <a:buChar char="•"/>
            </a:pPr>
            <a:r>
              <a:rPr lang="en-US" sz="1350" b="1" dirty="0">
                <a:solidFill>
                  <a:srgbClr val="DCB264"/>
                </a:solidFill>
                <a:latin typeface="Calibri" pitchFamily="34" charset="0"/>
                <a:ea typeface="Calibri" pitchFamily="34" charset="-122"/>
                <a:cs typeface="Calibri" pitchFamily="34" charset="-120"/>
              </a:rPr>
              <a:t>Transaktion: </a:t>
            </a:r>
            <a:pPr indent="0" marL="0">
              <a:buNone/>
            </a:pPr>
            <a:r>
              <a:rPr lang="en-US" sz="1350" dirty="0">
                <a:solidFill>
                  <a:srgbClr val="EDF1EE"/>
                </a:solidFill>
                <a:latin typeface="Calibri" pitchFamily="34" charset="0"/>
                <a:ea typeface="Calibri" pitchFamily="34" charset="-122"/>
                <a:cs typeface="Calibri" pitchFamily="34" charset="-120"/>
              </a:rPr>
              <a:t>in den letzten 4 HJ bis 2,6 Turns Abschlag (endPressure).</a:t>
            </a:r>
            <a:endParaRPr lang="en-US" sz="1350" dirty="0"/>
          </a:p>
          <a:p>
            <a:pPr marL="177800" indent="-177800">
              <a:spcAft>
                <a:spcPts val="900"/>
              </a:spcAft>
              <a:buSzPct val="100000"/>
              <a:buChar char="•"/>
            </a:pPr>
            <a:r>
              <a:rPr lang="en-US" sz="1350" b="1" dirty="0">
                <a:solidFill>
                  <a:srgbClr val="DCB264"/>
                </a:solidFill>
                <a:latin typeface="Calibri" pitchFamily="34" charset="0"/>
                <a:ea typeface="Calibri" pitchFamily="34" charset="-122"/>
                <a:cs typeface="Calibri" pitchFamily="34" charset="-120"/>
              </a:rPr>
              <a:t>Tail-End: </a:t>
            </a:r>
            <a:pPr indent="0" marL="0">
              <a:buNone/>
            </a:pPr>
            <a:r>
              <a:rPr lang="en-US" sz="1350" dirty="0">
                <a:solidFill>
                  <a:srgbClr val="EDF1EE"/>
                </a:solidFill>
                <a:latin typeface="Calibri" pitchFamily="34" charset="0"/>
                <a:ea typeface="Calibri" pitchFamily="34" charset="-122"/>
                <a:cs typeface="Calibri" pitchFamily="34" charset="-120"/>
              </a:rPr>
              <a:t>alles Verbleibende wird in HJ 20 zum Marktmultiple −2,6 Turns verwertet, 2 % Kosten, MEP schneidet mit.</a:t>
            </a:r>
            <a:endParaRPr lang="en-US" sz="1350" dirty="0"/>
          </a:p>
          <a:p>
            <a:pPr marL="177800" indent="-177800">
              <a:spcAft>
                <a:spcPts val="900"/>
              </a:spcAft>
              <a:buSzPct val="100000"/>
              <a:buChar char="•"/>
            </a:pPr>
            <a:r>
              <a:rPr lang="en-US" sz="1350" b="1" dirty="0">
                <a:solidFill>
                  <a:srgbClr val="DCB264"/>
                </a:solidFill>
                <a:latin typeface="Calibri" pitchFamily="34" charset="0"/>
                <a:ea typeface="Calibri" pitchFamily="34" charset="-122"/>
                <a:cs typeface="Calibri" pitchFamily="34" charset="-120"/>
              </a:rPr>
              <a:t>Konsequenz: </a:t>
            </a:r>
            <a:pPr indent="0" marL="0">
              <a:buNone/>
            </a:pPr>
            <a:r>
              <a:rPr lang="en-US" sz="1350" dirty="0">
                <a:solidFill>
                  <a:srgbClr val="EDF1EE"/>
                </a:solidFill>
                <a:latin typeface="Calibri" pitchFamily="34" charset="0"/>
                <a:ea typeface="Calibri" pitchFamily="34" charset="-122"/>
                <a:cs typeface="Calibri" pitchFamily="34" charset="-120"/>
              </a:rPr>
              <a:t>Exits rechtzeitig planen – Gebote liegen erst nach 3 HJ vor, der letzte Prozess startet in HJ 17, maximal 3 laufen parallel.</a:t>
            </a:r>
            <a:endParaRPr lang="en-US" sz="1350" dirty="0"/>
          </a:p>
        </p:txBody>
      </p:sp>
      <p:sp>
        <p:nvSpPr>
          <p:cNvPr id="23" name="Shape 19"/>
          <p:cNvSpPr/>
          <p:nvPr/>
        </p:nvSpPr>
        <p:spPr>
          <a:xfrm>
            <a:off x="6583680" y="5120640"/>
            <a:ext cx="5102352" cy="777240"/>
          </a:xfrm>
          <a:prstGeom prst="roundRect">
            <a:avLst>
              <a:gd name="adj" fmla="val 9412"/>
            </a:avLst>
          </a:prstGeom>
          <a:solidFill>
            <a:srgbClr val="1C282B"/>
          </a:solidFill>
          <a:ln w="12700">
            <a:solidFill>
              <a:srgbClr val="DCB264"/>
            </a:solidFill>
            <a:prstDash val="solid"/>
          </a:ln>
        </p:spPr>
      </p:sp>
      <p:sp>
        <p:nvSpPr>
          <p:cNvPr id="24" name="Text 20"/>
          <p:cNvSpPr txBox="1"/>
          <p:nvPr/>
        </p:nvSpPr>
        <p:spPr>
          <a:xfrm>
            <a:off x="6766560" y="5120640"/>
            <a:ext cx="4736592" cy="777240"/>
          </a:xfrm>
          <a:prstGeom prst="rect">
            <a:avLst/>
          </a:prstGeom>
          <a:noFill/>
          <a:ln/>
        </p:spPr>
        <p:txBody>
          <a:bodyPr wrap="square" lIns="0" tIns="0" rIns="0" bIns="0" rtlCol="0" anchor="ctr"/>
          <a:lstStyle/>
          <a:p>
            <a:pPr algn="ctr" indent="0" marL="0">
              <a:buNone/>
            </a:pPr>
            <a:r>
              <a:rPr lang="en-US" sz="1350" b="1" dirty="0">
                <a:solidFill>
                  <a:srgbClr val="DCB264"/>
                </a:solidFill>
                <a:latin typeface="Calibri" pitchFamily="34" charset="0"/>
                <a:ea typeface="Calibri" pitchFamily="34" charset="-122"/>
                <a:cs typeface="Calibri" pitchFamily="34" charset="-120"/>
              </a:rPr>
              <a:t>Tail-End-Erlös = (EBITDA × (Multiple − 2,6) − Nettoverschuldung) × (1 − 2 %)</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9538E"/>
                </a:solidFill>
                <a:latin typeface="Calibri" pitchFamily="34" charset="0"/>
                <a:ea typeface="Calibri" pitchFamily="34" charset="-122"/>
                <a:cs typeface="Calibri" pitchFamily="34" charset="-120"/>
              </a:rPr>
              <a:t>KERNAUSSAGEN</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Was beim Exit zählt</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9538E"/>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9538E"/>
                </a:solidFill>
                <a:latin typeface="Calibri" pitchFamily="34" charset="0"/>
                <a:ea typeface="Calibri" pitchFamily="34" charset="-122"/>
                <a:cs typeface="Calibri" pitchFamily="34" charset="-120"/>
              </a:rPr>
              <a:t>D · EXIT</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39</a:t>
            </a:r>
            <a:endParaRPr lang="en-US" sz="900" dirty="0"/>
          </a:p>
        </p:txBody>
      </p:sp>
      <p:sp>
        <p:nvSpPr>
          <p:cNvPr id="9" name="Shape 6"/>
          <p:cNvSpPr/>
          <p:nvPr/>
        </p:nvSpPr>
        <p:spPr>
          <a:xfrm>
            <a:off x="502920" y="1600200"/>
            <a:ext cx="5410048" cy="1417320"/>
          </a:xfrm>
          <a:prstGeom prst="roundRect">
            <a:avLst>
              <a:gd name="adj" fmla="val 5161"/>
            </a:avLst>
          </a:prstGeom>
          <a:solidFill>
            <a:srgbClr val="161F22"/>
          </a:solidFill>
          <a:ln w="9525">
            <a:solidFill>
              <a:srgbClr val="243033"/>
            </a:solidFill>
            <a:prstDash val="solid"/>
          </a:ln>
        </p:spPr>
      </p:sp>
      <p:sp>
        <p:nvSpPr>
          <p:cNvPr id="10" name="Shape 7"/>
          <p:cNvSpPr/>
          <p:nvPr/>
        </p:nvSpPr>
        <p:spPr>
          <a:xfrm>
            <a:off x="731520" y="1856232"/>
            <a:ext cx="457200" cy="457200"/>
          </a:xfrm>
          <a:prstGeom prst="ellipse">
            <a:avLst/>
          </a:prstGeom>
          <a:solidFill>
            <a:srgbClr val="D9538E"/>
          </a:solidFill>
          <a:ln/>
        </p:spPr>
      </p:sp>
      <p:sp>
        <p:nvSpPr>
          <p:cNvPr id="11" name="Text 8"/>
          <p:cNvSpPr txBox="1"/>
          <p:nvPr/>
        </p:nvSpPr>
        <p:spPr>
          <a:xfrm>
            <a:off x="731520" y="1856232"/>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1</a:t>
            </a:r>
            <a:endParaRPr lang="en-US" sz="1600" dirty="0"/>
          </a:p>
        </p:txBody>
      </p:sp>
      <p:sp>
        <p:nvSpPr>
          <p:cNvPr id="12" name="Text 9"/>
          <p:cNvSpPr txBox="1"/>
          <p:nvPr/>
        </p:nvSpPr>
        <p:spPr>
          <a:xfrm>
            <a:off x="1371600" y="1783080"/>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Zeit ist ein Kostenfaktor</a:t>
            </a:r>
            <a:endParaRPr lang="en-US" sz="1600" dirty="0"/>
          </a:p>
        </p:txBody>
      </p:sp>
      <p:sp>
        <p:nvSpPr>
          <p:cNvPr id="13" name="Text 10"/>
          <p:cNvSpPr txBox="1"/>
          <p:nvPr/>
        </p:nvSpPr>
        <p:spPr>
          <a:xfrm>
            <a:off x="1371600" y="2221992"/>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Altbestandsabschlag, Endfälligkeitsdruck und IRR bestrafen zu langes Halten.</a:t>
            </a:r>
            <a:endParaRPr lang="en-US" sz="1250" dirty="0"/>
          </a:p>
        </p:txBody>
      </p:sp>
      <p:sp>
        <p:nvSpPr>
          <p:cNvPr id="14" name="Shape 11"/>
          <p:cNvSpPr/>
          <p:nvPr/>
        </p:nvSpPr>
        <p:spPr>
          <a:xfrm>
            <a:off x="6278728" y="1600200"/>
            <a:ext cx="5410048" cy="1417320"/>
          </a:xfrm>
          <a:prstGeom prst="roundRect">
            <a:avLst>
              <a:gd name="adj" fmla="val 5161"/>
            </a:avLst>
          </a:prstGeom>
          <a:solidFill>
            <a:srgbClr val="161F22"/>
          </a:solidFill>
          <a:ln w="9525">
            <a:solidFill>
              <a:srgbClr val="243033"/>
            </a:solidFill>
            <a:prstDash val="solid"/>
          </a:ln>
        </p:spPr>
      </p:sp>
      <p:sp>
        <p:nvSpPr>
          <p:cNvPr id="15" name="Shape 12"/>
          <p:cNvSpPr/>
          <p:nvPr/>
        </p:nvSpPr>
        <p:spPr>
          <a:xfrm>
            <a:off x="6507328" y="1856232"/>
            <a:ext cx="457200" cy="457200"/>
          </a:xfrm>
          <a:prstGeom prst="ellipse">
            <a:avLst/>
          </a:prstGeom>
          <a:solidFill>
            <a:srgbClr val="D9538E"/>
          </a:solidFill>
          <a:ln/>
        </p:spPr>
      </p:sp>
      <p:sp>
        <p:nvSpPr>
          <p:cNvPr id="16" name="Text 13"/>
          <p:cNvSpPr txBox="1"/>
          <p:nvPr/>
        </p:nvSpPr>
        <p:spPr>
          <a:xfrm>
            <a:off x="6507328" y="1856232"/>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2</a:t>
            </a:r>
            <a:endParaRPr lang="en-US" sz="1600" dirty="0"/>
          </a:p>
        </p:txBody>
      </p:sp>
      <p:sp>
        <p:nvSpPr>
          <p:cNvPr id="17" name="Text 14"/>
          <p:cNvSpPr txBox="1"/>
          <p:nvPr/>
        </p:nvSpPr>
        <p:spPr>
          <a:xfrm>
            <a:off x="7147408" y="1783080"/>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Exits planen, nicht erzwingen</a:t>
            </a:r>
            <a:endParaRPr lang="en-US" sz="1600" dirty="0"/>
          </a:p>
        </p:txBody>
      </p:sp>
      <p:sp>
        <p:nvSpPr>
          <p:cNvPr id="18" name="Text 15"/>
          <p:cNvSpPr txBox="1"/>
          <p:nvPr/>
        </p:nvSpPr>
        <p:spPr>
          <a:xfrm>
            <a:off x="7147408" y="2221992"/>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Gebote kommen 3 HJ nach dem Start, ab HJ 18 gibt es keinen Prozess mehr; wer spät startet, verkauft im Abschlag.</a:t>
            </a:r>
            <a:endParaRPr lang="en-US" sz="1250" dirty="0"/>
          </a:p>
        </p:txBody>
      </p:sp>
      <p:sp>
        <p:nvSpPr>
          <p:cNvPr id="19" name="Shape 16"/>
          <p:cNvSpPr/>
          <p:nvPr/>
        </p:nvSpPr>
        <p:spPr>
          <a:xfrm>
            <a:off x="502920" y="3172968"/>
            <a:ext cx="5410048" cy="1417320"/>
          </a:xfrm>
          <a:prstGeom prst="roundRect">
            <a:avLst>
              <a:gd name="adj" fmla="val 5161"/>
            </a:avLst>
          </a:prstGeom>
          <a:solidFill>
            <a:srgbClr val="161F22"/>
          </a:solidFill>
          <a:ln w="9525">
            <a:solidFill>
              <a:srgbClr val="243033"/>
            </a:solidFill>
            <a:prstDash val="solid"/>
          </a:ln>
        </p:spPr>
      </p:sp>
      <p:sp>
        <p:nvSpPr>
          <p:cNvPr id="20" name="Shape 17"/>
          <p:cNvSpPr/>
          <p:nvPr/>
        </p:nvSpPr>
        <p:spPr>
          <a:xfrm>
            <a:off x="731520" y="3429000"/>
            <a:ext cx="457200" cy="457200"/>
          </a:xfrm>
          <a:prstGeom prst="ellipse">
            <a:avLst/>
          </a:prstGeom>
          <a:solidFill>
            <a:srgbClr val="D9538E"/>
          </a:solidFill>
          <a:ln/>
        </p:spPr>
      </p:sp>
      <p:sp>
        <p:nvSpPr>
          <p:cNvPr id="21" name="Text 18"/>
          <p:cNvSpPr txBox="1"/>
          <p:nvPr/>
        </p:nvSpPr>
        <p:spPr>
          <a:xfrm>
            <a:off x="731520" y="3429000"/>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3</a:t>
            </a:r>
            <a:endParaRPr lang="en-US" sz="1600" dirty="0"/>
          </a:p>
        </p:txBody>
      </p:sp>
      <p:sp>
        <p:nvSpPr>
          <p:cNvPr id="22" name="Text 19"/>
          <p:cNvSpPr txBox="1"/>
          <p:nvPr/>
        </p:nvSpPr>
        <p:spPr>
          <a:xfrm>
            <a:off x="1371600" y="3355848"/>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Preis gegen Sicherheit</a:t>
            </a:r>
            <a:endParaRPr lang="en-US" sz="1600" dirty="0"/>
          </a:p>
        </p:txBody>
      </p:sp>
      <p:sp>
        <p:nvSpPr>
          <p:cNvPr id="23" name="Text 20"/>
          <p:cNvSpPr txBox="1"/>
          <p:nvPr/>
        </p:nvSpPr>
        <p:spPr>
          <a:xfrm>
            <a:off x="1371600" y="3794760"/>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Stratege, Sponsor, Family Office: Das höchste Gebot ist nicht immer das beste.</a:t>
            </a:r>
            <a:endParaRPr lang="en-US" sz="1250" dirty="0"/>
          </a:p>
        </p:txBody>
      </p:sp>
      <p:sp>
        <p:nvSpPr>
          <p:cNvPr id="24" name="Shape 21"/>
          <p:cNvSpPr/>
          <p:nvPr/>
        </p:nvSpPr>
        <p:spPr>
          <a:xfrm>
            <a:off x="6278728" y="3172968"/>
            <a:ext cx="5410048" cy="1417320"/>
          </a:xfrm>
          <a:prstGeom prst="roundRect">
            <a:avLst>
              <a:gd name="adj" fmla="val 5161"/>
            </a:avLst>
          </a:prstGeom>
          <a:solidFill>
            <a:srgbClr val="161F22"/>
          </a:solidFill>
          <a:ln w="9525">
            <a:solidFill>
              <a:srgbClr val="243033"/>
            </a:solidFill>
            <a:prstDash val="solid"/>
          </a:ln>
        </p:spPr>
      </p:sp>
      <p:sp>
        <p:nvSpPr>
          <p:cNvPr id="25" name="Shape 22"/>
          <p:cNvSpPr/>
          <p:nvPr/>
        </p:nvSpPr>
        <p:spPr>
          <a:xfrm>
            <a:off x="6507328" y="3429000"/>
            <a:ext cx="457200" cy="457200"/>
          </a:xfrm>
          <a:prstGeom prst="ellipse">
            <a:avLst/>
          </a:prstGeom>
          <a:solidFill>
            <a:srgbClr val="D9538E"/>
          </a:solidFill>
          <a:ln/>
        </p:spPr>
      </p:sp>
      <p:sp>
        <p:nvSpPr>
          <p:cNvPr id="26" name="Text 23"/>
          <p:cNvSpPr txBox="1"/>
          <p:nvPr/>
        </p:nvSpPr>
        <p:spPr>
          <a:xfrm>
            <a:off x="6507328" y="3429000"/>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4</a:t>
            </a:r>
            <a:endParaRPr lang="en-US" sz="1600" dirty="0"/>
          </a:p>
        </p:txBody>
      </p:sp>
      <p:sp>
        <p:nvSpPr>
          <p:cNvPr id="27" name="Text 24"/>
          <p:cNvSpPr txBox="1"/>
          <p:nvPr/>
        </p:nvSpPr>
        <p:spPr>
          <a:xfrm>
            <a:off x="7147408" y="3355848"/>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Bilateral als Ausweg</a:t>
            </a:r>
            <a:endParaRPr lang="en-US" sz="1600" dirty="0"/>
          </a:p>
        </p:txBody>
      </p:sp>
      <p:sp>
        <p:nvSpPr>
          <p:cNvPr id="28" name="Text 25"/>
          <p:cNvSpPr txBox="1"/>
          <p:nvPr/>
        </p:nvSpPr>
        <p:spPr>
          <a:xfrm>
            <a:off x="7147408" y="3794760"/>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Sofort und sicher, kostet einen halben Turn – auch während einer Prozesssperre möglich.</a:t>
            </a:r>
            <a:endParaRPr lang="en-US" sz="1250" dirty="0"/>
          </a:p>
        </p:txBody>
      </p:sp>
      <p:sp>
        <p:nvSpPr>
          <p:cNvPr id="29" name="Shape 26"/>
          <p:cNvSpPr/>
          <p:nvPr/>
        </p:nvSpPr>
        <p:spPr>
          <a:xfrm>
            <a:off x="502920" y="4745736"/>
            <a:ext cx="5410048" cy="1417320"/>
          </a:xfrm>
          <a:prstGeom prst="roundRect">
            <a:avLst>
              <a:gd name="adj" fmla="val 5161"/>
            </a:avLst>
          </a:prstGeom>
          <a:solidFill>
            <a:srgbClr val="161F22"/>
          </a:solidFill>
          <a:ln w="9525">
            <a:solidFill>
              <a:srgbClr val="243033"/>
            </a:solidFill>
            <a:prstDash val="solid"/>
          </a:ln>
        </p:spPr>
      </p:sp>
      <p:sp>
        <p:nvSpPr>
          <p:cNvPr id="30" name="Shape 27"/>
          <p:cNvSpPr/>
          <p:nvPr/>
        </p:nvSpPr>
        <p:spPr>
          <a:xfrm>
            <a:off x="731520" y="5001768"/>
            <a:ext cx="457200" cy="457200"/>
          </a:xfrm>
          <a:prstGeom prst="ellipse">
            <a:avLst/>
          </a:prstGeom>
          <a:solidFill>
            <a:srgbClr val="D9538E"/>
          </a:solidFill>
          <a:ln/>
        </p:spPr>
      </p:sp>
      <p:sp>
        <p:nvSpPr>
          <p:cNvPr id="31" name="Text 28"/>
          <p:cNvSpPr txBox="1"/>
          <p:nvPr/>
        </p:nvSpPr>
        <p:spPr>
          <a:xfrm>
            <a:off x="731520" y="5001768"/>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5</a:t>
            </a:r>
            <a:endParaRPr lang="en-US" sz="1600" dirty="0"/>
          </a:p>
        </p:txBody>
      </p:sp>
      <p:sp>
        <p:nvSpPr>
          <p:cNvPr id="32" name="Text 29"/>
          <p:cNvSpPr txBox="1"/>
          <p:nvPr/>
        </p:nvSpPr>
        <p:spPr>
          <a:xfrm>
            <a:off x="1371600" y="4928616"/>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Netto zählt</a:t>
            </a:r>
            <a:endParaRPr lang="en-US" sz="1600" dirty="0"/>
          </a:p>
        </p:txBody>
      </p:sp>
      <p:sp>
        <p:nvSpPr>
          <p:cNvPr id="33" name="Text 30"/>
          <p:cNvSpPr txBox="1"/>
          <p:nvPr/>
        </p:nvSpPr>
        <p:spPr>
          <a:xfrm>
            <a:off x="1371600" y="5367528"/>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Transaktionskosten und Sweet Equity gehen vom Erlös ab – der MOIC misst netto.</a:t>
            </a:r>
            <a:endParaRPr lang="en-US" sz="1250" dirty="0"/>
          </a:p>
        </p:txBody>
      </p:sp>
      <p:sp>
        <p:nvSpPr>
          <p:cNvPr id="34" name="Shape 31"/>
          <p:cNvSpPr/>
          <p:nvPr/>
        </p:nvSpPr>
        <p:spPr>
          <a:xfrm>
            <a:off x="6278728" y="4745736"/>
            <a:ext cx="5410048" cy="1417320"/>
          </a:xfrm>
          <a:prstGeom prst="roundRect">
            <a:avLst>
              <a:gd name="adj" fmla="val 5161"/>
            </a:avLst>
          </a:prstGeom>
          <a:solidFill>
            <a:srgbClr val="161F22"/>
          </a:solidFill>
          <a:ln w="9525">
            <a:solidFill>
              <a:srgbClr val="243033"/>
            </a:solidFill>
            <a:prstDash val="solid"/>
          </a:ln>
        </p:spPr>
      </p:sp>
      <p:sp>
        <p:nvSpPr>
          <p:cNvPr id="35" name="Shape 32"/>
          <p:cNvSpPr/>
          <p:nvPr/>
        </p:nvSpPr>
        <p:spPr>
          <a:xfrm>
            <a:off x="6507328" y="5001768"/>
            <a:ext cx="457200" cy="457200"/>
          </a:xfrm>
          <a:prstGeom prst="ellipse">
            <a:avLst/>
          </a:prstGeom>
          <a:solidFill>
            <a:srgbClr val="D9538E"/>
          </a:solidFill>
          <a:ln/>
        </p:spPr>
      </p:sp>
      <p:sp>
        <p:nvSpPr>
          <p:cNvPr id="36" name="Text 33"/>
          <p:cNvSpPr txBox="1"/>
          <p:nvPr/>
        </p:nvSpPr>
        <p:spPr>
          <a:xfrm>
            <a:off x="6507328" y="5001768"/>
            <a:ext cx="457200" cy="457200"/>
          </a:xfrm>
          <a:prstGeom prst="rect">
            <a:avLst/>
          </a:prstGeom>
          <a:noFill/>
          <a:ln/>
        </p:spPr>
        <p:txBody>
          <a:bodyPr wrap="square" lIns="0" tIns="0" rIns="0" bIns="0" rtlCol="0" anchor="ctr"/>
          <a:lstStyle/>
          <a:p>
            <a:pPr algn="ctr" indent="0" marL="0">
              <a:buNone/>
            </a:pPr>
            <a:r>
              <a:rPr lang="en-US" sz="1600" b="1" dirty="0">
                <a:solidFill>
                  <a:srgbClr val="0C1214"/>
                </a:solidFill>
                <a:latin typeface="Calibri" pitchFamily="34" charset="0"/>
                <a:ea typeface="Calibri" pitchFamily="34" charset="-122"/>
                <a:cs typeface="Calibri" pitchFamily="34" charset="-120"/>
              </a:rPr>
              <a:t>6</a:t>
            </a:r>
            <a:endParaRPr lang="en-US" sz="1600" dirty="0"/>
          </a:p>
        </p:txBody>
      </p:sp>
      <p:sp>
        <p:nvSpPr>
          <p:cNvPr id="37" name="Text 34"/>
          <p:cNvSpPr txBox="1"/>
          <p:nvPr/>
        </p:nvSpPr>
        <p:spPr>
          <a:xfrm>
            <a:off x="7147408" y="4928616"/>
            <a:ext cx="4358488" cy="411480"/>
          </a:xfrm>
          <a:prstGeom prst="rect">
            <a:avLst/>
          </a:prstGeom>
          <a:noFill/>
          <a:ln/>
        </p:spPr>
        <p:txBody>
          <a:bodyPr wrap="square" lIns="0" tIns="0" rIns="0" bIns="0" rtlCol="0" anchor="ctr"/>
          <a:lstStyle/>
          <a:p>
            <a:pPr algn="l" indent="0" marL="0">
              <a:buNone/>
            </a:pPr>
            <a:r>
              <a:rPr lang="en-US" sz="1600" b="1" dirty="0">
                <a:solidFill>
                  <a:srgbClr val="EDF1EE"/>
                </a:solidFill>
                <a:latin typeface="Calibri" pitchFamily="34" charset="0"/>
                <a:ea typeface="Calibri" pitchFamily="34" charset="-122"/>
                <a:cs typeface="Calibri" pitchFamily="34" charset="-120"/>
              </a:rPr>
              <a:t>Bewertung ≠ Rendite</a:t>
            </a:r>
            <a:endParaRPr lang="en-US" sz="1600" dirty="0"/>
          </a:p>
        </p:txBody>
      </p:sp>
      <p:sp>
        <p:nvSpPr>
          <p:cNvPr id="38" name="Text 35"/>
          <p:cNvSpPr txBox="1"/>
          <p:nvPr/>
        </p:nvSpPr>
        <p:spPr>
          <a:xfrm>
            <a:off x="7147408" y="5367528"/>
            <a:ext cx="4358488" cy="73152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Erst der DPI zeigt echtes Geld; die Tail-End-Vorschau zeigt, was bliebe.</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CB264"/>
                </a:solidFill>
                <a:latin typeface="Calibri" pitchFamily="34" charset="0"/>
                <a:ea typeface="Calibri" pitchFamily="34" charset="-122"/>
                <a:cs typeface="Calibri" pitchFamily="34" charset="-120"/>
              </a:rPr>
              <a:t>SYNTHESE</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Welche Fähigkeit auf welchen Hebel wirkt</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CB264"/>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CB264"/>
                </a:solidFill>
                <a:latin typeface="Calibri" pitchFamily="34" charset="0"/>
                <a:ea typeface="Calibri" pitchFamily="34" charset="-122"/>
                <a:cs typeface="Calibri" pitchFamily="34" charset="-120"/>
              </a:rPr>
              <a:t>SYNTHESE</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40</a:t>
            </a:r>
            <a:endParaRPr lang="en-US" sz="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185855" cy="914400"/>
        </p:xfrm>
        <a:graphic>
          <a:graphicData uri="http://schemas.openxmlformats.org/drawingml/2006/table">
            <a:tbl>
              <a:tblPr/>
              <a:tblGrid>
                <a:gridCol w="1737360"/>
                <a:gridCol w="3840480"/>
                <a:gridCol w="3931920"/>
                <a:gridCol w="1673352"/>
              </a:tblGrid>
              <a:tr h="713232">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Fähigkeit</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Deal-Phase</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Value Creation</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Exit &amp; Fonds</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r>
              <a:tr h="713232">
                <a:tc>
                  <a:txBody>
                    <a:bodyPr/>
                    <a:lstStyle/>
                    <a:p>
                      <a:pPr algn="l" indent="0" marL="0">
                        <a:buNone/>
                      </a:pPr>
                      <a:r>
                        <a:rPr lang="en-US" sz="1200" dirty="0">
                          <a:solidFill>
                            <a:srgbClr val="DCB264"/>
                          </a:solidFill>
                          <a:latin typeface="Calibri" pitchFamily="34" charset="0"/>
                          <a:ea typeface="Calibri" pitchFamily="34" charset="-122"/>
                          <a:cs typeface="Calibri" pitchFamily="34" charset="-120"/>
                        </a:rPr>
                        <a:t>Origination</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+0,55 proprietäre Deals je Punkt; Abschlag +0,12 Turns je Punkt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713232">
                <a:tc>
                  <a:txBody>
                    <a:bodyPr/>
                    <a:lstStyle/>
                    <a:p>
                      <a:pPr algn="l" indent="0" marL="0">
                        <a:buNone/>
                      </a:pPr>
                      <a:r>
                        <a:rPr lang="en-US" sz="1200" dirty="0">
                          <a:solidFill>
                            <a:srgbClr val="DCB264"/>
                          </a:solidFill>
                          <a:latin typeface="Calibri" pitchFamily="34" charset="0"/>
                          <a:ea typeface="Calibri" pitchFamily="34" charset="-122"/>
                          <a:cs typeface="Calibri" pitchFamily="34" charset="-120"/>
                        </a:rPr>
                        <a:t>Due Diligence</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Schätzfehler −0,9 pp je Punkt; 1 + DD/2 parallele DD-Prozesse; −9 % Überraschungsrisiko je Punkt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ab 4: halbiert Kunden- und Capex-Ereignisse</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713232">
                <a:tc>
                  <a:txBody>
                    <a:bodyPr/>
                    <a:lstStyle/>
                    <a:p>
                      <a:pPr algn="l" indent="0" marL="0">
                        <a:buNone/>
                      </a:pPr>
                      <a:r>
                        <a:rPr lang="en-US" sz="1200" dirty="0">
                          <a:solidFill>
                            <a:srgbClr val="DCB264"/>
                          </a:solidFill>
                          <a:latin typeface="Calibri" pitchFamily="34" charset="0"/>
                          <a:ea typeface="Calibri" pitchFamily="34" charset="-122"/>
                          <a:cs typeface="Calibri" pitchFamily="34" charset="-120"/>
                        </a:rPr>
                        <a:t>Execution</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−1 % Kaufpreis je Punkt; gewinnt bei Gleichstand</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+2 % Verkaufspreis je Punkt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713232">
                <a:tc>
                  <a:txBody>
                    <a:bodyPr/>
                    <a:lstStyle/>
                    <a:p>
                      <a:pPr algn="l" indent="0" marL="0">
                        <a:buNone/>
                      </a:pPr>
                      <a:r>
                        <a:rPr lang="en-US" sz="1200" dirty="0">
                          <a:solidFill>
                            <a:srgbClr val="DCB264"/>
                          </a:solidFill>
                          <a:latin typeface="Calibri" pitchFamily="34" charset="0"/>
                          <a:ea typeface="Calibri" pitchFamily="34" charset="-122"/>
                          <a:cs typeface="Calibri" pitchFamily="34" charset="-120"/>
                        </a:rPr>
                        <a:t>Value Creation</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+10 % Wachstumswirkung und Aufholtempo je Punkt; +1 Maßnahmenplatz je 2 Punkte; ab 4: halbiert Management- und Markt-Ereignisse</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713232">
                <a:tc>
                  <a:txBody>
                    <a:bodyPr/>
                    <a:lstStyle/>
                    <a:p>
                      <a:pPr algn="l" indent="0" marL="0">
                        <a:buNone/>
                      </a:pPr>
                      <a:r>
                        <a:rPr lang="en-US" sz="1200" dirty="0">
                          <a:solidFill>
                            <a:srgbClr val="DCB264"/>
                          </a:solidFill>
                          <a:latin typeface="Calibri" pitchFamily="34" charset="0"/>
                          <a:ea typeface="Calibri" pitchFamily="34" charset="-122"/>
                          <a:cs typeface="Calibri" pitchFamily="34" charset="-120"/>
                        </a:rPr>
                        <a:t>Financing</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−0,25 pp Zins je Punkt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+0,1× Covenant-Luft je Punkt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200" dirty="0">
                          <a:solidFill>
                            <a:srgbClr val="EDF1E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bl>
          </a:graphicData>
        </a:graphic>
      </p:graphicFrame>
      <p:sp>
        <p:nvSpPr>
          <p:cNvPr id="10" name="Text 6"/>
          <p:cNvSpPr txBox="1"/>
          <p:nvPr/>
        </p:nvSpPr>
        <p:spPr>
          <a:xfrm>
            <a:off x="502920" y="5943600"/>
            <a:ext cx="11185855" cy="320040"/>
          </a:xfrm>
          <a:prstGeom prst="rect">
            <a:avLst/>
          </a:prstGeom>
          <a:noFill/>
          <a:ln/>
        </p:spPr>
        <p:txBody>
          <a:bodyPr wrap="square" lIns="0" tIns="0" rIns="0" bIns="0" rtlCol="0" anchor="t"/>
          <a:lstStyle/>
          <a:p>
            <a:pPr algn="l" indent="0" marL="0">
              <a:buNone/>
            </a:pPr>
            <a:r>
              <a:rPr lang="en-US" sz="1150" dirty="0">
                <a:solidFill>
                  <a:srgbClr val="8E9C9B"/>
                </a:solidFill>
                <a:latin typeface="Calibri" pitchFamily="34" charset="0"/>
                <a:ea typeface="Calibri" pitchFamily="34" charset="-122"/>
                <a:cs typeface="Calibri" pitchFamily="34" charset="-120"/>
              </a:rPr>
              <a:t>Der Spieler verteilt 12 Punkte (Standard: 2 · 3 · 2 · 3 · 2). Die KI-Archetypen setzen je einen Schwerpunkt mit 5 Punkten.</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CB264"/>
                </a:solidFill>
                <a:latin typeface="Calibri" pitchFamily="34" charset="0"/>
                <a:ea typeface="Calibri" pitchFamily="34" charset="-122"/>
                <a:cs typeface="Calibri" pitchFamily="34" charset="-120"/>
              </a:rPr>
              <a:t>MODELLGRENZEN</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Bewusste Vereinfachungen</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CB264"/>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CB264"/>
                </a:solidFill>
                <a:latin typeface="Calibri" pitchFamily="34" charset="0"/>
                <a:ea typeface="Calibri" pitchFamily="34" charset="-122"/>
                <a:cs typeface="Calibri" pitchFamily="34" charset="-120"/>
              </a:rPr>
              <a:t>SYNTHESE</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41</a:t>
            </a:r>
            <a:endParaRPr lang="en-US" sz="900" dirty="0"/>
          </a:p>
        </p:txBody>
      </p:sp>
      <p:sp>
        <p:nvSpPr>
          <p:cNvPr id="9" name="Shape 6"/>
          <p:cNvSpPr/>
          <p:nvPr/>
        </p:nvSpPr>
        <p:spPr>
          <a:xfrm>
            <a:off x="502920" y="1600200"/>
            <a:ext cx="5468112" cy="1207008"/>
          </a:xfrm>
          <a:prstGeom prst="roundRect">
            <a:avLst>
              <a:gd name="adj" fmla="val 6061"/>
            </a:avLst>
          </a:prstGeom>
          <a:solidFill>
            <a:srgbClr val="161F22"/>
          </a:solidFill>
          <a:ln w="9525">
            <a:solidFill>
              <a:srgbClr val="243033"/>
            </a:solidFill>
            <a:prstDash val="solid"/>
          </a:ln>
        </p:spPr>
      </p:sp>
      <p:sp>
        <p:nvSpPr>
          <p:cNvPr id="10" name="Shape 7"/>
          <p:cNvSpPr/>
          <p:nvPr/>
        </p:nvSpPr>
        <p:spPr>
          <a:xfrm>
            <a:off x="685800" y="1901952"/>
            <a:ext cx="566928" cy="566928"/>
          </a:xfrm>
          <a:prstGeom prst="ellipse">
            <a:avLst/>
          </a:prstGeom>
          <a:solidFill>
            <a:srgbClr val="1C282B"/>
          </a:solidFill>
          <a:ln w="12700">
            <a:solidFill>
              <a:srgbClr val="DCB264"/>
            </a:solidFill>
            <a:prstDash val="solid"/>
          </a:ln>
        </p:spPr>
      </p:sp>
      <p:pic>
        <p:nvPicPr>
          <p:cNvPr id="11" name="Image 0" descr="/tmp/claude-0/deck/img/i_puzzle_gold.png">    </p:cNvPr>
          <p:cNvPicPr>
            <a:picLocks noChangeAspect="1"/>
          </p:cNvPicPr>
          <p:nvPr/>
        </p:nvPicPr>
        <p:blipFill>
          <a:blip r:embed="rId1"/>
          <a:stretch>
            <a:fillRect/>
          </a:stretch>
        </p:blipFill>
        <p:spPr>
          <a:xfrm>
            <a:off x="821863" y="2038015"/>
            <a:ext cx="294803" cy="294803"/>
          </a:xfrm>
          <a:prstGeom prst="rect">
            <a:avLst/>
          </a:prstGeom>
        </p:spPr>
      </p:pic>
      <p:sp>
        <p:nvSpPr>
          <p:cNvPr id="12" name="Text 8"/>
          <p:cNvSpPr txBox="1"/>
          <p:nvPr/>
        </p:nvSpPr>
        <p:spPr>
          <a:xfrm>
            <a:off x="1417320" y="1737360"/>
            <a:ext cx="4389120" cy="347472"/>
          </a:xfrm>
          <a:prstGeom prst="rect">
            <a:avLst/>
          </a:prstGeom>
          <a:noFill/>
          <a:ln/>
        </p:spPr>
        <p:txBody>
          <a:bodyPr wrap="square" lIns="0" tIns="0" rIns="0" bIns="0" rtlCol="0" anchor="t"/>
          <a:lstStyle/>
          <a:p>
            <a:pPr algn="l" indent="0" marL="0">
              <a:buNone/>
            </a:pPr>
            <a:r>
              <a:rPr lang="en-US" sz="1500" b="1" dirty="0">
                <a:solidFill>
                  <a:srgbClr val="DCB264"/>
                </a:solidFill>
                <a:latin typeface="Calibri" pitchFamily="34" charset="0"/>
                <a:ea typeface="Calibri" pitchFamily="34" charset="-122"/>
                <a:cs typeface="Calibri" pitchFamily="34" charset="-120"/>
              </a:rPr>
              <a:t>Schuldenstruktur</a:t>
            </a:r>
            <a:endParaRPr lang="en-US" sz="1500" dirty="0"/>
          </a:p>
        </p:txBody>
      </p:sp>
      <p:sp>
        <p:nvSpPr>
          <p:cNvPr id="13" name="Text 9"/>
          <p:cNvSpPr txBox="1"/>
          <p:nvPr/>
        </p:nvSpPr>
        <p:spPr>
          <a:xfrm>
            <a:off x="1417320" y="2103120"/>
            <a:ext cx="4389120" cy="658368"/>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Ein endfälliges Darlehen, 100 % Cash Sweep – keine Tranchen, kein PIK, kein Refinanzierungsrisiko.</a:t>
            </a:r>
            <a:endParaRPr lang="en-US" sz="1200" dirty="0"/>
          </a:p>
        </p:txBody>
      </p:sp>
      <p:sp>
        <p:nvSpPr>
          <p:cNvPr id="14" name="Shape 10"/>
          <p:cNvSpPr/>
          <p:nvPr/>
        </p:nvSpPr>
        <p:spPr>
          <a:xfrm>
            <a:off x="6172200" y="1600200"/>
            <a:ext cx="5468112" cy="1207008"/>
          </a:xfrm>
          <a:prstGeom prst="roundRect">
            <a:avLst>
              <a:gd name="adj" fmla="val 6061"/>
            </a:avLst>
          </a:prstGeom>
          <a:solidFill>
            <a:srgbClr val="161F22"/>
          </a:solidFill>
          <a:ln w="9525">
            <a:solidFill>
              <a:srgbClr val="243033"/>
            </a:solidFill>
            <a:prstDash val="solid"/>
          </a:ln>
        </p:spPr>
      </p:sp>
      <p:sp>
        <p:nvSpPr>
          <p:cNvPr id="15" name="Shape 11"/>
          <p:cNvSpPr/>
          <p:nvPr/>
        </p:nvSpPr>
        <p:spPr>
          <a:xfrm>
            <a:off x="6355080" y="1901952"/>
            <a:ext cx="566928" cy="566928"/>
          </a:xfrm>
          <a:prstGeom prst="ellipse">
            <a:avLst/>
          </a:prstGeom>
          <a:solidFill>
            <a:srgbClr val="1C282B"/>
          </a:solidFill>
          <a:ln w="12700">
            <a:solidFill>
              <a:srgbClr val="DCB264"/>
            </a:solidFill>
            <a:prstDash val="solid"/>
          </a:ln>
        </p:spPr>
      </p:sp>
      <p:pic>
        <p:nvPicPr>
          <p:cNvPr id="16" name="Image 1" descr="/tmp/claude-0/deck/img/i_puzzle_gold.png">    </p:cNvPr>
          <p:cNvPicPr>
            <a:picLocks noChangeAspect="1"/>
          </p:cNvPicPr>
          <p:nvPr/>
        </p:nvPicPr>
        <p:blipFill>
          <a:blip r:embed="rId2"/>
          <a:stretch>
            <a:fillRect/>
          </a:stretch>
        </p:blipFill>
        <p:spPr>
          <a:xfrm>
            <a:off x="6491143" y="2038015"/>
            <a:ext cx="294803" cy="294803"/>
          </a:xfrm>
          <a:prstGeom prst="rect">
            <a:avLst/>
          </a:prstGeom>
        </p:spPr>
      </p:pic>
      <p:sp>
        <p:nvSpPr>
          <p:cNvPr id="17" name="Text 12"/>
          <p:cNvSpPr txBox="1"/>
          <p:nvPr/>
        </p:nvSpPr>
        <p:spPr>
          <a:xfrm>
            <a:off x="7086600" y="1737360"/>
            <a:ext cx="4389120" cy="347472"/>
          </a:xfrm>
          <a:prstGeom prst="rect">
            <a:avLst/>
          </a:prstGeom>
          <a:noFill/>
          <a:ln/>
        </p:spPr>
        <p:txBody>
          <a:bodyPr wrap="square" lIns="0" tIns="0" rIns="0" bIns="0" rtlCol="0" anchor="t"/>
          <a:lstStyle/>
          <a:p>
            <a:pPr algn="l" indent="0" marL="0">
              <a:buNone/>
            </a:pPr>
            <a:r>
              <a:rPr lang="en-US" sz="1500" b="1" dirty="0">
                <a:solidFill>
                  <a:srgbClr val="DCB264"/>
                </a:solidFill>
                <a:latin typeface="Calibri" pitchFamily="34" charset="0"/>
                <a:ea typeface="Calibri" pitchFamily="34" charset="-122"/>
                <a:cs typeface="Calibri" pitchFamily="34" charset="-120"/>
              </a:rPr>
              <a:t>Covenant</a:t>
            </a:r>
            <a:endParaRPr lang="en-US" sz="1500" dirty="0"/>
          </a:p>
        </p:txBody>
      </p:sp>
      <p:sp>
        <p:nvSpPr>
          <p:cNvPr id="18" name="Text 13"/>
          <p:cNvSpPr txBox="1"/>
          <p:nvPr/>
        </p:nvSpPr>
        <p:spPr>
          <a:xfrm>
            <a:off x="7086600" y="2103120"/>
            <a:ext cx="4389120" cy="658368"/>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Getestet auf der annualisierten Laufrate, nicht auf LTM; Add-backs unbegrenzt.</a:t>
            </a:r>
            <a:endParaRPr lang="en-US" sz="1200" dirty="0"/>
          </a:p>
        </p:txBody>
      </p:sp>
      <p:sp>
        <p:nvSpPr>
          <p:cNvPr id="19" name="Shape 14"/>
          <p:cNvSpPr/>
          <p:nvPr/>
        </p:nvSpPr>
        <p:spPr>
          <a:xfrm>
            <a:off x="502920" y="2971800"/>
            <a:ext cx="5468112" cy="1207008"/>
          </a:xfrm>
          <a:prstGeom prst="roundRect">
            <a:avLst>
              <a:gd name="adj" fmla="val 6061"/>
            </a:avLst>
          </a:prstGeom>
          <a:solidFill>
            <a:srgbClr val="161F22"/>
          </a:solidFill>
          <a:ln w="9525">
            <a:solidFill>
              <a:srgbClr val="243033"/>
            </a:solidFill>
            <a:prstDash val="solid"/>
          </a:ln>
        </p:spPr>
      </p:sp>
      <p:sp>
        <p:nvSpPr>
          <p:cNvPr id="20" name="Shape 15"/>
          <p:cNvSpPr/>
          <p:nvPr/>
        </p:nvSpPr>
        <p:spPr>
          <a:xfrm>
            <a:off x="685800" y="3273552"/>
            <a:ext cx="566928" cy="566928"/>
          </a:xfrm>
          <a:prstGeom prst="ellipse">
            <a:avLst/>
          </a:prstGeom>
          <a:solidFill>
            <a:srgbClr val="1C282B"/>
          </a:solidFill>
          <a:ln w="12700">
            <a:solidFill>
              <a:srgbClr val="DCB264"/>
            </a:solidFill>
            <a:prstDash val="solid"/>
          </a:ln>
        </p:spPr>
      </p:sp>
      <p:pic>
        <p:nvPicPr>
          <p:cNvPr id="21" name="Image 2" descr="/tmp/claude-0/deck/img/i_puzzle_gold.png">    </p:cNvPr>
          <p:cNvPicPr>
            <a:picLocks noChangeAspect="1"/>
          </p:cNvPicPr>
          <p:nvPr/>
        </p:nvPicPr>
        <p:blipFill>
          <a:blip r:embed="rId3"/>
          <a:stretch>
            <a:fillRect/>
          </a:stretch>
        </p:blipFill>
        <p:spPr>
          <a:xfrm>
            <a:off x="821863" y="3409615"/>
            <a:ext cx="294803" cy="294803"/>
          </a:xfrm>
          <a:prstGeom prst="rect">
            <a:avLst/>
          </a:prstGeom>
        </p:spPr>
      </p:pic>
      <p:sp>
        <p:nvSpPr>
          <p:cNvPr id="22" name="Text 16"/>
          <p:cNvSpPr txBox="1"/>
          <p:nvPr/>
        </p:nvSpPr>
        <p:spPr>
          <a:xfrm>
            <a:off x="1417320" y="3108960"/>
            <a:ext cx="4389120" cy="347472"/>
          </a:xfrm>
          <a:prstGeom prst="rect">
            <a:avLst/>
          </a:prstGeom>
          <a:noFill/>
          <a:ln/>
        </p:spPr>
        <p:txBody>
          <a:bodyPr wrap="square" lIns="0" tIns="0" rIns="0" bIns="0" rtlCol="0" anchor="t"/>
          <a:lstStyle/>
          <a:p>
            <a:pPr algn="l" indent="0" marL="0">
              <a:buNone/>
            </a:pPr>
            <a:r>
              <a:rPr lang="en-US" sz="1500" b="1" dirty="0">
                <a:solidFill>
                  <a:srgbClr val="DCB264"/>
                </a:solidFill>
                <a:latin typeface="Calibri" pitchFamily="34" charset="0"/>
                <a:ea typeface="Calibri" pitchFamily="34" charset="-122"/>
                <a:cs typeface="Calibri" pitchFamily="34" charset="-120"/>
              </a:rPr>
              <a:t>Steuern</a:t>
            </a:r>
            <a:endParaRPr lang="en-US" sz="1500" dirty="0"/>
          </a:p>
        </p:txBody>
      </p:sp>
      <p:sp>
        <p:nvSpPr>
          <p:cNvPr id="23" name="Text 17"/>
          <p:cNvSpPr txBox="1"/>
          <p:nvPr/>
        </p:nvSpPr>
        <p:spPr>
          <a:xfrm>
            <a:off x="1417320" y="3474720"/>
            <a:ext cx="4389120" cy="658368"/>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Abschreibung = Capex; Zinsschranke ohne Zinsvortrag (konservativ).</a:t>
            </a:r>
            <a:endParaRPr lang="en-US" sz="1200" dirty="0"/>
          </a:p>
        </p:txBody>
      </p:sp>
      <p:sp>
        <p:nvSpPr>
          <p:cNvPr id="24" name="Shape 18"/>
          <p:cNvSpPr/>
          <p:nvPr/>
        </p:nvSpPr>
        <p:spPr>
          <a:xfrm>
            <a:off x="6172200" y="2971800"/>
            <a:ext cx="5468112" cy="1207008"/>
          </a:xfrm>
          <a:prstGeom prst="roundRect">
            <a:avLst>
              <a:gd name="adj" fmla="val 6061"/>
            </a:avLst>
          </a:prstGeom>
          <a:solidFill>
            <a:srgbClr val="161F22"/>
          </a:solidFill>
          <a:ln w="9525">
            <a:solidFill>
              <a:srgbClr val="243033"/>
            </a:solidFill>
            <a:prstDash val="solid"/>
          </a:ln>
        </p:spPr>
      </p:sp>
      <p:sp>
        <p:nvSpPr>
          <p:cNvPr id="25" name="Shape 19"/>
          <p:cNvSpPr/>
          <p:nvPr/>
        </p:nvSpPr>
        <p:spPr>
          <a:xfrm>
            <a:off x="6355080" y="3273552"/>
            <a:ext cx="566928" cy="566928"/>
          </a:xfrm>
          <a:prstGeom prst="ellipse">
            <a:avLst/>
          </a:prstGeom>
          <a:solidFill>
            <a:srgbClr val="1C282B"/>
          </a:solidFill>
          <a:ln w="12700">
            <a:solidFill>
              <a:srgbClr val="DCB264"/>
            </a:solidFill>
            <a:prstDash val="solid"/>
          </a:ln>
        </p:spPr>
      </p:sp>
      <p:pic>
        <p:nvPicPr>
          <p:cNvPr id="26" name="Image 3" descr="/tmp/claude-0/deck/img/i_puzzle_gold.png">    </p:cNvPr>
          <p:cNvPicPr>
            <a:picLocks noChangeAspect="1"/>
          </p:cNvPicPr>
          <p:nvPr/>
        </p:nvPicPr>
        <p:blipFill>
          <a:blip r:embed="rId4"/>
          <a:stretch>
            <a:fillRect/>
          </a:stretch>
        </p:blipFill>
        <p:spPr>
          <a:xfrm>
            <a:off x="6491143" y="3409615"/>
            <a:ext cx="294803" cy="294803"/>
          </a:xfrm>
          <a:prstGeom prst="rect">
            <a:avLst/>
          </a:prstGeom>
        </p:spPr>
      </p:pic>
      <p:sp>
        <p:nvSpPr>
          <p:cNvPr id="27" name="Text 20"/>
          <p:cNvSpPr txBox="1"/>
          <p:nvPr/>
        </p:nvSpPr>
        <p:spPr>
          <a:xfrm>
            <a:off x="7086600" y="3108960"/>
            <a:ext cx="4389120" cy="347472"/>
          </a:xfrm>
          <a:prstGeom prst="rect">
            <a:avLst/>
          </a:prstGeom>
          <a:noFill/>
          <a:ln/>
        </p:spPr>
        <p:txBody>
          <a:bodyPr wrap="square" lIns="0" tIns="0" rIns="0" bIns="0" rtlCol="0" anchor="t"/>
          <a:lstStyle/>
          <a:p>
            <a:pPr algn="l" indent="0" marL="0">
              <a:buNone/>
            </a:pPr>
            <a:r>
              <a:rPr lang="en-US" sz="1500" b="1" dirty="0">
                <a:solidFill>
                  <a:srgbClr val="DCB264"/>
                </a:solidFill>
                <a:latin typeface="Calibri" pitchFamily="34" charset="0"/>
                <a:ea typeface="Calibri" pitchFamily="34" charset="-122"/>
                <a:cs typeface="Calibri" pitchFamily="34" charset="-120"/>
              </a:rPr>
              <a:t>Carry</a:t>
            </a:r>
            <a:endParaRPr lang="en-US" sz="1500" dirty="0"/>
          </a:p>
        </p:txBody>
      </p:sp>
      <p:sp>
        <p:nvSpPr>
          <p:cNvPr id="28" name="Text 21"/>
          <p:cNvSpPr txBox="1"/>
          <p:nvPr/>
        </p:nvSpPr>
        <p:spPr>
          <a:xfrm>
            <a:off x="7086600" y="3474720"/>
            <a:ext cx="4389120" cy="658368"/>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Als Accrual auf den Gesamtwert, ohne Escrow und Clawback – am Laufzeitende identisch.</a:t>
            </a:r>
            <a:endParaRPr lang="en-US" sz="1200" dirty="0"/>
          </a:p>
        </p:txBody>
      </p:sp>
      <p:sp>
        <p:nvSpPr>
          <p:cNvPr id="29" name="Shape 22"/>
          <p:cNvSpPr/>
          <p:nvPr/>
        </p:nvSpPr>
        <p:spPr>
          <a:xfrm>
            <a:off x="502920" y="4343400"/>
            <a:ext cx="5468112" cy="1207008"/>
          </a:xfrm>
          <a:prstGeom prst="roundRect">
            <a:avLst>
              <a:gd name="adj" fmla="val 6061"/>
            </a:avLst>
          </a:prstGeom>
          <a:solidFill>
            <a:srgbClr val="161F22"/>
          </a:solidFill>
          <a:ln w="9525">
            <a:solidFill>
              <a:srgbClr val="243033"/>
            </a:solidFill>
            <a:prstDash val="solid"/>
          </a:ln>
        </p:spPr>
      </p:sp>
      <p:sp>
        <p:nvSpPr>
          <p:cNvPr id="30" name="Shape 23"/>
          <p:cNvSpPr/>
          <p:nvPr/>
        </p:nvSpPr>
        <p:spPr>
          <a:xfrm>
            <a:off x="685800" y="4645152"/>
            <a:ext cx="566928" cy="566928"/>
          </a:xfrm>
          <a:prstGeom prst="ellipse">
            <a:avLst/>
          </a:prstGeom>
          <a:solidFill>
            <a:srgbClr val="1C282B"/>
          </a:solidFill>
          <a:ln w="12700">
            <a:solidFill>
              <a:srgbClr val="DCB264"/>
            </a:solidFill>
            <a:prstDash val="solid"/>
          </a:ln>
        </p:spPr>
      </p:sp>
      <p:pic>
        <p:nvPicPr>
          <p:cNvPr id="31" name="Image 4" descr="/tmp/claude-0/deck/img/i_puzzle_gold.png">    </p:cNvPr>
          <p:cNvPicPr>
            <a:picLocks noChangeAspect="1"/>
          </p:cNvPicPr>
          <p:nvPr/>
        </p:nvPicPr>
        <p:blipFill>
          <a:blip r:embed="rId5"/>
          <a:stretch>
            <a:fillRect/>
          </a:stretch>
        </p:blipFill>
        <p:spPr>
          <a:xfrm>
            <a:off x="821863" y="4781215"/>
            <a:ext cx="294803" cy="294803"/>
          </a:xfrm>
          <a:prstGeom prst="rect">
            <a:avLst/>
          </a:prstGeom>
        </p:spPr>
      </p:pic>
      <p:sp>
        <p:nvSpPr>
          <p:cNvPr id="32" name="Text 24"/>
          <p:cNvSpPr txBox="1"/>
          <p:nvPr/>
        </p:nvSpPr>
        <p:spPr>
          <a:xfrm>
            <a:off x="1417320" y="4480560"/>
            <a:ext cx="4389120" cy="347472"/>
          </a:xfrm>
          <a:prstGeom prst="rect">
            <a:avLst/>
          </a:prstGeom>
          <a:noFill/>
          <a:ln/>
        </p:spPr>
        <p:txBody>
          <a:bodyPr wrap="square" lIns="0" tIns="0" rIns="0" bIns="0" rtlCol="0" anchor="t"/>
          <a:lstStyle/>
          <a:p>
            <a:pPr algn="l" indent="0" marL="0">
              <a:buNone/>
            </a:pPr>
            <a:r>
              <a:rPr lang="en-US" sz="1500" b="1" dirty="0">
                <a:solidFill>
                  <a:srgbClr val="DCB264"/>
                </a:solidFill>
                <a:latin typeface="Calibri" pitchFamily="34" charset="0"/>
                <a:ea typeface="Calibri" pitchFamily="34" charset="-122"/>
                <a:cs typeface="Calibri" pitchFamily="34" charset="-120"/>
              </a:rPr>
              <a:t>Sweet Equity</a:t>
            </a:r>
            <a:endParaRPr lang="en-US" sz="1500" dirty="0"/>
          </a:p>
        </p:txBody>
      </p:sp>
      <p:sp>
        <p:nvSpPr>
          <p:cNvPr id="33" name="Text 25"/>
          <p:cNvSpPr txBox="1"/>
          <p:nvPr/>
        </p:nvSpPr>
        <p:spPr>
          <a:xfrm>
            <a:off x="1417320" y="4846320"/>
            <a:ext cx="4389120" cy="658368"/>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6 % ohne Strike und Ratchet – das Management nimmt auch an Verlusten teil.</a:t>
            </a:r>
            <a:endParaRPr lang="en-US" sz="1200" dirty="0"/>
          </a:p>
        </p:txBody>
      </p:sp>
      <p:sp>
        <p:nvSpPr>
          <p:cNvPr id="34" name="Shape 26"/>
          <p:cNvSpPr/>
          <p:nvPr/>
        </p:nvSpPr>
        <p:spPr>
          <a:xfrm>
            <a:off x="6172200" y="4343400"/>
            <a:ext cx="5468112" cy="1207008"/>
          </a:xfrm>
          <a:prstGeom prst="roundRect">
            <a:avLst>
              <a:gd name="adj" fmla="val 6061"/>
            </a:avLst>
          </a:prstGeom>
          <a:solidFill>
            <a:srgbClr val="161F22"/>
          </a:solidFill>
          <a:ln w="9525">
            <a:solidFill>
              <a:srgbClr val="243033"/>
            </a:solidFill>
            <a:prstDash val="solid"/>
          </a:ln>
        </p:spPr>
      </p:sp>
      <p:sp>
        <p:nvSpPr>
          <p:cNvPr id="35" name="Shape 27"/>
          <p:cNvSpPr/>
          <p:nvPr/>
        </p:nvSpPr>
        <p:spPr>
          <a:xfrm>
            <a:off x="6355080" y="4645152"/>
            <a:ext cx="566928" cy="566928"/>
          </a:xfrm>
          <a:prstGeom prst="ellipse">
            <a:avLst/>
          </a:prstGeom>
          <a:solidFill>
            <a:srgbClr val="1C282B"/>
          </a:solidFill>
          <a:ln w="12700">
            <a:solidFill>
              <a:srgbClr val="DCB264"/>
            </a:solidFill>
            <a:prstDash val="solid"/>
          </a:ln>
        </p:spPr>
      </p:sp>
      <p:pic>
        <p:nvPicPr>
          <p:cNvPr id="36" name="Image 5" descr="/tmp/claude-0/deck/img/i_puzzle_gold.png">    </p:cNvPr>
          <p:cNvPicPr>
            <a:picLocks noChangeAspect="1"/>
          </p:cNvPicPr>
          <p:nvPr/>
        </p:nvPicPr>
        <p:blipFill>
          <a:blip r:embed="rId6"/>
          <a:stretch>
            <a:fillRect/>
          </a:stretch>
        </p:blipFill>
        <p:spPr>
          <a:xfrm>
            <a:off x="6491143" y="4781215"/>
            <a:ext cx="294803" cy="294803"/>
          </a:xfrm>
          <a:prstGeom prst="rect">
            <a:avLst/>
          </a:prstGeom>
        </p:spPr>
      </p:pic>
      <p:sp>
        <p:nvSpPr>
          <p:cNvPr id="37" name="Text 28"/>
          <p:cNvSpPr txBox="1"/>
          <p:nvPr/>
        </p:nvSpPr>
        <p:spPr>
          <a:xfrm>
            <a:off x="7086600" y="4480560"/>
            <a:ext cx="4389120" cy="347472"/>
          </a:xfrm>
          <a:prstGeom prst="rect">
            <a:avLst/>
          </a:prstGeom>
          <a:noFill/>
          <a:ln/>
        </p:spPr>
        <p:txBody>
          <a:bodyPr wrap="square" lIns="0" tIns="0" rIns="0" bIns="0" rtlCol="0" anchor="t"/>
          <a:lstStyle/>
          <a:p>
            <a:pPr algn="l" indent="0" marL="0">
              <a:buNone/>
            </a:pPr>
            <a:r>
              <a:rPr lang="en-US" sz="1500" b="1" dirty="0">
                <a:solidFill>
                  <a:srgbClr val="DCB264"/>
                </a:solidFill>
                <a:latin typeface="Calibri" pitchFamily="34" charset="0"/>
                <a:ea typeface="Calibri" pitchFamily="34" charset="-122"/>
                <a:cs typeface="Calibri" pitchFamily="34" charset="-120"/>
              </a:rPr>
              <a:t>Zeitraster</a:t>
            </a:r>
            <a:endParaRPr lang="en-US" sz="1500" dirty="0"/>
          </a:p>
        </p:txBody>
      </p:sp>
      <p:sp>
        <p:nvSpPr>
          <p:cNvPr id="38" name="Text 29"/>
          <p:cNvSpPr txBox="1"/>
          <p:nvPr/>
        </p:nvSpPr>
        <p:spPr>
          <a:xfrm>
            <a:off x="7086600" y="4846320"/>
            <a:ext cx="4389120" cy="658368"/>
          </a:xfrm>
          <a:prstGeom prst="rect">
            <a:avLst/>
          </a:prstGeom>
          <a:noFill/>
          <a:ln/>
        </p:spPr>
        <p:txBody>
          <a:bodyPr wrap="square" lIns="0" tIns="0" rIns="0" bIns="0" rtlCol="0" anchor="t"/>
          <a:lstStyle/>
          <a:p>
            <a:pPr algn="l" indent="0" marL="0">
              <a:buNone/>
            </a:pPr>
            <a:r>
              <a:rPr lang="en-US" sz="1200" dirty="0">
                <a:solidFill>
                  <a:srgbClr val="EDF1EE"/>
                </a:solidFill>
                <a:latin typeface="Calibri" pitchFamily="34" charset="0"/>
                <a:ea typeface="Calibri" pitchFamily="34" charset="-122"/>
                <a:cs typeface="Calibri" pitchFamily="34" charset="-120"/>
              </a:rPr>
              <a:t>Halbjahresschritte: Signing und Closing fallen in dasselbe Halbjahr.</a:t>
            </a:r>
            <a:endParaRPr lang="en-US" sz="1200" dirty="0"/>
          </a:p>
        </p:txBody>
      </p:sp>
      <p:sp>
        <p:nvSpPr>
          <p:cNvPr id="39" name="Text 30"/>
          <p:cNvSpPr txBox="1"/>
          <p:nvPr/>
        </p:nvSpPr>
        <p:spPr>
          <a:xfrm>
            <a:off x="502920" y="5806440"/>
            <a:ext cx="11185855" cy="457200"/>
          </a:xfrm>
          <a:prstGeom prst="rect">
            <a:avLst/>
          </a:prstGeom>
          <a:noFill/>
          <a:ln/>
        </p:spPr>
        <p:txBody>
          <a:bodyPr wrap="square" lIns="0" tIns="0" rIns="0" bIns="0" rtlCol="0" anchor="t"/>
          <a:lstStyle/>
          <a:p>
            <a:pPr algn="l" indent="0" marL="0">
              <a:buNone/>
            </a:pPr>
            <a:r>
              <a:rPr lang="en-US" sz="1250" dirty="0">
                <a:solidFill>
                  <a:srgbClr val="8E9C9B"/>
                </a:solidFill>
                <a:latin typeface="Calibri" pitchFamily="34" charset="0"/>
                <a:ea typeface="Calibri" pitchFamily="34" charset="-122"/>
                <a:cs typeface="Calibri" pitchFamily="34" charset="-120"/>
              </a:rPr>
              <a:t>Warum? Die Kernfrage des Spiels ist: Wann verkauft man ein Asset, das noch weiterläuft? Jede zusätzliche Ebene muss dieser Frage dienen.</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C1214"/>
        </a:solidFill>
      </p:bgPr>
    </p:bg>
    <p:spTree>
      <p:nvGrpSpPr>
        <p:cNvPr id="1" name=""/>
        <p:cNvGrpSpPr/>
        <p:nvPr/>
      </p:nvGrpSpPr>
      <p:grpSpPr>
        <a:xfrm>
          <a:off x="0" y="0"/>
          <a:ext cx="0" cy="0"/>
          <a:chOff x="0" y="0"/>
          <a:chExt cx="0" cy="0"/>
        </a:xfrm>
      </p:grpSpPr>
      <p:sp>
        <p:nvSpPr>
          <p:cNvPr id="2" name="Text 0"/>
          <p:cNvSpPr txBox="1"/>
          <p:nvPr/>
        </p:nvSpPr>
        <p:spPr>
          <a:xfrm>
            <a:off x="502920" y="384048"/>
            <a:ext cx="8046720" cy="274320"/>
          </a:xfrm>
          <a:prstGeom prst="rect">
            <a:avLst/>
          </a:prstGeom>
          <a:noFill/>
          <a:ln/>
        </p:spPr>
        <p:txBody>
          <a:bodyPr wrap="square" lIns="0" tIns="0" rIns="0" bIns="0" rtlCol="0" anchor="t"/>
          <a:lstStyle/>
          <a:p>
            <a:pPr algn="l" indent="0" marL="0">
              <a:buNone/>
            </a:pPr>
            <a:r>
              <a:rPr lang="en-US" sz="1100" b="1" spc="200" kern="0" dirty="0">
                <a:solidFill>
                  <a:srgbClr val="DCB264"/>
                </a:solidFill>
                <a:latin typeface="Calibri" pitchFamily="34" charset="0"/>
                <a:ea typeface="Calibri" pitchFamily="34" charset="-122"/>
                <a:cs typeface="Calibri" pitchFamily="34" charset="-120"/>
              </a:rPr>
              <a:t>ANHANG</a:t>
            </a:r>
            <a:endParaRPr lang="en-US" sz="1100" dirty="0"/>
          </a:p>
        </p:txBody>
      </p:sp>
      <p:sp>
        <p:nvSpPr>
          <p:cNvPr id="3" name="Text 1"/>
          <p:cNvSpPr txBox="1"/>
          <p:nvPr/>
        </p:nvSpPr>
        <p:spPr>
          <a:xfrm>
            <a:off x="502920" y="640080"/>
            <a:ext cx="9326880" cy="685800"/>
          </a:xfrm>
          <a:prstGeom prst="rect">
            <a:avLst/>
          </a:prstGeom>
          <a:noFill/>
          <a:ln/>
        </p:spPr>
        <p:txBody>
          <a:bodyPr wrap="square" lIns="0" tIns="0" rIns="0" bIns="0" rtlCol="0" anchor="ctr">
            <a:normAutofit/>
          </a:bodyPr>
          <a:lstStyle/>
          <a:p>
            <a:pPr algn="l" indent="0" marL="0">
              <a:buNone/>
            </a:pPr>
            <a:r>
              <a:rPr lang="en-US" sz="3000" b="1" dirty="0">
                <a:solidFill>
                  <a:srgbClr val="EDF1EE"/>
                </a:solidFill>
                <a:latin typeface="Calibri" pitchFamily="34" charset="0"/>
                <a:ea typeface="Calibri" pitchFamily="34" charset="-122"/>
                <a:cs typeface="Calibri" pitchFamily="34" charset="-120"/>
              </a:rPr>
              <a:t>Parameter-Glossar</a:t>
            </a:r>
            <a:endParaRPr lang="en-US" sz="3000" dirty="0"/>
          </a:p>
        </p:txBody>
      </p:sp>
      <p:sp>
        <p:nvSpPr>
          <p:cNvPr id="4" name="Shape 2"/>
          <p:cNvSpPr/>
          <p:nvPr/>
        </p:nvSpPr>
        <p:spPr>
          <a:xfrm>
            <a:off x="8899855" y="365760"/>
            <a:ext cx="2788920" cy="310896"/>
          </a:xfrm>
          <a:prstGeom prst="roundRect">
            <a:avLst>
              <a:gd name="adj" fmla="val 50000"/>
            </a:avLst>
          </a:prstGeom>
          <a:solidFill>
            <a:srgbClr val="161F22"/>
          </a:solidFill>
          <a:ln w="12700">
            <a:solidFill>
              <a:srgbClr val="DCB264"/>
            </a:solidFill>
            <a:prstDash val="solid"/>
          </a:ln>
        </p:spPr>
      </p:sp>
      <p:sp>
        <p:nvSpPr>
          <p:cNvPr id="5" name="Text 3"/>
          <p:cNvSpPr txBox="1"/>
          <p:nvPr/>
        </p:nvSpPr>
        <p:spPr>
          <a:xfrm>
            <a:off x="8899855" y="365760"/>
            <a:ext cx="2788920" cy="310896"/>
          </a:xfrm>
          <a:prstGeom prst="rect">
            <a:avLst/>
          </a:prstGeom>
          <a:noFill/>
          <a:ln/>
        </p:spPr>
        <p:txBody>
          <a:bodyPr wrap="square" lIns="0" tIns="0" rIns="0" bIns="0" rtlCol="0" anchor="ctr"/>
          <a:lstStyle/>
          <a:p>
            <a:pPr algn="ctr" indent="0" marL="0">
              <a:buNone/>
            </a:pPr>
            <a:r>
              <a:rPr lang="en-US" sz="900" b="1" spc="100" kern="0" dirty="0">
                <a:solidFill>
                  <a:srgbClr val="DCB264"/>
                </a:solidFill>
                <a:latin typeface="Calibri" pitchFamily="34" charset="0"/>
                <a:ea typeface="Calibri" pitchFamily="34" charset="-122"/>
                <a:cs typeface="Calibri" pitchFamily="34" charset="-120"/>
              </a:rPr>
              <a:t>SYNTHESE</a:t>
            </a:r>
            <a:endParaRPr lang="en-US" sz="900" dirty="0"/>
          </a:p>
        </p:txBody>
      </p:sp>
      <p:sp>
        <p:nvSpPr>
          <p:cNvPr id="6" name="Text 4"/>
          <p:cNvSpPr txBox="1"/>
          <p:nvPr/>
        </p:nvSpPr>
        <p:spPr>
          <a:xfrm>
            <a:off x="502920" y="6446520"/>
            <a:ext cx="4572000" cy="228600"/>
          </a:xfrm>
          <a:prstGeom prst="rect">
            <a:avLst/>
          </a:prstGeom>
          <a:noFill/>
          <a:ln/>
        </p:spPr>
        <p:txBody>
          <a:bodyPr wrap="square" lIns="0" tIns="0" rIns="0" bIns="0" rtlCol="0" anchor="t"/>
          <a:lstStyle/>
          <a:p>
            <a:pPr algn="l" indent="0" marL="0">
              <a:buNone/>
            </a:pPr>
            <a:r>
              <a:rPr lang="en-US" sz="900" dirty="0">
                <a:solidFill>
                  <a:srgbClr val="8E9C9B"/>
                </a:solidFill>
                <a:latin typeface="Calibri" pitchFamily="34" charset="0"/>
                <a:ea typeface="Calibri" pitchFamily="34" charset="-122"/>
                <a:cs typeface="Calibri" pitchFamily="34" charset="-120"/>
              </a:rPr>
              <a:t>PE Leagues · Die Engine erklärt</a:t>
            </a:r>
            <a:endParaRPr lang="en-US" sz="900" dirty="0"/>
          </a:p>
        </p:txBody>
      </p:sp>
      <p:sp>
        <p:nvSpPr>
          <p:cNvPr id="7" name="Text 5"/>
          <p:cNvSpPr txBox="1"/>
          <p:nvPr/>
        </p:nvSpPr>
        <p:spPr>
          <a:xfrm>
            <a:off x="11140135" y="6446520"/>
            <a:ext cx="548640" cy="228600"/>
          </a:xfrm>
          <a:prstGeom prst="rect">
            <a:avLst/>
          </a:prstGeom>
          <a:noFill/>
          <a:ln/>
        </p:spPr>
        <p:txBody>
          <a:bodyPr wrap="square" lIns="0" tIns="0" rIns="0" bIns="0" rtlCol="0" anchor="t"/>
          <a:lstStyle/>
          <a:p>
            <a:pPr algn="r" indent="0" marL="0">
              <a:buNone/>
            </a:pPr>
            <a:r>
              <a:rPr lang="en-US" sz="900" dirty="0">
                <a:solidFill>
                  <a:srgbClr val="8E9C9B"/>
                </a:solidFill>
                <a:latin typeface="Calibri" pitchFamily="34" charset="0"/>
                <a:ea typeface="Calibri" pitchFamily="34" charset="-122"/>
                <a:cs typeface="Calibri" pitchFamily="34" charset="-120"/>
              </a:rPr>
              <a:t>42</a:t>
            </a:r>
            <a:endParaRPr lang="en-US" sz="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5455768" cy="914400"/>
        </p:xfrm>
        <a:graphic>
          <a:graphicData uri="http://schemas.openxmlformats.org/drawingml/2006/table">
            <a:tbl>
              <a:tblPr/>
              <a:tblGrid>
                <a:gridCol w="2194560"/>
                <a:gridCol w="1417320"/>
                <a:gridCol w="1843888"/>
              </a:tblGrid>
              <a:tr h="365760">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Parameter</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Wert</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Konstante</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Commitment</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500 Mio. €</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CAPITAL</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Laufzeit / Investitionsperiode</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20 / 10 HJ</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PERIODS, INVEST_PERIOD</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Management Fee</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2 % p. a.</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MGMT_FEE</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Hurdle / Carry</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8 % / 20 %</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HURDLE, CARRY</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Recycling-Deckel</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100 %</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RECYCLE_CAP</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Wertungsmarken TVCC / IRR</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1,6× / 18 %</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TVCC_BENCH, IRR_BENCH</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Portfolio-Plätze</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MAX_SLOTS</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Entry Fee</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2 % des EV</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ENTRY_FEE</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Qualitätsfaktor</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0,006 je Punkt</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QUAL_COEF</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Multiple-Deckel</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1,85 × Sektor</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MULT_CAP</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Ticket-Obergrenze je Target</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18 % des Fonds</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TICKET_MAX</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bl>
          </a:graphicData>
        </a:graphic>
      </p:graphicFrame>
      <p:graphicFrame>
        <p:nvGraphicFramePr>
          <p:cNvPr id="85" name="Table 1"/>
          <p:cNvGraphicFramePr>
            <a:graphicFrameLocks noGrp="1"/>
          </p:cNvGraphicFramePr>
          <p:nvPr>
            <p:extLst>
              <p:ext uri="{D42A27DB-BD31-4B8C-83A1-F6EECF244321}">
                <p14:modId xmlns:p14="http://schemas.microsoft.com/office/powerpoint/2010/main" val="1579011935"/>
              </p:ext>
            </p:extLst>
          </p:nvPr>
        </p:nvGraphicFramePr>
        <p:xfrm>
          <a:off x="6233008" y="1600200"/>
          <a:ext cx="5455768" cy="914400"/>
        </p:xfrm>
        <a:graphic>
          <a:graphicData uri="http://schemas.openxmlformats.org/drawingml/2006/table">
            <a:tbl>
              <a:tblPr/>
              <a:tblGrid>
                <a:gridCol w="2011680"/>
                <a:gridCol w="1737360"/>
                <a:gridCol w="1706728"/>
              </a:tblGrid>
              <a:tr h="365760">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Parameter</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Wert</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c>
                  <a:txBody>
                    <a:bodyPr/>
                    <a:lstStyle/>
                    <a:p>
                      <a:pPr algn="l" indent="0" marL="0">
                        <a:buNone/>
                      </a:pPr>
                      <a:r>
                        <a:rPr lang="en-US" sz="1000" b="1" dirty="0">
                          <a:solidFill>
                            <a:srgbClr val="8E9C9B"/>
                          </a:solidFill>
                          <a:latin typeface="Calibri" pitchFamily="34" charset="0"/>
                          <a:ea typeface="Calibri" pitchFamily="34" charset="-122"/>
                          <a:cs typeface="Calibri" pitchFamily="34" charset="-120"/>
                        </a:rPr>
                        <a:t>Konstante</a:t>
                      </a:r>
                      <a:endParaRPr lang="en-US" sz="100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080D0F"/>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Basiszins / Margin Grid</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6,5 % / +0,85 pp ab 3,0×</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BASE_RATE, LEV_STEP</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Zinsschranke / Steuer</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30 % EBITDA / 30 %</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INT_BARRIER, TAX_RATE</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Covenant (Vorgabe/Boden)</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6,5× / 4,0×</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COV_DEFAULT, COV_FLOOR</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Maßnahmenplätze</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4 + Value Creation / 2</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INIT_SLOTS</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Ereignis je HJ</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10 %</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EVENT_P</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Sweet Equity (MEP)</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6 %</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LTIP_SHARE</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Add-on-Risiko Referenz</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10 % bei 25 %</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ADDON_FAIL_BASE</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Chemie-Bonus Top-Team</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+0,2 je Kompetenz</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CHEM</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Mindesthaltedauer</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4 HJ</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MIN_HOLD</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Altbestandsabschlag</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2 % je HJ ab 8, max. 20 %</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STALE_*</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21A1D"/>
                    </a:solidFill>
                  </a:tcPr>
                </a:tc>
              </a:tr>
              <a:tr h="365760">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Tail-End-Abschlag</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2,6 Turns</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c>
                  <a:txBody>
                    <a:bodyPr/>
                    <a:lstStyle/>
                    <a:p>
                      <a:pPr algn="l" indent="0" marL="0">
                        <a:buNone/>
                      </a:pPr>
                      <a:r>
                        <a:rPr lang="en-US" sz="1050" dirty="0">
                          <a:solidFill>
                            <a:srgbClr val="EDF1EE"/>
                          </a:solidFill>
                          <a:latin typeface="Calibri" pitchFamily="34" charset="0"/>
                          <a:ea typeface="Calibri" pitchFamily="34" charset="-122"/>
                          <a:cs typeface="Calibri" pitchFamily="34" charset="-120"/>
                        </a:rPr>
                        <a:t>LIQ_DISC</a:t>
                      </a:r>
                      <a:endParaRPr lang="en-US" sz="1050" dirty="0">
                        <a:latin typeface="Calibri" charset="0"/>
                        <a:ea typeface="Calibri" charset="0"/>
                        <a:cs typeface="Calibri" charset="0"/>
                      </a:endParaRPr>
                    </a:p>
                  </a:txBody>
                  <a:tcPr marL="76200" marR="76200" marT="38100" marB="38100" anchor="ctr">
                    <a:lnL w="6350" cap="flat" cmpd="sng" algn="ctr">
                      <a:solidFill>
                        <a:srgbClr val="243033"/>
                      </a:solidFill>
                      <a:prstDash val="solid"/>
                      <a:round/>
                      <a:headEnd type="none" w="med" len="med"/>
                      <a:tailEnd type="none" w="med" len="med"/>
                    </a:lnL>
                    <a:lnR w="6350" cap="flat" cmpd="sng" algn="ctr">
                      <a:solidFill>
                        <a:srgbClr val="243033"/>
                      </a:solidFill>
                      <a:prstDash val="solid"/>
                      <a:round/>
                      <a:headEnd type="none" w="med" len="med"/>
                      <a:tailEnd type="none" w="med" len="med"/>
                    </a:lnR>
                    <a:lnT w="6350" cap="flat" cmpd="sng" algn="ctr">
                      <a:solidFill>
                        <a:srgbClr val="243033"/>
                      </a:solidFill>
                      <a:prstDash val="solid"/>
                      <a:round/>
                      <a:headEnd type="none" w="med" len="med"/>
                      <a:tailEnd type="none" w="med" len="med"/>
                    </a:lnT>
                    <a:lnB w="6350" cap="flat" cmpd="sng" algn="ctr">
                      <a:solidFill>
                        <a:srgbClr val="243033"/>
                      </a:solidFill>
                      <a:prstDash val="solid"/>
                      <a:round/>
                      <a:headEnd type="none" w="med" len="med"/>
                      <a:tailEnd type="none" w="med" len="med"/>
                    </a:lnB>
                    <a:solidFill>
                      <a:srgbClr val="161F2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 Leagues – Private Equity: Einführung in das Simulationsmodell</dc:title>
  <dc:subject>PptxGenJS Presentation</dc:subject>
  <dc:creator>PE Leagues</dc:creator>
  <cp:lastModifiedBy>PE Leagues</cp:lastModifiedBy>
  <cp:revision>1</cp:revision>
  <dcterms:created xsi:type="dcterms:W3CDTF">2026-10-29T07:36:00Z</dcterms:created>
  <dcterms:modified xsi:type="dcterms:W3CDTF">2026-10-29T07:36:00Z</dcterms:modified>
</cp:coreProperties>
</file>