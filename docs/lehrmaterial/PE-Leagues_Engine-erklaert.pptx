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Fee</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5</c:v>
                </c:pt>
                <c:pt idx="2">
                  <c:v>5</c:v>
                </c:pt>
                <c:pt idx="3">
                  <c:v>5</c:v>
                </c:pt>
                <c:pt idx="4">
                  <c:v>5</c:v>
                </c:pt>
                <c:pt idx="5">
                  <c:v>5</c:v>
                </c:pt>
                <c:pt idx="6">
                  <c:v>5</c:v>
                </c:pt>
                <c:pt idx="7">
                  <c:v>5</c:v>
                </c:pt>
                <c:pt idx="8">
                  <c:v>5</c:v>
                </c:pt>
                <c:pt idx="9">
                  <c:v>5</c:v>
                </c:pt>
                <c:pt idx="10">
                  <c:v>2.8000000000000003</c:v>
                </c:pt>
                <c:pt idx="11">
                  <c:v>2.4</c:v>
                </c:pt>
                <c:pt idx="12">
                  <c:v>2</c:v>
                </c:pt>
                <c:pt idx="13">
                  <c:v>1.6</c:v>
                </c:pt>
                <c:pt idx="14">
                  <c:v>1.2</c:v>
                </c:pt>
                <c:pt idx="15">
                  <c:v>0.9</c:v>
                </c:pt>
                <c:pt idx="16">
                  <c:v>0.6</c:v>
                </c:pt>
                <c:pt idx="17">
                  <c:v>0.4</c:v>
                </c:pt>
                <c:pt idx="18">
                  <c:v>0.2</c:v>
                </c:pt>
                <c:pt idx="19">
                  <c:v>0</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Gewinn der Investoren (netto)</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Sheet1!$B$2:$B$22</c:f>
              <c:numCache>
                <c:formatCode>General</c:formatCode>
                <c:ptCount val="21"/>
                <c:pt idx="0">
                  <c:v>0</c:v>
                </c:pt>
                <c:pt idx="1">
                  <c:v>20</c:v>
                </c:pt>
                <c:pt idx="2">
                  <c:v>40</c:v>
                </c:pt>
                <c:pt idx="3">
                  <c:v>60</c:v>
                </c:pt>
                <c:pt idx="4">
                  <c:v>80</c:v>
                </c:pt>
                <c:pt idx="5">
                  <c:v>100</c:v>
                </c:pt>
                <c:pt idx="6">
                  <c:v>120</c:v>
                </c:pt>
                <c:pt idx="7">
                  <c:v>140</c:v>
                </c:pt>
                <c:pt idx="8">
                  <c:v>140</c:v>
                </c:pt>
                <c:pt idx="9">
                  <c:v>144</c:v>
                </c:pt>
                <c:pt idx="10">
                  <c:v>160</c:v>
                </c:pt>
                <c:pt idx="11">
                  <c:v>176</c:v>
                </c:pt>
                <c:pt idx="12">
                  <c:v>192</c:v>
                </c:pt>
                <c:pt idx="13">
                  <c:v>208</c:v>
                </c:pt>
                <c:pt idx="14">
                  <c:v>224</c:v>
                </c:pt>
                <c:pt idx="15">
                  <c:v>240</c:v>
                </c:pt>
                <c:pt idx="16">
                  <c:v>256</c:v>
                </c:pt>
                <c:pt idx="17">
                  <c:v>272</c:v>
                </c:pt>
                <c:pt idx="18">
                  <c:v>288</c:v>
                </c:pt>
                <c:pt idx="19">
                  <c:v>304</c:v>
                </c:pt>
                <c:pt idx="20">
                  <c:v>320</c:v>
                </c:pt>
              </c:numCache>
            </c:numRef>
          </c:val>
          <c:smooth val="0"/>
        </c:ser>
        <c:ser>
          <c:idx val="1"/>
          <c:order val="1"/>
          <c:tx>
            <c:strRef>
              <c:f>Sheet1!$C$1</c:f>
              <c:strCache>
                <c:ptCount val="1"/>
                <c:pt idx="0">
                  <c:v>Carry an den GP</c:v>
                </c:pt>
              </c:strCache>
            </c:strRef>
          </c:tx>
          <c:spPr>
            <a:solidFill>
              <a:srgbClr val="DCB264"/>
            </a:solidFill>
            <a:ln w="3810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Sheet1!$C$2:$C$22</c:f>
              <c:numCache>
                <c:formatCode>General</c:formatCode>
                <c:ptCount val="21"/>
                <c:pt idx="0">
                  <c:v>0</c:v>
                </c:pt>
                <c:pt idx="1">
                  <c:v>0</c:v>
                </c:pt>
                <c:pt idx="2">
                  <c:v>0</c:v>
                </c:pt>
                <c:pt idx="3">
                  <c:v>0</c:v>
                </c:pt>
                <c:pt idx="4">
                  <c:v>0</c:v>
                </c:pt>
                <c:pt idx="5">
                  <c:v>0</c:v>
                </c:pt>
                <c:pt idx="6">
                  <c:v>0</c:v>
                </c:pt>
                <c:pt idx="7">
                  <c:v>0</c:v>
                </c:pt>
                <c:pt idx="8">
                  <c:v>20</c:v>
                </c:pt>
                <c:pt idx="9">
                  <c:v>36</c:v>
                </c:pt>
                <c:pt idx="10">
                  <c:v>40</c:v>
                </c:pt>
                <c:pt idx="11">
                  <c:v>44</c:v>
                </c:pt>
                <c:pt idx="12">
                  <c:v>48</c:v>
                </c:pt>
                <c:pt idx="13">
                  <c:v>52</c:v>
                </c:pt>
                <c:pt idx="14">
                  <c:v>56</c:v>
                </c:pt>
                <c:pt idx="15">
                  <c:v>60</c:v>
                </c:pt>
                <c:pt idx="16">
                  <c:v>64</c:v>
                </c:pt>
                <c:pt idx="17">
                  <c:v>68</c:v>
                </c:pt>
                <c:pt idx="18">
                  <c:v>72</c:v>
                </c:pt>
                <c:pt idx="19">
                  <c:v>76</c:v>
                </c:pt>
                <c:pt idx="20">
                  <c:v>80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Bruttogewinn des Fonds (Mio. €)</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400"/>
          <c:min val="0"/>
        </c:scaling>
        <c:delete val="0"/>
        <c:axPos val="l"/>
        <c:majorGridlines>
          <c:spPr>
            <a:ln w="6350" cap="flat">
              <a:solidFill>
                <a:srgbClr val="243033"/>
              </a:solidFill>
              <a:prstDash val="solid"/>
              <a:round/>
            </a:ln>
          </c:spPr>
        </c:majorGridlines>
        <c:title>
          <c:tx>
            <c:rich>
              <a:bodyPr/>
              <a:lstStyle/>
              <a:p>
                <a:pPr>
                  <a:defRPr sz="1000" b="0" i="0" u="none" strike="noStrike">
                    <a:solidFill>
                      <a:srgbClr val="8E9C9B"/>
                    </a:solidFill>
                    <a:latin typeface="Arial"/>
                  </a:defRPr>
                </a:pPr>
                <a:r>
                  <a:rPr sz="1000" b="0" i="0" u="none" strike="noStrike">
                    <a:solidFill>
                      <a:srgbClr val="8E9C9B"/>
                    </a:solidFill>
                    <a:latin typeface="Arial"/>
                  </a:rPr>
                  <a:t>Mio.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J-Curve: kumulierter Cashflow (Mio. €)</a:t>
            </a:r>
          </a:p>
        </c:rich>
      </c:tx>
      <c:layout/>
      <c:overlay val="0"/>
    </c:title>
    <c:autoTitleDeleted val="0"/>
    <c:plotArea>
      <c:layout/>
      <c:barChart>
        <c:barDir val="col"/>
        <c:grouping val="stacked"/>
        <c:varyColors val="0"/>
        <c:ser>
          <c:idx val="0"/>
          <c:order val="0"/>
          <c:tx>
            <c:strRef>
              <c:f>Sheet1!$B$1</c:f>
              <c:strCache>
                <c:ptCount val="1"/>
                <c:pt idx="0">
                  <c:v>negativ</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-99</c:v>
                </c:pt>
                <c:pt idx="2">
                  <c:v>-296</c:v>
                </c:pt>
                <c:pt idx="3">
                  <c:v>-405</c:v>
                </c:pt>
                <c:pt idx="4">
                  <c:v>-410</c:v>
                </c:pt>
                <c:pt idx="5">
                  <c:v>-415</c:v>
                </c:pt>
                <c:pt idx="6">
                  <c:v>-420</c:v>
                </c:pt>
                <c:pt idx="7">
                  <c:v>-425</c:v>
                </c:pt>
                <c:pt idx="8">
                  <c:v>-429</c:v>
                </c:pt>
                <c:pt idx="9">
                  <c:v>-230</c:v>
                </c:pt>
                <c:pt idx="10">
                  <c:v>-86</c:v>
                </c:pt>
                <c:pt idx="11">
                  <c:v>0</c:v>
                </c:pt>
                <c:pt idx="12">
                  <c:v>0</c:v>
                </c:pt>
                <c:pt idx="13">
                  <c:v>0</c:v>
                </c:pt>
                <c:pt idx="14">
                  <c:v>0</c:v>
                </c:pt>
                <c:pt idx="15">
                  <c:v>0</c:v>
                </c:pt>
                <c:pt idx="16">
                  <c:v>0</c:v>
                </c:pt>
                <c:pt idx="17">
                  <c:v>0</c:v>
                </c:pt>
                <c:pt idx="18">
                  <c:v>0</c:v>
                </c:pt>
                <c:pt idx="19">
                  <c:v>0</c:v>
                </c:pt>
              </c:numCache>
            </c:numRef>
          </c:val>
        </c:ser>
        <c:ser>
          <c:idx val="1"/>
          <c:order val="1"/>
          <c:tx>
            <c:strRef>
              <c:f>Sheet1!$C$1</c:f>
              <c:strCache>
                <c:ptCount val="1"/>
                <c:pt idx="0">
                  <c:v>positiv</c:v>
                </c:pt>
              </c:strCache>
            </c:strRef>
          </c:tx>
          <c:spPr>
            <a:solidFill>
              <a:srgbClr val="5FC4B1"/>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c:v>
                </c:pt>
                <c:pt idx="2">
                  <c:v>0</c:v>
                </c:pt>
                <c:pt idx="3">
                  <c:v>0</c:v>
                </c:pt>
                <c:pt idx="4">
                  <c:v>0</c:v>
                </c:pt>
                <c:pt idx="5">
                  <c:v>0</c:v>
                </c:pt>
                <c:pt idx="6">
                  <c:v>0</c:v>
                </c:pt>
                <c:pt idx="7">
                  <c:v>0</c:v>
                </c:pt>
                <c:pt idx="8">
                  <c:v>0</c:v>
                </c:pt>
                <c:pt idx="9">
                  <c:v>0</c:v>
                </c:pt>
                <c:pt idx="10">
                  <c:v>0</c:v>
                </c:pt>
                <c:pt idx="11">
                  <c:v>364</c:v>
                </c:pt>
                <c:pt idx="12">
                  <c:v>308</c:v>
                </c:pt>
                <c:pt idx="13">
                  <c:v>307</c:v>
                </c:pt>
                <c:pt idx="14">
                  <c:v>307</c:v>
                </c:pt>
                <c:pt idx="15">
                  <c:v>306</c:v>
                </c:pt>
                <c:pt idx="16">
                  <c:v>306</c:v>
                </c:pt>
                <c:pt idx="17">
                  <c:v>352</c:v>
                </c:pt>
                <c:pt idx="18">
                  <c:v>352</c:v>
                </c:pt>
                <c:pt idx="19">
                  <c:v>352</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TVPI</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0</c:v>
                </c:pt>
                <c:pt idx="1">
                  <c:v>0.86</c:v>
                </c:pt>
                <c:pt idx="2">
                  <c:v>0.99</c:v>
                </c:pt>
                <c:pt idx="3">
                  <c:v>0.8</c:v>
                </c:pt>
                <c:pt idx="4">
                  <c:v>0.93</c:v>
                </c:pt>
                <c:pt idx="5">
                  <c:v>1.06</c:v>
                </c:pt>
                <c:pt idx="6">
                  <c:v>1</c:v>
                </c:pt>
                <c:pt idx="7">
                  <c:v>1.17</c:v>
                </c:pt>
                <c:pt idx="8">
                  <c:v>1.35</c:v>
                </c:pt>
                <c:pt idx="9">
                  <c:v>1.53</c:v>
                </c:pt>
                <c:pt idx="10">
                  <c:v>1.66</c:v>
                </c:pt>
                <c:pt idx="11">
                  <c:v>1.66</c:v>
                </c:pt>
                <c:pt idx="12">
                  <c:v>1.59</c:v>
                </c:pt>
                <c:pt idx="13">
                  <c:v>1.55</c:v>
                </c:pt>
                <c:pt idx="14">
                  <c:v>1.58</c:v>
                </c:pt>
                <c:pt idx="15">
                  <c:v>1.58</c:v>
                </c:pt>
                <c:pt idx="16">
                  <c:v>1.63</c:v>
                </c:pt>
                <c:pt idx="17">
                  <c:v>1.69</c:v>
                </c:pt>
                <c:pt idx="18">
                  <c:v>1.7</c:v>
                </c:pt>
                <c:pt idx="19">
                  <c:v>1.7</c:v>
                </c:pt>
              </c:numCache>
            </c:numRef>
          </c:val>
          <c:smooth val="0"/>
        </c:ser>
        <c:ser>
          <c:idx val="1"/>
          <c:order val="1"/>
          <c:tx>
            <c:strRef>
              <c:f>Sheet1!$C$1</c:f>
              <c:strCache>
                <c:ptCount val="1"/>
                <c:pt idx="0">
                  <c:v>DPI</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c:v>
                </c:pt>
                <c:pt idx="2">
                  <c:v>0</c:v>
                </c:pt>
                <c:pt idx="3">
                  <c:v>0</c:v>
                </c:pt>
                <c:pt idx="4">
                  <c:v>0</c:v>
                </c:pt>
                <c:pt idx="5">
                  <c:v>0</c:v>
                </c:pt>
                <c:pt idx="6">
                  <c:v>0</c:v>
                </c:pt>
                <c:pt idx="7">
                  <c:v>0</c:v>
                </c:pt>
                <c:pt idx="8">
                  <c:v>0</c:v>
                </c:pt>
                <c:pt idx="9">
                  <c:v>0.43</c:v>
                </c:pt>
                <c:pt idx="10">
                  <c:v>0.73</c:v>
                </c:pt>
                <c:pt idx="11">
                  <c:v>1.66</c:v>
                </c:pt>
                <c:pt idx="12">
                  <c:v>1.48</c:v>
                </c:pt>
                <c:pt idx="13">
                  <c:v>1.49</c:v>
                </c:pt>
                <c:pt idx="14">
                  <c:v>1.48</c:v>
                </c:pt>
                <c:pt idx="15">
                  <c:v>1.48</c:v>
                </c:pt>
                <c:pt idx="16">
                  <c:v>1.52</c:v>
                </c:pt>
                <c:pt idx="17">
                  <c:v>1.69</c:v>
                </c:pt>
                <c:pt idx="18">
                  <c:v>1.7</c:v>
                </c:pt>
                <c:pt idx="19">
                  <c:v>1.7</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2"/>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r"/>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Marktwachstum (% p. a.)</a:t>
            </a:r>
          </a:p>
        </c:rich>
      </c:tx>
      <c:layout/>
      <c:overlay val="0"/>
    </c:title>
    <c:autoTitleDeleted val="0"/>
    <c:plotArea>
      <c:layout/>
      <c:barChart>
        <c:barDir val="bar"/>
        <c:grouping val="clustered"/>
        <c:varyColors val="0"/>
        <c:ser>
          <c:idx val="0"/>
          <c:order val="0"/>
          <c:tx>
            <c:strRef>
              <c:f>Sheet1!$B$1</c:f>
              <c:strCache>
                <c:ptCount val="1"/>
                <c:pt idx="0">
                  <c:v>Marktwachstum % p. a.</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4</c:v>
                </c:pt>
                <c:pt idx="1">
                  <c:v>6</c:v>
                </c:pt>
                <c:pt idx="2">
                  <c:v>9</c:v>
                </c:pt>
                <c:pt idx="3">
                  <c:v>4.5</c:v>
                </c:pt>
                <c:pt idx="4">
                  <c:v>3</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Typisches Einstiegsmultiple (×)</a:t>
            </a:r>
          </a:p>
        </c:rich>
      </c:tx>
      <c:layout/>
      <c:overlay val="0"/>
    </c:title>
    <c:autoTitleDeleted val="0"/>
    <c:plotArea>
      <c:layout/>
      <c:barChart>
        <c:barDir val="bar"/>
        <c:grouping val="clustered"/>
        <c:varyColors val="0"/>
        <c:ser>
          <c:idx val="0"/>
          <c:order val="0"/>
          <c:tx>
            <c:strRef>
              <c:f>Sheet1!$B$1</c:f>
              <c:strCache>
                <c:ptCount val="1"/>
                <c:pt idx="0">
                  <c:v>Basis-Multiple</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8.5</c:v>
                </c:pt>
                <c:pt idx="1">
                  <c:v>11</c:v>
                </c:pt>
                <c:pt idx="2">
                  <c:v>13</c:v>
                </c:pt>
                <c:pt idx="3">
                  <c:v>9</c:v>
                </c:pt>
                <c:pt idx="4">
                  <c:v>8</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6"/>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Schätzband des Wachstumsvorsprungs (± pp p. a.) nach Punkten in Due Diligence</a:t>
            </a:r>
          </a:p>
        </c:rich>
      </c:tx>
      <c:layout/>
      <c:overlay val="0"/>
    </c:title>
    <c:autoTitleDeleted val="0"/>
    <c:plotArea>
      <c:layout/>
      <c:barChart>
        <c:barDir val="col"/>
        <c:grouping val="clustered"/>
        <c:varyColors val="0"/>
        <c:ser>
          <c:idx val="0"/>
          <c:order val="0"/>
          <c:tx>
            <c:strRef>
              <c:f>Sheet1!$B$1</c:f>
              <c:strCache>
                <c:ptCount val="1"/>
                <c:pt idx="0">
                  <c:v>Schätzband ± pp</c:v>
                </c:pt>
              </c:strCache>
            </c:strRef>
          </c:tx>
          <c:spPr>
            <a:solidFill>
              <a:srgbClr val="3B82F6"/>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DD 1</c:v>
                  </c:pt>
                  <c:pt idx="1">
                    <c:v>DD 2</c:v>
                  </c:pt>
                  <c:pt idx="2">
                    <c:v>DD 3</c:v>
                  </c:pt>
                  <c:pt idx="3">
                    <c:v>DD 4</c:v>
                  </c:pt>
                  <c:pt idx="4">
                    <c:v>DD 5</c:v>
                  </c:pt>
                </c:lvl>
              </c:multiLvlStrCache>
            </c:multiLvlStrRef>
          </c:cat>
          <c:val>
            <c:numRef>
              <c:f>Sheet1!$B$2:$B$6</c:f>
              <c:numCache>
                <c:formatCode>General</c:formatCode>
                <c:ptCount val="5"/>
                <c:pt idx="0">
                  <c:v>2.78</c:v>
                </c:pt>
                <c:pt idx="1">
                  <c:v>2.1</c:v>
                </c:pt>
                <c:pt idx="2">
                  <c:v>1.43</c:v>
                </c:pt>
                <c:pt idx="3">
                  <c:v>0.75</c:v>
                </c:pt>
                <c:pt idx="4">
                  <c:v>0.23</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3.2"/>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Zinssatz (% p. a.)</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Sheet1!$B$2:$B$11</c:f>
              <c:numCache>
                <c:formatCode>General</c:formatCode>
                <c:ptCount val="10"/>
                <c:pt idx="0">
                  <c:v>6</c:v>
                </c:pt>
                <c:pt idx="1">
                  <c:v>6</c:v>
                </c:pt>
                <c:pt idx="2">
                  <c:v>6</c:v>
                </c:pt>
                <c:pt idx="3">
                  <c:v>6</c:v>
                </c:pt>
                <c:pt idx="4">
                  <c:v>6</c:v>
                </c:pt>
                <c:pt idx="5">
                  <c:v>6.42</c:v>
                </c:pt>
                <c:pt idx="6">
                  <c:v>6.85</c:v>
                </c:pt>
                <c:pt idx="7">
                  <c:v>7.28</c:v>
                </c:pt>
                <c:pt idx="8">
                  <c:v>7.7</c:v>
                </c:pt>
                <c:pt idx="9">
                  <c:v>8.13</c:v>
                </c:pt>
              </c:numCache>
            </c:numRef>
          </c:val>
          <c:smooth val="0"/>
        </c:ser>
        <c:ser>
          <c:idx val="1"/>
          <c:order val="1"/>
          <c:tx>
            <c:strRef>
              <c:f>Sheet1!$C$1</c:f>
              <c:strCache>
                <c:ptCount val="1"/>
                <c:pt idx="0">
                  <c:v>Zinslast (% des EBITDA)</c:v>
                </c:pt>
              </c:strCache>
            </c:strRef>
          </c:tx>
          <c:spPr>
            <a:solidFill>
              <a:srgbClr val="E3897F"/>
            </a:solidFill>
            <a:ln w="31750" cap="flat">
              <a:solidFill>
                <a:srgbClr val="E3897F"/>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E3897F"/>
              </a:solidFill>
              <a:ln w="9525" cap="flat">
                <a:solidFill>
                  <a:srgbClr val="E3897F"/>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Sheet1!$C$2:$C$11</c:f>
              <c:numCache>
                <c:formatCode>General</c:formatCode>
                <c:ptCount val="10"/>
                <c:pt idx="0">
                  <c:v>6</c:v>
                </c:pt>
                <c:pt idx="1">
                  <c:v>9</c:v>
                </c:pt>
                <c:pt idx="2">
                  <c:v>12</c:v>
                </c:pt>
                <c:pt idx="3">
                  <c:v>15</c:v>
                </c:pt>
                <c:pt idx="4">
                  <c:v>18</c:v>
                </c:pt>
                <c:pt idx="5">
                  <c:v>22.5</c:v>
                </c:pt>
                <c:pt idx="6">
                  <c:v>27.4</c:v>
                </c:pt>
                <c:pt idx="7">
                  <c:v>32.7</c:v>
                </c:pt>
                <c:pt idx="8">
                  <c:v>38.5</c:v>
                </c:pt>
                <c:pt idx="9">
                  <c:v>44.7</c:v>
                </c:pt>
              </c:numCache>
            </c:numRef>
          </c:val>
          <c:smooth val="0"/>
        </c:ser>
        <c:ser>
          <c:idx val="2"/>
          <c:order val="2"/>
          <c:tx>
            <c:strRef>
              <c:f>Sheet1!$D$1</c:f>
              <c:strCache>
                <c:ptCount val="1"/>
                <c:pt idx="0">
                  <c:v>Zinsschranke (30 % EBITDA)</c:v>
                </c:pt>
              </c:strCache>
            </c:strRef>
          </c:tx>
          <c:spPr>
            <a:solidFill>
              <a:srgbClr val="8E9C9B"/>
            </a:solidFill>
            <a:ln w="3175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8E9C9B"/>
              </a:solidFill>
              <a:ln w="9525" cap="flat">
                <a:solidFill>
                  <a:srgbClr val="8E9C9B"/>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Sheet1!$D$2:$D$11</c:f>
              <c:numCache>
                <c:formatCode>General</c:formatCode>
                <c:ptCount val="10"/>
                <c:pt idx="0">
                  <c:v>30</c:v>
                </c:pt>
                <c:pt idx="1">
                  <c:v>30</c:v>
                </c:pt>
                <c:pt idx="2">
                  <c:v>30</c:v>
                </c:pt>
                <c:pt idx="3">
                  <c:v>30</c:v>
                </c:pt>
                <c:pt idx="4">
                  <c:v>30</c:v>
                </c:pt>
                <c:pt idx="5">
                  <c:v>30</c:v>
                </c:pt>
                <c:pt idx="6">
                  <c:v>30</c:v>
                </c:pt>
                <c:pt idx="7">
                  <c:v>30</c:v>
                </c:pt>
                <c:pt idx="8">
                  <c:v>30</c:v>
                </c:pt>
                <c:pt idx="9">
                  <c:v>30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Nettoverschuldung / EBITDA (Financing = 2)</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243033"/>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Verteilung der Deal-MOICs (% der Deals)</a:t>
            </a:r>
          </a:p>
        </c:rich>
      </c:tx>
      <c:layout/>
      <c:overlay val="0"/>
    </c:title>
    <c:autoTitleDeleted val="0"/>
    <c:plotArea>
      <c:layout/>
      <c:barChart>
        <c:barDir val="col"/>
        <c:grouping val="clustered"/>
        <c:varyColors val="0"/>
        <c:ser>
          <c:idx val="0"/>
          <c:order val="0"/>
          <c:tx>
            <c:strRef>
              <c:f>Sheet1!$B$1</c:f>
              <c:strCache>
                <c:ptCount val="1"/>
                <c:pt idx="0">
                  <c:v>Anteil Deals</c:v>
                </c:pt>
              </c:strCache>
            </c:strRef>
          </c:tx>
          <c:spPr>
            <a:solidFill>
              <a:srgbClr val="E3897F"/>
            </a:solidFill>
            <a:effectLst/>
          </c:spPr>
          <c:invertIfNegative val="0"/>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E3897F"/>
              </a:solidFill>
              <a:effectLst/>
            </c:spPr>
          </c:dPt>
          <c:dPt>
            <c:idx val="1"/>
            <c:invertIfNegative val="0"/>
            <c:bubble3D val="0"/>
            <c:spPr>
              <a:solidFill>
                <a:srgbClr val="E3897F"/>
              </a:solidFill>
              <a:effectLst/>
            </c:spPr>
          </c:dPt>
          <c:dPt>
            <c:idx val="2"/>
            <c:invertIfNegative val="0"/>
            <c:bubble3D val="0"/>
            <c:spPr>
              <a:solidFill>
                <a:srgbClr val="5FC4B1"/>
              </a:solidFill>
              <a:effectLst/>
            </c:spPr>
          </c:dPt>
          <c:dPt>
            <c:idx val="3"/>
            <c:invertIfNegative val="0"/>
            <c:bubble3D val="0"/>
            <c:spPr>
              <a:solidFill>
                <a:srgbClr val="5FC4B1"/>
              </a:solidFill>
              <a:effectLst/>
            </c:spPr>
          </c:dPt>
          <c:dPt>
            <c:idx val="4"/>
            <c:invertIfNegative val="0"/>
            <c:bubble3D val="0"/>
            <c:spPr>
              <a:solidFill>
                <a:srgbClr val="5FC4B1"/>
              </a:solidFill>
              <a:effectLst/>
            </c:spPr>
          </c:dPt>
          <c:dPt>
            <c:idx val="5"/>
            <c:invertIfNegative val="0"/>
            <c:bubble3D val="0"/>
            <c:spPr>
              <a:solidFill>
                <a:srgbClr val="5FC4B1"/>
              </a:solidFill>
              <a:effectLst/>
            </c:spPr>
          </c:dPt>
          <c:dPt>
            <c:idx val="6"/>
            <c:invertIfNegative val="0"/>
            <c:bubble3D val="0"/>
            <c:spPr>
              <a:solidFill>
                <a:srgbClr val="5FC4B1"/>
              </a:solidFill>
              <a:effectLst/>
            </c:spPr>
          </c:dPt>
          <c:dPt>
            <c:idx val="7"/>
            <c:invertIfNegative val="0"/>
            <c:bubble3D val="0"/>
            <c:spPr>
              <a:solidFill>
                <a:srgbClr val="5FC4B1"/>
              </a:solidFill>
              <a:effectLst/>
            </c:spPr>
          </c:dPt>
          <c:cat>
            <c:multiLvlStrRef>
              <c:f>Sheet1!$A$2:$A$9</c:f>
              <c:multiLvlStrCache>
                <c:ptCount val="8"/>
                <c:lvl>
                  <c:pt idx="0">
                    <c:v>&lt;0,5</c:v>
                  </c:pt>
                  <c:pt idx="1">
                    <c:v>0,5–1</c:v>
                  </c:pt>
                  <c:pt idx="2">
                    <c:v>1–1,5</c:v>
                  </c:pt>
                  <c:pt idx="3">
                    <c:v>1,5–2</c:v>
                  </c:pt>
                  <c:pt idx="4">
                    <c:v>2–2,5</c:v>
                  </c:pt>
                  <c:pt idx="5">
                    <c:v>2,5–3</c:v>
                  </c:pt>
                  <c:pt idx="6">
                    <c:v>3–4</c:v>
                  </c:pt>
                  <c:pt idx="7">
                    <c:v>&gt;4</c:v>
                  </c:pt>
                </c:lvl>
              </c:multiLvlStrCache>
            </c:multiLvlStrRef>
          </c:cat>
          <c:val>
            <c:numRef>
              <c:f>Sheet1!$B$2:$B$9</c:f>
              <c:numCache>
                <c:formatCode>General</c:formatCode>
                <c:ptCount val="8"/>
                <c:pt idx="0">
                  <c:v>7</c:v>
                </c:pt>
                <c:pt idx="1">
                  <c:v>9</c:v>
                </c:pt>
                <c:pt idx="2">
                  <c:v>11</c:v>
                </c:pt>
                <c:pt idx="3">
                  <c:v>29</c:v>
                </c:pt>
                <c:pt idx="4">
                  <c:v>22</c:v>
                </c:pt>
                <c:pt idx="5">
                  <c:v>11</c:v>
                </c:pt>
                <c:pt idx="6">
                  <c:v>8</c:v>
                </c:pt>
                <c:pt idx="7">
                  <c:v>3</c:v>
                </c:pt>
              </c:numCache>
            </c:numRef>
          </c:val>
        </c:ser>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MOIC je Deal</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35"/>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Erfolgsquote nach effektivem Rating</a:t>
            </a:r>
          </a:p>
        </c:rich>
      </c:tx>
      <c:layout/>
      <c:overlay val="0"/>
    </c:title>
    <c:autoTitleDeleted val="0"/>
    <c:plotArea>
      <c:layout/>
      <c:lineChart>
        <c:varyColors val="0"/>
        <c:ser>
          <c:idx val="0"/>
          <c:order val="0"/>
          <c:tx>
            <c:strRef>
              <c:f>Sheet1!$B$1</c:f>
              <c:strCache>
                <c:ptCount val="1"/>
                <c:pt idx="0">
                  <c:v>verlässlich</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5FC4B1"/>
              </a:solidFill>
              <a:ln w="9525" cap="flat">
                <a:solidFill>
                  <a:srgbClr val="5FC4B1"/>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60</c:v>
                </c:pt>
                <c:pt idx="1">
                  <c:v>66</c:v>
                </c:pt>
                <c:pt idx="2">
                  <c:v>71</c:v>
                </c:pt>
                <c:pt idx="3">
                  <c:v>77</c:v>
                </c:pt>
                <c:pt idx="4">
                  <c:v>82</c:v>
                </c:pt>
                <c:pt idx="5">
                  <c:v>88</c:v>
                </c:pt>
                <c:pt idx="6">
                  <c:v>93</c:v>
                </c:pt>
              </c:numCache>
            </c:numRef>
          </c:val>
          <c:smooth val="0"/>
        </c:ser>
        <c:ser>
          <c:idx val="1"/>
          <c:order val="1"/>
          <c:tx>
            <c:strRef>
              <c:f>Sheet1!$C$1</c:f>
              <c:strCache>
                <c:ptCount val="1"/>
                <c:pt idx="0">
                  <c:v>Transformation</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Sheet1!$C$2:$C$8</c:f>
              <c:numCache>
                <c:formatCode>General</c:formatCode>
                <c:ptCount val="7"/>
                <c:pt idx="0">
                  <c:v>56</c:v>
                </c:pt>
                <c:pt idx="1">
                  <c:v>61</c:v>
                </c:pt>
                <c:pt idx="2">
                  <c:v>66</c:v>
                </c:pt>
                <c:pt idx="3">
                  <c:v>70</c:v>
                </c:pt>
                <c:pt idx="4">
                  <c:v>75</c:v>
                </c:pt>
                <c:pt idx="5">
                  <c:v>80</c:v>
                </c:pt>
                <c:pt idx="6">
                  <c:v>85</c:v>
                </c:pt>
              </c:numCache>
            </c:numRef>
          </c:val>
          <c:smooth val="0"/>
        </c:ser>
        <c:ser>
          <c:idx val="2"/>
          <c:order val="2"/>
          <c:tx>
            <c:strRef>
              <c:f>Sheet1!$D$1</c:f>
              <c:strCache>
                <c:ptCount val="1"/>
                <c:pt idx="0">
                  <c:v>marktabhängig</c:v>
                </c:pt>
              </c:strCache>
            </c:strRef>
          </c:tx>
          <c:spPr>
            <a:solidFill>
              <a:srgbClr val="E3897F"/>
            </a:solidFill>
            <a:ln w="31750" cap="flat">
              <a:solidFill>
                <a:srgbClr val="E3897F"/>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E3897F"/>
              </a:solidFill>
              <a:ln w="9525" cap="flat">
                <a:solidFill>
                  <a:srgbClr val="E3897F"/>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Sheet1!$D$2:$D$8</c:f>
              <c:numCache>
                <c:formatCode>General</c:formatCode>
                <c:ptCount val="7"/>
                <c:pt idx="0">
                  <c:v>20</c:v>
                </c:pt>
                <c:pt idx="1">
                  <c:v>27</c:v>
                </c:pt>
                <c:pt idx="2">
                  <c:v>34</c:v>
                </c:pt>
                <c:pt idx="3">
                  <c:v>42</c:v>
                </c:pt>
                <c:pt idx="4">
                  <c:v>49</c:v>
                </c:pt>
                <c:pt idx="5">
                  <c:v>56</c:v>
                </c:pt>
                <c:pt idx="6">
                  <c:v>63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effektives Rating E</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Abwerberisiko mit MEP in % des Risikos ohne MEP</a:t>
            </a:r>
          </a:p>
        </c:rich>
      </c:tx>
      <c:layout/>
      <c:overlay val="0"/>
    </c:title>
    <c:autoTitleDeleted val="0"/>
    <c:plotArea>
      <c:layout/>
      <c:lineChart>
        <c:varyColors val="0"/>
        <c:ser>
          <c:idx val="0"/>
          <c:order val="0"/>
          <c:tx>
            <c:strRef>
              <c:f>Sheet1!$B$1</c:f>
              <c:strCache>
                <c:ptCount val="1"/>
                <c:pt idx="0">
                  <c:v>Abwerberisiko vs. ohne MEP</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5FC4B1"/>
              </a:solidFill>
              <a:ln w="9525" cap="flat">
                <a:solidFill>
                  <a:srgbClr val="5FC4B1"/>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Sheet1!$B$2:$B$10</c:f>
              <c:numCache>
                <c:formatCode>General</c:formatCode>
                <c:ptCount val="9"/>
                <c:pt idx="0">
                  <c:v>68</c:v>
                </c:pt>
                <c:pt idx="1">
                  <c:v>59</c:v>
                </c:pt>
                <c:pt idx="2">
                  <c:v>50</c:v>
                </c:pt>
                <c:pt idx="3">
                  <c:v>41</c:v>
                </c:pt>
                <c:pt idx="4">
                  <c:v>33</c:v>
                </c:pt>
                <c:pt idx="5">
                  <c:v>24</c:v>
                </c:pt>
                <c:pt idx="6">
                  <c:v>15</c:v>
                </c:pt>
                <c:pt idx="7">
                  <c:v>8</c:v>
                </c:pt>
                <c:pt idx="8">
                  <c:v>8</c:v>
                </c:pt>
              </c:numCache>
            </c:numRef>
          </c:val>
          <c:smooth val="0"/>
        </c:ser>
        <c:ser>
          <c:idx val="1"/>
          <c:order val="1"/>
          <c:tx>
            <c:strRef>
              <c:f>Sheet1!$C$1</c:f>
              <c:strCache>
                <c:ptCount val="1"/>
                <c:pt idx="0">
                  <c:v>ohne MEP</c:v>
                </c:pt>
              </c:strCache>
            </c:strRef>
          </c:tx>
          <c:spPr>
            <a:solidFill>
              <a:srgbClr val="8E9C9B"/>
            </a:solidFill>
            <a:ln w="3810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8E9C9B"/>
              </a:solidFill>
              <a:ln w="9525" cap="flat">
                <a:solidFill>
                  <a:srgbClr val="8E9C9B"/>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Sheet1!$C$2:$C$10</c:f>
              <c:numCache>
                <c:formatCode>General</c:formatCode>
                <c:ptCount val="9"/>
                <c:pt idx="0">
                  <c:v>100</c:v>
                </c:pt>
                <c:pt idx="1">
                  <c:v>100</c:v>
                </c:pt>
                <c:pt idx="2">
                  <c:v>100</c:v>
                </c:pt>
                <c:pt idx="3">
                  <c:v>100</c:v>
                </c:pt>
                <c:pt idx="4">
                  <c:v>100</c:v>
                </c:pt>
                <c:pt idx="5">
                  <c:v>100</c:v>
                </c:pt>
                <c:pt idx="6">
                  <c:v>100</c:v>
                </c:pt>
                <c:pt idx="7">
                  <c:v>100</c:v>
                </c:pt>
                <c:pt idx="8">
                  <c:v>100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Wert der Beteiligung je Euro Einstand (MOIC)</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Abschlag in Turns – Asset mit 10× Multiple, gekauft in HJ 2</a:t>
            </a:r>
          </a:p>
        </c:rich>
      </c:tx>
      <c:layout/>
      <c:overlay val="0"/>
    </c:title>
    <c:autoTitleDeleted val="0"/>
    <c:plotArea>
      <c:layout/>
      <c:barChart>
        <c:barDir val="col"/>
        <c:grouping val="stacked"/>
        <c:varyColors val="0"/>
        <c:ser>
          <c:idx val="0"/>
          <c:order val="0"/>
          <c:tx>
            <c:strRef>
              <c:f>Sheet1!$B$1</c:f>
              <c:strCache>
                <c:ptCount val="1"/>
                <c:pt idx="0">
                  <c:v>Altbestandsabschlag</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Sheet1!$B$2:$B$20</c:f>
              <c:numCache>
                <c:formatCode>General</c:formatCode>
                <c:ptCount val="19"/>
                <c:pt idx="0">
                  <c:v>0</c:v>
                </c:pt>
                <c:pt idx="1">
                  <c:v>0</c:v>
                </c:pt>
                <c:pt idx="2">
                  <c:v>0</c:v>
                </c:pt>
                <c:pt idx="3">
                  <c:v>0</c:v>
                </c:pt>
                <c:pt idx="4">
                  <c:v>0</c:v>
                </c:pt>
                <c:pt idx="5">
                  <c:v>0</c:v>
                </c:pt>
                <c:pt idx="6">
                  <c:v>0</c:v>
                </c:pt>
                <c:pt idx="7">
                  <c:v>0</c:v>
                </c:pt>
                <c:pt idx="8">
                  <c:v>0</c:v>
                </c:pt>
                <c:pt idx="9">
                  <c:v>0.2</c:v>
                </c:pt>
                <c:pt idx="10">
                  <c:v>0.4</c:v>
                </c:pt>
                <c:pt idx="11">
                  <c:v>0.6</c:v>
                </c:pt>
                <c:pt idx="12">
                  <c:v>0.8</c:v>
                </c:pt>
                <c:pt idx="13">
                  <c:v>1</c:v>
                </c:pt>
                <c:pt idx="14">
                  <c:v>1.2</c:v>
                </c:pt>
                <c:pt idx="15">
                  <c:v>1.4</c:v>
                </c:pt>
                <c:pt idx="16">
                  <c:v>1.6</c:v>
                </c:pt>
                <c:pt idx="17">
                  <c:v>1.8</c:v>
                </c:pt>
                <c:pt idx="18">
                  <c:v>2</c:v>
                </c:pt>
              </c:numCache>
            </c:numRef>
          </c:val>
        </c:ser>
        <c:ser>
          <c:idx val="1"/>
          <c:order val="1"/>
          <c:tx>
            <c:strRef>
              <c:f>Sheet1!$C$1</c:f>
              <c:strCache>
                <c:ptCount val="1"/>
                <c:pt idx="0">
                  <c:v>Endfälligkeitsdruck</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Sheet1!$C$2:$C$20</c:f>
              <c:numCache>
                <c:formatCode>General</c:formatCode>
                <c:ptCount val="1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0.65</c:v>
                </c:pt>
                <c:pt idx="16">
                  <c:v>1.3</c:v>
                </c:pt>
                <c:pt idx="17">
                  <c:v>1.95</c:v>
                </c:pt>
                <c:pt idx="18">
                  <c:v>2.6</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Diese Präsentation erklärt, wie PE Leagues die wichtigsten Mechaniken von Private Equity abbildet. Jede Zahl auf den folgenden Folien stammt direkt aus der Spiel-Engine (lib/engine) – das Spiel ist also ein rechnendes Lehrmodell, kein Ratespiel.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vier Blöcke folgen dem Lebenszyklus eines Buyout-Fonds. Jeder Block endet mit Kernaussagen. Wer die Parameter nachschlagen will, findet am Ende ein Glossar mit Fundstellen im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Jeder Spieler führt einen eigenen Fonds mit 500 Mio. € Commitment. Die zentrale Entscheidung vor dem Start ist das Fondsprofil: 12 Punkte auf fünf Fähigkeiten. Diese Punkte wirken über die ganze Laufzeit auf konkrete Formeln – welche, zeigt Folie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Alles im Spiel folgt einer einzigen Kette. Oben steht, was die Engine jedes Halbjahr rechnet, unten, wo der Spieler eingreift. Die Wertung am Ende ist nichts anderes als das Ergebnis dieser Kette – es gibt keine versteckten Bonuspunkte.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Fonds erhält sein Kapital nicht am ersten Tag. Die Investoren sagen 500 Mio. € zu (Commitment), der Fonds ruft Geld erst ab, wenn er es braucht. Wichtig: Die Management Fee wird ebenfalls aus dem Commitment bezahlt. Deshalb reserviert die Engine die künftigen Gebühren vorab – investierbar sind zum Start nur rund 450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Gebühr läuft in der Investitionsperiode auf das volle Commitment – auch wenn noch nichts investiert ist. Danach nur noch auf den Einstand des Restportfolios. Im Mittel der Simulation kosten Fees rund 54 Mio. €, Transaktionskosten 12 Mio. € und Carry 20 Mio. € je Fonds.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jedem Exit in der Investitionsperiode entscheidet der Spieler, wie viel des Erlöses im Fonds bleibt. Recycling lässt mehr Kapital arbeiten (höherer TVPI), verschiebt aber den Rückfluss an die Investoren (niedrigerer IRR). Das ist die erste echte Portfolio-Entscheidung.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GP bekommt Carry erst, wenn die Investoren ihre Vorzugsrendite von 8 % p. a. erhalten haben. Danach holt der GP im Catch-up auf, bis er 20 % des gesamten Gewinns hat. Wichtig für Studierende: Der Übergang ist stetig – ein Fonds knapp über der Hurdle steht für die Investoren nie schlechter da als einer knapp darunter.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einen echten Fondsverlauf aus der Simulation: In den ersten Jahren fließt nur Geld ab (Deals, Gebühren), der kumulierte Cashflow wird tief negativ – die J-Curve. Ab etwa Halbjahr 10 kommen die Exits, der Cashflow dreht ins Positive. Der Merksatz: Ein hoher Zwischen-IRR bei niedrigem DPI ist eine Bewertung, keine Rendite.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TVPI allein belohnt Sitzenbleiben: Wer lange hält, sammelt Wert. IRR allein belohnt schnelles Drehen kleiner Deals. Erst zusammen bilden sie die Kernfrage ab: Wann verkauft man ein Asset, das noch weiterläuft? Die Marken 1,7× und 18 % sind an der Engine gemessen – 1,00 Punkte entspricht dem oberen Viertel der Kohorte.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fünf Sektoren unterscheiden sich in Wachstum und typischem Einstiegsmultiple. Software wächst schnell, ist aber teuer; Consumer ist günstig, wächst aber kaum. Zusätzlich schwankt jedes Sektor-Multiple jedes Halbjahr. Wer stark gehebelt in einem Sektor sitzt, der abstürzt, spürt das doppelt – Umsatz und Marge fallen mit dem Leverage stärker.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Fund Value Bridge zerlegt den Gewinn eines Fonds in Treiber. Der Durchschnitt über 240 KI-Fonds in 60 simulierten Partien zeigt: Der größte Hebel ist das EBITDA-Wachstum, dann die Multiple-Veränderung. Die Entschuldung ist im Mittel leicht negativ, weil die KI-Fonds Zukäufe überwiegend mit Fremdkapital finanzieren. Gebühren und Carry kosten zusammen rund 86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kommen vier Auktionsdeals, die alle Fonds sehen. Dazu kommen proprietäre Deals – ihre Zahl hängt an der Origination. Proprietäre Deals sind günstiger, weil man früher mit dem Verkäufer spricht. Einmal pro Partie kommt ein Trophy Asset: groß, hochwertig und heiß umkämpft.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Unternehmen wird aus einem von 35 Geschäftsmodellen des DACH-Mittelstands gezogen – sieben je Sektor. Das Geschäftsmodell legt die Bandbreiten fest, der Zufall die konkrete Ausprägung. Die Risikoflaggen senken den Preis, sind aber auch echte Risiken; nur die Buy-&amp;-Build-Plattform ist eine These, keine Warnung.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Preis folgt dem Sektor-Multiple, korrigiert um die Qualität. Wichtig ist die Designentscheidung: Kaufpreis und Bewertung nutzen denselben Qualitätsfaktor. Am Tag des Closings ist ein Deal also genau so viel wert, wie er gekostet hat. Jede Aufwertung muss danach verdient werden – durch EBITDA, Wachstum oder den Markt.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wichtigste versteckte Parameter eines Deals ist der Drift – der dauerhafte Wachstumsvorsprung gegenüber dem Sektor. Die Wachstumshistorie auf der Karte erklärt etwa die Hälfte davon. Due Diligence liefert eine Schätzung; wie genau sie ist, hängt am Attribut Due Diligence. Ohne DD gibt es gar keine Schätzung und bei proprietären Deals das Risiko einer Post-Closing-Überraschung.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Auktion läuft in fünf Schritten. Häufigster Fehler von Einsteigern: ein Gebot, das am eigenen Kapital scheitert – das Eigenkapital-Ticket ist größer als das investierbare Kapital. Die Engine sagt jedem Bieter, woran es lag. Die vier KI-Fonds bieten nach Archetyp: Der Leverage-Fonds zahlt am meisten und hebelt am stärksten.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Fremdkapital hebelt die Eigenkapitalrendite, aber die Engine lässt es kosten: Über 3,0× steigt der Zins mit jedem Turn um 0,85 Prozentpunkte (Margin Grid). Ab etwa 4,6× greift die Zinsschranke – Zinsen über 30 % des EBITDA mindern die Steuer nicht mehr. Und zwei Halbjahre über dem Covenant bedeuten Enforcement: Die Beteiligung geht an die Banken.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 jedem Gebot rechnet die Karte zwei Zahlen: das Equity Ticket (wie viel Eigenkapital der Fonds einsetzt) und den Implied Money Multiple – einen konservativen 5-Jahres-Base-Case ohne Maßnahmen und mit Exit zum Einstiegsmultiple. Wer ihn später schlägt, hat das über Portfolioarbeit verdient; wer ihn verfehlt, hat zu teuer gekauft oder zu hoch gehebelt.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Deal-Phase entscheidet über den Einstand – und der Einstand ist die Messlatte für jede spätere Rendite. Diese sechs Aussagen fassen die Mechaniken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Wert des Eigenkapitals ist EBITDA mal Multiple minus Nettoverschuldung. Daraus folgen genau drei Hebel: EBITDA steigern, Multiple erhöhen, Schulden abbauen. Die Grafik rechts zeigt, wie unterschiedlich 1.256 realisierte Deals der Simulation ausgingen: Median 1,9×, aber jeder sechste Deal verliert Geld.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durchläuft jede Beteiligung dieselbe Rechnung (stepCompany). Wachstum und Marge laufen auf Zielwerte zu, die von Sektor, Drift und Reifegraden abhängen. Daraus entsteht der Free Cashflow, der die Schulden tilgt. Die Financial Statements im Spiel zeigen genau diese Zahlen als GuV, Bilanz und Cashflow.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Reifegrade von 0 bis 5; Stufe 2 ist Branchenniveau. Frisch gekaufte Unternehmen starten meist darunter. Die wichtigste Regel: Growth wirkt nur so weit, wie People und Performance es tragen. Wer nur auf Wachstum setzt, überdehnt die Organisation – das kostet Marge und Qualität. Oberhalb der Benchmark verfallen Reifegrade, solange kein Programm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Performance-Programme treibt der CFO, Growth-Programme die Fachrolle. Je Beteiligung läuft ein Programm pro Dimension parallel. Der Ertrag hängt am konkreten Defizit: Cost-out lohnt nur, wenn die Marge unter Branchenniveau liegt. Die Erfolgsquote hängt am effektiven Rating – und an der Risikoklasse: Verlässliche Maßnahmen liefern im Fehlschlag noch 35 %, Transformationen und Markteintritte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Schlüsselpositionen: CEO, CFO und eine sektorspezifische Fachrolle. Das effektive Rating entscheidet über Erfolg und Tempo der Maßnahmen. Eine Fachkraft kann den CEO nicht beliebig überholen: A-Player berichten nicht an C-Player. Wechsel kosten Retainer, Signing Bonus und Abfindung – und eine offene Position spart nichts, denn Interim ist 25 % teurer.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MEP gibt dem Management 6 % Sweet Equity an jedem Rückfluss – beim Exit, beim Teilexit und beim Cash Sweep. Dafür steigt das effektive Rating um 0,5, und das Abwerberisiko sinkt. Die Bindung hängt am Wert des Pakets: Steht es tief im Geld, geht niemand; liegt es unter Einstand, verpufft die Wirkung.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Zukauf erteilt der Spieler ein Mandat: Wie groß soll das Ziel sein, und bis zu welchem Multiple darf geboten werden? Kleine Ziele sind billiger – das ist die Multiple-Arbitrage des Buy-and-Build. Aber: Ein großer Bissen ist schwer zu verdauen, und wer unter der Preisvorstellung bleibt, bekommt nicht denselben Zukauf billiger, sondern einen schlechteren. Die Heatmap zeigt das Scheiterungsrisiko für eine Referenzplattform.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Bewertungsmultiple einer Beteiligung wird jedes Halbjahr neu berechnet. Drei Faktoren wirken multiplikativ: der Markt des Sektors, die Qualität des Assets und eine Wachstumsprämie für realisiertes Wachstum über dem Sektor. Qualität ist dabei ein Bestandskonto, das jedes Halbjahr durch Performance, People und Finanzierung bewegt wird. Das Beispiel rechts: 12,4× beim Einstieg, 19,6× nach vier Jahren.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je Halbjahr eine Chance von 10 % auf ein Sonderereignis. Die meisten sind negativ, einige positiv. Ein Fonds mit mindestens 4 Punkten in der passenden Fähigkeit wehrt die Hälfte ab. Das größte Risiko ist aber hausgemacht: Wer zu hoch hebelt und dann ein Ereignis oder einen Abschwung erlebt, reißt den Covenant. Die Equity Cure rettet die Beteiligung – auf Kosten eines höheren Einstands.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im echten Portfolio-Review bewertet das Spiel jede Beteiligung nach festen Kriterien und zeigt den wichtigsten Befund als Etikett. Ab Gewicht 55 heißt es 'Needs Attention'. Die Detailansicht vergleicht Umsatz, EBITDA und Marge seit Einstieg und zerlegt den Wertbeitrag in EBITDA, Multiple und Entschuldung.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Value Creation ist der Teil, den der Spieler am stärksten steuert – und der im Mittel den größten Beitrag zur Rendite liefert.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Halten ist nicht kostenlos. Ab vier Jahren Haltedauer sinkt das Multiple um 2 % je Halbjahr, weil Käufer wissen, dass die naheliegenden Hebel gezogen sind. In den letzten zwei Jahren der Fondslaufzeit kommt der Endfälligkeitsdruck dazu. Und was bis Halbjahr 20 nicht verkauft ist, wird zwangsweise 2,6 Turns unter Bewertung verwertet. Dazu kommt der IRR: Jedes Halbjahr länger drückt die Verzinsung.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Routen unterscheiden sich in Preis, Tempo, Sicherheit und Anteil. Die Auktion bringt meist den besten Preis, dauert aber zwei Halbjahre. Der bilaterale Verkauf ist sofort, kostet aber einen halben Turn. Continuation Vehicle und Börsengang sind Teilexits: Man realisiert einen Teil und bleibt an der weiteren Entwicklung beteiligt. Höchstens drei Verkaufsprozesse laufen gleichzeitig.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Ende eines Verkaufsprozesses liegen Gebote von bis zu drei Käufertypen vor. Der Stratege zahlt am meisten, wenn er Synergien sieht, hat aber ein Vollzugsrisiko wegen der Fusionskontrolle. Ein anderer Fonds bietet über ein Secondary Buyout. Das Family Office zahlt am wenigsten, vollzieht aber sicher. Die Wahl ist ein klassischer Trade-off zwischen Preis und 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Zahlen stammen aus einer gespielten Partie: Ein Stratege bietet 20,0× auf 15,6 Mio. € EBITDA. Vom Enterprise Value gehen die Nettoverschuldung und die Transaktionskosten ab – hätte das Management ein MEP, zusätzlich 6 %. Übrig bleiben 299 Mio. € für den Fonds, bei einem Einsatz von 97,5 Mio. € ein MOIC von 3,07×. Rechts die Value Bridge des Deals, wie das Spiel sie nach dem Exit zeigt.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den letzten Halbjahren zeigt der NAV eine Bewertung, die niemand mehr bezahlt – denn am Laufzeitende muss verkauft werden, und die Käufer wissen das. Die Kopfzeile zeigt deshalb ab Halbjahr 16 zusätzlich, was ohne weiteren Exit bliebe. Im Beispiel: 1,88× TVPI auf dem Papier, aber nur 1,49× nach Zwangsverwertung. Wer das ignoriert, verschenkt fast 0,4× TVPI.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Exit entscheidet, wie viel des geschaffenen Werts tatsächlich beim Investor ankommt – und wann.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Matrix fasst zusammen, wo die zwölf Profilpunkte in der Engine wirken. Es gibt keine dominante Verteilung: Jede Fähigkeit hilft in einer Phase und fehlt in einer anderen. Eine gute Übung für Studierende: Eine Strategie formulieren und daraus das passende Profil ableiten.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Modell vereinfacht. PE Leagues tut es bewusst und dokumentiert, wo – im Dokument docs/reality-checks.md sind 24 Prüfungen durch einen Praktiker festgehalten. Für die Diskussion mit Studierenden eignet sich die Frage: Welche dieser Vereinfachungen würde das Ergebnis am stärksten verändern?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Werte stehen in lib/engine/engine.ts. Wer mit dem Spiel experimentieren oder eigene Übungsaufgaben stellen will, findet hier die wichtigsten Stellschrauben auf einen 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image" Target="../media/image-11-1.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1.png"/><Relationship Id="rId3" Type="http://schemas.openxmlformats.org/officeDocument/2006/relationships/image" Target="../media/image-39-1.png"/><Relationship Id="rId4" Type="http://schemas.openxmlformats.org/officeDocument/2006/relationships/image" Target="../media/image-39-1.png"/><Relationship Id="rId5" Type="http://schemas.openxmlformats.org/officeDocument/2006/relationships/image" Target="../media/image-39-1.png"/><Relationship Id="rId6" Type="http://schemas.openxmlformats.org/officeDocument/2006/relationships/image" Target="../media/image-39-1.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4"/>
        </a:solidFill>
      </p:bgPr>
    </p:bg>
    <p:spTree>
      <p:nvGrpSpPr>
        <p:cNvPr id="1" name=""/>
        <p:cNvGrpSpPr/>
        <p:nvPr/>
      </p:nvGrpSpPr>
      <p:grpSpPr>
        <a:xfrm>
          <a:off x="0" y="0"/>
          <a:ext cx="0" cy="0"/>
          <a:chOff x="0" y="0"/>
          <a:chExt cx="0" cy="0"/>
        </a:xfrm>
      </p:grpSpPr>
      <p:sp>
        <p:nvSpPr>
          <p:cNvPr id="2" name="Shape 0"/>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3" name="Text 1"/>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4" name="Text 2"/>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5" name="Text 3"/>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a:t>
            </a:r>
            <a:endParaRPr lang="en-US" sz="900" dirty="0"/>
          </a:p>
        </p:txBody>
      </p:sp>
      <p:pic>
        <p:nvPicPr>
          <p:cNvPr id="7" name="Image 0" descr="/tmp/claude-0/deck/img/logo.png">    </p:cNvPr>
          <p:cNvPicPr>
            <a:picLocks noChangeAspect="1"/>
          </p:cNvPicPr>
          <p:nvPr/>
        </p:nvPicPr>
        <p:blipFill>
          <a:blip r:embed="rId1"/>
          <a:stretch>
            <a:fillRect/>
          </a:stretch>
        </p:blipFill>
        <p:spPr>
          <a:xfrm>
            <a:off x="502920" y="1234440"/>
            <a:ext cx="1005840" cy="1005840"/>
          </a:xfrm>
          <a:prstGeom prst="rect">
            <a:avLst/>
          </a:prstGeom>
        </p:spPr>
      </p:pic>
      <p:sp>
        <p:nvSpPr>
          <p:cNvPr id="8" name="Text 4"/>
          <p:cNvSpPr txBox="1"/>
          <p:nvPr/>
        </p:nvSpPr>
        <p:spPr>
          <a:xfrm>
            <a:off x="1737360" y="1417320"/>
            <a:ext cx="5486400" cy="365760"/>
          </a:xfrm>
          <a:prstGeom prst="rect">
            <a:avLst/>
          </a:prstGeom>
          <a:noFill/>
          <a:ln/>
        </p:spPr>
        <p:txBody>
          <a:bodyPr wrap="square" lIns="0" tIns="0" rIns="0" bIns="0" rtlCol="0" anchor="t"/>
          <a:lstStyle/>
          <a:p>
            <a:pPr algn="l" indent="0" marL="0">
              <a:buNone/>
            </a:pPr>
            <a:r>
              <a:rPr lang="en-US" sz="1600" b="1" spc="400" kern="0" dirty="0">
                <a:solidFill>
                  <a:srgbClr val="DCB264"/>
                </a:solidFill>
                <a:latin typeface="Calibri" pitchFamily="34" charset="0"/>
                <a:ea typeface="Calibri" pitchFamily="34" charset="-122"/>
                <a:cs typeface="Calibri" pitchFamily="34" charset="-120"/>
              </a:rPr>
              <a:t>PE LEAGUES</a:t>
            </a:r>
            <a:endParaRPr lang="en-US" sz="1600" dirty="0"/>
          </a:p>
        </p:txBody>
      </p:sp>
      <p:sp>
        <p:nvSpPr>
          <p:cNvPr id="9" name="Text 5"/>
          <p:cNvSpPr txBox="1"/>
          <p:nvPr/>
        </p:nvSpPr>
        <p:spPr>
          <a:xfrm>
            <a:off x="502920" y="2514600"/>
            <a:ext cx="7498080" cy="1737360"/>
          </a:xfrm>
          <a:prstGeom prst="rect">
            <a:avLst/>
          </a:prstGeom>
          <a:noFill/>
          <a:ln/>
        </p:spPr>
        <p:txBody>
          <a:bodyPr wrap="square" lIns="0" tIns="0" rIns="0" bIns="0" rtlCol="0" anchor="t"/>
          <a:lstStyle/>
          <a:p>
            <a:pPr algn="l" indent="0" marL="0">
              <a:buNone/>
            </a:pPr>
            <a:r>
              <a:rPr lang="en-US" sz="4600" b="1" dirty="0">
                <a:solidFill>
                  <a:srgbClr val="EDF1EE"/>
                </a:solidFill>
                <a:latin typeface="Calibri" pitchFamily="34" charset="0"/>
                <a:ea typeface="Calibri" pitchFamily="34" charset="-122"/>
                <a:cs typeface="Calibri" pitchFamily="34" charset="-120"/>
              </a:rPr>
              <a:t>Wie Private Equity</a:t>
            </a:r>
            <a:endParaRPr lang="en-US" sz="4600" dirty="0"/>
          </a:p>
          <a:p>
            <a:pPr algn="l" indent="0" marL="0">
              <a:buNone/>
            </a:pPr>
            <a:r>
              <a:rPr lang="en-US" sz="4600" b="1" dirty="0">
                <a:solidFill>
                  <a:srgbClr val="EDF1EE"/>
                </a:solidFill>
                <a:latin typeface="Calibri" pitchFamily="34" charset="0"/>
                <a:ea typeface="Calibri" pitchFamily="34" charset="-122"/>
                <a:cs typeface="Calibri" pitchFamily="34" charset="-120"/>
              </a:rPr>
              <a:t>in der Engine funktioniert</a:t>
            </a:r>
            <a:endParaRPr lang="en-US" sz="4600" dirty="0"/>
          </a:p>
        </p:txBody>
      </p:sp>
      <p:sp>
        <p:nvSpPr>
          <p:cNvPr id="10" name="Text 6"/>
          <p:cNvSpPr txBox="1"/>
          <p:nvPr/>
        </p:nvSpPr>
        <p:spPr>
          <a:xfrm>
            <a:off x="502920" y="4343400"/>
            <a:ext cx="7498080" cy="457200"/>
          </a:xfrm>
          <a:prstGeom prst="rect">
            <a:avLst/>
          </a:prstGeom>
          <a:noFill/>
          <a:ln/>
        </p:spPr>
        <p:txBody>
          <a:bodyPr wrap="square" lIns="0" tIns="0" rIns="0" bIns="0" rtlCol="0" anchor="t"/>
          <a:lstStyle/>
          <a:p>
            <a:pPr algn="l" indent="0" marL="0">
              <a:buNone/>
            </a:pPr>
            <a:r>
              <a:rPr lang="en-US" sz="1800" dirty="0">
                <a:solidFill>
                  <a:srgbClr val="8E9C9B"/>
                </a:solidFill>
                <a:latin typeface="Calibri" pitchFamily="34" charset="0"/>
                <a:ea typeface="Calibri" pitchFamily="34" charset="-122"/>
                <a:cs typeface="Calibri" pitchFamily="34" charset="-120"/>
              </a:rPr>
              <a:t>Fund Return · Deal Selection · Value Creation · Exit — und die Parameter dahinter</a:t>
            </a:r>
            <a:endParaRPr lang="en-US" sz="1800" dirty="0"/>
          </a:p>
        </p:txBody>
      </p:sp>
      <p:sp>
        <p:nvSpPr>
          <p:cNvPr id="11" name="Text 7"/>
          <p:cNvSpPr txBox="1"/>
          <p:nvPr/>
        </p:nvSpPr>
        <p:spPr>
          <a:xfrm>
            <a:off x="502920" y="5074920"/>
            <a:ext cx="7315200" cy="36576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Lehrmaterial für Studierende und Berufseinsteiger</a:t>
            </a:r>
            <a:endParaRPr lang="en-US" sz="1400" dirty="0"/>
          </a:p>
        </p:txBody>
      </p:sp>
      <p:sp>
        <p:nvSpPr>
          <p:cNvPr id="12" name="Shape 8"/>
          <p:cNvSpPr/>
          <p:nvPr/>
        </p:nvSpPr>
        <p:spPr>
          <a:xfrm>
            <a:off x="8458200" y="1828800"/>
            <a:ext cx="1481328" cy="1481328"/>
          </a:xfrm>
          <a:prstGeom prst="roundRect">
            <a:avLst>
              <a:gd name="adj" fmla="val 4938"/>
            </a:avLst>
          </a:prstGeom>
          <a:solidFill>
            <a:srgbClr val="161F22"/>
          </a:solidFill>
          <a:ln w="12700">
            <a:solidFill>
              <a:srgbClr val="DCB264"/>
            </a:solidFill>
            <a:prstDash val="solid"/>
          </a:ln>
        </p:spPr>
      </p:sp>
      <p:pic>
        <p:nvPicPr>
          <p:cNvPr id="13" name="Image 1" descr="/tmp/claude-0/deck/img/i_fund_gold.png">    </p:cNvPr>
          <p:cNvPicPr>
            <a:picLocks noChangeAspect="1"/>
          </p:cNvPicPr>
          <p:nvPr/>
        </p:nvPicPr>
        <p:blipFill>
          <a:blip r:embed="rId2"/>
          <a:stretch>
            <a:fillRect/>
          </a:stretch>
        </p:blipFill>
        <p:spPr>
          <a:xfrm>
            <a:off x="8970264" y="2103120"/>
            <a:ext cx="457200" cy="457200"/>
          </a:xfrm>
          <a:prstGeom prst="rect">
            <a:avLst/>
          </a:prstGeom>
        </p:spPr>
      </p:pic>
      <p:sp>
        <p:nvSpPr>
          <p:cNvPr id="14" name="Text 9"/>
          <p:cNvSpPr txBox="1"/>
          <p:nvPr/>
        </p:nvSpPr>
        <p:spPr>
          <a:xfrm>
            <a:off x="8458200" y="2606040"/>
            <a:ext cx="1481328" cy="274320"/>
          </a:xfrm>
          <a:prstGeom prst="rect">
            <a:avLst/>
          </a:prstGeom>
          <a:noFill/>
          <a:ln/>
        </p:spPr>
        <p:txBody>
          <a:bodyPr wrap="square" lIns="0" tIns="0" rIns="0" bIns="0" rtlCol="0" anchor="t"/>
          <a:lstStyle/>
          <a:p>
            <a:pPr algn="ctr" indent="0" marL="0">
              <a:buNone/>
            </a:pPr>
            <a:r>
              <a:rPr lang="en-US" sz="1300" b="1" dirty="0">
                <a:solidFill>
                  <a:srgbClr val="DCB264"/>
                </a:solidFill>
                <a:latin typeface="Calibri" pitchFamily="34" charset="0"/>
                <a:ea typeface="Calibri" pitchFamily="34" charset="-122"/>
                <a:cs typeface="Calibri" pitchFamily="34" charset="-120"/>
              </a:rPr>
              <a:t>A</a:t>
            </a:r>
            <a:endParaRPr lang="en-US" sz="1300" dirty="0"/>
          </a:p>
        </p:txBody>
      </p:sp>
      <p:sp>
        <p:nvSpPr>
          <p:cNvPr id="15" name="Text 10"/>
          <p:cNvSpPr txBox="1"/>
          <p:nvPr/>
        </p:nvSpPr>
        <p:spPr>
          <a:xfrm>
            <a:off x="845820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Fund Return</a:t>
            </a:r>
            <a:endParaRPr lang="en-US" sz="1100" dirty="0"/>
          </a:p>
        </p:txBody>
      </p:sp>
      <p:sp>
        <p:nvSpPr>
          <p:cNvPr id="16" name="Shape 11"/>
          <p:cNvSpPr/>
          <p:nvPr/>
        </p:nvSpPr>
        <p:spPr>
          <a:xfrm>
            <a:off x="10104120" y="1828800"/>
            <a:ext cx="1481328" cy="1481328"/>
          </a:xfrm>
          <a:prstGeom prst="roundRect">
            <a:avLst>
              <a:gd name="adj" fmla="val 4938"/>
            </a:avLst>
          </a:prstGeom>
          <a:solidFill>
            <a:srgbClr val="161F22"/>
          </a:solidFill>
          <a:ln w="12700">
            <a:solidFill>
              <a:srgbClr val="3B82F6"/>
            </a:solidFill>
            <a:prstDash val="solid"/>
          </a:ln>
        </p:spPr>
      </p:sp>
      <p:pic>
        <p:nvPicPr>
          <p:cNvPr id="17" name="Image 2" descr="/tmp/claude-0/deck/img/i_deal_blue.png">    </p:cNvPr>
          <p:cNvPicPr>
            <a:picLocks noChangeAspect="1"/>
          </p:cNvPicPr>
          <p:nvPr/>
        </p:nvPicPr>
        <p:blipFill>
          <a:blip r:embed="rId3"/>
          <a:stretch>
            <a:fillRect/>
          </a:stretch>
        </p:blipFill>
        <p:spPr>
          <a:xfrm>
            <a:off x="10616184" y="2103120"/>
            <a:ext cx="457200" cy="457200"/>
          </a:xfrm>
          <a:prstGeom prst="rect">
            <a:avLst/>
          </a:prstGeom>
        </p:spPr>
      </p:pic>
      <p:sp>
        <p:nvSpPr>
          <p:cNvPr id="18" name="Text 12"/>
          <p:cNvSpPr txBox="1"/>
          <p:nvPr/>
        </p:nvSpPr>
        <p:spPr>
          <a:xfrm>
            <a:off x="10104120" y="2606040"/>
            <a:ext cx="1481328" cy="274320"/>
          </a:xfrm>
          <a:prstGeom prst="rect">
            <a:avLst/>
          </a:prstGeom>
          <a:noFill/>
          <a:ln/>
        </p:spPr>
        <p:txBody>
          <a:bodyPr wrap="square" lIns="0" tIns="0" rIns="0" bIns="0" rtlCol="0" anchor="t"/>
          <a:lstStyle/>
          <a:p>
            <a:pPr algn="ctr" indent="0" marL="0">
              <a:buNone/>
            </a:pPr>
            <a:r>
              <a:rPr lang="en-US" sz="1300" b="1" dirty="0">
                <a:solidFill>
                  <a:srgbClr val="3B82F6"/>
                </a:solidFill>
                <a:latin typeface="Calibri" pitchFamily="34" charset="0"/>
                <a:ea typeface="Calibri" pitchFamily="34" charset="-122"/>
                <a:cs typeface="Calibri" pitchFamily="34" charset="-120"/>
              </a:rPr>
              <a:t>B</a:t>
            </a:r>
            <a:endParaRPr lang="en-US" sz="1300" dirty="0"/>
          </a:p>
        </p:txBody>
      </p:sp>
      <p:sp>
        <p:nvSpPr>
          <p:cNvPr id="19" name="Text 13"/>
          <p:cNvSpPr txBox="1"/>
          <p:nvPr/>
        </p:nvSpPr>
        <p:spPr>
          <a:xfrm>
            <a:off x="1010412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Deal Selection</a:t>
            </a:r>
            <a:endParaRPr lang="en-US" sz="1100" dirty="0"/>
          </a:p>
        </p:txBody>
      </p:sp>
      <p:sp>
        <p:nvSpPr>
          <p:cNvPr id="20" name="Shape 14"/>
          <p:cNvSpPr/>
          <p:nvPr/>
        </p:nvSpPr>
        <p:spPr>
          <a:xfrm>
            <a:off x="8458200" y="3474720"/>
            <a:ext cx="1481328" cy="1481328"/>
          </a:xfrm>
          <a:prstGeom prst="roundRect">
            <a:avLst>
              <a:gd name="adj" fmla="val 4938"/>
            </a:avLst>
          </a:prstGeom>
          <a:solidFill>
            <a:srgbClr val="161F22"/>
          </a:solidFill>
          <a:ln w="12700">
            <a:solidFill>
              <a:srgbClr val="5FC4B1"/>
            </a:solidFill>
            <a:prstDash val="solid"/>
          </a:ln>
        </p:spPr>
      </p:sp>
      <p:pic>
        <p:nvPicPr>
          <p:cNvPr id="21" name="Image 3" descr="/tmp/claude-0/deck/img/i_vc_teal.png">    </p:cNvPr>
          <p:cNvPicPr>
            <a:picLocks noChangeAspect="1"/>
          </p:cNvPicPr>
          <p:nvPr/>
        </p:nvPicPr>
        <p:blipFill>
          <a:blip r:embed="rId4"/>
          <a:stretch>
            <a:fillRect/>
          </a:stretch>
        </p:blipFill>
        <p:spPr>
          <a:xfrm>
            <a:off x="8970264" y="3749040"/>
            <a:ext cx="457200" cy="457200"/>
          </a:xfrm>
          <a:prstGeom prst="rect">
            <a:avLst/>
          </a:prstGeom>
        </p:spPr>
      </p:pic>
      <p:sp>
        <p:nvSpPr>
          <p:cNvPr id="22" name="Text 15"/>
          <p:cNvSpPr txBox="1"/>
          <p:nvPr/>
        </p:nvSpPr>
        <p:spPr>
          <a:xfrm>
            <a:off x="8458200" y="4251960"/>
            <a:ext cx="1481328" cy="274320"/>
          </a:xfrm>
          <a:prstGeom prst="rect">
            <a:avLst/>
          </a:prstGeom>
          <a:noFill/>
          <a:ln/>
        </p:spPr>
        <p:txBody>
          <a:bodyPr wrap="square" lIns="0" tIns="0" rIns="0" bIns="0" rtlCol="0" anchor="t"/>
          <a:lstStyle/>
          <a:p>
            <a:pPr algn="ctr" indent="0" marL="0">
              <a:buNone/>
            </a:pPr>
            <a:r>
              <a:rPr lang="en-US" sz="1300" b="1" dirty="0">
                <a:solidFill>
                  <a:srgbClr val="5FC4B1"/>
                </a:solidFill>
                <a:latin typeface="Calibri" pitchFamily="34" charset="0"/>
                <a:ea typeface="Calibri" pitchFamily="34" charset="-122"/>
                <a:cs typeface="Calibri" pitchFamily="34" charset="-120"/>
              </a:rPr>
              <a:t>C</a:t>
            </a:r>
            <a:endParaRPr lang="en-US" sz="1300" dirty="0"/>
          </a:p>
        </p:txBody>
      </p:sp>
      <p:sp>
        <p:nvSpPr>
          <p:cNvPr id="23" name="Text 16"/>
          <p:cNvSpPr txBox="1"/>
          <p:nvPr/>
        </p:nvSpPr>
        <p:spPr>
          <a:xfrm>
            <a:off x="845820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Value Creation</a:t>
            </a:r>
            <a:endParaRPr lang="en-US" sz="1100" dirty="0"/>
          </a:p>
        </p:txBody>
      </p:sp>
      <p:sp>
        <p:nvSpPr>
          <p:cNvPr id="24" name="Shape 17"/>
          <p:cNvSpPr/>
          <p:nvPr/>
        </p:nvSpPr>
        <p:spPr>
          <a:xfrm>
            <a:off x="10104120" y="3474720"/>
            <a:ext cx="1481328" cy="1481328"/>
          </a:xfrm>
          <a:prstGeom prst="roundRect">
            <a:avLst>
              <a:gd name="adj" fmla="val 4938"/>
            </a:avLst>
          </a:prstGeom>
          <a:solidFill>
            <a:srgbClr val="161F22"/>
          </a:solidFill>
          <a:ln w="12700">
            <a:solidFill>
              <a:srgbClr val="D9538E"/>
            </a:solidFill>
            <a:prstDash val="solid"/>
          </a:ln>
        </p:spPr>
      </p:sp>
      <p:pic>
        <p:nvPicPr>
          <p:cNvPr id="25" name="Image 4" descr="/tmp/claude-0/deck/img/i_exit_rose.png">    </p:cNvPr>
          <p:cNvPicPr>
            <a:picLocks noChangeAspect="1"/>
          </p:cNvPicPr>
          <p:nvPr/>
        </p:nvPicPr>
        <p:blipFill>
          <a:blip r:embed="rId5"/>
          <a:stretch>
            <a:fillRect/>
          </a:stretch>
        </p:blipFill>
        <p:spPr>
          <a:xfrm>
            <a:off x="10616184" y="3749040"/>
            <a:ext cx="457200" cy="457200"/>
          </a:xfrm>
          <a:prstGeom prst="rect">
            <a:avLst/>
          </a:prstGeom>
        </p:spPr>
      </p:pic>
      <p:sp>
        <p:nvSpPr>
          <p:cNvPr id="26" name="Text 18"/>
          <p:cNvSpPr txBox="1"/>
          <p:nvPr/>
        </p:nvSpPr>
        <p:spPr>
          <a:xfrm>
            <a:off x="10104120" y="4251960"/>
            <a:ext cx="1481328" cy="274320"/>
          </a:xfrm>
          <a:prstGeom prst="rect">
            <a:avLst/>
          </a:prstGeom>
          <a:noFill/>
          <a:ln/>
        </p:spPr>
        <p:txBody>
          <a:bodyPr wrap="square" lIns="0" tIns="0" rIns="0" bIns="0" rtlCol="0" anchor="t"/>
          <a:lstStyle/>
          <a:p>
            <a:pPr algn="ctr" indent="0" marL="0">
              <a:buNone/>
            </a:pPr>
            <a:r>
              <a:rPr lang="en-US" sz="1300" b="1" dirty="0">
                <a:solidFill>
                  <a:srgbClr val="D9538E"/>
                </a:solidFill>
                <a:latin typeface="Calibri" pitchFamily="34" charset="0"/>
                <a:ea typeface="Calibri" pitchFamily="34" charset="-122"/>
                <a:cs typeface="Calibri" pitchFamily="34" charset="-120"/>
              </a:rPr>
              <a:t>D</a:t>
            </a:r>
            <a:endParaRPr lang="en-US" sz="1300" dirty="0"/>
          </a:p>
        </p:txBody>
      </p:sp>
      <p:sp>
        <p:nvSpPr>
          <p:cNvPr id="27" name="Text 19"/>
          <p:cNvSpPr txBox="1"/>
          <p:nvPr/>
        </p:nvSpPr>
        <p:spPr>
          <a:xfrm>
            <a:off x="1010412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Exit</a:t>
            </a:r>
            <a:endParaRPr lang="en-US" sz="1100" dirty="0"/>
          </a:p>
        </p:txBody>
      </p:sp>
      <p:sp>
        <p:nvSpPr>
          <p:cNvPr id="28" name="Text 20"/>
          <p:cNvSpPr txBox="1"/>
          <p:nvPr/>
        </p:nvSpPr>
        <p:spPr>
          <a:xfrm>
            <a:off x="8458200" y="5257800"/>
            <a:ext cx="3200400" cy="457200"/>
          </a:xfrm>
          <a:prstGeom prst="rect">
            <a:avLst/>
          </a:prstGeom>
          <a:noFill/>
          <a:ln/>
        </p:spPr>
        <p:txBody>
          <a:bodyPr wrap="square" lIns="0" tIns="0" rIns="0" bIns="0" rtlCol="0" anchor="t"/>
          <a:lstStyle/>
          <a:p>
            <a:pPr algn="ctr" indent="0" marL="0">
              <a:buNone/>
            </a:pPr>
            <a:r>
              <a:rPr lang="en-US" sz="1050" i="1" dirty="0">
                <a:solidFill>
                  <a:srgbClr val="8E9C9B"/>
                </a:solidFill>
                <a:latin typeface="Calibri" pitchFamily="34" charset="0"/>
                <a:ea typeface="Calibri" pitchFamily="34" charset="-122"/>
                <a:cs typeface="Calibri" pitchFamily="34" charset="-120"/>
              </a:rPr>
              <a:t>500 Mio. € Commitment. Invest. Build. Exit. Outperform.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ÜBERBLICK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Lernziele und Agenda</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a:t>
            </a:r>
            <a:endParaRPr lang="en-US" sz="900" dirty="0"/>
          </a:p>
        </p:txBody>
      </p:sp>
      <p:sp>
        <p:nvSpPr>
          <p:cNvPr id="9" name="Text 6"/>
          <p:cNvSpPr txBox="1"/>
          <p:nvPr/>
        </p:nvSpPr>
        <p:spPr>
          <a:xfrm>
            <a:off x="50292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NACH DIESER EINHEIT KANNST DU …</a:t>
            </a:r>
            <a:endParaRPr lang="en-US" sz="1000" dirty="0"/>
          </a:p>
        </p:txBody>
      </p:sp>
      <p:sp>
        <p:nvSpPr>
          <p:cNvPr id="10" name="Text 7"/>
          <p:cNvSpPr txBox="1"/>
          <p:nvPr/>
        </p:nvSpPr>
        <p:spPr>
          <a:xfrm>
            <a:off x="502920" y="1920240"/>
            <a:ext cx="5120640" cy="384048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erklären, </a:t>
            </a:r>
            <a:pPr indent="0" marL="0">
              <a:buNone/>
            </a:pPr>
            <a:r>
              <a:rPr lang="en-US" sz="1500" dirty="0">
                <a:solidFill>
                  <a:srgbClr val="EDF1EE"/>
                </a:solidFill>
                <a:latin typeface="Calibri" pitchFamily="34" charset="0"/>
                <a:ea typeface="Calibri" pitchFamily="34" charset="-122"/>
                <a:cs typeface="Calibri" pitchFamily="34" charset="-120"/>
              </a:rPr>
              <a:t>wie TVPI, IRR, DPI und Carry zusammenhängen und warum ein Fonds beide Kennzahlen braucht.</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begründen, </a:t>
            </a:r>
            <a:pPr indent="0" marL="0">
              <a:buNone/>
            </a:pPr>
            <a:r>
              <a:rPr lang="en-US" sz="1500" dirty="0">
                <a:solidFill>
                  <a:srgbClr val="EDF1EE"/>
                </a:solidFill>
                <a:latin typeface="Calibri" pitchFamily="34" charset="0"/>
                <a:ea typeface="Calibri" pitchFamily="34" charset="-122"/>
                <a:cs typeface="Calibri" pitchFamily="34" charset="-120"/>
              </a:rPr>
              <a:t>warum Preis, Leverage und Due Diligence über die Rendite eines Deals mitentscheiden.</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zerlegen, </a:t>
            </a:r>
            <a:pPr indent="0" marL="0">
              <a:buNone/>
            </a:pPr>
            <a:r>
              <a:rPr lang="en-US" sz="1500" dirty="0">
                <a:solidFill>
                  <a:srgbClr val="EDF1EE"/>
                </a:solidFill>
                <a:latin typeface="Calibri" pitchFamily="34" charset="0"/>
                <a:ea typeface="Calibri" pitchFamily="34" charset="-122"/>
                <a:cs typeface="Calibri" pitchFamily="34" charset="-120"/>
              </a:rPr>
              <a:t>woher Wert entsteht: EBITDA-Wachstum, Multiple-Veränderung und Entschuldung.</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abwägen, </a:t>
            </a:r>
            <a:pPr indent="0" marL="0">
              <a:buNone/>
            </a:pPr>
            <a:r>
              <a:rPr lang="en-US" sz="1500" dirty="0">
                <a:solidFill>
                  <a:srgbClr val="EDF1EE"/>
                </a:solidFill>
                <a:latin typeface="Calibri" pitchFamily="34" charset="0"/>
                <a:ea typeface="Calibri" pitchFamily="34" charset="-122"/>
                <a:cs typeface="Calibri" pitchFamily="34" charset="-120"/>
              </a:rPr>
              <a:t>wann und über welchen Weg ein Asset verkauft werden sollte.</a:t>
            </a:r>
            <a:endParaRPr lang="en-US" sz="1500" dirty="0"/>
          </a:p>
        </p:txBody>
      </p:sp>
      <p:sp>
        <p:nvSpPr>
          <p:cNvPr id="11" name="Shape 8"/>
          <p:cNvSpPr/>
          <p:nvPr/>
        </p:nvSpPr>
        <p:spPr>
          <a:xfrm>
            <a:off x="6172200" y="1600200"/>
            <a:ext cx="5513832" cy="786384"/>
          </a:xfrm>
          <a:prstGeom prst="roundRect">
            <a:avLst>
              <a:gd name="adj" fmla="val 9302"/>
            </a:avLst>
          </a:prstGeom>
          <a:solidFill>
            <a:srgbClr val="161F22"/>
          </a:solidFill>
          <a:ln w="9525">
            <a:solidFill>
              <a:srgbClr val="243033"/>
            </a:solidFill>
            <a:prstDash val="solid"/>
          </a:ln>
        </p:spPr>
      </p:sp>
      <p:sp>
        <p:nvSpPr>
          <p:cNvPr id="12" name="Shape 9"/>
          <p:cNvSpPr/>
          <p:nvPr/>
        </p:nvSpPr>
        <p:spPr>
          <a:xfrm>
            <a:off x="6355080" y="1737360"/>
            <a:ext cx="512064" cy="512064"/>
          </a:xfrm>
          <a:prstGeom prst="ellipse">
            <a:avLst/>
          </a:prstGeom>
          <a:solidFill>
            <a:srgbClr val="1C282B"/>
          </a:solidFill>
          <a:ln w="12700">
            <a:solidFill>
              <a:srgbClr val="DCB264"/>
            </a:solidFill>
            <a:prstDash val="solid"/>
          </a:ln>
        </p:spPr>
      </p:sp>
      <p:pic>
        <p:nvPicPr>
          <p:cNvPr id="13" name="Image 0" descr="/tmp/claude-0/deck/img/i_fund_gold.png">    </p:cNvPr>
          <p:cNvPicPr>
            <a:picLocks noChangeAspect="1"/>
          </p:cNvPicPr>
          <p:nvPr/>
        </p:nvPicPr>
        <p:blipFill>
          <a:blip r:embed="rId1"/>
          <a:stretch>
            <a:fillRect/>
          </a:stretch>
        </p:blipFill>
        <p:spPr>
          <a:xfrm>
            <a:off x="6477975" y="1860255"/>
            <a:ext cx="266273" cy="266273"/>
          </a:xfrm>
          <a:prstGeom prst="rect">
            <a:avLst/>
          </a:prstGeom>
        </p:spPr>
      </p:pic>
      <p:sp>
        <p:nvSpPr>
          <p:cNvPr id="14" name="Text 10"/>
          <p:cNvSpPr txBox="1"/>
          <p:nvPr/>
        </p:nvSpPr>
        <p:spPr>
          <a:xfrm>
            <a:off x="7086600" y="1709928"/>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A · Fund Return &amp; Portfolio</a:t>
            </a:r>
            <a:endParaRPr lang="en-US" sz="1600" dirty="0"/>
          </a:p>
        </p:txBody>
      </p:sp>
      <p:sp>
        <p:nvSpPr>
          <p:cNvPr id="15" name="Text 11"/>
          <p:cNvSpPr txBox="1"/>
          <p:nvPr/>
        </p:nvSpPr>
        <p:spPr>
          <a:xfrm>
            <a:off x="7086600" y="2039112"/>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5–12</a:t>
            </a:r>
            <a:endParaRPr lang="en-US" sz="1100" dirty="0"/>
          </a:p>
        </p:txBody>
      </p:sp>
      <p:sp>
        <p:nvSpPr>
          <p:cNvPr id="16" name="Shape 12"/>
          <p:cNvSpPr/>
          <p:nvPr/>
        </p:nvSpPr>
        <p:spPr>
          <a:xfrm>
            <a:off x="11201400" y="1901952"/>
            <a:ext cx="182880" cy="182880"/>
          </a:xfrm>
          <a:prstGeom prst="roundRect">
            <a:avLst>
              <a:gd name="adj" fmla="val 50000"/>
            </a:avLst>
          </a:prstGeom>
          <a:solidFill>
            <a:srgbClr val="DCB264"/>
          </a:solidFill>
          <a:ln/>
        </p:spPr>
      </p:sp>
      <p:sp>
        <p:nvSpPr>
          <p:cNvPr id="17" name="Shape 13"/>
          <p:cNvSpPr/>
          <p:nvPr/>
        </p:nvSpPr>
        <p:spPr>
          <a:xfrm>
            <a:off x="6172200" y="2532888"/>
            <a:ext cx="5513832" cy="786384"/>
          </a:xfrm>
          <a:prstGeom prst="roundRect">
            <a:avLst>
              <a:gd name="adj" fmla="val 9302"/>
            </a:avLst>
          </a:prstGeom>
          <a:solidFill>
            <a:srgbClr val="161F22"/>
          </a:solidFill>
          <a:ln w="9525">
            <a:solidFill>
              <a:srgbClr val="243033"/>
            </a:solidFill>
            <a:prstDash val="solid"/>
          </a:ln>
        </p:spPr>
      </p:sp>
      <p:sp>
        <p:nvSpPr>
          <p:cNvPr id="18" name="Shape 14"/>
          <p:cNvSpPr/>
          <p:nvPr/>
        </p:nvSpPr>
        <p:spPr>
          <a:xfrm>
            <a:off x="6355080" y="2670048"/>
            <a:ext cx="512064" cy="512064"/>
          </a:xfrm>
          <a:prstGeom prst="ellipse">
            <a:avLst/>
          </a:prstGeom>
          <a:solidFill>
            <a:srgbClr val="1C282B"/>
          </a:solidFill>
          <a:ln w="12700">
            <a:solidFill>
              <a:srgbClr val="3B82F6"/>
            </a:solidFill>
            <a:prstDash val="solid"/>
          </a:ln>
        </p:spPr>
      </p:sp>
      <p:pic>
        <p:nvPicPr>
          <p:cNvPr id="19" name="Image 1" descr="/tmp/claude-0/deck/img/i_deal_blue.png">    </p:cNvPr>
          <p:cNvPicPr>
            <a:picLocks noChangeAspect="1"/>
          </p:cNvPicPr>
          <p:nvPr/>
        </p:nvPicPr>
        <p:blipFill>
          <a:blip r:embed="rId2"/>
          <a:stretch>
            <a:fillRect/>
          </a:stretch>
        </p:blipFill>
        <p:spPr>
          <a:xfrm>
            <a:off x="6477975" y="2792943"/>
            <a:ext cx="266273" cy="266273"/>
          </a:xfrm>
          <a:prstGeom prst="rect">
            <a:avLst/>
          </a:prstGeom>
        </p:spPr>
      </p:pic>
      <p:sp>
        <p:nvSpPr>
          <p:cNvPr id="20" name="Text 15"/>
          <p:cNvSpPr txBox="1"/>
          <p:nvPr/>
        </p:nvSpPr>
        <p:spPr>
          <a:xfrm>
            <a:off x="7086600" y="2642616"/>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B · Deal Selection &amp; Execution</a:t>
            </a:r>
            <a:endParaRPr lang="en-US" sz="1600" dirty="0"/>
          </a:p>
        </p:txBody>
      </p:sp>
      <p:sp>
        <p:nvSpPr>
          <p:cNvPr id="21" name="Text 16"/>
          <p:cNvSpPr txBox="1"/>
          <p:nvPr/>
        </p:nvSpPr>
        <p:spPr>
          <a:xfrm>
            <a:off x="7086600" y="2971800"/>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13–20</a:t>
            </a:r>
            <a:endParaRPr lang="en-US" sz="1100" dirty="0"/>
          </a:p>
        </p:txBody>
      </p:sp>
      <p:sp>
        <p:nvSpPr>
          <p:cNvPr id="22" name="Shape 17"/>
          <p:cNvSpPr/>
          <p:nvPr/>
        </p:nvSpPr>
        <p:spPr>
          <a:xfrm>
            <a:off x="11201400" y="2834640"/>
            <a:ext cx="182880" cy="182880"/>
          </a:xfrm>
          <a:prstGeom prst="roundRect">
            <a:avLst>
              <a:gd name="adj" fmla="val 50000"/>
            </a:avLst>
          </a:prstGeom>
          <a:solidFill>
            <a:srgbClr val="3B82F6"/>
          </a:solidFill>
          <a:ln/>
        </p:spPr>
      </p:sp>
      <p:sp>
        <p:nvSpPr>
          <p:cNvPr id="23" name="Shape 18"/>
          <p:cNvSpPr/>
          <p:nvPr/>
        </p:nvSpPr>
        <p:spPr>
          <a:xfrm>
            <a:off x="6172200" y="3465576"/>
            <a:ext cx="5513832" cy="786384"/>
          </a:xfrm>
          <a:prstGeom prst="roundRect">
            <a:avLst>
              <a:gd name="adj" fmla="val 9302"/>
            </a:avLst>
          </a:prstGeom>
          <a:solidFill>
            <a:srgbClr val="161F22"/>
          </a:solidFill>
          <a:ln w="9525">
            <a:solidFill>
              <a:srgbClr val="243033"/>
            </a:solidFill>
            <a:prstDash val="solid"/>
          </a:ln>
        </p:spPr>
      </p:sp>
      <p:sp>
        <p:nvSpPr>
          <p:cNvPr id="24" name="Shape 19"/>
          <p:cNvSpPr/>
          <p:nvPr/>
        </p:nvSpPr>
        <p:spPr>
          <a:xfrm>
            <a:off x="6355080" y="3602736"/>
            <a:ext cx="512064" cy="512064"/>
          </a:xfrm>
          <a:prstGeom prst="ellipse">
            <a:avLst/>
          </a:prstGeom>
          <a:solidFill>
            <a:srgbClr val="1C282B"/>
          </a:solidFill>
          <a:ln w="12700">
            <a:solidFill>
              <a:srgbClr val="5FC4B1"/>
            </a:solidFill>
            <a:prstDash val="solid"/>
          </a:ln>
        </p:spPr>
      </p:sp>
      <p:pic>
        <p:nvPicPr>
          <p:cNvPr id="25" name="Image 2" descr="/tmp/claude-0/deck/img/i_vc_teal.png">    </p:cNvPr>
          <p:cNvPicPr>
            <a:picLocks noChangeAspect="1"/>
          </p:cNvPicPr>
          <p:nvPr/>
        </p:nvPicPr>
        <p:blipFill>
          <a:blip r:embed="rId3"/>
          <a:stretch>
            <a:fillRect/>
          </a:stretch>
        </p:blipFill>
        <p:spPr>
          <a:xfrm>
            <a:off x="6477975" y="3725631"/>
            <a:ext cx="266273" cy="266273"/>
          </a:xfrm>
          <a:prstGeom prst="rect">
            <a:avLst/>
          </a:prstGeom>
        </p:spPr>
      </p:pic>
      <p:sp>
        <p:nvSpPr>
          <p:cNvPr id="26" name="Text 20"/>
          <p:cNvSpPr txBox="1"/>
          <p:nvPr/>
        </p:nvSpPr>
        <p:spPr>
          <a:xfrm>
            <a:off x="7086600" y="3575304"/>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C · Value Creation</a:t>
            </a:r>
            <a:endParaRPr lang="en-US" sz="1600" dirty="0"/>
          </a:p>
        </p:txBody>
      </p:sp>
      <p:sp>
        <p:nvSpPr>
          <p:cNvPr id="27" name="Text 21"/>
          <p:cNvSpPr txBox="1"/>
          <p:nvPr/>
        </p:nvSpPr>
        <p:spPr>
          <a:xfrm>
            <a:off x="7086600" y="3904488"/>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21–31</a:t>
            </a:r>
            <a:endParaRPr lang="en-US" sz="1100" dirty="0"/>
          </a:p>
        </p:txBody>
      </p:sp>
      <p:sp>
        <p:nvSpPr>
          <p:cNvPr id="28" name="Shape 22"/>
          <p:cNvSpPr/>
          <p:nvPr/>
        </p:nvSpPr>
        <p:spPr>
          <a:xfrm>
            <a:off x="11201400" y="3767328"/>
            <a:ext cx="182880" cy="182880"/>
          </a:xfrm>
          <a:prstGeom prst="roundRect">
            <a:avLst>
              <a:gd name="adj" fmla="val 50000"/>
            </a:avLst>
          </a:prstGeom>
          <a:solidFill>
            <a:srgbClr val="5FC4B1"/>
          </a:solidFill>
          <a:ln/>
        </p:spPr>
      </p:sp>
      <p:sp>
        <p:nvSpPr>
          <p:cNvPr id="29" name="Shape 23"/>
          <p:cNvSpPr/>
          <p:nvPr/>
        </p:nvSpPr>
        <p:spPr>
          <a:xfrm>
            <a:off x="6172200" y="4398264"/>
            <a:ext cx="5513832" cy="786384"/>
          </a:xfrm>
          <a:prstGeom prst="roundRect">
            <a:avLst>
              <a:gd name="adj" fmla="val 9302"/>
            </a:avLst>
          </a:prstGeom>
          <a:solidFill>
            <a:srgbClr val="161F22"/>
          </a:solidFill>
          <a:ln w="9525">
            <a:solidFill>
              <a:srgbClr val="243033"/>
            </a:solidFill>
            <a:prstDash val="solid"/>
          </a:ln>
        </p:spPr>
      </p:sp>
      <p:sp>
        <p:nvSpPr>
          <p:cNvPr id="30" name="Shape 24"/>
          <p:cNvSpPr/>
          <p:nvPr/>
        </p:nvSpPr>
        <p:spPr>
          <a:xfrm>
            <a:off x="6355080" y="4535424"/>
            <a:ext cx="512064" cy="512064"/>
          </a:xfrm>
          <a:prstGeom prst="ellipse">
            <a:avLst/>
          </a:prstGeom>
          <a:solidFill>
            <a:srgbClr val="1C282B"/>
          </a:solidFill>
          <a:ln w="12700">
            <a:solidFill>
              <a:srgbClr val="D9538E"/>
            </a:solidFill>
            <a:prstDash val="solid"/>
          </a:ln>
        </p:spPr>
      </p:sp>
      <p:pic>
        <p:nvPicPr>
          <p:cNvPr id="31" name="Image 3" descr="/tmp/claude-0/deck/img/i_exit_rose.png">    </p:cNvPr>
          <p:cNvPicPr>
            <a:picLocks noChangeAspect="1"/>
          </p:cNvPicPr>
          <p:nvPr/>
        </p:nvPicPr>
        <p:blipFill>
          <a:blip r:embed="rId4"/>
          <a:stretch>
            <a:fillRect/>
          </a:stretch>
        </p:blipFill>
        <p:spPr>
          <a:xfrm>
            <a:off x="6477975" y="4658319"/>
            <a:ext cx="266273" cy="266273"/>
          </a:xfrm>
          <a:prstGeom prst="rect">
            <a:avLst/>
          </a:prstGeom>
        </p:spPr>
      </p:pic>
      <p:sp>
        <p:nvSpPr>
          <p:cNvPr id="32" name="Text 25"/>
          <p:cNvSpPr txBox="1"/>
          <p:nvPr/>
        </p:nvSpPr>
        <p:spPr>
          <a:xfrm>
            <a:off x="7086600" y="4507992"/>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D · Exit</a:t>
            </a:r>
            <a:endParaRPr lang="en-US" sz="1600" dirty="0"/>
          </a:p>
        </p:txBody>
      </p:sp>
      <p:sp>
        <p:nvSpPr>
          <p:cNvPr id="33" name="Text 26"/>
          <p:cNvSpPr txBox="1"/>
          <p:nvPr/>
        </p:nvSpPr>
        <p:spPr>
          <a:xfrm>
            <a:off x="7086600" y="4837176"/>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32–37</a:t>
            </a:r>
            <a:endParaRPr lang="en-US" sz="1100" dirty="0"/>
          </a:p>
        </p:txBody>
      </p:sp>
      <p:sp>
        <p:nvSpPr>
          <p:cNvPr id="34" name="Shape 27"/>
          <p:cNvSpPr/>
          <p:nvPr/>
        </p:nvSpPr>
        <p:spPr>
          <a:xfrm>
            <a:off x="11201400" y="4700016"/>
            <a:ext cx="182880" cy="182880"/>
          </a:xfrm>
          <a:prstGeom prst="roundRect">
            <a:avLst>
              <a:gd name="adj" fmla="val 50000"/>
            </a:avLst>
          </a:prstGeom>
          <a:solidFill>
            <a:srgbClr val="D9538E"/>
          </a:solidFill>
          <a:ln/>
        </p:spPr>
      </p:sp>
      <p:sp>
        <p:nvSpPr>
          <p:cNvPr id="35" name="Shape 28"/>
          <p:cNvSpPr/>
          <p:nvPr/>
        </p:nvSpPr>
        <p:spPr>
          <a:xfrm>
            <a:off x="6172200" y="5330952"/>
            <a:ext cx="5513832" cy="786384"/>
          </a:xfrm>
          <a:prstGeom prst="roundRect">
            <a:avLst>
              <a:gd name="adj" fmla="val 9302"/>
            </a:avLst>
          </a:prstGeom>
          <a:solidFill>
            <a:srgbClr val="161F22"/>
          </a:solidFill>
          <a:ln w="9525">
            <a:solidFill>
              <a:srgbClr val="243033"/>
            </a:solidFill>
            <a:prstDash val="solid"/>
          </a:ln>
        </p:spPr>
      </p:sp>
      <p:sp>
        <p:nvSpPr>
          <p:cNvPr id="36" name="Shape 29"/>
          <p:cNvSpPr/>
          <p:nvPr/>
        </p:nvSpPr>
        <p:spPr>
          <a:xfrm>
            <a:off x="6355080" y="5468112"/>
            <a:ext cx="512064" cy="512064"/>
          </a:xfrm>
          <a:prstGeom prst="ellipse">
            <a:avLst/>
          </a:prstGeom>
          <a:solidFill>
            <a:srgbClr val="1C282B"/>
          </a:solidFill>
          <a:ln w="12700">
            <a:solidFill>
              <a:srgbClr val="8E9C9B"/>
            </a:solidFill>
            <a:prstDash val="solid"/>
          </a:ln>
        </p:spPr>
      </p:sp>
      <p:pic>
        <p:nvPicPr>
          <p:cNvPr id="37" name="Image 4" descr="/tmp/claude-0/deck/img/i_sitemap_ink.png">    </p:cNvPr>
          <p:cNvPicPr>
            <a:picLocks noChangeAspect="1"/>
          </p:cNvPicPr>
          <p:nvPr/>
        </p:nvPicPr>
        <p:blipFill>
          <a:blip r:embed="rId5"/>
          <a:stretch>
            <a:fillRect/>
          </a:stretch>
        </p:blipFill>
        <p:spPr>
          <a:xfrm>
            <a:off x="6477975" y="5591007"/>
            <a:ext cx="266273" cy="266273"/>
          </a:xfrm>
          <a:prstGeom prst="rect">
            <a:avLst/>
          </a:prstGeom>
        </p:spPr>
      </p:pic>
      <p:sp>
        <p:nvSpPr>
          <p:cNvPr id="38" name="Text 30"/>
          <p:cNvSpPr txBox="1"/>
          <p:nvPr/>
        </p:nvSpPr>
        <p:spPr>
          <a:xfrm>
            <a:off x="7086600" y="5440680"/>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Synthese, Grenzen, Glossar</a:t>
            </a:r>
            <a:endParaRPr lang="en-US" sz="1600" dirty="0"/>
          </a:p>
        </p:txBody>
      </p:sp>
      <p:sp>
        <p:nvSpPr>
          <p:cNvPr id="39" name="Text 31"/>
          <p:cNvSpPr txBox="1"/>
          <p:nvPr/>
        </p:nvSpPr>
        <p:spPr>
          <a:xfrm>
            <a:off x="7086600" y="5769864"/>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38–40</a:t>
            </a:r>
            <a:endParaRPr lang="en-US" sz="1100" dirty="0"/>
          </a:p>
        </p:txBody>
      </p:sp>
      <p:sp>
        <p:nvSpPr>
          <p:cNvPr id="40" name="Shape 32"/>
          <p:cNvSpPr/>
          <p:nvPr/>
        </p:nvSpPr>
        <p:spPr>
          <a:xfrm>
            <a:off x="11201400" y="5632704"/>
            <a:ext cx="182880" cy="182880"/>
          </a:xfrm>
          <a:prstGeom prst="roundRect">
            <a:avLst>
              <a:gd name="adj" fmla="val 50000"/>
            </a:avLst>
          </a:prstGeom>
          <a:solidFill>
            <a:srgbClr val="8E9C9B"/>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Spiel in einer Folie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a:t>
            </a:r>
            <a:endParaRPr lang="en-US" sz="900" dirty="0"/>
          </a:p>
        </p:txBody>
      </p:sp>
      <p:pic>
        <p:nvPicPr>
          <p:cNvPr id="9" name="Image 0" descr="/tmp/claude-0/deck/img/profile.jpg">    </p:cNvPr>
          <p:cNvPicPr>
            <a:picLocks noChangeAspect="1"/>
          </p:cNvPicPr>
          <p:nvPr/>
        </p:nvPicPr>
        <p:blipFill>
          <a:blip r:embed="rId1"/>
          <a:stretch>
            <a:fillRect/>
          </a:stretch>
        </p:blipFill>
        <p:spPr>
          <a:xfrm>
            <a:off x="8643310" y="1417320"/>
            <a:ext cx="3015290" cy="4754880"/>
          </a:xfrm>
          <a:prstGeom prst="rect">
            <a:avLst/>
          </a:prstGeom>
        </p:spPr>
      </p:pic>
      <p:sp>
        <p:nvSpPr>
          <p:cNvPr id="10" name="Shape 6"/>
          <p:cNvSpPr/>
          <p:nvPr/>
        </p:nvSpPr>
        <p:spPr>
          <a:xfrm>
            <a:off x="8643310" y="1417320"/>
            <a:ext cx="3015290" cy="4754880"/>
          </a:xfrm>
          <a:prstGeom prst="rect">
            <a:avLst/>
          </a:prstGeom>
          <a:ln w="9525">
            <a:solidFill>
              <a:srgbClr val="33474B"/>
            </a:solidFill>
            <a:prstDash val="solid"/>
          </a:ln>
        </p:spPr>
      </p:sp>
      <p:sp>
        <p:nvSpPr>
          <p:cNvPr id="11" name="Text 7"/>
          <p:cNvSpPr txBox="1"/>
          <p:nvPr/>
        </p:nvSpPr>
        <p:spPr>
          <a:xfrm>
            <a:off x="8368990" y="6227064"/>
            <a:ext cx="3563930"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Fondsprofil beim Start einer Partie</a:t>
            </a:r>
            <a:endParaRPr lang="en-US" sz="950" dirty="0"/>
          </a:p>
        </p:txBody>
      </p:sp>
      <p:sp>
        <p:nvSpPr>
          <p:cNvPr id="12" name="Shape 8"/>
          <p:cNvSpPr/>
          <p:nvPr/>
        </p:nvSpPr>
        <p:spPr>
          <a:xfrm>
            <a:off x="502920" y="1554480"/>
            <a:ext cx="3429000" cy="1078992"/>
          </a:xfrm>
          <a:prstGeom prst="roundRect">
            <a:avLst>
              <a:gd name="adj" fmla="val 6780"/>
            </a:avLst>
          </a:prstGeom>
          <a:solidFill>
            <a:srgbClr val="161F22"/>
          </a:solidFill>
          <a:ln w="9525">
            <a:solidFill>
              <a:srgbClr val="243033"/>
            </a:solidFill>
            <a:prstDash val="solid"/>
          </a:ln>
        </p:spPr>
      </p:sp>
      <p:sp>
        <p:nvSpPr>
          <p:cNvPr id="13" name="Text 9"/>
          <p:cNvSpPr txBox="1"/>
          <p:nvPr/>
        </p:nvSpPr>
        <p:spPr>
          <a:xfrm>
            <a:off x="731520" y="1664208"/>
            <a:ext cx="3017520" cy="640080"/>
          </a:xfrm>
          <a:prstGeom prst="rect">
            <a:avLst/>
          </a:prstGeom>
          <a:noFill/>
          <a:ln/>
        </p:spPr>
        <p:txBody>
          <a:bodyPr wrap="square" lIns="0" tIns="0" rIns="0" bIns="0" rtlCol="0" anchor="t"/>
          <a:lstStyle/>
          <a:p>
            <a:pPr algn="l" indent="0" marL="0">
              <a:buNone/>
            </a:pPr>
            <a:r>
              <a:rPr lang="en-US" sz="3400" b="1" dirty="0">
                <a:solidFill>
                  <a:srgbClr val="DCB264"/>
                </a:solidFill>
                <a:latin typeface="Calibri" pitchFamily="34" charset="0"/>
                <a:ea typeface="Calibri" pitchFamily="34" charset="-122"/>
                <a:cs typeface="Calibri" pitchFamily="34" charset="-120"/>
              </a:rPr>
              <a:t>500</a:t>
            </a:r>
            <a:endParaRPr lang="en-US" sz="3400" dirty="0"/>
          </a:p>
        </p:txBody>
      </p:sp>
      <p:sp>
        <p:nvSpPr>
          <p:cNvPr id="14" name="Text 10"/>
          <p:cNvSpPr txBox="1"/>
          <p:nvPr/>
        </p:nvSpPr>
        <p:spPr>
          <a:xfrm>
            <a:off x="731520" y="2231136"/>
            <a:ext cx="3017520" cy="54864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Mio. € Commitment je Fonds</a:t>
            </a:r>
            <a:endParaRPr lang="en-US" sz="1200" dirty="0"/>
          </a:p>
        </p:txBody>
      </p:sp>
      <p:sp>
        <p:nvSpPr>
          <p:cNvPr id="15" name="Shape 11"/>
          <p:cNvSpPr/>
          <p:nvPr/>
        </p:nvSpPr>
        <p:spPr>
          <a:xfrm>
            <a:off x="4114800" y="1554480"/>
            <a:ext cx="3429000" cy="1078992"/>
          </a:xfrm>
          <a:prstGeom prst="roundRect">
            <a:avLst>
              <a:gd name="adj" fmla="val 6780"/>
            </a:avLst>
          </a:prstGeom>
          <a:solidFill>
            <a:srgbClr val="161F22"/>
          </a:solidFill>
          <a:ln w="9525">
            <a:solidFill>
              <a:srgbClr val="243033"/>
            </a:solidFill>
            <a:prstDash val="solid"/>
          </a:ln>
        </p:spPr>
      </p:sp>
      <p:sp>
        <p:nvSpPr>
          <p:cNvPr id="16" name="Text 12"/>
          <p:cNvSpPr txBox="1"/>
          <p:nvPr/>
        </p:nvSpPr>
        <p:spPr>
          <a:xfrm>
            <a:off x="4343400" y="1664208"/>
            <a:ext cx="3017520" cy="640080"/>
          </a:xfrm>
          <a:prstGeom prst="rect">
            <a:avLst/>
          </a:prstGeom>
          <a:noFill/>
          <a:ln/>
        </p:spPr>
        <p:txBody>
          <a:bodyPr wrap="square" lIns="0" tIns="0" rIns="0" bIns="0" rtlCol="0" anchor="t"/>
          <a:lstStyle/>
          <a:p>
            <a:pPr algn="l" indent="0" marL="0">
              <a:buNone/>
            </a:pPr>
            <a:r>
              <a:rPr lang="en-US" sz="3400" b="1" dirty="0">
                <a:solidFill>
                  <a:srgbClr val="5FC4B1"/>
                </a:solidFill>
                <a:latin typeface="Calibri" pitchFamily="34" charset="0"/>
                <a:ea typeface="Calibri" pitchFamily="34" charset="-122"/>
                <a:cs typeface="Calibri" pitchFamily="34" charset="-120"/>
              </a:rPr>
              <a:t>20</a:t>
            </a:r>
            <a:endParaRPr lang="en-US" sz="3400" dirty="0"/>
          </a:p>
        </p:txBody>
      </p:sp>
      <p:sp>
        <p:nvSpPr>
          <p:cNvPr id="17" name="Text 13"/>
          <p:cNvSpPr txBox="1"/>
          <p:nvPr/>
        </p:nvSpPr>
        <p:spPr>
          <a:xfrm>
            <a:off x="4343400" y="2231136"/>
            <a:ext cx="3017520" cy="54864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Halbjahre = 10 Jahre Laufzeit</a:t>
            </a:r>
            <a:endParaRPr lang="en-US" sz="1200" dirty="0"/>
          </a:p>
        </p:txBody>
      </p:sp>
      <p:sp>
        <p:nvSpPr>
          <p:cNvPr id="18" name="Shape 14"/>
          <p:cNvSpPr/>
          <p:nvPr/>
        </p:nvSpPr>
        <p:spPr>
          <a:xfrm>
            <a:off x="502920" y="2788920"/>
            <a:ext cx="3429000" cy="1078992"/>
          </a:xfrm>
          <a:prstGeom prst="roundRect">
            <a:avLst>
              <a:gd name="adj" fmla="val 6780"/>
            </a:avLst>
          </a:prstGeom>
          <a:solidFill>
            <a:srgbClr val="161F22"/>
          </a:solidFill>
          <a:ln w="9525">
            <a:solidFill>
              <a:srgbClr val="243033"/>
            </a:solidFill>
            <a:prstDash val="solid"/>
          </a:ln>
        </p:spPr>
      </p:sp>
      <p:sp>
        <p:nvSpPr>
          <p:cNvPr id="19" name="Text 15"/>
          <p:cNvSpPr txBox="1"/>
          <p:nvPr/>
        </p:nvSpPr>
        <p:spPr>
          <a:xfrm>
            <a:off x="731520" y="2898648"/>
            <a:ext cx="3017520" cy="640080"/>
          </a:xfrm>
          <a:prstGeom prst="rect">
            <a:avLst/>
          </a:prstGeom>
          <a:noFill/>
          <a:ln/>
        </p:spPr>
        <p:txBody>
          <a:bodyPr wrap="square" lIns="0" tIns="0" rIns="0" bIns="0" rtlCol="0" anchor="t"/>
          <a:lstStyle/>
          <a:p>
            <a:pPr algn="l" indent="0" marL="0">
              <a:buNone/>
            </a:pPr>
            <a:r>
              <a:rPr lang="en-US" sz="3400" b="1" dirty="0">
                <a:solidFill>
                  <a:srgbClr val="3B82F6"/>
                </a:solidFill>
                <a:latin typeface="Calibri" pitchFamily="34" charset="0"/>
                <a:ea typeface="Calibri" pitchFamily="34" charset="-122"/>
                <a:cs typeface="Calibri" pitchFamily="34" charset="-120"/>
              </a:rPr>
              <a:t>5</a:t>
            </a:r>
            <a:endParaRPr lang="en-US" sz="3400" dirty="0"/>
          </a:p>
        </p:txBody>
      </p:sp>
      <p:sp>
        <p:nvSpPr>
          <p:cNvPr id="20" name="Text 16"/>
          <p:cNvSpPr txBox="1"/>
          <p:nvPr/>
        </p:nvSpPr>
        <p:spPr>
          <a:xfrm>
            <a:off x="731520" y="3465576"/>
            <a:ext cx="3017520" cy="54864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Fonds im Wettbewerb (davon KI)</a:t>
            </a:r>
            <a:endParaRPr lang="en-US" sz="1200" dirty="0"/>
          </a:p>
        </p:txBody>
      </p:sp>
      <p:sp>
        <p:nvSpPr>
          <p:cNvPr id="21" name="Shape 17"/>
          <p:cNvSpPr/>
          <p:nvPr/>
        </p:nvSpPr>
        <p:spPr>
          <a:xfrm>
            <a:off x="4114800" y="2788920"/>
            <a:ext cx="3429000" cy="1078992"/>
          </a:xfrm>
          <a:prstGeom prst="roundRect">
            <a:avLst>
              <a:gd name="adj" fmla="val 6780"/>
            </a:avLst>
          </a:prstGeom>
          <a:solidFill>
            <a:srgbClr val="161F22"/>
          </a:solidFill>
          <a:ln w="9525">
            <a:solidFill>
              <a:srgbClr val="243033"/>
            </a:solidFill>
            <a:prstDash val="solid"/>
          </a:ln>
        </p:spPr>
      </p:sp>
      <p:sp>
        <p:nvSpPr>
          <p:cNvPr id="22" name="Text 18"/>
          <p:cNvSpPr txBox="1"/>
          <p:nvPr/>
        </p:nvSpPr>
        <p:spPr>
          <a:xfrm>
            <a:off x="4343400" y="2898648"/>
            <a:ext cx="3017520" cy="640080"/>
          </a:xfrm>
          <a:prstGeom prst="rect">
            <a:avLst/>
          </a:prstGeom>
          <a:noFill/>
          <a:ln/>
        </p:spPr>
        <p:txBody>
          <a:bodyPr wrap="square" lIns="0" tIns="0" rIns="0" bIns="0" rtlCol="0" anchor="t"/>
          <a:lstStyle/>
          <a:p>
            <a:pPr algn="l" indent="0" marL="0">
              <a:buNone/>
            </a:pPr>
            <a:r>
              <a:rPr lang="en-US" sz="3400" b="1" dirty="0">
                <a:solidFill>
                  <a:srgbClr val="D9538E"/>
                </a:solidFill>
                <a:latin typeface="Calibri" pitchFamily="34" charset="0"/>
                <a:ea typeface="Calibri" pitchFamily="34" charset="-122"/>
                <a:cs typeface="Calibri" pitchFamily="34" charset="-120"/>
              </a:rPr>
              <a:t>6</a:t>
            </a:r>
            <a:endParaRPr lang="en-US" sz="3400" dirty="0"/>
          </a:p>
        </p:txBody>
      </p:sp>
      <p:sp>
        <p:nvSpPr>
          <p:cNvPr id="23" name="Text 19"/>
          <p:cNvSpPr txBox="1"/>
          <p:nvPr/>
        </p:nvSpPr>
        <p:spPr>
          <a:xfrm>
            <a:off x="4343400" y="3465576"/>
            <a:ext cx="3017520" cy="54864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Beteiligungen gleichzeitig max.</a:t>
            </a:r>
            <a:endParaRPr lang="en-US" sz="1200" dirty="0"/>
          </a:p>
        </p:txBody>
      </p:sp>
      <p:sp>
        <p:nvSpPr>
          <p:cNvPr id="24" name="Text 20"/>
          <p:cNvSpPr txBox="1"/>
          <p:nvPr/>
        </p:nvSpPr>
        <p:spPr>
          <a:xfrm>
            <a:off x="502920" y="4160520"/>
            <a:ext cx="68580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DIE FÜNF FÄHIGKEITEN DES FONDSPROFILS (12 PUNKTE)</a:t>
            </a:r>
            <a:endParaRPr lang="en-US" sz="1000" dirty="0"/>
          </a:p>
        </p:txBody>
      </p:sp>
      <p:sp>
        <p:nvSpPr>
          <p:cNvPr id="25" name="Text 21"/>
          <p:cNvSpPr txBox="1"/>
          <p:nvPr/>
        </p:nvSpPr>
        <p:spPr>
          <a:xfrm>
            <a:off x="502920" y="4480560"/>
            <a:ext cx="7132320" cy="1828800"/>
          </a:xfrm>
          <a:prstGeom prst="rect">
            <a:avLst/>
          </a:prstGeom>
          <a:noFill/>
          <a:ln/>
        </p:spPr>
        <p:txBody>
          <a:bodyPr wrap="square" lIns="0" tIns="0" rIns="0" bIns="0" rtlCol="0" anchor="t"/>
          <a:lstStyle/>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Origination: </a:t>
            </a:r>
            <a:pPr indent="0" marL="0">
              <a:buNone/>
            </a:pPr>
            <a:r>
              <a:rPr lang="en-US" sz="1300" dirty="0">
                <a:solidFill>
                  <a:srgbClr val="EDF1EE"/>
                </a:solidFill>
                <a:latin typeface="Calibri" pitchFamily="34" charset="0"/>
                <a:ea typeface="Calibri" pitchFamily="34" charset="-122"/>
                <a:cs typeface="Calibri" pitchFamily="34" charset="-120"/>
              </a:rPr>
              <a:t>mehr proprietäre Deals mit Preisabschlag</a:t>
            </a:r>
            <a:endParaRPr lang="en-US" sz="1300" dirty="0"/>
          </a:p>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Due Diligence: </a:t>
            </a:r>
            <a:pPr indent="0" marL="0">
              <a:buNone/>
            </a:pPr>
            <a:r>
              <a:rPr lang="en-US" sz="1300" dirty="0">
                <a:solidFill>
                  <a:srgbClr val="EDF1EE"/>
                </a:solidFill>
                <a:latin typeface="Calibri" pitchFamily="34" charset="0"/>
                <a:ea typeface="Calibri" pitchFamily="34" charset="-122"/>
                <a:cs typeface="Calibri" pitchFamily="34" charset="-120"/>
              </a:rPr>
              <a:t>genauere Schätzung, weniger Überraschungen</a:t>
            </a:r>
            <a:endParaRPr lang="en-US" sz="1300" dirty="0"/>
          </a:p>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Execution: </a:t>
            </a:r>
            <a:pPr indent="0" marL="0">
              <a:buNone/>
            </a:pPr>
            <a:r>
              <a:rPr lang="en-US" sz="1300" dirty="0">
                <a:solidFill>
                  <a:srgbClr val="EDF1EE"/>
                </a:solidFill>
                <a:latin typeface="Calibri" pitchFamily="34" charset="0"/>
                <a:ea typeface="Calibri" pitchFamily="34" charset="-122"/>
                <a:cs typeface="Calibri" pitchFamily="34" charset="-120"/>
              </a:rPr>
              <a:t>bessere Preise beim Kauf und Verkauf</a:t>
            </a:r>
            <a:endParaRPr lang="en-US" sz="1300" dirty="0"/>
          </a:p>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Value Creation: </a:t>
            </a:r>
            <a:pPr indent="0" marL="0">
              <a:buNone/>
            </a:pPr>
            <a:r>
              <a:rPr lang="en-US" sz="1300" dirty="0">
                <a:solidFill>
                  <a:srgbClr val="EDF1EE"/>
                </a:solidFill>
                <a:latin typeface="Calibri" pitchFamily="34" charset="0"/>
                <a:ea typeface="Calibri" pitchFamily="34" charset="-122"/>
                <a:cs typeface="Calibri" pitchFamily="34" charset="-120"/>
              </a:rPr>
              <a:t>stärkere, schnellere Portfolioarbeit</a:t>
            </a:r>
            <a:endParaRPr lang="en-US" sz="1300" dirty="0"/>
          </a:p>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Financing: </a:t>
            </a:r>
            <a:pPr indent="0" marL="0">
              <a:buNone/>
            </a:pPr>
            <a:r>
              <a:rPr lang="en-US" sz="1300" dirty="0">
                <a:solidFill>
                  <a:srgbClr val="EDF1EE"/>
                </a:solidFill>
                <a:latin typeface="Calibri" pitchFamily="34" charset="0"/>
                <a:ea typeface="Calibri" pitchFamily="34" charset="-122"/>
                <a:cs typeface="Calibri" pitchFamily="34" charset="-120"/>
              </a:rPr>
              <a:t>günstigere Zinsen, mehr Covenant-Luft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ARCHITEKTUR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Engine als Kausalkette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a:t>
            </a:r>
            <a:endParaRPr lang="en-US" sz="900" dirty="0"/>
          </a:p>
        </p:txBody>
      </p:sp>
      <p:sp>
        <p:nvSpPr>
          <p:cNvPr id="9" name="Shape 6"/>
          <p:cNvSpPr/>
          <p:nvPr/>
        </p:nvSpPr>
        <p:spPr>
          <a:xfrm>
            <a:off x="502920" y="1874520"/>
            <a:ext cx="1664208" cy="1600200"/>
          </a:xfrm>
          <a:prstGeom prst="roundRect">
            <a:avLst>
              <a:gd name="adj" fmla="val 4571"/>
            </a:avLst>
          </a:prstGeom>
          <a:solidFill>
            <a:srgbClr val="161F22"/>
          </a:solidFill>
          <a:ln w="15875">
            <a:solidFill>
              <a:srgbClr val="3B82F6"/>
            </a:solidFill>
            <a:prstDash val="solid"/>
          </a:ln>
        </p:spPr>
      </p:sp>
      <p:sp>
        <p:nvSpPr>
          <p:cNvPr id="10" name="Shape 7"/>
          <p:cNvSpPr/>
          <p:nvPr/>
        </p:nvSpPr>
        <p:spPr>
          <a:xfrm>
            <a:off x="640080" y="2011680"/>
            <a:ext cx="347472" cy="347472"/>
          </a:xfrm>
          <a:prstGeom prst="ellipse">
            <a:avLst/>
          </a:prstGeom>
          <a:solidFill>
            <a:srgbClr val="3B82F6"/>
          </a:solidFill>
          <a:ln/>
        </p:spPr>
      </p:sp>
      <p:sp>
        <p:nvSpPr>
          <p:cNvPr id="11" name="Text 8"/>
          <p:cNvSpPr txBox="1"/>
          <p:nvPr/>
        </p:nvSpPr>
        <p:spPr>
          <a:xfrm>
            <a:off x="640080"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1</a:t>
            </a:r>
            <a:endParaRPr lang="en-US" sz="1200" dirty="0"/>
          </a:p>
        </p:txBody>
      </p:sp>
      <p:sp>
        <p:nvSpPr>
          <p:cNvPr id="12" name="Text 9"/>
          <p:cNvSpPr txBox="1"/>
          <p:nvPr/>
        </p:nvSpPr>
        <p:spPr>
          <a:xfrm>
            <a:off x="640080"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Dealflow</a:t>
            </a:r>
            <a:endParaRPr lang="en-US" sz="1400" dirty="0"/>
          </a:p>
        </p:txBody>
      </p:sp>
      <p:sp>
        <p:nvSpPr>
          <p:cNvPr id="13" name="Text 10"/>
          <p:cNvSpPr txBox="1"/>
          <p:nvPr/>
        </p:nvSpPr>
        <p:spPr>
          <a:xfrm>
            <a:off x="640080"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4 Auktionen + proprietäre Deals je Halbjahr</a:t>
            </a:r>
            <a:endParaRPr lang="en-US" sz="1100" dirty="0"/>
          </a:p>
        </p:txBody>
      </p:sp>
      <p:sp>
        <p:nvSpPr>
          <p:cNvPr id="14" name="Shape 11"/>
          <p:cNvSpPr/>
          <p:nvPr/>
        </p:nvSpPr>
        <p:spPr>
          <a:xfrm>
            <a:off x="2185416" y="2670048"/>
            <a:ext cx="155448" cy="0"/>
          </a:xfrm>
          <a:prstGeom prst="line">
            <a:avLst/>
          </a:prstGeom>
          <a:noFill/>
          <a:ln w="15875">
            <a:solidFill>
              <a:srgbClr val="8E9C9B"/>
            </a:solidFill>
            <a:prstDash val="solid"/>
            <a:tailEnd type="triangle"/>
          </a:ln>
        </p:spPr>
      </p:sp>
      <p:sp>
        <p:nvSpPr>
          <p:cNvPr id="15" name="Shape 12"/>
          <p:cNvSpPr/>
          <p:nvPr/>
        </p:nvSpPr>
        <p:spPr>
          <a:xfrm>
            <a:off x="2359152" y="1874520"/>
            <a:ext cx="1664208" cy="1600200"/>
          </a:xfrm>
          <a:prstGeom prst="roundRect">
            <a:avLst>
              <a:gd name="adj" fmla="val 4571"/>
            </a:avLst>
          </a:prstGeom>
          <a:solidFill>
            <a:srgbClr val="161F22"/>
          </a:solidFill>
          <a:ln w="15875">
            <a:solidFill>
              <a:srgbClr val="3B82F6"/>
            </a:solidFill>
            <a:prstDash val="solid"/>
          </a:ln>
        </p:spPr>
      </p:sp>
      <p:sp>
        <p:nvSpPr>
          <p:cNvPr id="16" name="Shape 13"/>
          <p:cNvSpPr/>
          <p:nvPr/>
        </p:nvSpPr>
        <p:spPr>
          <a:xfrm>
            <a:off x="2496312" y="2011680"/>
            <a:ext cx="347472" cy="347472"/>
          </a:xfrm>
          <a:prstGeom prst="ellipse">
            <a:avLst/>
          </a:prstGeom>
          <a:solidFill>
            <a:srgbClr val="3B82F6"/>
          </a:solidFill>
          <a:ln/>
        </p:spPr>
      </p:sp>
      <p:sp>
        <p:nvSpPr>
          <p:cNvPr id="17" name="Text 14"/>
          <p:cNvSpPr txBox="1"/>
          <p:nvPr/>
        </p:nvSpPr>
        <p:spPr>
          <a:xfrm>
            <a:off x="2496312"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2</a:t>
            </a:r>
            <a:endParaRPr lang="en-US" sz="1200" dirty="0"/>
          </a:p>
        </p:txBody>
      </p:sp>
      <p:sp>
        <p:nvSpPr>
          <p:cNvPr id="18" name="Text 15"/>
          <p:cNvSpPr txBox="1"/>
          <p:nvPr/>
        </p:nvSpPr>
        <p:spPr>
          <a:xfrm>
            <a:off x="2496312"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Auktion &amp; Closing</a:t>
            </a:r>
            <a:endParaRPr lang="en-US" sz="1400" dirty="0"/>
          </a:p>
        </p:txBody>
      </p:sp>
      <p:sp>
        <p:nvSpPr>
          <p:cNvPr id="19" name="Text 16"/>
          <p:cNvSpPr txBox="1"/>
          <p:nvPr/>
        </p:nvSpPr>
        <p:spPr>
          <a:xfrm>
            <a:off x="2496312"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Gebot, Leverage, Reservationspreis</a:t>
            </a:r>
            <a:endParaRPr lang="en-US" sz="1100" dirty="0"/>
          </a:p>
        </p:txBody>
      </p:sp>
      <p:sp>
        <p:nvSpPr>
          <p:cNvPr id="20" name="Shape 17"/>
          <p:cNvSpPr/>
          <p:nvPr/>
        </p:nvSpPr>
        <p:spPr>
          <a:xfrm>
            <a:off x="4041648" y="2670048"/>
            <a:ext cx="155448" cy="0"/>
          </a:xfrm>
          <a:prstGeom prst="line">
            <a:avLst/>
          </a:prstGeom>
          <a:noFill/>
          <a:ln w="15875">
            <a:solidFill>
              <a:srgbClr val="8E9C9B"/>
            </a:solidFill>
            <a:prstDash val="solid"/>
            <a:tailEnd type="triangle"/>
          </a:ln>
        </p:spPr>
      </p:sp>
      <p:sp>
        <p:nvSpPr>
          <p:cNvPr id="21" name="Shape 18"/>
          <p:cNvSpPr/>
          <p:nvPr/>
        </p:nvSpPr>
        <p:spPr>
          <a:xfrm>
            <a:off x="4215384" y="1874520"/>
            <a:ext cx="1664208" cy="1600200"/>
          </a:xfrm>
          <a:prstGeom prst="roundRect">
            <a:avLst>
              <a:gd name="adj" fmla="val 4571"/>
            </a:avLst>
          </a:prstGeom>
          <a:solidFill>
            <a:srgbClr val="161F22"/>
          </a:solidFill>
          <a:ln w="15875">
            <a:solidFill>
              <a:srgbClr val="5FC4B1"/>
            </a:solidFill>
            <a:prstDash val="solid"/>
          </a:ln>
        </p:spPr>
      </p:sp>
      <p:sp>
        <p:nvSpPr>
          <p:cNvPr id="22" name="Shape 19"/>
          <p:cNvSpPr/>
          <p:nvPr/>
        </p:nvSpPr>
        <p:spPr>
          <a:xfrm>
            <a:off x="4352544" y="2011680"/>
            <a:ext cx="347472" cy="347472"/>
          </a:xfrm>
          <a:prstGeom prst="ellipse">
            <a:avLst/>
          </a:prstGeom>
          <a:solidFill>
            <a:srgbClr val="5FC4B1"/>
          </a:solidFill>
          <a:ln/>
        </p:spPr>
      </p:sp>
      <p:sp>
        <p:nvSpPr>
          <p:cNvPr id="23" name="Text 20"/>
          <p:cNvSpPr txBox="1"/>
          <p:nvPr/>
        </p:nvSpPr>
        <p:spPr>
          <a:xfrm>
            <a:off x="4352544"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3</a:t>
            </a:r>
            <a:endParaRPr lang="en-US" sz="1200" dirty="0"/>
          </a:p>
        </p:txBody>
      </p:sp>
      <p:sp>
        <p:nvSpPr>
          <p:cNvPr id="24" name="Text 21"/>
          <p:cNvSpPr txBox="1"/>
          <p:nvPr/>
        </p:nvSpPr>
        <p:spPr>
          <a:xfrm>
            <a:off x="4352544"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Halbjahres-Schritt</a:t>
            </a:r>
            <a:endParaRPr lang="en-US" sz="1400" dirty="0"/>
          </a:p>
        </p:txBody>
      </p:sp>
      <p:sp>
        <p:nvSpPr>
          <p:cNvPr id="25" name="Text 22"/>
          <p:cNvSpPr txBox="1"/>
          <p:nvPr/>
        </p:nvSpPr>
        <p:spPr>
          <a:xfrm>
            <a:off x="4352544"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Wachstum, Marge, FCF, Entschuldung</a:t>
            </a:r>
            <a:endParaRPr lang="en-US" sz="1100" dirty="0"/>
          </a:p>
        </p:txBody>
      </p:sp>
      <p:sp>
        <p:nvSpPr>
          <p:cNvPr id="26" name="Shape 23"/>
          <p:cNvSpPr/>
          <p:nvPr/>
        </p:nvSpPr>
        <p:spPr>
          <a:xfrm>
            <a:off x="5897880" y="2670048"/>
            <a:ext cx="155448" cy="0"/>
          </a:xfrm>
          <a:prstGeom prst="line">
            <a:avLst/>
          </a:prstGeom>
          <a:noFill/>
          <a:ln w="15875">
            <a:solidFill>
              <a:srgbClr val="8E9C9B"/>
            </a:solidFill>
            <a:prstDash val="solid"/>
            <a:tailEnd type="triangle"/>
          </a:ln>
        </p:spPr>
      </p:sp>
      <p:sp>
        <p:nvSpPr>
          <p:cNvPr id="27" name="Shape 24"/>
          <p:cNvSpPr/>
          <p:nvPr/>
        </p:nvSpPr>
        <p:spPr>
          <a:xfrm>
            <a:off x="6071616" y="1874520"/>
            <a:ext cx="1664208" cy="1600200"/>
          </a:xfrm>
          <a:prstGeom prst="roundRect">
            <a:avLst>
              <a:gd name="adj" fmla="val 4571"/>
            </a:avLst>
          </a:prstGeom>
          <a:solidFill>
            <a:srgbClr val="161F22"/>
          </a:solidFill>
          <a:ln w="15875">
            <a:solidFill>
              <a:srgbClr val="5FC4B1"/>
            </a:solidFill>
            <a:prstDash val="solid"/>
          </a:ln>
        </p:spPr>
      </p:sp>
      <p:sp>
        <p:nvSpPr>
          <p:cNvPr id="28" name="Shape 25"/>
          <p:cNvSpPr/>
          <p:nvPr/>
        </p:nvSpPr>
        <p:spPr>
          <a:xfrm>
            <a:off x="6208776" y="2011680"/>
            <a:ext cx="347472" cy="347472"/>
          </a:xfrm>
          <a:prstGeom prst="ellipse">
            <a:avLst/>
          </a:prstGeom>
          <a:solidFill>
            <a:srgbClr val="5FC4B1"/>
          </a:solidFill>
          <a:ln/>
        </p:spPr>
      </p:sp>
      <p:sp>
        <p:nvSpPr>
          <p:cNvPr id="29" name="Text 26"/>
          <p:cNvSpPr txBox="1"/>
          <p:nvPr/>
        </p:nvSpPr>
        <p:spPr>
          <a:xfrm>
            <a:off x="6208776"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4</a:t>
            </a:r>
            <a:endParaRPr lang="en-US" sz="1200" dirty="0"/>
          </a:p>
        </p:txBody>
      </p:sp>
      <p:sp>
        <p:nvSpPr>
          <p:cNvPr id="30" name="Text 27"/>
          <p:cNvSpPr txBox="1"/>
          <p:nvPr/>
        </p:nvSpPr>
        <p:spPr>
          <a:xfrm>
            <a:off x="6208776"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Bewertung</a:t>
            </a:r>
            <a:endParaRPr lang="en-US" sz="1400" dirty="0"/>
          </a:p>
        </p:txBody>
      </p:sp>
      <p:sp>
        <p:nvSpPr>
          <p:cNvPr id="31" name="Text 28"/>
          <p:cNvSpPr txBox="1"/>
          <p:nvPr/>
        </p:nvSpPr>
        <p:spPr>
          <a:xfrm>
            <a:off x="6208776"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EBITDA × Multiple − Nettoverschuldung</a:t>
            </a:r>
            <a:endParaRPr lang="en-US" sz="1100" dirty="0"/>
          </a:p>
        </p:txBody>
      </p:sp>
      <p:sp>
        <p:nvSpPr>
          <p:cNvPr id="32" name="Shape 29"/>
          <p:cNvSpPr/>
          <p:nvPr/>
        </p:nvSpPr>
        <p:spPr>
          <a:xfrm>
            <a:off x="7754112" y="2670048"/>
            <a:ext cx="155448" cy="0"/>
          </a:xfrm>
          <a:prstGeom prst="line">
            <a:avLst/>
          </a:prstGeom>
          <a:noFill/>
          <a:ln w="15875">
            <a:solidFill>
              <a:srgbClr val="8E9C9B"/>
            </a:solidFill>
            <a:prstDash val="solid"/>
            <a:tailEnd type="triangle"/>
          </a:ln>
        </p:spPr>
      </p:sp>
      <p:sp>
        <p:nvSpPr>
          <p:cNvPr id="33" name="Shape 30"/>
          <p:cNvSpPr/>
          <p:nvPr/>
        </p:nvSpPr>
        <p:spPr>
          <a:xfrm>
            <a:off x="7927848" y="1874520"/>
            <a:ext cx="1664208" cy="1600200"/>
          </a:xfrm>
          <a:prstGeom prst="roundRect">
            <a:avLst>
              <a:gd name="adj" fmla="val 4571"/>
            </a:avLst>
          </a:prstGeom>
          <a:solidFill>
            <a:srgbClr val="161F22"/>
          </a:solidFill>
          <a:ln w="15875">
            <a:solidFill>
              <a:srgbClr val="DCB264"/>
            </a:solidFill>
            <a:prstDash val="solid"/>
          </a:ln>
        </p:spPr>
      </p:sp>
      <p:sp>
        <p:nvSpPr>
          <p:cNvPr id="34" name="Shape 31"/>
          <p:cNvSpPr/>
          <p:nvPr/>
        </p:nvSpPr>
        <p:spPr>
          <a:xfrm>
            <a:off x="8065008" y="2011680"/>
            <a:ext cx="347472" cy="347472"/>
          </a:xfrm>
          <a:prstGeom prst="ellipse">
            <a:avLst/>
          </a:prstGeom>
          <a:solidFill>
            <a:srgbClr val="DCB264"/>
          </a:solidFill>
          <a:ln/>
        </p:spPr>
      </p:sp>
      <p:sp>
        <p:nvSpPr>
          <p:cNvPr id="35" name="Text 32"/>
          <p:cNvSpPr txBox="1"/>
          <p:nvPr/>
        </p:nvSpPr>
        <p:spPr>
          <a:xfrm>
            <a:off x="8065008"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5</a:t>
            </a:r>
            <a:endParaRPr lang="en-US" sz="1200" dirty="0"/>
          </a:p>
        </p:txBody>
      </p:sp>
      <p:sp>
        <p:nvSpPr>
          <p:cNvPr id="36" name="Text 33"/>
          <p:cNvSpPr txBox="1"/>
          <p:nvPr/>
        </p:nvSpPr>
        <p:spPr>
          <a:xfrm>
            <a:off x="8065008"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Fonds</a:t>
            </a:r>
            <a:endParaRPr lang="en-US" sz="1400" dirty="0"/>
          </a:p>
        </p:txBody>
      </p:sp>
      <p:sp>
        <p:nvSpPr>
          <p:cNvPr id="37" name="Text 34"/>
          <p:cNvSpPr txBox="1"/>
          <p:nvPr/>
        </p:nvSpPr>
        <p:spPr>
          <a:xfrm>
            <a:off x="8065008"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NAV, Ausschüttungen, Gebühren, Carry</a:t>
            </a:r>
            <a:endParaRPr lang="en-US" sz="1100" dirty="0"/>
          </a:p>
        </p:txBody>
      </p:sp>
      <p:sp>
        <p:nvSpPr>
          <p:cNvPr id="38" name="Shape 35"/>
          <p:cNvSpPr/>
          <p:nvPr/>
        </p:nvSpPr>
        <p:spPr>
          <a:xfrm>
            <a:off x="9610344" y="2670048"/>
            <a:ext cx="155448" cy="0"/>
          </a:xfrm>
          <a:prstGeom prst="line">
            <a:avLst/>
          </a:prstGeom>
          <a:noFill/>
          <a:ln w="15875">
            <a:solidFill>
              <a:srgbClr val="8E9C9B"/>
            </a:solidFill>
            <a:prstDash val="solid"/>
            <a:tailEnd type="triangle"/>
          </a:ln>
        </p:spPr>
      </p:sp>
      <p:sp>
        <p:nvSpPr>
          <p:cNvPr id="39" name="Shape 36"/>
          <p:cNvSpPr/>
          <p:nvPr/>
        </p:nvSpPr>
        <p:spPr>
          <a:xfrm>
            <a:off x="9784080" y="1874520"/>
            <a:ext cx="1664208" cy="1600200"/>
          </a:xfrm>
          <a:prstGeom prst="roundRect">
            <a:avLst>
              <a:gd name="adj" fmla="val 4571"/>
            </a:avLst>
          </a:prstGeom>
          <a:solidFill>
            <a:srgbClr val="161F22"/>
          </a:solidFill>
          <a:ln w="15875">
            <a:solidFill>
              <a:srgbClr val="DCB264"/>
            </a:solidFill>
            <a:prstDash val="solid"/>
          </a:ln>
        </p:spPr>
      </p:sp>
      <p:sp>
        <p:nvSpPr>
          <p:cNvPr id="40" name="Shape 37"/>
          <p:cNvSpPr/>
          <p:nvPr/>
        </p:nvSpPr>
        <p:spPr>
          <a:xfrm>
            <a:off x="9921240" y="2011680"/>
            <a:ext cx="347472" cy="347472"/>
          </a:xfrm>
          <a:prstGeom prst="ellipse">
            <a:avLst/>
          </a:prstGeom>
          <a:solidFill>
            <a:srgbClr val="DCB264"/>
          </a:solidFill>
          <a:ln/>
        </p:spPr>
      </p:sp>
      <p:sp>
        <p:nvSpPr>
          <p:cNvPr id="41" name="Text 38"/>
          <p:cNvSpPr txBox="1"/>
          <p:nvPr/>
        </p:nvSpPr>
        <p:spPr>
          <a:xfrm>
            <a:off x="9921240"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6</a:t>
            </a:r>
            <a:endParaRPr lang="en-US" sz="1200" dirty="0"/>
          </a:p>
        </p:txBody>
      </p:sp>
      <p:sp>
        <p:nvSpPr>
          <p:cNvPr id="42" name="Text 39"/>
          <p:cNvSpPr txBox="1"/>
          <p:nvPr/>
        </p:nvSpPr>
        <p:spPr>
          <a:xfrm>
            <a:off x="9921240"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Wertung</a:t>
            </a:r>
            <a:endParaRPr lang="en-US" sz="1400" dirty="0"/>
          </a:p>
        </p:txBody>
      </p:sp>
      <p:sp>
        <p:nvSpPr>
          <p:cNvPr id="43" name="Text 40"/>
          <p:cNvSpPr txBox="1"/>
          <p:nvPr/>
        </p:nvSpPr>
        <p:spPr>
          <a:xfrm>
            <a:off x="9921240"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½ TVPI / 1,7× + ½ IRR / 18 %</a:t>
            </a:r>
            <a:endParaRPr lang="en-US" sz="1100" dirty="0"/>
          </a:p>
        </p:txBody>
      </p:sp>
      <p:sp>
        <p:nvSpPr>
          <p:cNvPr id="44" name="Text 41"/>
          <p:cNvSpPr txBox="1"/>
          <p:nvPr/>
        </p:nvSpPr>
        <p:spPr>
          <a:xfrm>
            <a:off x="502920" y="3840480"/>
            <a:ext cx="54864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HIER GREIFT DER SPIELER EIN</a:t>
            </a:r>
            <a:endParaRPr lang="en-US" sz="1000" dirty="0"/>
          </a:p>
        </p:txBody>
      </p:sp>
      <p:sp>
        <p:nvSpPr>
          <p:cNvPr id="45" name="Shape 42"/>
          <p:cNvSpPr/>
          <p:nvPr/>
        </p:nvSpPr>
        <p:spPr>
          <a:xfrm>
            <a:off x="1335024" y="3703320"/>
            <a:ext cx="0" cy="-228600"/>
          </a:xfrm>
          <a:prstGeom prst="line">
            <a:avLst/>
          </a:prstGeom>
          <a:noFill/>
          <a:ln w="15875">
            <a:solidFill>
              <a:srgbClr val="DCB264"/>
            </a:solidFill>
            <a:prstDash val="solid"/>
            <a:tailEnd type="triangle"/>
          </a:ln>
        </p:spPr>
      </p:sp>
      <p:sp>
        <p:nvSpPr>
          <p:cNvPr id="46" name="Shape 43"/>
          <p:cNvSpPr/>
          <p:nvPr/>
        </p:nvSpPr>
        <p:spPr>
          <a:xfrm>
            <a:off x="502920" y="4160520"/>
            <a:ext cx="1664208" cy="566928"/>
          </a:xfrm>
          <a:prstGeom prst="roundRect">
            <a:avLst>
              <a:gd name="adj" fmla="val 12903"/>
            </a:avLst>
          </a:prstGeom>
          <a:solidFill>
            <a:srgbClr val="1C282B"/>
          </a:solidFill>
          <a:ln w="9525">
            <a:solidFill>
              <a:srgbClr val="DCB264"/>
            </a:solidFill>
            <a:prstDash val="solid"/>
          </a:ln>
        </p:spPr>
      </p:sp>
      <p:sp>
        <p:nvSpPr>
          <p:cNvPr id="47" name="Text 44"/>
          <p:cNvSpPr txBox="1"/>
          <p:nvPr/>
        </p:nvSpPr>
        <p:spPr>
          <a:xfrm>
            <a:off x="502920"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Due Diligence</a:t>
            </a:r>
            <a:endParaRPr lang="en-US" sz="1200" dirty="0"/>
          </a:p>
        </p:txBody>
      </p:sp>
      <p:sp>
        <p:nvSpPr>
          <p:cNvPr id="48" name="Shape 45"/>
          <p:cNvSpPr/>
          <p:nvPr/>
        </p:nvSpPr>
        <p:spPr>
          <a:xfrm>
            <a:off x="3191256" y="3703320"/>
            <a:ext cx="0" cy="-228600"/>
          </a:xfrm>
          <a:prstGeom prst="line">
            <a:avLst/>
          </a:prstGeom>
          <a:noFill/>
          <a:ln w="15875">
            <a:solidFill>
              <a:srgbClr val="DCB264"/>
            </a:solidFill>
            <a:prstDash val="solid"/>
            <a:tailEnd type="triangle"/>
          </a:ln>
        </p:spPr>
      </p:sp>
      <p:sp>
        <p:nvSpPr>
          <p:cNvPr id="49" name="Shape 46"/>
          <p:cNvSpPr/>
          <p:nvPr/>
        </p:nvSpPr>
        <p:spPr>
          <a:xfrm>
            <a:off x="2359152" y="4160520"/>
            <a:ext cx="1664208" cy="566928"/>
          </a:xfrm>
          <a:prstGeom prst="roundRect">
            <a:avLst>
              <a:gd name="adj" fmla="val 12903"/>
            </a:avLst>
          </a:prstGeom>
          <a:solidFill>
            <a:srgbClr val="1C282B"/>
          </a:solidFill>
          <a:ln w="9525">
            <a:solidFill>
              <a:srgbClr val="DCB264"/>
            </a:solidFill>
            <a:prstDash val="solid"/>
          </a:ln>
        </p:spPr>
      </p:sp>
      <p:sp>
        <p:nvSpPr>
          <p:cNvPr id="50" name="Text 47"/>
          <p:cNvSpPr txBox="1"/>
          <p:nvPr/>
        </p:nvSpPr>
        <p:spPr>
          <a:xfrm>
            <a:off x="2359152"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Gebot &amp; Leverage</a:t>
            </a:r>
            <a:endParaRPr lang="en-US" sz="1200" dirty="0"/>
          </a:p>
        </p:txBody>
      </p:sp>
      <p:sp>
        <p:nvSpPr>
          <p:cNvPr id="51" name="Shape 48"/>
          <p:cNvSpPr/>
          <p:nvPr/>
        </p:nvSpPr>
        <p:spPr>
          <a:xfrm>
            <a:off x="5047488" y="3703320"/>
            <a:ext cx="0" cy="-228600"/>
          </a:xfrm>
          <a:prstGeom prst="line">
            <a:avLst/>
          </a:prstGeom>
          <a:noFill/>
          <a:ln w="15875">
            <a:solidFill>
              <a:srgbClr val="DCB264"/>
            </a:solidFill>
            <a:prstDash val="solid"/>
            <a:tailEnd type="triangle"/>
          </a:ln>
        </p:spPr>
      </p:sp>
      <p:sp>
        <p:nvSpPr>
          <p:cNvPr id="52" name="Shape 49"/>
          <p:cNvSpPr/>
          <p:nvPr/>
        </p:nvSpPr>
        <p:spPr>
          <a:xfrm>
            <a:off x="4215384" y="4160520"/>
            <a:ext cx="1664208" cy="566928"/>
          </a:xfrm>
          <a:prstGeom prst="roundRect">
            <a:avLst>
              <a:gd name="adj" fmla="val 12903"/>
            </a:avLst>
          </a:prstGeom>
          <a:solidFill>
            <a:srgbClr val="1C282B"/>
          </a:solidFill>
          <a:ln w="9525">
            <a:solidFill>
              <a:srgbClr val="DCB264"/>
            </a:solidFill>
            <a:prstDash val="solid"/>
          </a:ln>
        </p:spPr>
      </p:sp>
      <p:sp>
        <p:nvSpPr>
          <p:cNvPr id="53" name="Text 50"/>
          <p:cNvSpPr txBox="1"/>
          <p:nvPr/>
        </p:nvSpPr>
        <p:spPr>
          <a:xfrm>
            <a:off x="4215384"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Maßnahmen &amp; People</a:t>
            </a:r>
            <a:endParaRPr lang="en-US" sz="1200" dirty="0"/>
          </a:p>
        </p:txBody>
      </p:sp>
      <p:sp>
        <p:nvSpPr>
          <p:cNvPr id="54" name="Shape 51"/>
          <p:cNvSpPr/>
          <p:nvPr/>
        </p:nvSpPr>
        <p:spPr>
          <a:xfrm>
            <a:off x="6903720" y="3703320"/>
            <a:ext cx="0" cy="-228600"/>
          </a:xfrm>
          <a:prstGeom prst="line">
            <a:avLst/>
          </a:prstGeom>
          <a:noFill/>
          <a:ln w="15875">
            <a:solidFill>
              <a:srgbClr val="DCB264"/>
            </a:solidFill>
            <a:prstDash val="solid"/>
            <a:tailEnd type="triangle"/>
          </a:ln>
        </p:spPr>
      </p:sp>
      <p:sp>
        <p:nvSpPr>
          <p:cNvPr id="55" name="Shape 52"/>
          <p:cNvSpPr/>
          <p:nvPr/>
        </p:nvSpPr>
        <p:spPr>
          <a:xfrm>
            <a:off x="6071616" y="4160520"/>
            <a:ext cx="1664208" cy="566928"/>
          </a:xfrm>
          <a:prstGeom prst="roundRect">
            <a:avLst>
              <a:gd name="adj" fmla="val 12903"/>
            </a:avLst>
          </a:prstGeom>
          <a:solidFill>
            <a:srgbClr val="1C282B"/>
          </a:solidFill>
          <a:ln w="9525">
            <a:solidFill>
              <a:srgbClr val="DCB264"/>
            </a:solidFill>
            <a:prstDash val="solid"/>
          </a:ln>
        </p:spPr>
      </p:sp>
      <p:sp>
        <p:nvSpPr>
          <p:cNvPr id="56" name="Text 53"/>
          <p:cNvSpPr txBox="1"/>
          <p:nvPr/>
        </p:nvSpPr>
        <p:spPr>
          <a:xfrm>
            <a:off x="6071616"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MEP, Equity Cure</a:t>
            </a:r>
            <a:endParaRPr lang="en-US" sz="1200" dirty="0"/>
          </a:p>
        </p:txBody>
      </p:sp>
      <p:sp>
        <p:nvSpPr>
          <p:cNvPr id="57" name="Shape 54"/>
          <p:cNvSpPr/>
          <p:nvPr/>
        </p:nvSpPr>
        <p:spPr>
          <a:xfrm>
            <a:off x="8759952" y="3703320"/>
            <a:ext cx="0" cy="-228600"/>
          </a:xfrm>
          <a:prstGeom prst="line">
            <a:avLst/>
          </a:prstGeom>
          <a:noFill/>
          <a:ln w="15875">
            <a:solidFill>
              <a:srgbClr val="DCB264"/>
            </a:solidFill>
            <a:prstDash val="solid"/>
            <a:tailEnd type="triangle"/>
          </a:ln>
        </p:spPr>
      </p:sp>
      <p:sp>
        <p:nvSpPr>
          <p:cNvPr id="58" name="Shape 55"/>
          <p:cNvSpPr/>
          <p:nvPr/>
        </p:nvSpPr>
        <p:spPr>
          <a:xfrm>
            <a:off x="7927848" y="4160520"/>
            <a:ext cx="1664208" cy="566928"/>
          </a:xfrm>
          <a:prstGeom prst="roundRect">
            <a:avLst>
              <a:gd name="adj" fmla="val 12903"/>
            </a:avLst>
          </a:prstGeom>
          <a:solidFill>
            <a:srgbClr val="1C282B"/>
          </a:solidFill>
          <a:ln w="9525">
            <a:solidFill>
              <a:srgbClr val="DCB264"/>
            </a:solidFill>
            <a:prstDash val="solid"/>
          </a:ln>
        </p:spPr>
      </p:sp>
      <p:sp>
        <p:nvSpPr>
          <p:cNvPr id="59" name="Text 56"/>
          <p:cNvSpPr txBox="1"/>
          <p:nvPr/>
        </p:nvSpPr>
        <p:spPr>
          <a:xfrm>
            <a:off x="7927848"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Exit &amp; Erlösverwendung</a:t>
            </a:r>
            <a:endParaRPr lang="en-US" sz="1200" dirty="0"/>
          </a:p>
        </p:txBody>
      </p:sp>
      <p:sp>
        <p:nvSpPr>
          <p:cNvPr id="60" name="Shape 57"/>
          <p:cNvSpPr/>
          <p:nvPr/>
        </p:nvSpPr>
        <p:spPr>
          <a:xfrm>
            <a:off x="502920" y="5120640"/>
            <a:ext cx="11185855" cy="1097280"/>
          </a:xfrm>
          <a:prstGeom prst="roundRect">
            <a:avLst>
              <a:gd name="adj" fmla="val 6667"/>
            </a:avLst>
          </a:prstGeom>
          <a:solidFill>
            <a:srgbClr val="080D0F"/>
          </a:solidFill>
          <a:ln w="9525">
            <a:solidFill>
              <a:srgbClr val="243033"/>
            </a:solidFill>
            <a:prstDash val="solid"/>
          </a:ln>
        </p:spPr>
      </p:sp>
      <p:sp>
        <p:nvSpPr>
          <p:cNvPr id="61" name="Text 58"/>
          <p:cNvSpPr txBox="1"/>
          <p:nvPr/>
        </p:nvSpPr>
        <p:spPr>
          <a:xfrm>
            <a:off x="777240" y="5230368"/>
            <a:ext cx="10637215" cy="914400"/>
          </a:xfrm>
          <a:prstGeom prst="rect">
            <a:avLst/>
          </a:prstGeom>
          <a:noFill/>
          <a:ln/>
        </p:spPr>
        <p:txBody>
          <a:bodyPr wrap="square" lIns="0" tIns="0" rIns="0" bIns="0" rtlCol="0" anchor="ctr"/>
          <a:lstStyle/>
          <a:p>
            <a:pPr algn="l" indent="0" marL="0">
              <a:spcAft>
                <a:spcPts val="400"/>
              </a:spcAft>
              <a:buNone/>
            </a:pPr>
            <a:r>
              <a:rPr lang="en-US" sz="1350" b="1" dirty="0">
                <a:solidFill>
                  <a:srgbClr val="5FC4B1"/>
                </a:solidFill>
                <a:latin typeface="Calibri" pitchFamily="34" charset="0"/>
                <a:ea typeface="Calibri" pitchFamily="34" charset="-122"/>
                <a:cs typeface="Calibri" pitchFamily="34" charset="-120"/>
              </a:rPr>
              <a:t>Merksatz: </a:t>
            </a:r>
            <a:pPr algn="l" indent="0" marL="0">
              <a:spcAft>
                <a:spcPts val="400"/>
              </a:spcAft>
              <a:buNone/>
            </a:pPr>
            <a:r>
              <a:rPr lang="en-US" sz="1350" dirty="0">
                <a:solidFill>
                  <a:srgbClr val="EDF1EE"/>
                </a:solidFill>
                <a:latin typeface="Calibri" pitchFamily="34" charset="0"/>
                <a:ea typeface="Calibri" pitchFamily="34" charset="-122"/>
                <a:cs typeface="Calibri" pitchFamily="34" charset="-120"/>
              </a:rPr>
              <a:t>Die Engine rechnet in Halbjahren. In jedem Schritt bewegt sich jede Beteiligung (stepCompany), der Markt schwankt, Ereignisse treten ein – und erst danach werden NAV, TVPI und IRR neu bewertet. Zufall gibt es, aber er ist kalibriert: Entscheidungen erklären den größeren Teil des Ergebnisses.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FONDSÖKONOMIE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Commitment, Kapitalabrufe und Dry Powder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5</a:t>
            </a:r>
            <a:endParaRPr lang="en-US" sz="900" dirty="0"/>
          </a:p>
        </p:txBody>
      </p:sp>
      <p:sp>
        <p:nvSpPr>
          <p:cNvPr id="9" name="Shape 6"/>
          <p:cNvSpPr/>
          <p:nvPr/>
        </p:nvSpPr>
        <p:spPr>
          <a:xfrm>
            <a:off x="711403" y="2128520"/>
            <a:ext cx="680314" cy="3175000"/>
          </a:xfrm>
          <a:prstGeom prst="rect">
            <a:avLst/>
          </a:prstGeom>
          <a:solidFill>
            <a:srgbClr val="DCB264"/>
          </a:solidFill>
          <a:ln/>
        </p:spPr>
      </p:sp>
      <p:sp>
        <p:nvSpPr>
          <p:cNvPr id="10" name="Text 7"/>
          <p:cNvSpPr txBox="1"/>
          <p:nvPr/>
        </p:nvSpPr>
        <p:spPr>
          <a:xfrm>
            <a:off x="528523" y="1881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500</a:t>
            </a:r>
            <a:endParaRPr lang="en-US" sz="1100" dirty="0"/>
          </a:p>
        </p:txBody>
      </p:sp>
      <p:sp>
        <p:nvSpPr>
          <p:cNvPr id="11" name="Shape 8"/>
          <p:cNvSpPr/>
          <p:nvPr/>
        </p:nvSpPr>
        <p:spPr>
          <a:xfrm>
            <a:off x="1391717" y="2128520"/>
            <a:ext cx="416966" cy="0"/>
          </a:xfrm>
          <a:prstGeom prst="line">
            <a:avLst/>
          </a:prstGeom>
          <a:noFill/>
          <a:ln w="9525">
            <a:solidFill>
              <a:srgbClr val="4A5C5F"/>
            </a:solidFill>
            <a:prstDash val="dash"/>
          </a:ln>
        </p:spPr>
      </p:sp>
      <p:sp>
        <p:nvSpPr>
          <p:cNvPr id="12" name="Text 9"/>
          <p:cNvSpPr txBox="1"/>
          <p:nvPr/>
        </p:nvSpPr>
        <p:spPr>
          <a:xfrm>
            <a:off x="5029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Commitment</a:t>
            </a:r>
            <a:endParaRPr lang="en-US" sz="1000" dirty="0"/>
          </a:p>
        </p:txBody>
      </p:sp>
      <p:sp>
        <p:nvSpPr>
          <p:cNvPr id="13" name="Shape 10"/>
          <p:cNvSpPr/>
          <p:nvPr/>
        </p:nvSpPr>
        <p:spPr>
          <a:xfrm>
            <a:off x="1808683" y="2128520"/>
            <a:ext cx="680314" cy="317500"/>
          </a:xfrm>
          <a:prstGeom prst="rect">
            <a:avLst/>
          </a:prstGeom>
          <a:solidFill>
            <a:srgbClr val="E3897F"/>
          </a:solidFill>
          <a:ln/>
        </p:spPr>
      </p:sp>
      <p:sp>
        <p:nvSpPr>
          <p:cNvPr id="14" name="Text 11"/>
          <p:cNvSpPr txBox="1"/>
          <p:nvPr/>
        </p:nvSpPr>
        <p:spPr>
          <a:xfrm>
            <a:off x="1625803" y="18816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−50</a:t>
            </a:r>
            <a:endParaRPr lang="en-US" sz="1100" dirty="0"/>
          </a:p>
        </p:txBody>
      </p:sp>
      <p:sp>
        <p:nvSpPr>
          <p:cNvPr id="15" name="Shape 12"/>
          <p:cNvSpPr/>
          <p:nvPr/>
        </p:nvSpPr>
        <p:spPr>
          <a:xfrm>
            <a:off x="2488997" y="2446020"/>
            <a:ext cx="416966" cy="0"/>
          </a:xfrm>
          <a:prstGeom prst="line">
            <a:avLst/>
          </a:prstGeom>
          <a:noFill/>
          <a:ln w="9525">
            <a:solidFill>
              <a:srgbClr val="4A5C5F"/>
            </a:solidFill>
            <a:prstDash val="dash"/>
          </a:ln>
        </p:spPr>
      </p:sp>
      <p:sp>
        <p:nvSpPr>
          <p:cNvPr id="16" name="Text 13"/>
          <p:cNvSpPr txBox="1"/>
          <p:nvPr/>
        </p:nvSpPr>
        <p:spPr>
          <a:xfrm>
            <a:off x="160020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Gebühren-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reserve</a:t>
            </a:r>
            <a:endParaRPr lang="en-US" sz="1000" dirty="0"/>
          </a:p>
        </p:txBody>
      </p:sp>
      <p:sp>
        <p:nvSpPr>
          <p:cNvPr id="17" name="Shape 14"/>
          <p:cNvSpPr/>
          <p:nvPr/>
        </p:nvSpPr>
        <p:spPr>
          <a:xfrm>
            <a:off x="2905963" y="2446020"/>
            <a:ext cx="680314" cy="2857500"/>
          </a:xfrm>
          <a:prstGeom prst="rect">
            <a:avLst/>
          </a:prstGeom>
          <a:solidFill>
            <a:srgbClr val="5FC4B1"/>
          </a:solidFill>
          <a:ln/>
        </p:spPr>
      </p:sp>
      <p:sp>
        <p:nvSpPr>
          <p:cNvPr id="18" name="Text 15"/>
          <p:cNvSpPr txBox="1"/>
          <p:nvPr/>
        </p:nvSpPr>
        <p:spPr>
          <a:xfrm>
            <a:off x="2723083" y="21991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450</a:t>
            </a:r>
            <a:endParaRPr lang="en-US" sz="1100" dirty="0"/>
          </a:p>
        </p:txBody>
      </p:sp>
      <p:sp>
        <p:nvSpPr>
          <p:cNvPr id="19" name="Shape 16"/>
          <p:cNvSpPr/>
          <p:nvPr/>
        </p:nvSpPr>
        <p:spPr>
          <a:xfrm>
            <a:off x="3586277" y="2446020"/>
            <a:ext cx="416966" cy="0"/>
          </a:xfrm>
          <a:prstGeom prst="line">
            <a:avLst/>
          </a:prstGeom>
          <a:noFill/>
          <a:ln w="9525">
            <a:solidFill>
              <a:srgbClr val="4A5C5F"/>
            </a:solidFill>
            <a:prstDash val="dash"/>
          </a:ln>
        </p:spPr>
      </p:sp>
      <p:sp>
        <p:nvSpPr>
          <p:cNvPr id="20" name="Text 17"/>
          <p:cNvSpPr txBox="1"/>
          <p:nvPr/>
        </p:nvSpPr>
        <p:spPr>
          <a:xfrm>
            <a:off x="269748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investierbar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zum Start</a:t>
            </a:r>
            <a:endParaRPr lang="en-US" sz="1000" dirty="0"/>
          </a:p>
        </p:txBody>
      </p:sp>
      <p:sp>
        <p:nvSpPr>
          <p:cNvPr id="21" name="Shape 18"/>
          <p:cNvSpPr/>
          <p:nvPr/>
        </p:nvSpPr>
        <p:spPr>
          <a:xfrm>
            <a:off x="4003243" y="2065020"/>
            <a:ext cx="680314" cy="381000"/>
          </a:xfrm>
          <a:prstGeom prst="rect">
            <a:avLst/>
          </a:prstGeom>
          <a:solidFill>
            <a:srgbClr val="5FC4B1"/>
          </a:solidFill>
          <a:ln/>
        </p:spPr>
      </p:sp>
      <p:sp>
        <p:nvSpPr>
          <p:cNvPr id="22" name="Text 19"/>
          <p:cNvSpPr txBox="1"/>
          <p:nvPr/>
        </p:nvSpPr>
        <p:spPr>
          <a:xfrm>
            <a:off x="3820363" y="18181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+60</a:t>
            </a:r>
            <a:endParaRPr lang="en-US" sz="1100" dirty="0"/>
          </a:p>
        </p:txBody>
      </p:sp>
      <p:sp>
        <p:nvSpPr>
          <p:cNvPr id="23" name="Shape 20"/>
          <p:cNvSpPr/>
          <p:nvPr/>
        </p:nvSpPr>
        <p:spPr>
          <a:xfrm>
            <a:off x="4683557" y="2065020"/>
            <a:ext cx="416966" cy="0"/>
          </a:xfrm>
          <a:prstGeom prst="line">
            <a:avLst/>
          </a:prstGeom>
          <a:noFill/>
          <a:ln w="9525">
            <a:solidFill>
              <a:srgbClr val="4A5C5F"/>
            </a:solidFill>
            <a:prstDash val="dash"/>
          </a:ln>
        </p:spPr>
      </p:sp>
      <p:sp>
        <p:nvSpPr>
          <p:cNvPr id="24" name="Text 21"/>
          <p:cNvSpPr txBox="1"/>
          <p:nvPr/>
        </p:nvSpPr>
        <p:spPr>
          <a:xfrm>
            <a:off x="379476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einbehaltene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Erlöse</a:t>
            </a:r>
            <a:endParaRPr lang="en-US" sz="1000" dirty="0"/>
          </a:p>
        </p:txBody>
      </p:sp>
      <p:sp>
        <p:nvSpPr>
          <p:cNvPr id="25" name="Shape 22"/>
          <p:cNvSpPr/>
          <p:nvPr/>
        </p:nvSpPr>
        <p:spPr>
          <a:xfrm>
            <a:off x="5100523" y="2065020"/>
            <a:ext cx="680314" cy="2095500"/>
          </a:xfrm>
          <a:prstGeom prst="rect">
            <a:avLst/>
          </a:prstGeom>
          <a:solidFill>
            <a:srgbClr val="E3897F"/>
          </a:solidFill>
          <a:ln/>
        </p:spPr>
      </p:sp>
      <p:sp>
        <p:nvSpPr>
          <p:cNvPr id="26" name="Text 23"/>
          <p:cNvSpPr txBox="1"/>
          <p:nvPr/>
        </p:nvSpPr>
        <p:spPr>
          <a:xfrm>
            <a:off x="4917643" y="18181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−330</a:t>
            </a:r>
            <a:endParaRPr lang="en-US" sz="1100" dirty="0"/>
          </a:p>
        </p:txBody>
      </p:sp>
      <p:sp>
        <p:nvSpPr>
          <p:cNvPr id="27" name="Shape 24"/>
          <p:cNvSpPr/>
          <p:nvPr/>
        </p:nvSpPr>
        <p:spPr>
          <a:xfrm>
            <a:off x="5780837" y="4160520"/>
            <a:ext cx="416966" cy="0"/>
          </a:xfrm>
          <a:prstGeom prst="line">
            <a:avLst/>
          </a:prstGeom>
          <a:noFill/>
          <a:ln w="9525">
            <a:solidFill>
              <a:srgbClr val="4A5C5F"/>
            </a:solidFill>
            <a:prstDash val="dash"/>
          </a:ln>
        </p:spPr>
      </p:sp>
      <p:sp>
        <p:nvSpPr>
          <p:cNvPr id="28" name="Text 25"/>
          <p:cNvSpPr txBox="1"/>
          <p:nvPr/>
        </p:nvSpPr>
        <p:spPr>
          <a:xfrm>
            <a:off x="489204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abgerufen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für Deals</a:t>
            </a:r>
            <a:endParaRPr lang="en-US" sz="1000" dirty="0"/>
          </a:p>
        </p:txBody>
      </p:sp>
      <p:sp>
        <p:nvSpPr>
          <p:cNvPr id="29" name="Shape 26"/>
          <p:cNvSpPr/>
          <p:nvPr/>
        </p:nvSpPr>
        <p:spPr>
          <a:xfrm>
            <a:off x="6197803" y="4160520"/>
            <a:ext cx="680314" cy="1143000"/>
          </a:xfrm>
          <a:prstGeom prst="rect">
            <a:avLst/>
          </a:prstGeom>
          <a:solidFill>
            <a:srgbClr val="DCB264"/>
          </a:solidFill>
          <a:ln/>
        </p:spPr>
      </p:sp>
      <p:sp>
        <p:nvSpPr>
          <p:cNvPr id="30" name="Text 27"/>
          <p:cNvSpPr txBox="1"/>
          <p:nvPr/>
        </p:nvSpPr>
        <p:spPr>
          <a:xfrm>
            <a:off x="6014923" y="3913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180</a:t>
            </a:r>
            <a:endParaRPr lang="en-US" sz="1100" dirty="0"/>
          </a:p>
        </p:txBody>
      </p:sp>
      <p:sp>
        <p:nvSpPr>
          <p:cNvPr id="31" name="Text 28"/>
          <p:cNvSpPr txBox="1"/>
          <p:nvPr/>
        </p:nvSpPr>
        <p:spPr>
          <a:xfrm>
            <a:off x="59893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Dry Powder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(Beispiel)</a:t>
            </a:r>
            <a:endParaRPr lang="en-US" sz="1000" dirty="0"/>
          </a:p>
        </p:txBody>
      </p:sp>
      <p:sp>
        <p:nvSpPr>
          <p:cNvPr id="32" name="Shape 29"/>
          <p:cNvSpPr/>
          <p:nvPr/>
        </p:nvSpPr>
        <p:spPr>
          <a:xfrm>
            <a:off x="502920" y="5303520"/>
            <a:ext cx="6583680" cy="0"/>
          </a:xfrm>
          <a:prstGeom prst="line">
            <a:avLst/>
          </a:prstGeom>
          <a:noFill/>
          <a:ln w="9525">
            <a:solidFill>
              <a:srgbClr val="243033"/>
            </a:solidFill>
            <a:prstDash val="solid"/>
          </a:ln>
        </p:spPr>
      </p:sp>
      <p:sp>
        <p:nvSpPr>
          <p:cNvPr id="33" name="Text 30"/>
          <p:cNvSpPr txBox="1"/>
          <p:nvPr/>
        </p:nvSpPr>
        <p:spPr>
          <a:xfrm>
            <a:off x="502920" y="5897880"/>
            <a:ext cx="6583680" cy="27432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Beispielrechnung in Mio. €; Reserve = 10 Halbjahre × 2 % × 500 / 2</a:t>
            </a:r>
            <a:endParaRPr lang="en-US" sz="1000" dirty="0"/>
          </a:p>
        </p:txBody>
      </p:sp>
      <p:sp>
        <p:nvSpPr>
          <p:cNvPr id="34" name="Shape 31"/>
          <p:cNvSpPr/>
          <p:nvPr/>
        </p:nvSpPr>
        <p:spPr>
          <a:xfrm>
            <a:off x="7406640" y="1600200"/>
            <a:ext cx="4279392" cy="868680"/>
          </a:xfrm>
          <a:prstGeom prst="roundRect">
            <a:avLst>
              <a:gd name="adj" fmla="val 8421"/>
            </a:avLst>
          </a:prstGeom>
          <a:solidFill>
            <a:srgbClr val="1C282B"/>
          </a:solidFill>
          <a:ln w="12700">
            <a:solidFill>
              <a:srgbClr val="DCB264"/>
            </a:solidFill>
            <a:prstDash val="solid"/>
          </a:ln>
        </p:spPr>
      </p:sp>
      <p:sp>
        <p:nvSpPr>
          <p:cNvPr id="35" name="Text 32"/>
          <p:cNvSpPr txBox="1"/>
          <p:nvPr/>
        </p:nvSpPr>
        <p:spPr>
          <a:xfrm>
            <a:off x="7589520" y="1600200"/>
            <a:ext cx="3913632" cy="8686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Investierbar = offenes Commitment + einbehaltene Erlöse − Gebührenreserve</a:t>
            </a:r>
            <a:endParaRPr lang="en-US" sz="1350" dirty="0"/>
          </a:p>
        </p:txBody>
      </p:sp>
      <p:sp>
        <p:nvSpPr>
          <p:cNvPr id="36" name="Text 33"/>
          <p:cNvSpPr txBox="1"/>
          <p:nvPr/>
        </p:nvSpPr>
        <p:spPr>
          <a:xfrm>
            <a:off x="7406640" y="2697480"/>
            <a:ext cx="4279392" cy="21945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Kapitalabruf: </a:t>
            </a:r>
            <a:pPr indent="0" marL="0">
              <a:buNone/>
            </a:pPr>
            <a:r>
              <a:rPr lang="en-US" sz="1250" dirty="0">
                <a:solidFill>
                  <a:srgbClr val="EDF1EE"/>
                </a:solidFill>
                <a:latin typeface="Calibri" pitchFamily="34" charset="0"/>
                <a:ea typeface="Calibri" pitchFamily="34" charset="-122"/>
                <a:cs typeface="Calibri" pitchFamily="34" charset="-120"/>
              </a:rPr>
              <a:t>Jeder Abfluss (Equity, Fees, Due Diligence) nutzt zuerst einbehaltene Erlöse, danach das Commitment.</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Harte Grenze: </a:t>
            </a:r>
            <a:pPr indent="0" marL="0">
              <a:buNone/>
            </a:pPr>
            <a:r>
              <a:rPr lang="en-US" sz="1250" dirty="0">
                <a:solidFill>
                  <a:srgbClr val="EDF1EE"/>
                </a:solidFill>
                <a:latin typeface="Calibri" pitchFamily="34" charset="0"/>
                <a:ea typeface="Calibri" pitchFamily="34" charset="-122"/>
                <a:cs typeface="Calibri" pitchFamily="34" charset="-120"/>
              </a:rPr>
              <a:t>Über das Commitment hinaus wird nie abgerufen; ungedeckte Gebühren laufen als Verbindlichkeit auf.</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Dry Powder </a:t>
            </a:r>
            <a:pPr indent="0" marL="0">
              <a:buNone/>
            </a:pPr>
            <a:r>
              <a:rPr lang="en-US" sz="1250" dirty="0">
                <a:solidFill>
                  <a:srgbClr val="EDF1EE"/>
                </a:solidFill>
                <a:latin typeface="Calibri" pitchFamily="34" charset="0"/>
                <a:ea typeface="Calibri" pitchFamily="34" charset="-122"/>
                <a:cs typeface="Calibri" pitchFamily="34" charset="-120"/>
              </a:rPr>
              <a:t>ist die Kennzahl oben links im Spiel – daran scheitern Gebote mit zu viel Eigenkapital.</a:t>
            </a:r>
            <a:endParaRPr lang="en-US" sz="1250" dirty="0"/>
          </a:p>
        </p:txBody>
      </p:sp>
      <p:pic>
        <p:nvPicPr>
          <p:cNvPr id="37" name="Image 0" descr="/tmp/claude-0/deck/img/kpi_header.jpg">    </p:cNvPr>
          <p:cNvPicPr>
            <a:picLocks noChangeAspect="1"/>
          </p:cNvPicPr>
          <p:nvPr/>
        </p:nvPicPr>
        <p:blipFill>
          <a:blip r:embed="rId1"/>
          <a:stretch>
            <a:fillRect/>
          </a:stretch>
        </p:blipFill>
        <p:spPr>
          <a:xfrm>
            <a:off x="7406640" y="4892040"/>
            <a:ext cx="2701636" cy="1371600"/>
          </a:xfrm>
          <a:prstGeom prst="rect">
            <a:avLst/>
          </a:prstGeom>
        </p:spPr>
      </p:pic>
      <p:sp>
        <p:nvSpPr>
          <p:cNvPr id="38" name="Shape 34"/>
          <p:cNvSpPr/>
          <p:nvPr/>
        </p:nvSpPr>
        <p:spPr>
          <a:xfrm>
            <a:off x="7406640" y="4892040"/>
            <a:ext cx="2701636" cy="1371600"/>
          </a:xfrm>
          <a:prstGeom prst="rect">
            <a:avLst/>
          </a:prstGeom>
          <a:ln w="9525">
            <a:solidFill>
              <a:srgbClr val="33474B"/>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KOSTENSTRUKTUR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 Fee und Transaktionskosten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6</a:t>
            </a:r>
            <a:endParaRPr lang="en-US" sz="900" dirty="0"/>
          </a:p>
        </p:txBody>
      </p:sp>
      <p:sp>
        <p:nvSpPr>
          <p:cNvPr id="9" name="Text 6"/>
          <p:cNvSpPr txBox="1"/>
          <p:nvPr/>
        </p:nvSpPr>
        <p:spPr>
          <a:xfrm>
            <a:off x="502920" y="1600200"/>
            <a:ext cx="68580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MANAGEMENT FEE ÜBER DIE LAUFZEIT (MIO. € JE HALBJAHR)</a:t>
            </a:r>
            <a:endParaRPr lang="en-US" sz="1000" dirty="0"/>
          </a:p>
        </p:txBody>
      </p:sp>
      <p:graphicFrame>
        <p:nvGraphicFramePr>
          <p:cNvPr id="10" name="Chart 0" descr=""/>
          <p:cNvGraphicFramePr/>
          <p:nvPr/>
        </p:nvGraphicFramePr>
        <p:xfrm>
          <a:off x="502920" y="1874520"/>
          <a:ext cx="6858000" cy="3017520"/>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85800" y="4983480"/>
            <a:ext cx="3291840" cy="274320"/>
          </a:xfrm>
          <a:prstGeom prst="rect">
            <a:avLst/>
          </a:prstGeom>
          <a:noFill/>
          <a:ln/>
        </p:spPr>
        <p:txBody>
          <a:bodyPr wrap="square" lIns="0" tIns="0" rIns="0" bIns="0" rtlCol="0" anchor="t"/>
          <a:lstStyle/>
          <a:p>
            <a:pPr algn="l" indent="0" marL="0">
              <a:buNone/>
            </a:pPr>
            <a:r>
              <a:rPr lang="en-US" sz="1100" b="1" dirty="0">
                <a:solidFill>
                  <a:srgbClr val="DCB264"/>
                </a:solidFill>
                <a:latin typeface="Calibri" pitchFamily="34" charset="0"/>
                <a:ea typeface="Calibri" pitchFamily="34" charset="-122"/>
                <a:cs typeface="Calibri" pitchFamily="34" charset="-120"/>
              </a:rPr>
              <a:t>HJ 1–10: 2 % p. a. auf 500 Mio. € Commitment</a:t>
            </a:r>
            <a:endParaRPr lang="en-US" sz="1100" dirty="0"/>
          </a:p>
        </p:txBody>
      </p:sp>
      <p:sp>
        <p:nvSpPr>
          <p:cNvPr id="12" name="Text 8"/>
          <p:cNvSpPr txBox="1"/>
          <p:nvPr/>
        </p:nvSpPr>
        <p:spPr>
          <a:xfrm>
            <a:off x="3977640" y="4983480"/>
            <a:ext cx="3383280" cy="45720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HJ 11–20: 2 % p. a. auf den Einstand des Restportfolios (Beispielverlauf)</a:t>
            </a:r>
            <a:endParaRPr lang="en-US" sz="1100" dirty="0"/>
          </a:p>
        </p:txBody>
      </p:sp>
      <p:sp>
        <p:nvSpPr>
          <p:cNvPr id="13" name="Shape 9"/>
          <p:cNvSpPr/>
          <p:nvPr/>
        </p:nvSpPr>
        <p:spPr>
          <a:xfrm>
            <a:off x="7680960" y="1600200"/>
            <a:ext cx="4005072" cy="777240"/>
          </a:xfrm>
          <a:prstGeom prst="roundRect">
            <a:avLst>
              <a:gd name="adj" fmla="val 9412"/>
            </a:avLst>
          </a:prstGeom>
          <a:solidFill>
            <a:srgbClr val="161F22"/>
          </a:solidFill>
          <a:ln w="9525">
            <a:solidFill>
              <a:srgbClr val="243033"/>
            </a:solidFill>
            <a:prstDash val="solid"/>
          </a:ln>
        </p:spPr>
      </p:sp>
      <p:sp>
        <p:nvSpPr>
          <p:cNvPr id="14" name="Text 10"/>
          <p:cNvSpPr txBox="1"/>
          <p:nvPr/>
        </p:nvSpPr>
        <p:spPr>
          <a:xfrm>
            <a:off x="7818120" y="1600200"/>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2 %</a:t>
            </a:r>
            <a:endParaRPr lang="en-US" sz="2000" dirty="0"/>
          </a:p>
        </p:txBody>
      </p:sp>
      <p:sp>
        <p:nvSpPr>
          <p:cNvPr id="15" name="Text 11"/>
          <p:cNvSpPr txBox="1"/>
          <p:nvPr/>
        </p:nvSpPr>
        <p:spPr>
          <a:xfrm>
            <a:off x="9098280" y="1600200"/>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Entry Fee auf den EV – steckt im Equity Ticket</a:t>
            </a:r>
            <a:endParaRPr lang="en-US" sz="1150" dirty="0"/>
          </a:p>
        </p:txBody>
      </p:sp>
      <p:sp>
        <p:nvSpPr>
          <p:cNvPr id="16" name="Shape 12"/>
          <p:cNvSpPr/>
          <p:nvPr/>
        </p:nvSpPr>
        <p:spPr>
          <a:xfrm>
            <a:off x="7680960" y="2496312"/>
            <a:ext cx="4005072" cy="777240"/>
          </a:xfrm>
          <a:prstGeom prst="roundRect">
            <a:avLst>
              <a:gd name="adj" fmla="val 9412"/>
            </a:avLst>
          </a:prstGeom>
          <a:solidFill>
            <a:srgbClr val="161F22"/>
          </a:solidFill>
          <a:ln w="9525">
            <a:solidFill>
              <a:srgbClr val="243033"/>
            </a:solidFill>
            <a:prstDash val="solid"/>
          </a:ln>
        </p:spPr>
      </p:sp>
      <p:sp>
        <p:nvSpPr>
          <p:cNvPr id="17" name="Text 13"/>
          <p:cNvSpPr txBox="1"/>
          <p:nvPr/>
        </p:nvSpPr>
        <p:spPr>
          <a:xfrm>
            <a:off x="7818120" y="2496312"/>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0,6–3,5</a:t>
            </a:r>
            <a:endParaRPr lang="en-US" sz="2000" dirty="0"/>
          </a:p>
        </p:txBody>
      </p:sp>
      <p:sp>
        <p:nvSpPr>
          <p:cNvPr id="18" name="Text 14"/>
          <p:cNvSpPr txBox="1"/>
          <p:nvPr/>
        </p:nvSpPr>
        <p:spPr>
          <a:xfrm>
            <a:off x="9098280" y="2496312"/>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Mio. € Due Diligence je Datenraum – auch bei verlorenem Deal</a:t>
            </a:r>
            <a:endParaRPr lang="en-US" sz="1150" dirty="0"/>
          </a:p>
        </p:txBody>
      </p:sp>
      <p:sp>
        <p:nvSpPr>
          <p:cNvPr id="19" name="Shape 15"/>
          <p:cNvSpPr/>
          <p:nvPr/>
        </p:nvSpPr>
        <p:spPr>
          <a:xfrm>
            <a:off x="7680960" y="3392424"/>
            <a:ext cx="4005072" cy="777240"/>
          </a:xfrm>
          <a:prstGeom prst="roundRect">
            <a:avLst>
              <a:gd name="adj" fmla="val 9412"/>
            </a:avLst>
          </a:prstGeom>
          <a:solidFill>
            <a:srgbClr val="161F22"/>
          </a:solidFill>
          <a:ln w="9525">
            <a:solidFill>
              <a:srgbClr val="243033"/>
            </a:solidFill>
            <a:prstDash val="solid"/>
          </a:ln>
        </p:spPr>
      </p:sp>
      <p:sp>
        <p:nvSpPr>
          <p:cNvPr id="20" name="Text 16"/>
          <p:cNvSpPr txBox="1"/>
          <p:nvPr/>
        </p:nvSpPr>
        <p:spPr>
          <a:xfrm>
            <a:off x="7818120" y="3392424"/>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1,5–4 %</a:t>
            </a:r>
            <a:endParaRPr lang="en-US" sz="2000" dirty="0"/>
          </a:p>
        </p:txBody>
      </p:sp>
      <p:sp>
        <p:nvSpPr>
          <p:cNvPr id="21" name="Text 17"/>
          <p:cNvSpPr txBox="1"/>
          <p:nvPr/>
        </p:nvSpPr>
        <p:spPr>
          <a:xfrm>
            <a:off x="9098280" y="3392424"/>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Exit-Kosten je nach Route</a:t>
            </a:r>
            <a:endParaRPr lang="en-US" sz="1150" dirty="0"/>
          </a:p>
        </p:txBody>
      </p:sp>
      <p:sp>
        <p:nvSpPr>
          <p:cNvPr id="22" name="Shape 18"/>
          <p:cNvSpPr/>
          <p:nvPr/>
        </p:nvSpPr>
        <p:spPr>
          <a:xfrm>
            <a:off x="7680960" y="4288536"/>
            <a:ext cx="4005072" cy="777240"/>
          </a:xfrm>
          <a:prstGeom prst="roundRect">
            <a:avLst>
              <a:gd name="adj" fmla="val 9412"/>
            </a:avLst>
          </a:prstGeom>
          <a:solidFill>
            <a:srgbClr val="161F22"/>
          </a:solidFill>
          <a:ln w="9525">
            <a:solidFill>
              <a:srgbClr val="243033"/>
            </a:solidFill>
            <a:prstDash val="solid"/>
          </a:ln>
        </p:spPr>
      </p:sp>
      <p:sp>
        <p:nvSpPr>
          <p:cNvPr id="23" name="Text 19"/>
          <p:cNvSpPr txBox="1"/>
          <p:nvPr/>
        </p:nvSpPr>
        <p:spPr>
          <a:xfrm>
            <a:off x="7818120" y="4288536"/>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6 %</a:t>
            </a:r>
            <a:endParaRPr lang="en-US" sz="2000" dirty="0"/>
          </a:p>
        </p:txBody>
      </p:sp>
      <p:sp>
        <p:nvSpPr>
          <p:cNvPr id="24" name="Text 20"/>
          <p:cNvSpPr txBox="1"/>
          <p:nvPr/>
        </p:nvSpPr>
        <p:spPr>
          <a:xfrm>
            <a:off x="9098280" y="4288536"/>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Sweet Equity des Managements, falls MEP</a:t>
            </a:r>
            <a:endParaRPr lang="en-US" sz="1150" dirty="0"/>
          </a:p>
        </p:txBody>
      </p:sp>
      <p:sp>
        <p:nvSpPr>
          <p:cNvPr id="25" name="Shape 21"/>
          <p:cNvSpPr/>
          <p:nvPr/>
        </p:nvSpPr>
        <p:spPr>
          <a:xfrm>
            <a:off x="7680960" y="5184648"/>
            <a:ext cx="4005072" cy="777240"/>
          </a:xfrm>
          <a:prstGeom prst="roundRect">
            <a:avLst>
              <a:gd name="adj" fmla="val 9412"/>
            </a:avLst>
          </a:prstGeom>
          <a:solidFill>
            <a:srgbClr val="161F22"/>
          </a:solidFill>
          <a:ln w="9525">
            <a:solidFill>
              <a:srgbClr val="243033"/>
            </a:solidFill>
            <a:prstDash val="solid"/>
          </a:ln>
        </p:spPr>
      </p:sp>
      <p:sp>
        <p:nvSpPr>
          <p:cNvPr id="26" name="Text 22"/>
          <p:cNvSpPr txBox="1"/>
          <p:nvPr/>
        </p:nvSpPr>
        <p:spPr>
          <a:xfrm>
            <a:off x="7818120" y="5184648"/>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20 %</a:t>
            </a:r>
            <a:endParaRPr lang="en-US" sz="2000" dirty="0"/>
          </a:p>
        </p:txBody>
      </p:sp>
      <p:sp>
        <p:nvSpPr>
          <p:cNvPr id="27" name="Text 23"/>
          <p:cNvSpPr txBox="1"/>
          <p:nvPr/>
        </p:nvSpPr>
        <p:spPr>
          <a:xfrm>
            <a:off x="9098280" y="5184648"/>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Carry über der 8 %-Hurdle</a:t>
            </a:r>
            <a:endParaRPr lang="en-US" sz="1150" dirty="0"/>
          </a:p>
        </p:txBody>
      </p:sp>
      <p:sp>
        <p:nvSpPr>
          <p:cNvPr id="28" name="Text 24"/>
          <p:cNvSpPr txBox="1"/>
          <p:nvPr/>
        </p:nvSpPr>
        <p:spPr>
          <a:xfrm>
            <a:off x="502920" y="5669280"/>
            <a:ext cx="6949440" cy="457200"/>
          </a:xfrm>
          <a:prstGeom prst="rect">
            <a:avLst/>
          </a:prstGeom>
          <a:noFill/>
          <a:ln/>
        </p:spPr>
        <p:txBody>
          <a:bodyPr wrap="square" lIns="0" tIns="0" rIns="0" bIns="0" rtlCol="0" anchor="t"/>
          <a:lstStyle/>
          <a:p>
            <a:pPr algn="l" indent="0" marL="0">
              <a:buNone/>
            </a:pPr>
            <a:r>
              <a:rPr lang="en-US" sz="1150" i="1" dirty="0">
                <a:solidFill>
                  <a:srgbClr val="8E9C9B"/>
                </a:solidFill>
                <a:latin typeface="Calibri" pitchFamily="34" charset="0"/>
                <a:ea typeface="Calibri" pitchFamily="34" charset="-122"/>
                <a:cs typeface="Calibri" pitchFamily="34" charset="-120"/>
              </a:rPr>
              <a:t>Ø in 60 simulierten Partien je Fonds: Fees −54 · Transaktionskosten −12 · Carry −20 Mio. €</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ERLÖSVERWENDUNG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Recycling oder Ausschüttung: TVPI gegen IRR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7</a:t>
            </a:r>
            <a:endParaRPr lang="en-US" sz="900" dirty="0"/>
          </a:p>
        </p:txBody>
      </p:sp>
      <p:sp>
        <p:nvSpPr>
          <p:cNvPr id="9" name="Shape 6"/>
          <p:cNvSpPr/>
          <p:nvPr/>
        </p:nvSpPr>
        <p:spPr>
          <a:xfrm>
            <a:off x="502920" y="1600200"/>
            <a:ext cx="5394960" cy="3246120"/>
          </a:xfrm>
          <a:prstGeom prst="roundRect">
            <a:avLst>
              <a:gd name="adj" fmla="val 2254"/>
            </a:avLst>
          </a:prstGeom>
          <a:solidFill>
            <a:srgbClr val="161F22"/>
          </a:solidFill>
          <a:ln w="15875">
            <a:solidFill>
              <a:srgbClr val="5FC4B1"/>
            </a:solidFill>
            <a:prstDash val="solid"/>
          </a:ln>
        </p:spPr>
      </p:sp>
      <p:sp>
        <p:nvSpPr>
          <p:cNvPr id="10" name="Shape 7"/>
          <p:cNvSpPr/>
          <p:nvPr/>
        </p:nvSpPr>
        <p:spPr>
          <a:xfrm>
            <a:off x="777240" y="1783080"/>
            <a:ext cx="566928" cy="566928"/>
          </a:xfrm>
          <a:prstGeom prst="ellipse">
            <a:avLst/>
          </a:prstGeom>
          <a:solidFill>
            <a:srgbClr val="1C282B"/>
          </a:solidFill>
          <a:ln w="12700">
            <a:solidFill>
              <a:srgbClr val="5FC4B1"/>
            </a:solidFill>
            <a:prstDash val="solid"/>
          </a:ln>
        </p:spPr>
      </p:sp>
      <p:pic>
        <p:nvPicPr>
          <p:cNvPr id="11" name="Image 0" descr="/tmp/claude-0/deck/img/i_layers_teal.png">    </p:cNvPr>
          <p:cNvPicPr>
            <a:picLocks noChangeAspect="1"/>
          </p:cNvPicPr>
          <p:nvPr/>
        </p:nvPicPr>
        <p:blipFill>
          <a:blip r:embed="rId1"/>
          <a:stretch>
            <a:fillRect/>
          </a:stretch>
        </p:blipFill>
        <p:spPr>
          <a:xfrm>
            <a:off x="913303" y="1919143"/>
            <a:ext cx="294803" cy="294803"/>
          </a:xfrm>
          <a:prstGeom prst="rect">
            <a:avLst/>
          </a:prstGeom>
        </p:spPr>
      </p:pic>
      <p:sp>
        <p:nvSpPr>
          <p:cNvPr id="12" name="Text 8"/>
          <p:cNvSpPr txBox="1"/>
          <p:nvPr/>
        </p:nvSpPr>
        <p:spPr>
          <a:xfrm>
            <a:off x="1508760" y="1828800"/>
            <a:ext cx="4206240" cy="457200"/>
          </a:xfrm>
          <a:prstGeom prst="rect">
            <a:avLst/>
          </a:prstGeom>
          <a:noFill/>
          <a:ln/>
        </p:spPr>
        <p:txBody>
          <a:bodyPr wrap="square" lIns="0" tIns="0" rIns="0" bIns="0" rtlCol="0" anchor="t"/>
          <a:lstStyle/>
          <a:p>
            <a:pPr algn="l" indent="0" marL="0">
              <a:buNone/>
            </a:pPr>
            <a:r>
              <a:rPr lang="en-US" sz="2000" b="1" dirty="0">
                <a:solidFill>
                  <a:srgbClr val="5FC4B1"/>
                </a:solidFill>
                <a:latin typeface="Calibri" pitchFamily="34" charset="0"/>
                <a:ea typeface="Calibri" pitchFamily="34" charset="-122"/>
                <a:cs typeface="Calibri" pitchFamily="34" charset="-120"/>
              </a:rPr>
              <a:t>Einbehalten (Recycling)</a:t>
            </a:r>
            <a:endParaRPr lang="en-US" sz="2000" dirty="0"/>
          </a:p>
        </p:txBody>
      </p:sp>
      <p:sp>
        <p:nvSpPr>
          <p:cNvPr id="13" name="Text 9"/>
          <p:cNvSpPr txBox="1"/>
          <p:nvPr/>
        </p:nvSpPr>
        <p:spPr>
          <a:xfrm>
            <a:off x="777240"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Mehr Kapital arbeitet je abgerufenem Euro → höherer TVPI</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Neue Deals ohne neuen Kapitalabruf</a:t>
            </a:r>
            <a:endParaRPr lang="en-US" sz="1350" dirty="0"/>
          </a:p>
        </p:txBody>
      </p:sp>
      <p:sp>
        <p:nvSpPr>
          <p:cNvPr id="14" name="Text 10"/>
          <p:cNvSpPr txBox="1"/>
          <p:nvPr/>
        </p:nvSpPr>
        <p:spPr>
          <a:xfrm>
            <a:off x="777240"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Geld kommt später zu den Investoren → niedrigerer IRR</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Nur sinnvoll, wenn es gute Deals gibt</a:t>
            </a:r>
            <a:endParaRPr lang="en-US" sz="1350" dirty="0"/>
          </a:p>
        </p:txBody>
      </p:sp>
      <p:sp>
        <p:nvSpPr>
          <p:cNvPr id="15" name="Shape 11"/>
          <p:cNvSpPr/>
          <p:nvPr/>
        </p:nvSpPr>
        <p:spPr>
          <a:xfrm>
            <a:off x="6291072" y="1600200"/>
            <a:ext cx="5394960" cy="3246120"/>
          </a:xfrm>
          <a:prstGeom prst="roundRect">
            <a:avLst>
              <a:gd name="adj" fmla="val 2254"/>
            </a:avLst>
          </a:prstGeom>
          <a:solidFill>
            <a:srgbClr val="161F22"/>
          </a:solidFill>
          <a:ln w="15875">
            <a:solidFill>
              <a:srgbClr val="DCB264"/>
            </a:solidFill>
            <a:prstDash val="solid"/>
          </a:ln>
        </p:spPr>
      </p:sp>
      <p:sp>
        <p:nvSpPr>
          <p:cNvPr id="16" name="Shape 12"/>
          <p:cNvSpPr/>
          <p:nvPr/>
        </p:nvSpPr>
        <p:spPr>
          <a:xfrm>
            <a:off x="6565392" y="1783080"/>
            <a:ext cx="566928" cy="566928"/>
          </a:xfrm>
          <a:prstGeom prst="ellipse">
            <a:avLst/>
          </a:prstGeom>
          <a:solidFill>
            <a:srgbClr val="1C282B"/>
          </a:solidFill>
          <a:ln w="12700">
            <a:solidFill>
              <a:srgbClr val="DCB264"/>
            </a:solidFill>
            <a:prstDash val="solid"/>
          </a:ln>
        </p:spPr>
      </p:sp>
      <p:pic>
        <p:nvPicPr>
          <p:cNvPr id="17" name="Image 1" descr="/tmp/claude-0/deck/img/i_coins_gold.png">    </p:cNvPr>
          <p:cNvPicPr>
            <a:picLocks noChangeAspect="1"/>
          </p:cNvPicPr>
          <p:nvPr/>
        </p:nvPicPr>
        <p:blipFill>
          <a:blip r:embed="rId2"/>
          <a:stretch>
            <a:fillRect/>
          </a:stretch>
        </p:blipFill>
        <p:spPr>
          <a:xfrm>
            <a:off x="6701455" y="1919143"/>
            <a:ext cx="294803" cy="294803"/>
          </a:xfrm>
          <a:prstGeom prst="rect">
            <a:avLst/>
          </a:prstGeom>
        </p:spPr>
      </p:pic>
      <p:sp>
        <p:nvSpPr>
          <p:cNvPr id="18" name="Text 13"/>
          <p:cNvSpPr txBox="1"/>
          <p:nvPr/>
        </p:nvSpPr>
        <p:spPr>
          <a:xfrm>
            <a:off x="7296912" y="1828800"/>
            <a:ext cx="4206240" cy="457200"/>
          </a:xfrm>
          <a:prstGeom prst="rect">
            <a:avLst/>
          </a:prstGeom>
          <a:noFill/>
          <a:ln/>
        </p:spPr>
        <p:txBody>
          <a:bodyPr wrap="square" lIns="0" tIns="0" rIns="0" bIns="0" rtlCol="0" anchor="t"/>
          <a:lstStyle/>
          <a:p>
            <a:pPr algn="l" indent="0" marL="0">
              <a:buNone/>
            </a:pPr>
            <a:r>
              <a:rPr lang="en-US" sz="2000" b="1" dirty="0">
                <a:solidFill>
                  <a:srgbClr val="DCB264"/>
                </a:solidFill>
                <a:latin typeface="Calibri" pitchFamily="34" charset="0"/>
                <a:ea typeface="Calibri" pitchFamily="34" charset="-122"/>
                <a:cs typeface="Calibri" pitchFamily="34" charset="-120"/>
              </a:rPr>
              <a:t>Ausschütten</a:t>
            </a:r>
            <a:endParaRPr lang="en-US" sz="2000" dirty="0"/>
          </a:p>
        </p:txBody>
      </p:sp>
      <p:sp>
        <p:nvSpPr>
          <p:cNvPr id="19" name="Text 14"/>
          <p:cNvSpPr txBox="1"/>
          <p:nvPr/>
        </p:nvSpPr>
        <p:spPr>
          <a:xfrm>
            <a:off x="6565392"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Frühe Rückflüsse → höherer IRR und DPI</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Realisiert, also keine Bewertung mehr</a:t>
            </a:r>
            <a:endParaRPr lang="en-US" sz="1350" dirty="0"/>
          </a:p>
        </p:txBody>
      </p:sp>
      <p:sp>
        <p:nvSpPr>
          <p:cNvPr id="20" name="Text 15"/>
          <p:cNvSpPr txBox="1"/>
          <p:nvPr/>
        </p:nvSpPr>
        <p:spPr>
          <a:xfrm>
            <a:off x="6565392"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Weniger Kapital im Einsatz → geringerer TVPI-Hebel</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Dry Powder schrumpft</a:t>
            </a:r>
            <a:endParaRPr lang="en-US" sz="1350" dirty="0"/>
          </a:p>
        </p:txBody>
      </p:sp>
      <p:sp>
        <p:nvSpPr>
          <p:cNvPr id="21" name="Text 16"/>
          <p:cNvSpPr txBox="1"/>
          <p:nvPr/>
        </p:nvSpPr>
        <p:spPr>
          <a:xfrm>
            <a:off x="502920" y="507492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REGELN AUS DEM LPA, SO IN DER ENGINE (RECYCLEROOM)</a:t>
            </a:r>
            <a:endParaRPr lang="en-US" sz="1000" dirty="0"/>
          </a:p>
        </p:txBody>
      </p:sp>
      <p:sp>
        <p:nvSpPr>
          <p:cNvPr id="22" name="Shape 17"/>
          <p:cNvSpPr/>
          <p:nvPr/>
        </p:nvSpPr>
        <p:spPr>
          <a:xfrm>
            <a:off x="502920" y="5349240"/>
            <a:ext cx="3611880" cy="868680"/>
          </a:xfrm>
          <a:prstGeom prst="roundRect">
            <a:avLst>
              <a:gd name="adj" fmla="val 8421"/>
            </a:avLst>
          </a:prstGeom>
          <a:solidFill>
            <a:srgbClr val="1C282B"/>
          </a:solidFill>
          <a:ln w="9525">
            <a:solidFill>
              <a:srgbClr val="243033"/>
            </a:solidFill>
            <a:prstDash val="solid"/>
          </a:ln>
        </p:spPr>
      </p:sp>
      <p:sp>
        <p:nvSpPr>
          <p:cNvPr id="23" name="Text 18"/>
          <p:cNvSpPr txBox="1"/>
          <p:nvPr/>
        </p:nvSpPr>
        <p:spPr>
          <a:xfrm>
            <a:off x="685800"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Nur bis Halbjahr 10</a:t>
            </a:r>
            <a:endParaRPr lang="en-US" sz="1400" dirty="0"/>
          </a:p>
        </p:txBody>
      </p:sp>
      <p:sp>
        <p:nvSpPr>
          <p:cNvPr id="24" name="Text 19"/>
          <p:cNvSpPr txBox="1"/>
          <p:nvPr/>
        </p:nvSpPr>
        <p:spPr>
          <a:xfrm>
            <a:off x="685800"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danach wird zwingend voll ausgeschüttet</a:t>
            </a:r>
            <a:endParaRPr lang="en-US" sz="1200" dirty="0"/>
          </a:p>
        </p:txBody>
      </p:sp>
      <p:sp>
        <p:nvSpPr>
          <p:cNvPr id="25" name="Shape 20"/>
          <p:cNvSpPr/>
          <p:nvPr/>
        </p:nvSpPr>
        <p:spPr>
          <a:xfrm>
            <a:off x="4279392" y="5349240"/>
            <a:ext cx="3611880" cy="868680"/>
          </a:xfrm>
          <a:prstGeom prst="roundRect">
            <a:avLst>
              <a:gd name="adj" fmla="val 8421"/>
            </a:avLst>
          </a:prstGeom>
          <a:solidFill>
            <a:srgbClr val="1C282B"/>
          </a:solidFill>
          <a:ln w="9525">
            <a:solidFill>
              <a:srgbClr val="243033"/>
            </a:solidFill>
            <a:prstDash val="solid"/>
          </a:ln>
        </p:spPr>
      </p:sp>
      <p:sp>
        <p:nvSpPr>
          <p:cNvPr id="26" name="Text 21"/>
          <p:cNvSpPr txBox="1"/>
          <p:nvPr/>
        </p:nvSpPr>
        <p:spPr>
          <a:xfrm>
            <a:off x="4462272"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Deckel 100 %</a:t>
            </a:r>
            <a:endParaRPr lang="en-US" sz="1400" dirty="0"/>
          </a:p>
        </p:txBody>
      </p:sp>
      <p:sp>
        <p:nvSpPr>
          <p:cNvPr id="27" name="Text 22"/>
          <p:cNvSpPr txBox="1"/>
          <p:nvPr/>
        </p:nvSpPr>
        <p:spPr>
          <a:xfrm>
            <a:off x="4462272"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kumuliert höchstens ein Commitment</a:t>
            </a:r>
            <a:endParaRPr lang="en-US" sz="1200" dirty="0"/>
          </a:p>
        </p:txBody>
      </p:sp>
      <p:sp>
        <p:nvSpPr>
          <p:cNvPr id="28" name="Shape 23"/>
          <p:cNvSpPr/>
          <p:nvPr/>
        </p:nvSpPr>
        <p:spPr>
          <a:xfrm>
            <a:off x="8055864" y="5349240"/>
            <a:ext cx="3611880" cy="868680"/>
          </a:xfrm>
          <a:prstGeom prst="roundRect">
            <a:avLst>
              <a:gd name="adj" fmla="val 8421"/>
            </a:avLst>
          </a:prstGeom>
          <a:solidFill>
            <a:srgbClr val="1C282B"/>
          </a:solidFill>
          <a:ln w="9525">
            <a:solidFill>
              <a:srgbClr val="243033"/>
            </a:solidFill>
            <a:prstDash val="solid"/>
          </a:ln>
        </p:spPr>
      </p:sp>
      <p:sp>
        <p:nvSpPr>
          <p:cNvPr id="29" name="Text 24"/>
          <p:cNvSpPr txBox="1"/>
          <p:nvPr/>
        </p:nvSpPr>
        <p:spPr>
          <a:xfrm>
            <a:off x="8238744"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Vorgabe 0 %</a:t>
            </a:r>
            <a:endParaRPr lang="en-US" sz="1400" dirty="0"/>
          </a:p>
        </p:txBody>
      </p:sp>
      <p:sp>
        <p:nvSpPr>
          <p:cNvPr id="30" name="Text 25"/>
          <p:cNvSpPr txBox="1"/>
          <p:nvPr/>
        </p:nvSpPr>
        <p:spPr>
          <a:xfrm>
            <a:off x="8238744"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ohne Entscheidung wird ausgeschüttet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CARRIED INTEREST</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Der europäische Wasserfall mit Catch-up</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8</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Beispiel: 400 Mio. € abgerufen, aufgelaufene Vorzugsrendite 140 Mio. €</a:t>
            </a:r>
            <a:endParaRPr lang="en-US" sz="1000" dirty="0"/>
          </a:p>
        </p:txBody>
      </p:sp>
      <p:sp>
        <p:nvSpPr>
          <p:cNvPr id="11" name="Shape 7"/>
          <p:cNvSpPr/>
          <p:nvPr/>
        </p:nvSpPr>
        <p:spPr>
          <a:xfrm>
            <a:off x="7772400" y="1600200"/>
            <a:ext cx="3913632" cy="804672"/>
          </a:xfrm>
          <a:prstGeom prst="roundRect">
            <a:avLst>
              <a:gd name="adj" fmla="val 9091"/>
            </a:avLst>
          </a:prstGeom>
          <a:solidFill>
            <a:srgbClr val="161F22"/>
          </a:solidFill>
          <a:ln w="9525">
            <a:solidFill>
              <a:srgbClr val="243033"/>
            </a:solidFill>
            <a:prstDash val="solid"/>
          </a:ln>
        </p:spPr>
      </p:sp>
      <p:sp>
        <p:nvSpPr>
          <p:cNvPr id="12" name="Text 8"/>
          <p:cNvSpPr txBox="1"/>
          <p:nvPr/>
        </p:nvSpPr>
        <p:spPr>
          <a:xfrm>
            <a:off x="7955280" y="1673352"/>
            <a:ext cx="3566160" cy="292608"/>
          </a:xfrm>
          <a:prstGeom prst="rect">
            <a:avLst/>
          </a:prstGeom>
          <a:noFill/>
          <a:ln/>
        </p:spPr>
        <p:txBody>
          <a:bodyPr wrap="square" lIns="0" tIns="0" rIns="0" bIns="0" rtlCol="0" anchor="t"/>
          <a:lstStyle/>
          <a:p>
            <a:pPr algn="l" indent="0" marL="0">
              <a:buNone/>
            </a:pPr>
            <a:r>
              <a:rPr lang="en-US" sz="1350" b="1" dirty="0">
                <a:solidFill>
                  <a:srgbClr val="8E9C9B"/>
                </a:solidFill>
                <a:latin typeface="Calibri" pitchFamily="34" charset="0"/>
                <a:ea typeface="Calibri" pitchFamily="34" charset="-122"/>
                <a:cs typeface="Calibri" pitchFamily="34" charset="-120"/>
              </a:rPr>
              <a:t>Gewinn ≤ Pref</a:t>
            </a:r>
            <a:endParaRPr lang="en-US" sz="1350" dirty="0"/>
          </a:p>
        </p:txBody>
      </p:sp>
      <p:sp>
        <p:nvSpPr>
          <p:cNvPr id="13" name="Text 9"/>
          <p:cNvSpPr txBox="1"/>
          <p:nvPr/>
        </p:nvSpPr>
        <p:spPr>
          <a:xfrm>
            <a:off x="7955280" y="1984248"/>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Kein Carry – die Vorzugsrendite ist noch nicht verdient.</a:t>
            </a:r>
            <a:endParaRPr lang="en-US" sz="1150" dirty="0"/>
          </a:p>
        </p:txBody>
      </p:sp>
      <p:sp>
        <p:nvSpPr>
          <p:cNvPr id="14" name="Shape 10"/>
          <p:cNvSpPr/>
          <p:nvPr/>
        </p:nvSpPr>
        <p:spPr>
          <a:xfrm>
            <a:off x="7772400" y="2532888"/>
            <a:ext cx="3913632" cy="804672"/>
          </a:xfrm>
          <a:prstGeom prst="roundRect">
            <a:avLst>
              <a:gd name="adj" fmla="val 9091"/>
            </a:avLst>
          </a:prstGeom>
          <a:solidFill>
            <a:srgbClr val="161F22"/>
          </a:solidFill>
          <a:ln w="9525">
            <a:solidFill>
              <a:srgbClr val="243033"/>
            </a:solidFill>
            <a:prstDash val="solid"/>
          </a:ln>
        </p:spPr>
      </p:sp>
      <p:sp>
        <p:nvSpPr>
          <p:cNvPr id="15" name="Text 11"/>
          <p:cNvSpPr txBox="1"/>
          <p:nvPr/>
        </p:nvSpPr>
        <p:spPr>
          <a:xfrm>
            <a:off x="7955280" y="2606040"/>
            <a:ext cx="3566160" cy="292608"/>
          </a:xfrm>
          <a:prstGeom prst="rect">
            <a:avLst/>
          </a:prstGeom>
          <a:noFill/>
          <a:ln/>
        </p:spPr>
        <p:txBody>
          <a:bodyPr wrap="square" lIns="0" tIns="0" rIns="0" bIns="0" rtlCol="0" anchor="t"/>
          <a:lstStyle/>
          <a:p>
            <a:pPr algn="l" indent="0" marL="0">
              <a:buNone/>
            </a:pPr>
            <a:r>
              <a:rPr lang="en-US" sz="1350" b="1" dirty="0">
                <a:solidFill>
                  <a:srgbClr val="DCB264"/>
                </a:solidFill>
                <a:latin typeface="Calibri" pitchFamily="34" charset="0"/>
                <a:ea typeface="Calibri" pitchFamily="34" charset="-122"/>
                <a:cs typeface="Calibri" pitchFamily="34" charset="-120"/>
              </a:rPr>
              <a:t>Pref &lt; Gewinn &lt; Pref / 0,8</a:t>
            </a:r>
            <a:endParaRPr lang="en-US" sz="1350" dirty="0"/>
          </a:p>
        </p:txBody>
      </p:sp>
      <p:sp>
        <p:nvSpPr>
          <p:cNvPr id="16" name="Text 12"/>
          <p:cNvSpPr txBox="1"/>
          <p:nvPr/>
        </p:nvSpPr>
        <p:spPr>
          <a:xfrm>
            <a:off x="7955280" y="2916936"/>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Catch-up: Jeder weitere Euro geht an den GP.</a:t>
            </a:r>
            <a:endParaRPr lang="en-US" sz="1150" dirty="0"/>
          </a:p>
        </p:txBody>
      </p:sp>
      <p:sp>
        <p:nvSpPr>
          <p:cNvPr id="17" name="Shape 13"/>
          <p:cNvSpPr/>
          <p:nvPr/>
        </p:nvSpPr>
        <p:spPr>
          <a:xfrm>
            <a:off x="7772400" y="3465576"/>
            <a:ext cx="3913632" cy="804672"/>
          </a:xfrm>
          <a:prstGeom prst="roundRect">
            <a:avLst>
              <a:gd name="adj" fmla="val 9091"/>
            </a:avLst>
          </a:prstGeom>
          <a:solidFill>
            <a:srgbClr val="161F22"/>
          </a:solidFill>
          <a:ln w="9525">
            <a:solidFill>
              <a:srgbClr val="243033"/>
            </a:solidFill>
            <a:prstDash val="solid"/>
          </a:ln>
        </p:spPr>
      </p:sp>
      <p:sp>
        <p:nvSpPr>
          <p:cNvPr id="18" name="Text 14"/>
          <p:cNvSpPr txBox="1"/>
          <p:nvPr/>
        </p:nvSpPr>
        <p:spPr>
          <a:xfrm>
            <a:off x="7955280" y="3538728"/>
            <a:ext cx="3566160" cy="292608"/>
          </a:xfrm>
          <a:prstGeom prst="rect">
            <a:avLst/>
          </a:prstGeom>
          <a:noFill/>
          <a:ln/>
        </p:spPr>
        <p:txBody>
          <a:bodyPr wrap="square" lIns="0" tIns="0" rIns="0" bIns="0" rtlCol="0" anchor="t"/>
          <a:lstStyle/>
          <a:p>
            <a:pPr algn="l" indent="0" marL="0">
              <a:buNone/>
            </a:pPr>
            <a:r>
              <a:rPr lang="en-US" sz="1350" b="1" dirty="0">
                <a:solidFill>
                  <a:srgbClr val="5FC4B1"/>
                </a:solidFill>
                <a:latin typeface="Calibri" pitchFamily="34" charset="0"/>
                <a:ea typeface="Calibri" pitchFamily="34" charset="-122"/>
                <a:cs typeface="Calibri" pitchFamily="34" charset="-120"/>
              </a:rPr>
              <a:t>Gewinn ≥ Pref / 0,8</a:t>
            </a:r>
            <a:endParaRPr lang="en-US" sz="1350" dirty="0"/>
          </a:p>
        </p:txBody>
      </p:sp>
      <p:sp>
        <p:nvSpPr>
          <p:cNvPr id="19" name="Text 15"/>
          <p:cNvSpPr txBox="1"/>
          <p:nvPr/>
        </p:nvSpPr>
        <p:spPr>
          <a:xfrm>
            <a:off x="7955280" y="3849624"/>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20 % des gesamten Gewinns gehen an den GP.</a:t>
            </a:r>
            <a:endParaRPr lang="en-US" sz="1150" dirty="0"/>
          </a:p>
        </p:txBody>
      </p:sp>
      <p:sp>
        <p:nvSpPr>
          <p:cNvPr id="20" name="Shape 16"/>
          <p:cNvSpPr/>
          <p:nvPr/>
        </p:nvSpPr>
        <p:spPr>
          <a:xfrm>
            <a:off x="7772400" y="4526280"/>
            <a:ext cx="3913632" cy="640080"/>
          </a:xfrm>
          <a:prstGeom prst="roundRect">
            <a:avLst>
              <a:gd name="adj" fmla="val 11429"/>
            </a:avLst>
          </a:prstGeom>
          <a:solidFill>
            <a:srgbClr val="1C282B"/>
          </a:solidFill>
          <a:ln w="12700">
            <a:solidFill>
              <a:srgbClr val="DCB264"/>
            </a:solidFill>
            <a:prstDash val="solid"/>
          </a:ln>
        </p:spPr>
      </p:sp>
      <p:sp>
        <p:nvSpPr>
          <p:cNvPr id="21" name="Text 17"/>
          <p:cNvSpPr txBox="1"/>
          <p:nvPr/>
        </p:nvSpPr>
        <p:spPr>
          <a:xfrm>
            <a:off x="7955280" y="4526280"/>
            <a:ext cx="354787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Carry = min( Gewinn − Pref ; 20 % × Gewinn )</a:t>
            </a:r>
            <a:endParaRPr lang="en-US" sz="1400" dirty="0"/>
          </a:p>
        </p:txBody>
      </p:sp>
      <p:sp>
        <p:nvSpPr>
          <p:cNvPr id="22" name="Text 18"/>
          <p:cNvSpPr txBox="1"/>
          <p:nvPr/>
        </p:nvSpPr>
        <p:spPr>
          <a:xfrm>
            <a:off x="7772400" y="5303520"/>
            <a:ext cx="3913632" cy="8229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Die Hurdle läuft auf die tatsächlichen Abrufe ab ihrem Zeitpunkt: Wer spät abruft, hat eine kleinere Vorzugsrendite zu überspringen.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KENNZAHLEN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TVPI, DPI, IRR – und die J-Curve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9</a:t>
            </a:r>
            <a:endParaRPr lang="en-US" sz="900" dirty="0"/>
          </a:p>
        </p:txBody>
      </p:sp>
      <p:graphicFrame>
        <p:nvGraphicFramePr>
          <p:cNvPr id="9" name="Chart 0" descr=""/>
          <p:cNvGraphicFramePr/>
          <p:nvPr/>
        </p:nvGraphicFramePr>
        <p:xfrm>
          <a:off x="502920" y="1600200"/>
          <a:ext cx="576072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502920" y="4480560"/>
          <a:ext cx="5760720" cy="178308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6492240" y="1600200"/>
            <a:ext cx="5193792" cy="822960"/>
          </a:xfrm>
          <a:prstGeom prst="roundRect">
            <a:avLst>
              <a:gd name="adj" fmla="val 8889"/>
            </a:avLst>
          </a:prstGeom>
          <a:solidFill>
            <a:srgbClr val="161F22"/>
          </a:solidFill>
          <a:ln w="9525">
            <a:solidFill>
              <a:srgbClr val="243033"/>
            </a:solidFill>
            <a:prstDash val="solid"/>
          </a:ln>
        </p:spPr>
      </p:sp>
      <p:sp>
        <p:nvSpPr>
          <p:cNvPr id="12" name="Text 7"/>
          <p:cNvSpPr txBox="1"/>
          <p:nvPr/>
        </p:nvSpPr>
        <p:spPr>
          <a:xfrm>
            <a:off x="6629400" y="1600200"/>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TVPI</a:t>
            </a:r>
            <a:endParaRPr lang="en-US" sz="1700" dirty="0"/>
          </a:p>
        </p:txBody>
      </p:sp>
      <p:sp>
        <p:nvSpPr>
          <p:cNvPr id="13" name="Text 8"/>
          <p:cNvSpPr txBox="1"/>
          <p:nvPr/>
        </p:nvSpPr>
        <p:spPr>
          <a:xfrm>
            <a:off x="7955280" y="1691640"/>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NAV − Carry) / abgerufenes Kapital</a:t>
            </a:r>
            <a:endParaRPr lang="en-US" sz="1150" dirty="0"/>
          </a:p>
        </p:txBody>
      </p:sp>
      <p:sp>
        <p:nvSpPr>
          <p:cNvPr id="14" name="Text 9"/>
          <p:cNvSpPr txBox="1"/>
          <p:nvPr/>
        </p:nvSpPr>
        <p:spPr>
          <a:xfrm>
            <a:off x="7955280" y="2084832"/>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Gesamtwert je Euro</a:t>
            </a:r>
            <a:endParaRPr lang="en-US" sz="1050" dirty="0"/>
          </a:p>
        </p:txBody>
      </p:sp>
      <p:sp>
        <p:nvSpPr>
          <p:cNvPr id="15" name="Shape 10"/>
          <p:cNvSpPr/>
          <p:nvPr/>
        </p:nvSpPr>
        <p:spPr>
          <a:xfrm>
            <a:off x="6492240" y="2532888"/>
            <a:ext cx="5193792" cy="822960"/>
          </a:xfrm>
          <a:prstGeom prst="roundRect">
            <a:avLst>
              <a:gd name="adj" fmla="val 8889"/>
            </a:avLst>
          </a:prstGeom>
          <a:solidFill>
            <a:srgbClr val="161F22"/>
          </a:solidFill>
          <a:ln w="9525">
            <a:solidFill>
              <a:srgbClr val="243033"/>
            </a:solidFill>
            <a:prstDash val="solid"/>
          </a:ln>
        </p:spPr>
      </p:sp>
      <p:sp>
        <p:nvSpPr>
          <p:cNvPr id="16" name="Text 11"/>
          <p:cNvSpPr txBox="1"/>
          <p:nvPr/>
        </p:nvSpPr>
        <p:spPr>
          <a:xfrm>
            <a:off x="6629400" y="2532888"/>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DPI</a:t>
            </a:r>
            <a:endParaRPr lang="en-US" sz="1700" dirty="0"/>
          </a:p>
        </p:txBody>
      </p:sp>
      <p:sp>
        <p:nvSpPr>
          <p:cNvPr id="17" name="Text 12"/>
          <p:cNvSpPr txBox="1"/>
          <p:nvPr/>
        </p:nvSpPr>
        <p:spPr>
          <a:xfrm>
            <a:off x="7955280" y="2624328"/>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abgerufenes Kapital</a:t>
            </a:r>
            <a:endParaRPr lang="en-US" sz="1150" dirty="0"/>
          </a:p>
        </p:txBody>
      </p:sp>
      <p:sp>
        <p:nvSpPr>
          <p:cNvPr id="18" name="Text 13"/>
          <p:cNvSpPr txBox="1"/>
          <p:nvPr/>
        </p:nvSpPr>
        <p:spPr>
          <a:xfrm>
            <a:off x="7955280" y="3017520"/>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nur echtes Geld</a:t>
            </a:r>
            <a:endParaRPr lang="en-US" sz="1050" dirty="0"/>
          </a:p>
        </p:txBody>
      </p:sp>
      <p:sp>
        <p:nvSpPr>
          <p:cNvPr id="19" name="Shape 14"/>
          <p:cNvSpPr/>
          <p:nvPr/>
        </p:nvSpPr>
        <p:spPr>
          <a:xfrm>
            <a:off x="6492240" y="3465576"/>
            <a:ext cx="5193792" cy="822960"/>
          </a:xfrm>
          <a:prstGeom prst="roundRect">
            <a:avLst>
              <a:gd name="adj" fmla="val 8889"/>
            </a:avLst>
          </a:prstGeom>
          <a:solidFill>
            <a:srgbClr val="161F22"/>
          </a:solidFill>
          <a:ln w="9525">
            <a:solidFill>
              <a:srgbClr val="243033"/>
            </a:solidFill>
            <a:prstDash val="solid"/>
          </a:ln>
        </p:spPr>
      </p:sp>
      <p:sp>
        <p:nvSpPr>
          <p:cNvPr id="20" name="Text 15"/>
          <p:cNvSpPr txBox="1"/>
          <p:nvPr/>
        </p:nvSpPr>
        <p:spPr>
          <a:xfrm>
            <a:off x="6629400" y="3465576"/>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RVPI</a:t>
            </a:r>
            <a:endParaRPr lang="en-US" sz="1700" dirty="0"/>
          </a:p>
        </p:txBody>
      </p:sp>
      <p:sp>
        <p:nvSpPr>
          <p:cNvPr id="21" name="Text 16"/>
          <p:cNvSpPr txBox="1"/>
          <p:nvPr/>
        </p:nvSpPr>
        <p:spPr>
          <a:xfrm>
            <a:off x="7955280" y="3557016"/>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NAV / abgerufenes Kapital</a:t>
            </a:r>
            <a:endParaRPr lang="en-US" sz="1150" dirty="0"/>
          </a:p>
        </p:txBody>
      </p:sp>
      <p:sp>
        <p:nvSpPr>
          <p:cNvPr id="22" name="Text 17"/>
          <p:cNvSpPr txBox="1"/>
          <p:nvPr/>
        </p:nvSpPr>
        <p:spPr>
          <a:xfrm>
            <a:off x="7955280" y="3950208"/>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nur Bewertung</a:t>
            </a:r>
            <a:endParaRPr lang="en-US" sz="1050" dirty="0"/>
          </a:p>
        </p:txBody>
      </p:sp>
      <p:sp>
        <p:nvSpPr>
          <p:cNvPr id="23" name="Shape 18"/>
          <p:cNvSpPr/>
          <p:nvPr/>
        </p:nvSpPr>
        <p:spPr>
          <a:xfrm>
            <a:off x="6492240" y="4398264"/>
            <a:ext cx="5193792" cy="822960"/>
          </a:xfrm>
          <a:prstGeom prst="roundRect">
            <a:avLst>
              <a:gd name="adj" fmla="val 8889"/>
            </a:avLst>
          </a:prstGeom>
          <a:solidFill>
            <a:srgbClr val="161F22"/>
          </a:solidFill>
          <a:ln w="9525">
            <a:solidFill>
              <a:srgbClr val="243033"/>
            </a:solidFill>
            <a:prstDash val="solid"/>
          </a:ln>
        </p:spPr>
      </p:sp>
      <p:sp>
        <p:nvSpPr>
          <p:cNvPr id="24" name="Text 19"/>
          <p:cNvSpPr txBox="1"/>
          <p:nvPr/>
        </p:nvSpPr>
        <p:spPr>
          <a:xfrm>
            <a:off x="6629400" y="4398264"/>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Gross MOIC</a:t>
            </a:r>
            <a:endParaRPr lang="en-US" sz="1700" dirty="0"/>
          </a:p>
        </p:txBody>
      </p:sp>
      <p:sp>
        <p:nvSpPr>
          <p:cNvPr id="25" name="Text 20"/>
          <p:cNvSpPr txBox="1"/>
          <p:nvPr/>
        </p:nvSpPr>
        <p:spPr>
          <a:xfrm>
            <a:off x="7955280" y="4489704"/>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(Erlöse + NAV) / investiertes Kapital</a:t>
            </a:r>
            <a:endParaRPr lang="en-US" sz="1150" dirty="0"/>
          </a:p>
        </p:txBody>
      </p:sp>
      <p:sp>
        <p:nvSpPr>
          <p:cNvPr id="26" name="Text 21"/>
          <p:cNvSpPr txBox="1"/>
          <p:nvPr/>
        </p:nvSpPr>
        <p:spPr>
          <a:xfrm>
            <a:off x="7955280" y="4882896"/>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Deal-Ebene, ohne Fees</a:t>
            </a:r>
            <a:endParaRPr lang="en-US" sz="1050" dirty="0"/>
          </a:p>
        </p:txBody>
      </p:sp>
      <p:sp>
        <p:nvSpPr>
          <p:cNvPr id="27" name="Shape 22"/>
          <p:cNvSpPr/>
          <p:nvPr/>
        </p:nvSpPr>
        <p:spPr>
          <a:xfrm>
            <a:off x="6492240" y="5330952"/>
            <a:ext cx="5193792" cy="822960"/>
          </a:xfrm>
          <a:prstGeom prst="roundRect">
            <a:avLst>
              <a:gd name="adj" fmla="val 8889"/>
            </a:avLst>
          </a:prstGeom>
          <a:solidFill>
            <a:srgbClr val="161F22"/>
          </a:solidFill>
          <a:ln w="9525">
            <a:solidFill>
              <a:srgbClr val="243033"/>
            </a:solidFill>
            <a:prstDash val="solid"/>
          </a:ln>
        </p:spPr>
      </p:sp>
      <p:sp>
        <p:nvSpPr>
          <p:cNvPr id="28" name="Text 23"/>
          <p:cNvSpPr txBox="1"/>
          <p:nvPr/>
        </p:nvSpPr>
        <p:spPr>
          <a:xfrm>
            <a:off x="6629400" y="5330952"/>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Net IRR</a:t>
            </a:r>
            <a:endParaRPr lang="en-US" sz="1700" dirty="0"/>
          </a:p>
        </p:txBody>
      </p:sp>
      <p:sp>
        <p:nvSpPr>
          <p:cNvPr id="29" name="Text 24"/>
          <p:cNvSpPr txBox="1"/>
          <p:nvPr/>
        </p:nvSpPr>
        <p:spPr>
          <a:xfrm>
            <a:off x="7955280" y="5422392"/>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Zins, der Abrufe und Rückflüsse (+ NAV) ausgleicht</a:t>
            </a:r>
            <a:endParaRPr lang="en-US" sz="1150" dirty="0"/>
          </a:p>
        </p:txBody>
      </p:sp>
      <p:sp>
        <p:nvSpPr>
          <p:cNvPr id="30" name="Text 25"/>
          <p:cNvSpPr txBox="1"/>
          <p:nvPr/>
        </p:nvSpPr>
        <p:spPr>
          <a:xfrm>
            <a:off x="7955280" y="5815584"/>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misst die Zeit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WERTUNG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Warum das Spiel TVPI und IRR je zur Hälfte wertet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10</a:t>
            </a:r>
            <a:endParaRPr lang="en-US" sz="900" dirty="0"/>
          </a:p>
        </p:txBody>
      </p:sp>
      <p:sp>
        <p:nvSpPr>
          <p:cNvPr id="9" name="Shape 6"/>
          <p:cNvSpPr/>
          <p:nvPr/>
        </p:nvSpPr>
        <p:spPr>
          <a:xfrm>
            <a:off x="502920" y="1600200"/>
            <a:ext cx="585216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486400" cy="685800"/>
          </a:xfrm>
          <a:prstGeom prst="rect">
            <a:avLst/>
          </a:prstGeom>
          <a:noFill/>
          <a:ln/>
        </p:spPr>
        <p:txBody>
          <a:bodyPr wrap="square" lIns="0" tIns="0" rIns="0" bIns="0" rtlCol="0" anchor="ctr"/>
          <a:lstStyle/>
          <a:p>
            <a:pPr algn="ctr" indent="0" marL="0">
              <a:buNone/>
            </a:pPr>
            <a:r>
              <a:rPr lang="en-US" sz="1800" b="1" dirty="0">
                <a:solidFill>
                  <a:srgbClr val="DCB264"/>
                </a:solidFill>
                <a:latin typeface="Calibri" pitchFamily="34" charset="0"/>
                <a:ea typeface="Calibri" pitchFamily="34" charset="-122"/>
                <a:cs typeface="Calibri" pitchFamily="34" charset="-120"/>
              </a:rPr>
              <a:t>Wertung = ½ × TVPI / 1,7  +  ½ × IRR / 18 %</a:t>
            </a:r>
            <a:endParaRPr lang="en-US" sz="1800" dirty="0"/>
          </a:p>
        </p:txBody>
      </p:sp>
      <p:sp>
        <p:nvSpPr>
          <p:cNvPr id="11" name="Text 8"/>
          <p:cNvSpPr txBox="1"/>
          <p:nvPr/>
        </p:nvSpPr>
        <p:spPr>
          <a:xfrm>
            <a:off x="1508760" y="2331720"/>
            <a:ext cx="4846320"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IRR →</a:t>
            </a:r>
            <a:endParaRPr lang="en-US" sz="1100" dirty="0"/>
          </a:p>
        </p:txBody>
      </p:sp>
      <p:sp>
        <p:nvSpPr>
          <p:cNvPr id="12" name="Text 9"/>
          <p:cNvSpPr txBox="1"/>
          <p:nvPr/>
        </p:nvSpPr>
        <p:spPr>
          <a:xfrm>
            <a:off x="1508760"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8 %</a:t>
            </a:r>
            <a:endParaRPr lang="en-US" sz="1100" dirty="0"/>
          </a:p>
        </p:txBody>
      </p:sp>
      <p:sp>
        <p:nvSpPr>
          <p:cNvPr id="13" name="Text 10"/>
          <p:cNvSpPr txBox="1"/>
          <p:nvPr/>
        </p:nvSpPr>
        <p:spPr>
          <a:xfrm>
            <a:off x="2478024"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12 %</a:t>
            </a:r>
            <a:endParaRPr lang="en-US" sz="1100" dirty="0"/>
          </a:p>
        </p:txBody>
      </p:sp>
      <p:sp>
        <p:nvSpPr>
          <p:cNvPr id="14" name="Text 11"/>
          <p:cNvSpPr txBox="1"/>
          <p:nvPr/>
        </p:nvSpPr>
        <p:spPr>
          <a:xfrm>
            <a:off x="3447288"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18 %</a:t>
            </a:r>
            <a:endParaRPr lang="en-US" sz="1100" dirty="0"/>
          </a:p>
        </p:txBody>
      </p:sp>
      <p:sp>
        <p:nvSpPr>
          <p:cNvPr id="15" name="Text 12"/>
          <p:cNvSpPr txBox="1"/>
          <p:nvPr/>
        </p:nvSpPr>
        <p:spPr>
          <a:xfrm>
            <a:off x="4416552"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24 %</a:t>
            </a:r>
            <a:endParaRPr lang="en-US" sz="1100" dirty="0"/>
          </a:p>
        </p:txBody>
      </p:sp>
      <p:sp>
        <p:nvSpPr>
          <p:cNvPr id="16" name="Text 13"/>
          <p:cNvSpPr txBox="1"/>
          <p:nvPr/>
        </p:nvSpPr>
        <p:spPr>
          <a:xfrm>
            <a:off x="5385816"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30 %</a:t>
            </a:r>
            <a:endParaRPr lang="en-US" sz="1100" dirty="0"/>
          </a:p>
        </p:txBody>
      </p:sp>
      <p:sp>
        <p:nvSpPr>
          <p:cNvPr id="17" name="Text 14"/>
          <p:cNvSpPr txBox="1"/>
          <p:nvPr/>
        </p:nvSpPr>
        <p:spPr>
          <a:xfrm>
            <a:off x="502920" y="292608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2,3×</a:t>
            </a:r>
            <a:endParaRPr lang="en-US" sz="1100" dirty="0"/>
          </a:p>
        </p:txBody>
      </p:sp>
      <p:sp>
        <p:nvSpPr>
          <p:cNvPr id="18" name="Shape 15"/>
          <p:cNvSpPr/>
          <p:nvPr/>
        </p:nvSpPr>
        <p:spPr>
          <a:xfrm>
            <a:off x="1536192" y="2953512"/>
            <a:ext cx="914400" cy="448056"/>
          </a:xfrm>
          <a:prstGeom prst="roundRect">
            <a:avLst>
              <a:gd name="adj" fmla="val 8163"/>
            </a:avLst>
          </a:prstGeom>
          <a:solidFill>
            <a:srgbClr val="3A4A4D"/>
          </a:solidFill>
          <a:ln/>
        </p:spPr>
      </p:sp>
      <p:sp>
        <p:nvSpPr>
          <p:cNvPr id="19" name="Text 16"/>
          <p:cNvSpPr txBox="1"/>
          <p:nvPr/>
        </p:nvSpPr>
        <p:spPr>
          <a:xfrm>
            <a:off x="1508760"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0,90</a:t>
            </a:r>
            <a:endParaRPr lang="en-US" sz="1250" dirty="0"/>
          </a:p>
        </p:txBody>
      </p:sp>
      <p:sp>
        <p:nvSpPr>
          <p:cNvPr id="20" name="Shape 17"/>
          <p:cNvSpPr/>
          <p:nvPr/>
        </p:nvSpPr>
        <p:spPr>
          <a:xfrm>
            <a:off x="2505456" y="2953512"/>
            <a:ext cx="914400" cy="448056"/>
          </a:xfrm>
          <a:prstGeom prst="roundRect">
            <a:avLst>
              <a:gd name="adj" fmla="val 8163"/>
            </a:avLst>
          </a:prstGeom>
          <a:solidFill>
            <a:srgbClr val="3E8F80"/>
          </a:solidFill>
          <a:ln/>
        </p:spPr>
      </p:sp>
      <p:sp>
        <p:nvSpPr>
          <p:cNvPr id="21" name="Text 18"/>
          <p:cNvSpPr txBox="1"/>
          <p:nvPr/>
        </p:nvSpPr>
        <p:spPr>
          <a:xfrm>
            <a:off x="2478024"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1,01</a:t>
            </a:r>
            <a:endParaRPr lang="en-US" sz="1250" dirty="0"/>
          </a:p>
        </p:txBody>
      </p:sp>
      <p:sp>
        <p:nvSpPr>
          <p:cNvPr id="22" name="Shape 19"/>
          <p:cNvSpPr/>
          <p:nvPr/>
        </p:nvSpPr>
        <p:spPr>
          <a:xfrm>
            <a:off x="3474720" y="2953512"/>
            <a:ext cx="914400" cy="448056"/>
          </a:xfrm>
          <a:prstGeom prst="roundRect">
            <a:avLst>
              <a:gd name="adj" fmla="val 8163"/>
            </a:avLst>
          </a:prstGeom>
          <a:solidFill>
            <a:srgbClr val="3E8F80"/>
          </a:solidFill>
          <a:ln/>
        </p:spPr>
      </p:sp>
      <p:sp>
        <p:nvSpPr>
          <p:cNvPr id="23" name="Text 20"/>
          <p:cNvSpPr txBox="1"/>
          <p:nvPr/>
        </p:nvSpPr>
        <p:spPr>
          <a:xfrm>
            <a:off x="3447288"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1,18</a:t>
            </a:r>
            <a:endParaRPr lang="en-US" sz="1250" dirty="0"/>
          </a:p>
        </p:txBody>
      </p:sp>
      <p:sp>
        <p:nvSpPr>
          <p:cNvPr id="24" name="Shape 21"/>
          <p:cNvSpPr/>
          <p:nvPr/>
        </p:nvSpPr>
        <p:spPr>
          <a:xfrm>
            <a:off x="4443984" y="2953512"/>
            <a:ext cx="914400" cy="448056"/>
          </a:xfrm>
          <a:prstGeom prst="roundRect">
            <a:avLst>
              <a:gd name="adj" fmla="val 8163"/>
            </a:avLst>
          </a:prstGeom>
          <a:solidFill>
            <a:srgbClr val="5FC4B1"/>
          </a:solidFill>
          <a:ln/>
        </p:spPr>
      </p:sp>
      <p:sp>
        <p:nvSpPr>
          <p:cNvPr id="25" name="Text 22"/>
          <p:cNvSpPr txBox="1"/>
          <p:nvPr/>
        </p:nvSpPr>
        <p:spPr>
          <a:xfrm>
            <a:off x="4416552"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1,34</a:t>
            </a:r>
            <a:endParaRPr lang="en-US" sz="1250" dirty="0"/>
          </a:p>
        </p:txBody>
      </p:sp>
      <p:sp>
        <p:nvSpPr>
          <p:cNvPr id="26" name="Shape 23"/>
          <p:cNvSpPr/>
          <p:nvPr/>
        </p:nvSpPr>
        <p:spPr>
          <a:xfrm>
            <a:off x="5413248" y="2953512"/>
            <a:ext cx="914400" cy="448056"/>
          </a:xfrm>
          <a:prstGeom prst="roundRect">
            <a:avLst>
              <a:gd name="adj" fmla="val 8163"/>
            </a:avLst>
          </a:prstGeom>
          <a:solidFill>
            <a:srgbClr val="5FC4B1"/>
          </a:solidFill>
          <a:ln/>
        </p:spPr>
      </p:sp>
      <p:sp>
        <p:nvSpPr>
          <p:cNvPr id="27" name="Text 24"/>
          <p:cNvSpPr txBox="1"/>
          <p:nvPr/>
        </p:nvSpPr>
        <p:spPr>
          <a:xfrm>
            <a:off x="5385816"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1,51</a:t>
            </a:r>
            <a:endParaRPr lang="en-US" sz="1250" dirty="0"/>
          </a:p>
        </p:txBody>
      </p:sp>
      <p:sp>
        <p:nvSpPr>
          <p:cNvPr id="28" name="Text 25"/>
          <p:cNvSpPr txBox="1"/>
          <p:nvPr/>
        </p:nvSpPr>
        <p:spPr>
          <a:xfrm>
            <a:off x="502920" y="342900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2,0×</a:t>
            </a:r>
            <a:endParaRPr lang="en-US" sz="1100" dirty="0"/>
          </a:p>
        </p:txBody>
      </p:sp>
      <p:sp>
        <p:nvSpPr>
          <p:cNvPr id="29" name="Shape 26"/>
          <p:cNvSpPr/>
          <p:nvPr/>
        </p:nvSpPr>
        <p:spPr>
          <a:xfrm>
            <a:off x="1536192" y="3456432"/>
            <a:ext cx="914400" cy="448056"/>
          </a:xfrm>
          <a:prstGeom prst="roundRect">
            <a:avLst>
              <a:gd name="adj" fmla="val 8163"/>
            </a:avLst>
          </a:prstGeom>
          <a:solidFill>
            <a:srgbClr val="3A4A4D"/>
          </a:solidFill>
          <a:ln/>
        </p:spPr>
      </p:sp>
      <p:sp>
        <p:nvSpPr>
          <p:cNvPr id="30" name="Text 27"/>
          <p:cNvSpPr txBox="1"/>
          <p:nvPr/>
        </p:nvSpPr>
        <p:spPr>
          <a:xfrm>
            <a:off x="1508760"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0,81</a:t>
            </a:r>
            <a:endParaRPr lang="en-US" sz="1250" dirty="0"/>
          </a:p>
        </p:txBody>
      </p:sp>
      <p:sp>
        <p:nvSpPr>
          <p:cNvPr id="31" name="Shape 28"/>
          <p:cNvSpPr/>
          <p:nvPr/>
        </p:nvSpPr>
        <p:spPr>
          <a:xfrm>
            <a:off x="2505456" y="3456432"/>
            <a:ext cx="914400" cy="448056"/>
          </a:xfrm>
          <a:prstGeom prst="roundRect">
            <a:avLst>
              <a:gd name="adj" fmla="val 8163"/>
            </a:avLst>
          </a:prstGeom>
          <a:solidFill>
            <a:srgbClr val="3A4A4D"/>
          </a:solidFill>
          <a:ln/>
        </p:spPr>
      </p:sp>
      <p:sp>
        <p:nvSpPr>
          <p:cNvPr id="32" name="Text 29"/>
          <p:cNvSpPr txBox="1"/>
          <p:nvPr/>
        </p:nvSpPr>
        <p:spPr>
          <a:xfrm>
            <a:off x="2478024"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0,92</a:t>
            </a:r>
            <a:endParaRPr lang="en-US" sz="1250" dirty="0"/>
          </a:p>
        </p:txBody>
      </p:sp>
      <p:sp>
        <p:nvSpPr>
          <p:cNvPr id="33" name="Shape 30"/>
          <p:cNvSpPr/>
          <p:nvPr/>
        </p:nvSpPr>
        <p:spPr>
          <a:xfrm>
            <a:off x="3474720" y="3456432"/>
            <a:ext cx="914400" cy="448056"/>
          </a:xfrm>
          <a:prstGeom prst="roundRect">
            <a:avLst>
              <a:gd name="adj" fmla="val 8163"/>
            </a:avLst>
          </a:prstGeom>
          <a:solidFill>
            <a:srgbClr val="3E8F80"/>
          </a:solidFill>
          <a:ln/>
        </p:spPr>
      </p:sp>
      <p:sp>
        <p:nvSpPr>
          <p:cNvPr id="34" name="Text 31"/>
          <p:cNvSpPr txBox="1"/>
          <p:nvPr/>
        </p:nvSpPr>
        <p:spPr>
          <a:xfrm>
            <a:off x="3447288"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1,09</a:t>
            </a:r>
            <a:endParaRPr lang="en-US" sz="1250" dirty="0"/>
          </a:p>
        </p:txBody>
      </p:sp>
      <p:sp>
        <p:nvSpPr>
          <p:cNvPr id="35" name="Shape 32"/>
          <p:cNvSpPr/>
          <p:nvPr/>
        </p:nvSpPr>
        <p:spPr>
          <a:xfrm>
            <a:off x="4443984" y="3456432"/>
            <a:ext cx="914400" cy="448056"/>
          </a:xfrm>
          <a:prstGeom prst="roundRect">
            <a:avLst>
              <a:gd name="adj" fmla="val 8163"/>
            </a:avLst>
          </a:prstGeom>
          <a:solidFill>
            <a:srgbClr val="5FC4B1"/>
          </a:solidFill>
          <a:ln/>
        </p:spPr>
      </p:sp>
      <p:sp>
        <p:nvSpPr>
          <p:cNvPr id="36" name="Text 33"/>
          <p:cNvSpPr txBox="1"/>
          <p:nvPr/>
        </p:nvSpPr>
        <p:spPr>
          <a:xfrm>
            <a:off x="4416552"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1,25</a:t>
            </a:r>
            <a:endParaRPr lang="en-US" sz="1250" dirty="0"/>
          </a:p>
        </p:txBody>
      </p:sp>
      <p:sp>
        <p:nvSpPr>
          <p:cNvPr id="37" name="Shape 34"/>
          <p:cNvSpPr/>
          <p:nvPr/>
        </p:nvSpPr>
        <p:spPr>
          <a:xfrm>
            <a:off x="5413248" y="3456432"/>
            <a:ext cx="914400" cy="448056"/>
          </a:xfrm>
          <a:prstGeom prst="roundRect">
            <a:avLst>
              <a:gd name="adj" fmla="val 8163"/>
            </a:avLst>
          </a:prstGeom>
          <a:solidFill>
            <a:srgbClr val="5FC4B1"/>
          </a:solidFill>
          <a:ln/>
        </p:spPr>
      </p:sp>
      <p:sp>
        <p:nvSpPr>
          <p:cNvPr id="38" name="Text 35"/>
          <p:cNvSpPr txBox="1"/>
          <p:nvPr/>
        </p:nvSpPr>
        <p:spPr>
          <a:xfrm>
            <a:off x="5385816"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1,42</a:t>
            </a:r>
            <a:endParaRPr lang="en-US" sz="1250" dirty="0"/>
          </a:p>
        </p:txBody>
      </p:sp>
      <p:sp>
        <p:nvSpPr>
          <p:cNvPr id="39" name="Text 36"/>
          <p:cNvSpPr txBox="1"/>
          <p:nvPr/>
        </p:nvSpPr>
        <p:spPr>
          <a:xfrm>
            <a:off x="502920" y="393192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1,7×</a:t>
            </a:r>
            <a:endParaRPr lang="en-US" sz="1100" dirty="0"/>
          </a:p>
        </p:txBody>
      </p:sp>
      <p:sp>
        <p:nvSpPr>
          <p:cNvPr id="40" name="Shape 37"/>
          <p:cNvSpPr/>
          <p:nvPr/>
        </p:nvSpPr>
        <p:spPr>
          <a:xfrm>
            <a:off x="1536192" y="3959352"/>
            <a:ext cx="914400" cy="448056"/>
          </a:xfrm>
          <a:prstGeom prst="roundRect">
            <a:avLst>
              <a:gd name="adj" fmla="val 8163"/>
            </a:avLst>
          </a:prstGeom>
          <a:solidFill>
            <a:srgbClr val="3A4A4D"/>
          </a:solidFill>
          <a:ln/>
        </p:spPr>
      </p:sp>
      <p:sp>
        <p:nvSpPr>
          <p:cNvPr id="41" name="Text 38"/>
          <p:cNvSpPr txBox="1"/>
          <p:nvPr/>
        </p:nvSpPr>
        <p:spPr>
          <a:xfrm>
            <a:off x="1508760"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0,72</a:t>
            </a:r>
            <a:endParaRPr lang="en-US" sz="1250" dirty="0"/>
          </a:p>
        </p:txBody>
      </p:sp>
      <p:sp>
        <p:nvSpPr>
          <p:cNvPr id="42" name="Shape 39"/>
          <p:cNvSpPr/>
          <p:nvPr/>
        </p:nvSpPr>
        <p:spPr>
          <a:xfrm>
            <a:off x="2505456" y="3959352"/>
            <a:ext cx="914400" cy="448056"/>
          </a:xfrm>
          <a:prstGeom prst="roundRect">
            <a:avLst>
              <a:gd name="adj" fmla="val 8163"/>
            </a:avLst>
          </a:prstGeom>
          <a:solidFill>
            <a:srgbClr val="3A4A4D"/>
          </a:solidFill>
          <a:ln/>
        </p:spPr>
      </p:sp>
      <p:sp>
        <p:nvSpPr>
          <p:cNvPr id="43" name="Text 40"/>
          <p:cNvSpPr txBox="1"/>
          <p:nvPr/>
        </p:nvSpPr>
        <p:spPr>
          <a:xfrm>
            <a:off x="2478024"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0,83</a:t>
            </a:r>
            <a:endParaRPr lang="en-US" sz="1250" dirty="0"/>
          </a:p>
        </p:txBody>
      </p:sp>
      <p:sp>
        <p:nvSpPr>
          <p:cNvPr id="44" name="Shape 41"/>
          <p:cNvSpPr/>
          <p:nvPr/>
        </p:nvSpPr>
        <p:spPr>
          <a:xfrm>
            <a:off x="3474720" y="3959352"/>
            <a:ext cx="914400" cy="448056"/>
          </a:xfrm>
          <a:prstGeom prst="roundRect">
            <a:avLst>
              <a:gd name="adj" fmla="val 8163"/>
            </a:avLst>
          </a:prstGeom>
          <a:solidFill>
            <a:srgbClr val="3E8F80"/>
          </a:solidFill>
          <a:ln/>
        </p:spPr>
      </p:sp>
      <p:sp>
        <p:nvSpPr>
          <p:cNvPr id="45" name="Text 42"/>
          <p:cNvSpPr txBox="1"/>
          <p:nvPr/>
        </p:nvSpPr>
        <p:spPr>
          <a:xfrm>
            <a:off x="3447288"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1,00</a:t>
            </a:r>
            <a:endParaRPr lang="en-US" sz="1250" dirty="0"/>
          </a:p>
        </p:txBody>
      </p:sp>
      <p:sp>
        <p:nvSpPr>
          <p:cNvPr id="46" name="Shape 43"/>
          <p:cNvSpPr/>
          <p:nvPr/>
        </p:nvSpPr>
        <p:spPr>
          <a:xfrm>
            <a:off x="4443984" y="3959352"/>
            <a:ext cx="914400" cy="448056"/>
          </a:xfrm>
          <a:prstGeom prst="roundRect">
            <a:avLst>
              <a:gd name="adj" fmla="val 8163"/>
            </a:avLst>
          </a:prstGeom>
          <a:solidFill>
            <a:srgbClr val="3E8F80"/>
          </a:solidFill>
          <a:ln/>
        </p:spPr>
      </p:sp>
      <p:sp>
        <p:nvSpPr>
          <p:cNvPr id="47" name="Text 44"/>
          <p:cNvSpPr txBox="1"/>
          <p:nvPr/>
        </p:nvSpPr>
        <p:spPr>
          <a:xfrm>
            <a:off x="4416552"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1,17</a:t>
            </a:r>
            <a:endParaRPr lang="en-US" sz="1250" dirty="0"/>
          </a:p>
        </p:txBody>
      </p:sp>
      <p:sp>
        <p:nvSpPr>
          <p:cNvPr id="48" name="Shape 45"/>
          <p:cNvSpPr/>
          <p:nvPr/>
        </p:nvSpPr>
        <p:spPr>
          <a:xfrm>
            <a:off x="5413248" y="3959352"/>
            <a:ext cx="914400" cy="448056"/>
          </a:xfrm>
          <a:prstGeom prst="roundRect">
            <a:avLst>
              <a:gd name="adj" fmla="val 8163"/>
            </a:avLst>
          </a:prstGeom>
          <a:solidFill>
            <a:srgbClr val="5FC4B1"/>
          </a:solidFill>
          <a:ln/>
        </p:spPr>
      </p:sp>
      <p:sp>
        <p:nvSpPr>
          <p:cNvPr id="49" name="Text 46"/>
          <p:cNvSpPr txBox="1"/>
          <p:nvPr/>
        </p:nvSpPr>
        <p:spPr>
          <a:xfrm>
            <a:off x="5385816"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1,33</a:t>
            </a:r>
            <a:endParaRPr lang="en-US" sz="1250" dirty="0"/>
          </a:p>
        </p:txBody>
      </p:sp>
      <p:sp>
        <p:nvSpPr>
          <p:cNvPr id="50" name="Text 47"/>
          <p:cNvSpPr txBox="1"/>
          <p:nvPr/>
        </p:nvSpPr>
        <p:spPr>
          <a:xfrm>
            <a:off x="502920" y="443484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1,4×</a:t>
            </a:r>
            <a:endParaRPr lang="en-US" sz="1100" dirty="0"/>
          </a:p>
        </p:txBody>
      </p:sp>
      <p:sp>
        <p:nvSpPr>
          <p:cNvPr id="51" name="Shape 48"/>
          <p:cNvSpPr/>
          <p:nvPr/>
        </p:nvSpPr>
        <p:spPr>
          <a:xfrm>
            <a:off x="1536192" y="4462272"/>
            <a:ext cx="914400" cy="448056"/>
          </a:xfrm>
          <a:prstGeom prst="roundRect">
            <a:avLst>
              <a:gd name="adj" fmla="val 8163"/>
            </a:avLst>
          </a:prstGeom>
          <a:solidFill>
            <a:srgbClr val="6B3A36"/>
          </a:solidFill>
          <a:ln/>
        </p:spPr>
      </p:sp>
      <p:sp>
        <p:nvSpPr>
          <p:cNvPr id="52" name="Text 49"/>
          <p:cNvSpPr txBox="1"/>
          <p:nvPr/>
        </p:nvSpPr>
        <p:spPr>
          <a:xfrm>
            <a:off x="1508760"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0,63</a:t>
            </a:r>
            <a:endParaRPr lang="en-US" sz="1250" dirty="0"/>
          </a:p>
        </p:txBody>
      </p:sp>
      <p:sp>
        <p:nvSpPr>
          <p:cNvPr id="53" name="Shape 50"/>
          <p:cNvSpPr/>
          <p:nvPr/>
        </p:nvSpPr>
        <p:spPr>
          <a:xfrm>
            <a:off x="2505456" y="4462272"/>
            <a:ext cx="914400" cy="448056"/>
          </a:xfrm>
          <a:prstGeom prst="roundRect">
            <a:avLst>
              <a:gd name="adj" fmla="val 8163"/>
            </a:avLst>
          </a:prstGeom>
          <a:solidFill>
            <a:srgbClr val="3A4A4D"/>
          </a:solidFill>
          <a:ln/>
        </p:spPr>
      </p:sp>
      <p:sp>
        <p:nvSpPr>
          <p:cNvPr id="54" name="Text 51"/>
          <p:cNvSpPr txBox="1"/>
          <p:nvPr/>
        </p:nvSpPr>
        <p:spPr>
          <a:xfrm>
            <a:off x="2478024"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0,75</a:t>
            </a:r>
            <a:endParaRPr lang="en-US" sz="1250" dirty="0"/>
          </a:p>
        </p:txBody>
      </p:sp>
      <p:sp>
        <p:nvSpPr>
          <p:cNvPr id="55" name="Shape 52"/>
          <p:cNvSpPr/>
          <p:nvPr/>
        </p:nvSpPr>
        <p:spPr>
          <a:xfrm>
            <a:off x="3474720" y="4462272"/>
            <a:ext cx="914400" cy="448056"/>
          </a:xfrm>
          <a:prstGeom prst="roundRect">
            <a:avLst>
              <a:gd name="adj" fmla="val 8163"/>
            </a:avLst>
          </a:prstGeom>
          <a:solidFill>
            <a:srgbClr val="3A4A4D"/>
          </a:solidFill>
          <a:ln/>
        </p:spPr>
      </p:sp>
      <p:sp>
        <p:nvSpPr>
          <p:cNvPr id="56" name="Text 53"/>
          <p:cNvSpPr txBox="1"/>
          <p:nvPr/>
        </p:nvSpPr>
        <p:spPr>
          <a:xfrm>
            <a:off x="3447288"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0,91</a:t>
            </a:r>
            <a:endParaRPr lang="en-US" sz="1250" dirty="0"/>
          </a:p>
        </p:txBody>
      </p:sp>
      <p:sp>
        <p:nvSpPr>
          <p:cNvPr id="57" name="Shape 54"/>
          <p:cNvSpPr/>
          <p:nvPr/>
        </p:nvSpPr>
        <p:spPr>
          <a:xfrm>
            <a:off x="4443984" y="4462272"/>
            <a:ext cx="914400" cy="448056"/>
          </a:xfrm>
          <a:prstGeom prst="roundRect">
            <a:avLst>
              <a:gd name="adj" fmla="val 8163"/>
            </a:avLst>
          </a:prstGeom>
          <a:solidFill>
            <a:srgbClr val="3E8F80"/>
          </a:solidFill>
          <a:ln/>
        </p:spPr>
      </p:sp>
      <p:sp>
        <p:nvSpPr>
          <p:cNvPr id="58" name="Text 55"/>
          <p:cNvSpPr txBox="1"/>
          <p:nvPr/>
        </p:nvSpPr>
        <p:spPr>
          <a:xfrm>
            <a:off x="4416552"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1,08</a:t>
            </a:r>
            <a:endParaRPr lang="en-US" sz="1250" dirty="0"/>
          </a:p>
        </p:txBody>
      </p:sp>
      <p:sp>
        <p:nvSpPr>
          <p:cNvPr id="59" name="Shape 56"/>
          <p:cNvSpPr/>
          <p:nvPr/>
        </p:nvSpPr>
        <p:spPr>
          <a:xfrm>
            <a:off x="5413248" y="4462272"/>
            <a:ext cx="914400" cy="448056"/>
          </a:xfrm>
          <a:prstGeom prst="roundRect">
            <a:avLst>
              <a:gd name="adj" fmla="val 8163"/>
            </a:avLst>
          </a:prstGeom>
          <a:solidFill>
            <a:srgbClr val="5FC4B1"/>
          </a:solidFill>
          <a:ln/>
        </p:spPr>
      </p:sp>
      <p:sp>
        <p:nvSpPr>
          <p:cNvPr id="60" name="Text 57"/>
          <p:cNvSpPr txBox="1"/>
          <p:nvPr/>
        </p:nvSpPr>
        <p:spPr>
          <a:xfrm>
            <a:off x="5385816"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1,25</a:t>
            </a:r>
            <a:endParaRPr lang="en-US" sz="1250" dirty="0"/>
          </a:p>
        </p:txBody>
      </p:sp>
      <p:sp>
        <p:nvSpPr>
          <p:cNvPr id="61" name="Text 58"/>
          <p:cNvSpPr txBox="1"/>
          <p:nvPr/>
        </p:nvSpPr>
        <p:spPr>
          <a:xfrm>
            <a:off x="502920" y="493776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1,2×</a:t>
            </a:r>
            <a:endParaRPr lang="en-US" sz="1100" dirty="0"/>
          </a:p>
        </p:txBody>
      </p:sp>
      <p:sp>
        <p:nvSpPr>
          <p:cNvPr id="62" name="Shape 59"/>
          <p:cNvSpPr/>
          <p:nvPr/>
        </p:nvSpPr>
        <p:spPr>
          <a:xfrm>
            <a:off x="1536192" y="4965192"/>
            <a:ext cx="914400" cy="448056"/>
          </a:xfrm>
          <a:prstGeom prst="roundRect">
            <a:avLst>
              <a:gd name="adj" fmla="val 8163"/>
            </a:avLst>
          </a:prstGeom>
          <a:solidFill>
            <a:srgbClr val="6B3A36"/>
          </a:solidFill>
          <a:ln/>
        </p:spPr>
      </p:sp>
      <p:sp>
        <p:nvSpPr>
          <p:cNvPr id="63" name="Text 60"/>
          <p:cNvSpPr txBox="1"/>
          <p:nvPr/>
        </p:nvSpPr>
        <p:spPr>
          <a:xfrm>
            <a:off x="1508760"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0,58</a:t>
            </a:r>
            <a:endParaRPr lang="en-US" sz="1250" dirty="0"/>
          </a:p>
        </p:txBody>
      </p:sp>
      <p:sp>
        <p:nvSpPr>
          <p:cNvPr id="64" name="Shape 61"/>
          <p:cNvSpPr/>
          <p:nvPr/>
        </p:nvSpPr>
        <p:spPr>
          <a:xfrm>
            <a:off x="2505456" y="4965192"/>
            <a:ext cx="914400" cy="448056"/>
          </a:xfrm>
          <a:prstGeom prst="roundRect">
            <a:avLst>
              <a:gd name="adj" fmla="val 8163"/>
            </a:avLst>
          </a:prstGeom>
          <a:solidFill>
            <a:srgbClr val="6B3A36"/>
          </a:solidFill>
          <a:ln/>
        </p:spPr>
      </p:sp>
      <p:sp>
        <p:nvSpPr>
          <p:cNvPr id="65" name="Text 62"/>
          <p:cNvSpPr txBox="1"/>
          <p:nvPr/>
        </p:nvSpPr>
        <p:spPr>
          <a:xfrm>
            <a:off x="2478024"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0,69</a:t>
            </a:r>
            <a:endParaRPr lang="en-US" sz="1250" dirty="0"/>
          </a:p>
        </p:txBody>
      </p:sp>
      <p:sp>
        <p:nvSpPr>
          <p:cNvPr id="66" name="Shape 63"/>
          <p:cNvSpPr/>
          <p:nvPr/>
        </p:nvSpPr>
        <p:spPr>
          <a:xfrm>
            <a:off x="3474720" y="4965192"/>
            <a:ext cx="914400" cy="448056"/>
          </a:xfrm>
          <a:prstGeom prst="roundRect">
            <a:avLst>
              <a:gd name="adj" fmla="val 8163"/>
            </a:avLst>
          </a:prstGeom>
          <a:solidFill>
            <a:srgbClr val="3A4A4D"/>
          </a:solidFill>
          <a:ln/>
        </p:spPr>
      </p:sp>
      <p:sp>
        <p:nvSpPr>
          <p:cNvPr id="67" name="Text 64"/>
          <p:cNvSpPr txBox="1"/>
          <p:nvPr/>
        </p:nvSpPr>
        <p:spPr>
          <a:xfrm>
            <a:off x="3447288"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0,85</a:t>
            </a:r>
            <a:endParaRPr lang="en-US" sz="1250" dirty="0"/>
          </a:p>
        </p:txBody>
      </p:sp>
      <p:sp>
        <p:nvSpPr>
          <p:cNvPr id="68" name="Shape 65"/>
          <p:cNvSpPr/>
          <p:nvPr/>
        </p:nvSpPr>
        <p:spPr>
          <a:xfrm>
            <a:off x="4443984" y="4965192"/>
            <a:ext cx="914400" cy="448056"/>
          </a:xfrm>
          <a:prstGeom prst="roundRect">
            <a:avLst>
              <a:gd name="adj" fmla="val 8163"/>
            </a:avLst>
          </a:prstGeom>
          <a:solidFill>
            <a:srgbClr val="3E8F80"/>
          </a:solidFill>
          <a:ln/>
        </p:spPr>
      </p:sp>
      <p:sp>
        <p:nvSpPr>
          <p:cNvPr id="69" name="Text 66"/>
          <p:cNvSpPr txBox="1"/>
          <p:nvPr/>
        </p:nvSpPr>
        <p:spPr>
          <a:xfrm>
            <a:off x="4416552"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1,02</a:t>
            </a:r>
            <a:endParaRPr lang="en-US" sz="1250" dirty="0"/>
          </a:p>
        </p:txBody>
      </p:sp>
      <p:sp>
        <p:nvSpPr>
          <p:cNvPr id="70" name="Shape 67"/>
          <p:cNvSpPr/>
          <p:nvPr/>
        </p:nvSpPr>
        <p:spPr>
          <a:xfrm>
            <a:off x="5413248" y="4965192"/>
            <a:ext cx="914400" cy="448056"/>
          </a:xfrm>
          <a:prstGeom prst="roundRect">
            <a:avLst>
              <a:gd name="adj" fmla="val 8163"/>
            </a:avLst>
          </a:prstGeom>
          <a:solidFill>
            <a:srgbClr val="3E8F80"/>
          </a:solidFill>
          <a:ln/>
        </p:spPr>
      </p:sp>
      <p:sp>
        <p:nvSpPr>
          <p:cNvPr id="71" name="Text 68"/>
          <p:cNvSpPr txBox="1"/>
          <p:nvPr/>
        </p:nvSpPr>
        <p:spPr>
          <a:xfrm>
            <a:off x="5385816"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1,19</a:t>
            </a:r>
            <a:endParaRPr lang="en-US" sz="1250" dirty="0"/>
          </a:p>
        </p:txBody>
      </p:sp>
      <p:sp>
        <p:nvSpPr>
          <p:cNvPr id="72" name="Text 69"/>
          <p:cNvSpPr txBox="1"/>
          <p:nvPr/>
        </p:nvSpPr>
        <p:spPr>
          <a:xfrm>
            <a:off x="502920" y="2624328"/>
            <a:ext cx="914400" cy="274320"/>
          </a:xfrm>
          <a:prstGeom prst="rect">
            <a:avLst/>
          </a:prstGeom>
          <a:noFill/>
          <a:ln/>
        </p:spPr>
        <p:txBody>
          <a:bodyPr wrap="square" lIns="0" tIns="0" rIns="0" bIns="0" rtlCol="0" anchor="t"/>
          <a:lstStyle/>
          <a:p>
            <a:pPr algn="r" indent="0" marL="0">
              <a:buNone/>
            </a:pPr>
            <a:r>
              <a:rPr lang="en-US" sz="1100" dirty="0">
                <a:solidFill>
                  <a:srgbClr val="8E9C9B"/>
                </a:solidFill>
                <a:latin typeface="Calibri" pitchFamily="34" charset="0"/>
                <a:ea typeface="Calibri" pitchFamily="34" charset="-122"/>
                <a:cs typeface="Calibri" pitchFamily="34" charset="-120"/>
              </a:rPr>
              <a:t>TVPI ↓</a:t>
            </a:r>
            <a:endParaRPr lang="en-US" sz="1100" dirty="0"/>
          </a:p>
        </p:txBody>
      </p:sp>
      <p:sp>
        <p:nvSpPr>
          <p:cNvPr id="73" name="Text 70"/>
          <p:cNvSpPr txBox="1"/>
          <p:nvPr/>
        </p:nvSpPr>
        <p:spPr>
          <a:xfrm>
            <a:off x="1508760" y="5550408"/>
            <a:ext cx="4846320" cy="274320"/>
          </a:xfrm>
          <a:prstGeom prst="rect">
            <a:avLst/>
          </a:prstGeom>
          <a:noFill/>
          <a:ln/>
        </p:spPr>
        <p:txBody>
          <a:bodyPr wrap="square" lIns="0" tIns="0" rIns="0" bIns="0" rtlCol="0" anchor="t"/>
          <a:lstStyle/>
          <a:p>
            <a:pPr algn="ctr" indent="0" marL="0">
              <a:buNone/>
            </a:pPr>
            <a:r>
              <a:rPr lang="en-US" sz="1050" i="1" dirty="0">
                <a:solidFill>
                  <a:srgbClr val="8E9C9B"/>
                </a:solidFill>
                <a:latin typeface="Calibri" pitchFamily="34" charset="0"/>
                <a:ea typeface="Calibri" pitchFamily="34" charset="-122"/>
                <a:cs typeface="Calibri" pitchFamily="34" charset="-120"/>
              </a:rPr>
              <a:t>Grün ab 1,00 = Benchmark eines guten Buyout-Fonds</a:t>
            </a:r>
            <a:endParaRPr lang="en-US" sz="1050" dirty="0"/>
          </a:p>
        </p:txBody>
      </p:sp>
      <p:pic>
        <p:nvPicPr>
          <p:cNvPr id="74" name="Image 0" descr="/tmp/claude-0/deck/img/rank.jpg">    </p:cNvPr>
          <p:cNvPicPr>
            <a:picLocks noChangeAspect="1"/>
          </p:cNvPicPr>
          <p:nvPr/>
        </p:nvPicPr>
        <p:blipFill>
          <a:blip r:embed="rId1"/>
          <a:stretch>
            <a:fillRect/>
          </a:stretch>
        </p:blipFill>
        <p:spPr>
          <a:xfrm>
            <a:off x="8661555" y="1600200"/>
            <a:ext cx="3024477" cy="2331720"/>
          </a:xfrm>
          <a:prstGeom prst="rect">
            <a:avLst/>
          </a:prstGeom>
        </p:spPr>
      </p:pic>
      <p:sp>
        <p:nvSpPr>
          <p:cNvPr id="75" name="Shape 71"/>
          <p:cNvSpPr/>
          <p:nvPr/>
        </p:nvSpPr>
        <p:spPr>
          <a:xfrm>
            <a:off x="8661555" y="1600200"/>
            <a:ext cx="3024477" cy="2331720"/>
          </a:xfrm>
          <a:prstGeom prst="rect">
            <a:avLst/>
          </a:prstGeom>
          <a:ln w="9525">
            <a:solidFill>
              <a:srgbClr val="33474B"/>
            </a:solidFill>
            <a:prstDash val="solid"/>
          </a:ln>
        </p:spPr>
      </p:sp>
      <p:sp>
        <p:nvSpPr>
          <p:cNvPr id="76" name="Text 72"/>
          <p:cNvSpPr txBox="1"/>
          <p:nvPr/>
        </p:nvSpPr>
        <p:spPr>
          <a:xfrm>
            <a:off x="8387235" y="3986784"/>
            <a:ext cx="3573117"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Peer-Group-Tabelle im Spiel</a:t>
            </a:r>
            <a:endParaRPr lang="en-US" sz="950" dirty="0"/>
          </a:p>
        </p:txBody>
      </p:sp>
      <p:sp>
        <p:nvSpPr>
          <p:cNvPr id="77" name="Text 73"/>
          <p:cNvSpPr txBox="1"/>
          <p:nvPr/>
        </p:nvSpPr>
        <p:spPr>
          <a:xfrm>
            <a:off x="6720840" y="4434840"/>
            <a:ext cx="493776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KALIBRIERUNG DER KOHORTE (ENGINE.TS)</a:t>
            </a:r>
            <a:endParaRPr lang="en-US" sz="1000" dirty="0"/>
          </a:p>
        </p:txBody>
      </p:sp>
      <p:sp>
        <p:nvSpPr>
          <p:cNvPr id="78" name="Text 74"/>
          <p:cNvSpPr txBox="1"/>
          <p:nvPr/>
        </p:nvSpPr>
        <p:spPr>
          <a:xfrm>
            <a:off x="6720840" y="4709160"/>
            <a:ext cx="1188720" cy="640080"/>
          </a:xfrm>
          <a:prstGeom prst="rect">
            <a:avLst/>
          </a:prstGeom>
          <a:noFill/>
          <a:ln/>
        </p:spPr>
        <p:txBody>
          <a:bodyPr wrap="square" lIns="0" tIns="0" rIns="0" bIns="0" rtlCol="0" anchor="t"/>
          <a:lstStyle/>
          <a:p>
            <a:pPr algn="l" indent="0" marL="0">
              <a:buNone/>
            </a:pPr>
            <a:r>
              <a:rPr lang="en-US" sz="2600" b="1" dirty="0">
                <a:solidFill>
                  <a:srgbClr val="EDF1EE"/>
                </a:solidFill>
                <a:latin typeface="Calibri" pitchFamily="34" charset="0"/>
                <a:ea typeface="Calibri" pitchFamily="34" charset="-122"/>
                <a:cs typeface="Calibri" pitchFamily="34" charset="-120"/>
              </a:rPr>
              <a:t>0,41</a:t>
            </a:r>
            <a:endParaRPr lang="en-US" sz="2600" dirty="0"/>
          </a:p>
        </p:txBody>
      </p:sp>
      <p:sp>
        <p:nvSpPr>
          <p:cNvPr id="79" name="Text 75"/>
          <p:cNvSpPr txBox="1"/>
          <p:nvPr/>
        </p:nvSpPr>
        <p:spPr>
          <a:xfrm>
            <a:off x="6720840"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p25</a:t>
            </a:r>
            <a:endParaRPr lang="en-US" sz="1100" dirty="0"/>
          </a:p>
        </p:txBody>
      </p:sp>
      <p:sp>
        <p:nvSpPr>
          <p:cNvPr id="80" name="Text 76"/>
          <p:cNvSpPr txBox="1"/>
          <p:nvPr/>
        </p:nvSpPr>
        <p:spPr>
          <a:xfrm>
            <a:off x="7973568" y="4709160"/>
            <a:ext cx="1188720" cy="640080"/>
          </a:xfrm>
          <a:prstGeom prst="rect">
            <a:avLst/>
          </a:prstGeom>
          <a:noFill/>
          <a:ln/>
        </p:spPr>
        <p:txBody>
          <a:bodyPr wrap="square" lIns="0" tIns="0" rIns="0" bIns="0" rtlCol="0" anchor="t"/>
          <a:lstStyle/>
          <a:p>
            <a:pPr algn="l" indent="0" marL="0">
              <a:buNone/>
            </a:pPr>
            <a:r>
              <a:rPr lang="en-US" sz="2600" b="1" dirty="0">
                <a:solidFill>
                  <a:srgbClr val="EDF1EE"/>
                </a:solidFill>
                <a:latin typeface="Calibri" pitchFamily="34" charset="0"/>
                <a:ea typeface="Calibri" pitchFamily="34" charset="-122"/>
                <a:cs typeface="Calibri" pitchFamily="34" charset="-120"/>
              </a:rPr>
              <a:t>0,71</a:t>
            </a:r>
            <a:endParaRPr lang="en-US" sz="2600" dirty="0"/>
          </a:p>
        </p:txBody>
      </p:sp>
      <p:sp>
        <p:nvSpPr>
          <p:cNvPr id="81" name="Text 77"/>
          <p:cNvSpPr txBox="1"/>
          <p:nvPr/>
        </p:nvSpPr>
        <p:spPr>
          <a:xfrm>
            <a:off x="7973568"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Median</a:t>
            </a:r>
            <a:endParaRPr lang="en-US" sz="1100" dirty="0"/>
          </a:p>
        </p:txBody>
      </p:sp>
      <p:sp>
        <p:nvSpPr>
          <p:cNvPr id="82" name="Text 78"/>
          <p:cNvSpPr txBox="1"/>
          <p:nvPr/>
        </p:nvSpPr>
        <p:spPr>
          <a:xfrm>
            <a:off x="9226296" y="4709160"/>
            <a:ext cx="1188720" cy="640080"/>
          </a:xfrm>
          <a:prstGeom prst="rect">
            <a:avLst/>
          </a:prstGeom>
          <a:noFill/>
          <a:ln/>
        </p:spPr>
        <p:txBody>
          <a:bodyPr wrap="square" lIns="0" tIns="0" rIns="0" bIns="0" rtlCol="0" anchor="t"/>
          <a:lstStyle/>
          <a:p>
            <a:pPr algn="l" indent="0" marL="0">
              <a:buNone/>
            </a:pPr>
            <a:r>
              <a:rPr lang="en-US" sz="2600" b="1" dirty="0">
                <a:solidFill>
                  <a:srgbClr val="5FC4B1"/>
                </a:solidFill>
                <a:latin typeface="Calibri" pitchFamily="34" charset="0"/>
                <a:ea typeface="Calibri" pitchFamily="34" charset="-122"/>
                <a:cs typeface="Calibri" pitchFamily="34" charset="-120"/>
              </a:rPr>
              <a:t>1,00</a:t>
            </a:r>
            <a:endParaRPr lang="en-US" sz="2600" dirty="0"/>
          </a:p>
        </p:txBody>
      </p:sp>
      <p:sp>
        <p:nvSpPr>
          <p:cNvPr id="83" name="Text 79"/>
          <p:cNvSpPr txBox="1"/>
          <p:nvPr/>
        </p:nvSpPr>
        <p:spPr>
          <a:xfrm>
            <a:off x="9226296"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p75</a:t>
            </a:r>
            <a:endParaRPr lang="en-US" sz="1100" dirty="0"/>
          </a:p>
        </p:txBody>
      </p:sp>
      <p:sp>
        <p:nvSpPr>
          <p:cNvPr id="84" name="Text 80"/>
          <p:cNvSpPr txBox="1"/>
          <p:nvPr/>
        </p:nvSpPr>
        <p:spPr>
          <a:xfrm>
            <a:off x="10479024" y="4709160"/>
            <a:ext cx="1188720" cy="640080"/>
          </a:xfrm>
          <a:prstGeom prst="rect">
            <a:avLst/>
          </a:prstGeom>
          <a:noFill/>
          <a:ln/>
        </p:spPr>
        <p:txBody>
          <a:bodyPr wrap="square" lIns="0" tIns="0" rIns="0" bIns="0" rtlCol="0" anchor="t"/>
          <a:lstStyle/>
          <a:p>
            <a:pPr algn="l" indent="0" marL="0">
              <a:buNone/>
            </a:pPr>
            <a:r>
              <a:rPr lang="en-US" sz="2600" b="1" dirty="0">
                <a:solidFill>
                  <a:srgbClr val="5FC4B1"/>
                </a:solidFill>
                <a:latin typeface="Calibri" pitchFamily="34" charset="0"/>
                <a:ea typeface="Calibri" pitchFamily="34" charset="-122"/>
                <a:cs typeface="Calibri" pitchFamily="34" charset="-120"/>
              </a:rPr>
              <a:t>1,20</a:t>
            </a:r>
            <a:endParaRPr lang="en-US" sz="2600" dirty="0"/>
          </a:p>
        </p:txBody>
      </p:sp>
      <p:sp>
        <p:nvSpPr>
          <p:cNvPr id="85" name="Text 81"/>
          <p:cNvSpPr txBox="1"/>
          <p:nvPr/>
        </p:nvSpPr>
        <p:spPr>
          <a:xfrm>
            <a:off x="10479024"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p90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PORTFOLIO &amp; MARKT</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Portfolio-Konstruktion und Marktzyklus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11</a:t>
            </a:r>
            <a:endParaRPr lang="en-US" sz="900" dirty="0"/>
          </a:p>
        </p:txBody>
      </p:sp>
      <p:graphicFrame>
        <p:nvGraphicFramePr>
          <p:cNvPr id="9" name="Chart 0" descr=""/>
          <p:cNvGraphicFramePr/>
          <p:nvPr/>
        </p:nvGraphicFramePr>
        <p:xfrm>
          <a:off x="502920" y="1600200"/>
          <a:ext cx="356616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4206240" y="1600200"/>
          <a:ext cx="356616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02920" y="4617720"/>
            <a:ext cx="2331720" cy="1600200"/>
          </a:xfrm>
          <a:prstGeom prst="roundRect">
            <a:avLst>
              <a:gd name="adj" fmla="val 4571"/>
            </a:avLst>
          </a:prstGeom>
          <a:solidFill>
            <a:srgbClr val="161F22"/>
          </a:solidFill>
          <a:ln w="9525">
            <a:solidFill>
              <a:srgbClr val="243033"/>
            </a:solidFill>
            <a:prstDash val="solid"/>
          </a:ln>
        </p:spPr>
      </p:sp>
      <p:sp>
        <p:nvSpPr>
          <p:cNvPr id="12" name="Text 7"/>
          <p:cNvSpPr txBox="1"/>
          <p:nvPr/>
        </p:nvSpPr>
        <p:spPr>
          <a:xfrm>
            <a:off x="667512" y="4681728"/>
            <a:ext cx="201168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±5 %</a:t>
            </a:r>
            <a:endParaRPr lang="en-US" sz="2200" dirty="0"/>
          </a:p>
        </p:txBody>
      </p:sp>
      <p:sp>
        <p:nvSpPr>
          <p:cNvPr id="13" name="Text 8"/>
          <p:cNvSpPr txBox="1"/>
          <p:nvPr/>
        </p:nvSpPr>
        <p:spPr>
          <a:xfrm>
            <a:off x="667512"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Zufallsschwankung je Halbjahr, begrenzt auf 65–140 % des Basis-Multiples</a:t>
            </a:r>
            <a:endParaRPr lang="en-US" sz="1050" dirty="0"/>
          </a:p>
        </p:txBody>
      </p:sp>
      <p:sp>
        <p:nvSpPr>
          <p:cNvPr id="14" name="Shape 9"/>
          <p:cNvSpPr/>
          <p:nvPr/>
        </p:nvSpPr>
        <p:spPr>
          <a:xfrm>
            <a:off x="2953512" y="4617720"/>
            <a:ext cx="2331720" cy="1600200"/>
          </a:xfrm>
          <a:prstGeom prst="roundRect">
            <a:avLst>
              <a:gd name="adj" fmla="val 4571"/>
            </a:avLst>
          </a:prstGeom>
          <a:solidFill>
            <a:srgbClr val="161F22"/>
          </a:solidFill>
          <a:ln w="9525">
            <a:solidFill>
              <a:srgbClr val="243033"/>
            </a:solidFill>
            <a:prstDash val="solid"/>
          </a:ln>
        </p:spPr>
      </p:sp>
      <p:sp>
        <p:nvSpPr>
          <p:cNvPr id="15" name="Text 10"/>
          <p:cNvSpPr txBox="1"/>
          <p:nvPr/>
        </p:nvSpPr>
        <p:spPr>
          <a:xfrm>
            <a:off x="3118104" y="4681728"/>
            <a:ext cx="201168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18 %</a:t>
            </a:r>
            <a:endParaRPr lang="en-US" sz="2200" dirty="0"/>
          </a:p>
        </p:txBody>
      </p:sp>
      <p:sp>
        <p:nvSpPr>
          <p:cNvPr id="16" name="Text 11"/>
          <p:cNvSpPr txBox="1"/>
          <p:nvPr/>
        </p:nvSpPr>
        <p:spPr>
          <a:xfrm>
            <a:off x="3118104"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Multiple-Expansion in einem Sektor (+18 %)</a:t>
            </a:r>
            <a:endParaRPr lang="en-US" sz="1050" dirty="0"/>
          </a:p>
        </p:txBody>
      </p:sp>
      <p:sp>
        <p:nvSpPr>
          <p:cNvPr id="17" name="Shape 12"/>
          <p:cNvSpPr/>
          <p:nvPr/>
        </p:nvSpPr>
        <p:spPr>
          <a:xfrm>
            <a:off x="5404104" y="4617720"/>
            <a:ext cx="2331720" cy="1600200"/>
          </a:xfrm>
          <a:prstGeom prst="roundRect">
            <a:avLst>
              <a:gd name="adj" fmla="val 4571"/>
            </a:avLst>
          </a:prstGeom>
          <a:solidFill>
            <a:srgbClr val="161F22"/>
          </a:solidFill>
          <a:ln w="9525">
            <a:solidFill>
              <a:srgbClr val="243033"/>
            </a:solidFill>
            <a:prstDash val="solid"/>
          </a:ln>
        </p:spPr>
      </p:sp>
      <p:sp>
        <p:nvSpPr>
          <p:cNvPr id="18" name="Text 13"/>
          <p:cNvSpPr txBox="1"/>
          <p:nvPr/>
        </p:nvSpPr>
        <p:spPr>
          <a:xfrm>
            <a:off x="5568696" y="4681728"/>
            <a:ext cx="2011680" cy="457200"/>
          </a:xfrm>
          <a:prstGeom prst="rect">
            <a:avLst/>
          </a:prstGeom>
          <a:noFill/>
          <a:ln/>
        </p:spPr>
        <p:txBody>
          <a:bodyPr wrap="square" lIns="0" tIns="0" rIns="0" bIns="0" rtlCol="0" anchor="t"/>
          <a:lstStyle/>
          <a:p>
            <a:pPr algn="l" indent="0" marL="0">
              <a:buNone/>
            </a:pPr>
            <a:r>
              <a:rPr lang="en-US" sz="2200" b="1" dirty="0">
                <a:solidFill>
                  <a:srgbClr val="E3897F"/>
                </a:solidFill>
                <a:latin typeface="Calibri" pitchFamily="34" charset="0"/>
                <a:ea typeface="Calibri" pitchFamily="34" charset="-122"/>
                <a:cs typeface="Calibri" pitchFamily="34" charset="-120"/>
              </a:rPr>
              <a:t>14 %</a:t>
            </a:r>
            <a:endParaRPr lang="en-US" sz="2200" dirty="0"/>
          </a:p>
        </p:txBody>
      </p:sp>
      <p:sp>
        <p:nvSpPr>
          <p:cNvPr id="19" name="Text 14"/>
          <p:cNvSpPr txBox="1"/>
          <p:nvPr/>
        </p:nvSpPr>
        <p:spPr>
          <a:xfrm>
            <a:off x="5568696"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Sektorabschwung – Multiple −16 %, Umsatz −12 % × Stress</a:t>
            </a:r>
            <a:endParaRPr lang="en-US" sz="1050" dirty="0"/>
          </a:p>
        </p:txBody>
      </p:sp>
      <p:pic>
        <p:nvPicPr>
          <p:cNvPr id="20" name="Image 0" descr="/tmp/claude-0/deck/img/sectors.jpg">    </p:cNvPr>
          <p:cNvPicPr>
            <a:picLocks noChangeAspect="1"/>
          </p:cNvPicPr>
          <p:nvPr/>
        </p:nvPicPr>
        <p:blipFill>
          <a:blip r:embed="rId3"/>
          <a:stretch>
            <a:fillRect/>
          </a:stretch>
        </p:blipFill>
        <p:spPr>
          <a:xfrm>
            <a:off x="8001000" y="1600200"/>
            <a:ext cx="3685032" cy="2552760"/>
          </a:xfrm>
          <a:prstGeom prst="rect">
            <a:avLst/>
          </a:prstGeom>
        </p:spPr>
      </p:pic>
      <p:sp>
        <p:nvSpPr>
          <p:cNvPr id="21" name="Shape 15"/>
          <p:cNvSpPr/>
          <p:nvPr/>
        </p:nvSpPr>
        <p:spPr>
          <a:xfrm>
            <a:off x="8001000" y="1600200"/>
            <a:ext cx="3685032" cy="2552760"/>
          </a:xfrm>
          <a:prstGeom prst="rect">
            <a:avLst/>
          </a:prstGeom>
          <a:ln w="9525">
            <a:solidFill>
              <a:srgbClr val="33474B"/>
            </a:solidFill>
            <a:prstDash val="solid"/>
          </a:ln>
        </p:spPr>
      </p:sp>
      <p:sp>
        <p:nvSpPr>
          <p:cNvPr id="22" name="Text 16"/>
          <p:cNvSpPr txBox="1"/>
          <p:nvPr/>
        </p:nvSpPr>
        <p:spPr>
          <a:xfrm>
            <a:off x="7726680" y="4207824"/>
            <a:ext cx="4233672"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NAV-Verteilung mit Klumpenwarnung</a:t>
            </a:r>
            <a:endParaRPr lang="en-US" sz="950" dirty="0"/>
          </a:p>
        </p:txBody>
      </p:sp>
      <p:sp>
        <p:nvSpPr>
          <p:cNvPr id="23" name="Text 17"/>
          <p:cNvSpPr txBox="1"/>
          <p:nvPr/>
        </p:nvSpPr>
        <p:spPr>
          <a:xfrm>
            <a:off x="8001000" y="4526280"/>
            <a:ext cx="3685032" cy="173736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6 Plätze </a:t>
            </a:r>
            <a:pPr indent="0" marL="0">
              <a:buNone/>
            </a:pPr>
            <a:r>
              <a:rPr lang="en-US" sz="1200" dirty="0">
                <a:solidFill>
                  <a:srgbClr val="EDF1EE"/>
                </a:solidFill>
                <a:latin typeface="Calibri" pitchFamily="34" charset="0"/>
                <a:ea typeface="Calibri" pitchFamily="34" charset="-122"/>
                <a:cs typeface="Calibri" pitchFamily="34" charset="-120"/>
              </a:rPr>
              <a:t>gleichzeitig im Portfolio</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4 + Value Creation / 2 </a:t>
            </a:r>
            <a:pPr indent="0" marL="0">
              <a:buNone/>
            </a:pPr>
            <a:r>
              <a:rPr lang="en-US" sz="1200" dirty="0">
                <a:solidFill>
                  <a:srgbClr val="EDF1EE"/>
                </a:solidFill>
                <a:latin typeface="Calibri" pitchFamily="34" charset="0"/>
                <a:ea typeface="Calibri" pitchFamily="34" charset="-122"/>
                <a:cs typeface="Calibri" pitchFamily="34" charset="-120"/>
              </a:rPr>
              <a:t>Maßnahmen parallel fürs ganze Portfolio (Operating Capacity)</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Stress = 1 + 0,22 × (Leverage − 3,0) </a:t>
            </a:r>
            <a:pPr indent="0" marL="0">
              <a:buNone/>
            </a:pPr>
            <a:r>
              <a:rPr lang="en-US" sz="1200" dirty="0">
                <a:solidFill>
                  <a:srgbClr val="EDF1EE"/>
                </a:solidFill>
                <a:latin typeface="Calibri" pitchFamily="34" charset="0"/>
                <a:ea typeface="Calibri" pitchFamily="34" charset="-122"/>
                <a:cs typeface="Calibri" pitchFamily="34" charset="-120"/>
              </a:rPr>
              <a:t>verstärkt jeden Abschwung</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FUND VALUE BRIDGE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Woher die Rendite eines Fonds kommt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12</a:t>
            </a:r>
            <a:endParaRPr lang="en-US" sz="900" dirty="0"/>
          </a:p>
        </p:txBody>
      </p:sp>
      <p:sp>
        <p:nvSpPr>
          <p:cNvPr id="9" name="Shape 6"/>
          <p:cNvSpPr/>
          <p:nvPr/>
        </p:nvSpPr>
        <p:spPr>
          <a:xfrm>
            <a:off x="667969" y="3417643"/>
            <a:ext cx="538582" cy="1977317"/>
          </a:xfrm>
          <a:prstGeom prst="rect">
            <a:avLst/>
          </a:prstGeom>
          <a:solidFill>
            <a:srgbClr val="5FC4B1"/>
          </a:solidFill>
          <a:ln/>
        </p:spPr>
      </p:sp>
      <p:sp>
        <p:nvSpPr>
          <p:cNvPr id="10" name="Text 7"/>
          <p:cNvSpPr txBox="1"/>
          <p:nvPr/>
        </p:nvSpPr>
        <p:spPr>
          <a:xfrm>
            <a:off x="485089" y="3170755"/>
            <a:ext cx="904342"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+258</a:t>
            </a:r>
            <a:endParaRPr lang="en-US" sz="1100" dirty="0"/>
          </a:p>
        </p:txBody>
      </p:sp>
      <p:sp>
        <p:nvSpPr>
          <p:cNvPr id="11" name="Shape 8"/>
          <p:cNvSpPr/>
          <p:nvPr/>
        </p:nvSpPr>
        <p:spPr>
          <a:xfrm>
            <a:off x="1206551" y="3417643"/>
            <a:ext cx="330098" cy="0"/>
          </a:xfrm>
          <a:prstGeom prst="line">
            <a:avLst/>
          </a:prstGeom>
          <a:noFill/>
          <a:ln w="9525">
            <a:solidFill>
              <a:srgbClr val="4A5C5F"/>
            </a:solidFill>
            <a:prstDash val="dash"/>
          </a:ln>
        </p:spPr>
      </p:sp>
      <p:sp>
        <p:nvSpPr>
          <p:cNvPr id="12" name="Text 9"/>
          <p:cNvSpPr txBox="1"/>
          <p:nvPr/>
        </p:nvSpPr>
        <p:spPr>
          <a:xfrm>
            <a:off x="50292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EBITDA-</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Wachstum</a:t>
            </a:r>
            <a:endParaRPr lang="en-US" sz="1000" dirty="0"/>
          </a:p>
        </p:txBody>
      </p:sp>
      <p:sp>
        <p:nvSpPr>
          <p:cNvPr id="13" name="Shape 10"/>
          <p:cNvSpPr/>
          <p:nvPr/>
        </p:nvSpPr>
        <p:spPr>
          <a:xfrm>
            <a:off x="1536649" y="2019099"/>
            <a:ext cx="538582" cy="1398544"/>
          </a:xfrm>
          <a:prstGeom prst="rect">
            <a:avLst/>
          </a:prstGeom>
          <a:solidFill>
            <a:srgbClr val="5FC4B1"/>
          </a:solidFill>
          <a:ln/>
        </p:spPr>
      </p:sp>
      <p:sp>
        <p:nvSpPr>
          <p:cNvPr id="14" name="Text 11"/>
          <p:cNvSpPr txBox="1"/>
          <p:nvPr/>
        </p:nvSpPr>
        <p:spPr>
          <a:xfrm>
            <a:off x="1353769" y="1772211"/>
            <a:ext cx="904342"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+183</a:t>
            </a:r>
            <a:endParaRPr lang="en-US" sz="1100" dirty="0"/>
          </a:p>
        </p:txBody>
      </p:sp>
      <p:sp>
        <p:nvSpPr>
          <p:cNvPr id="15" name="Shape 12"/>
          <p:cNvSpPr/>
          <p:nvPr/>
        </p:nvSpPr>
        <p:spPr>
          <a:xfrm>
            <a:off x="2075231" y="2019099"/>
            <a:ext cx="330098" cy="0"/>
          </a:xfrm>
          <a:prstGeom prst="line">
            <a:avLst/>
          </a:prstGeom>
          <a:noFill/>
          <a:ln w="9525">
            <a:solidFill>
              <a:srgbClr val="4A5C5F"/>
            </a:solidFill>
            <a:prstDash val="dash"/>
          </a:ln>
        </p:spPr>
      </p:sp>
      <p:sp>
        <p:nvSpPr>
          <p:cNvPr id="16" name="Text 13"/>
          <p:cNvSpPr txBox="1"/>
          <p:nvPr/>
        </p:nvSpPr>
        <p:spPr>
          <a:xfrm>
            <a:off x="137160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Multiple</a:t>
            </a:r>
            <a:endParaRPr lang="en-US" sz="1000" dirty="0"/>
          </a:p>
        </p:txBody>
      </p:sp>
      <p:sp>
        <p:nvSpPr>
          <p:cNvPr id="17" name="Shape 14"/>
          <p:cNvSpPr/>
          <p:nvPr/>
        </p:nvSpPr>
        <p:spPr>
          <a:xfrm>
            <a:off x="2405329" y="2019099"/>
            <a:ext cx="538582" cy="141817"/>
          </a:xfrm>
          <a:prstGeom prst="rect">
            <a:avLst/>
          </a:prstGeom>
          <a:solidFill>
            <a:srgbClr val="E3897F"/>
          </a:solidFill>
          <a:ln/>
        </p:spPr>
      </p:sp>
      <p:sp>
        <p:nvSpPr>
          <p:cNvPr id="18" name="Text 15"/>
          <p:cNvSpPr txBox="1"/>
          <p:nvPr/>
        </p:nvSpPr>
        <p:spPr>
          <a:xfrm>
            <a:off x="2222449" y="1772211"/>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−19</a:t>
            </a:r>
            <a:endParaRPr lang="en-US" sz="1100" dirty="0"/>
          </a:p>
        </p:txBody>
      </p:sp>
      <p:sp>
        <p:nvSpPr>
          <p:cNvPr id="19" name="Shape 16"/>
          <p:cNvSpPr/>
          <p:nvPr/>
        </p:nvSpPr>
        <p:spPr>
          <a:xfrm>
            <a:off x="2943911" y="2160915"/>
            <a:ext cx="330098" cy="0"/>
          </a:xfrm>
          <a:prstGeom prst="line">
            <a:avLst/>
          </a:prstGeom>
          <a:noFill/>
          <a:ln w="9525">
            <a:solidFill>
              <a:srgbClr val="4A5C5F"/>
            </a:solidFill>
            <a:prstDash val="dash"/>
          </a:ln>
        </p:spPr>
      </p:sp>
      <p:sp>
        <p:nvSpPr>
          <p:cNvPr id="20" name="Text 17"/>
          <p:cNvSpPr txBox="1"/>
          <p:nvPr/>
        </p:nvSpPr>
        <p:spPr>
          <a:xfrm>
            <a:off x="224028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Entschul-</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dung</a:t>
            </a:r>
            <a:endParaRPr lang="en-US" sz="1000" dirty="0"/>
          </a:p>
        </p:txBody>
      </p:sp>
      <p:sp>
        <p:nvSpPr>
          <p:cNvPr id="21" name="Shape 18"/>
          <p:cNvSpPr/>
          <p:nvPr/>
        </p:nvSpPr>
        <p:spPr>
          <a:xfrm>
            <a:off x="3274009" y="2160915"/>
            <a:ext cx="538582" cy="336892"/>
          </a:xfrm>
          <a:prstGeom prst="rect">
            <a:avLst/>
          </a:prstGeom>
          <a:solidFill>
            <a:srgbClr val="E3897F"/>
          </a:solidFill>
          <a:ln/>
        </p:spPr>
      </p:sp>
      <p:sp>
        <p:nvSpPr>
          <p:cNvPr id="22" name="Text 19"/>
          <p:cNvSpPr txBox="1"/>
          <p:nvPr/>
        </p:nvSpPr>
        <p:spPr>
          <a:xfrm>
            <a:off x="3091129" y="1914027"/>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−44</a:t>
            </a:r>
            <a:endParaRPr lang="en-US" sz="1100" dirty="0"/>
          </a:p>
        </p:txBody>
      </p:sp>
      <p:sp>
        <p:nvSpPr>
          <p:cNvPr id="23" name="Shape 20"/>
          <p:cNvSpPr/>
          <p:nvPr/>
        </p:nvSpPr>
        <p:spPr>
          <a:xfrm>
            <a:off x="3812591" y="2497807"/>
            <a:ext cx="330098" cy="0"/>
          </a:xfrm>
          <a:prstGeom prst="line">
            <a:avLst/>
          </a:prstGeom>
          <a:noFill/>
          <a:ln w="9525">
            <a:solidFill>
              <a:srgbClr val="4A5C5F"/>
            </a:solidFill>
            <a:prstDash val="dash"/>
          </a:ln>
        </p:spPr>
      </p:sp>
      <p:sp>
        <p:nvSpPr>
          <p:cNvPr id="24" name="Text 21"/>
          <p:cNvSpPr txBox="1"/>
          <p:nvPr/>
        </p:nvSpPr>
        <p:spPr>
          <a:xfrm>
            <a:off x="310896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Exit vs.</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Bewertung</a:t>
            </a:r>
            <a:endParaRPr lang="en-US" sz="1000" dirty="0"/>
          </a:p>
        </p:txBody>
      </p:sp>
      <p:sp>
        <p:nvSpPr>
          <p:cNvPr id="25" name="Shape 22"/>
          <p:cNvSpPr/>
          <p:nvPr/>
        </p:nvSpPr>
        <p:spPr>
          <a:xfrm>
            <a:off x="4142689" y="2497807"/>
            <a:ext cx="538582" cy="413257"/>
          </a:xfrm>
          <a:prstGeom prst="rect">
            <a:avLst/>
          </a:prstGeom>
          <a:solidFill>
            <a:srgbClr val="E3897F"/>
          </a:solidFill>
          <a:ln/>
        </p:spPr>
      </p:sp>
      <p:sp>
        <p:nvSpPr>
          <p:cNvPr id="26" name="Text 23"/>
          <p:cNvSpPr txBox="1"/>
          <p:nvPr/>
        </p:nvSpPr>
        <p:spPr>
          <a:xfrm>
            <a:off x="3959809" y="2250919"/>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−54</a:t>
            </a:r>
            <a:endParaRPr lang="en-US" sz="1100" dirty="0"/>
          </a:p>
        </p:txBody>
      </p:sp>
      <p:sp>
        <p:nvSpPr>
          <p:cNvPr id="27" name="Shape 24"/>
          <p:cNvSpPr/>
          <p:nvPr/>
        </p:nvSpPr>
        <p:spPr>
          <a:xfrm>
            <a:off x="4681271" y="2911064"/>
            <a:ext cx="330098" cy="0"/>
          </a:xfrm>
          <a:prstGeom prst="line">
            <a:avLst/>
          </a:prstGeom>
          <a:noFill/>
          <a:ln w="9525">
            <a:solidFill>
              <a:srgbClr val="4A5C5F"/>
            </a:solidFill>
            <a:prstDash val="dash"/>
          </a:ln>
        </p:spPr>
      </p:sp>
      <p:sp>
        <p:nvSpPr>
          <p:cNvPr id="28" name="Text 25"/>
          <p:cNvSpPr txBox="1"/>
          <p:nvPr/>
        </p:nvSpPr>
        <p:spPr>
          <a:xfrm>
            <a:off x="397764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Mgmt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Fee</a:t>
            </a:r>
            <a:endParaRPr lang="en-US" sz="1000" dirty="0"/>
          </a:p>
        </p:txBody>
      </p:sp>
      <p:sp>
        <p:nvSpPr>
          <p:cNvPr id="29" name="Shape 26"/>
          <p:cNvSpPr/>
          <p:nvPr/>
        </p:nvSpPr>
        <p:spPr>
          <a:xfrm>
            <a:off x="5011369" y="2911064"/>
            <a:ext cx="538582" cy="90816"/>
          </a:xfrm>
          <a:prstGeom prst="rect">
            <a:avLst/>
          </a:prstGeom>
          <a:solidFill>
            <a:srgbClr val="E3897F"/>
          </a:solidFill>
          <a:ln/>
        </p:spPr>
      </p:sp>
      <p:sp>
        <p:nvSpPr>
          <p:cNvPr id="30" name="Text 27"/>
          <p:cNvSpPr txBox="1"/>
          <p:nvPr/>
        </p:nvSpPr>
        <p:spPr>
          <a:xfrm>
            <a:off x="4828489" y="2664176"/>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−12</a:t>
            </a:r>
            <a:endParaRPr lang="en-US" sz="1100" dirty="0"/>
          </a:p>
        </p:txBody>
      </p:sp>
      <p:sp>
        <p:nvSpPr>
          <p:cNvPr id="31" name="Shape 28"/>
          <p:cNvSpPr/>
          <p:nvPr/>
        </p:nvSpPr>
        <p:spPr>
          <a:xfrm>
            <a:off x="5549951" y="3001880"/>
            <a:ext cx="330098" cy="0"/>
          </a:xfrm>
          <a:prstGeom prst="line">
            <a:avLst/>
          </a:prstGeom>
          <a:noFill/>
          <a:ln w="9525">
            <a:solidFill>
              <a:srgbClr val="4A5C5F"/>
            </a:solidFill>
            <a:prstDash val="dash"/>
          </a:ln>
        </p:spPr>
      </p:sp>
      <p:sp>
        <p:nvSpPr>
          <p:cNvPr id="32" name="Text 29"/>
          <p:cNvSpPr txBox="1"/>
          <p:nvPr/>
        </p:nvSpPr>
        <p:spPr>
          <a:xfrm>
            <a:off x="484632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Transakt.-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kosten</a:t>
            </a:r>
            <a:endParaRPr lang="en-US" sz="1000" dirty="0"/>
          </a:p>
        </p:txBody>
      </p:sp>
      <p:sp>
        <p:nvSpPr>
          <p:cNvPr id="33" name="Shape 30"/>
          <p:cNvSpPr/>
          <p:nvPr/>
        </p:nvSpPr>
        <p:spPr>
          <a:xfrm>
            <a:off x="5880049" y="3001880"/>
            <a:ext cx="538582" cy="153252"/>
          </a:xfrm>
          <a:prstGeom prst="rect">
            <a:avLst/>
          </a:prstGeom>
          <a:solidFill>
            <a:srgbClr val="E3897F"/>
          </a:solidFill>
          <a:ln/>
        </p:spPr>
      </p:sp>
      <p:sp>
        <p:nvSpPr>
          <p:cNvPr id="34" name="Text 31"/>
          <p:cNvSpPr txBox="1"/>
          <p:nvPr/>
        </p:nvSpPr>
        <p:spPr>
          <a:xfrm>
            <a:off x="5697169" y="2754992"/>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6418631" y="3155132"/>
            <a:ext cx="330098" cy="0"/>
          </a:xfrm>
          <a:prstGeom prst="line">
            <a:avLst/>
          </a:prstGeom>
          <a:noFill/>
          <a:ln w="9525">
            <a:solidFill>
              <a:srgbClr val="4A5C5F"/>
            </a:solidFill>
            <a:prstDash val="dash"/>
          </a:ln>
        </p:spPr>
      </p:sp>
      <p:sp>
        <p:nvSpPr>
          <p:cNvPr id="36" name="Text 33"/>
          <p:cNvSpPr txBox="1"/>
          <p:nvPr/>
        </p:nvSpPr>
        <p:spPr>
          <a:xfrm>
            <a:off x="571500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Carry</a:t>
            </a:r>
            <a:endParaRPr lang="en-US" sz="1000" dirty="0"/>
          </a:p>
        </p:txBody>
      </p:sp>
      <p:sp>
        <p:nvSpPr>
          <p:cNvPr id="37" name="Shape 34"/>
          <p:cNvSpPr/>
          <p:nvPr/>
        </p:nvSpPr>
        <p:spPr>
          <a:xfrm>
            <a:off x="6748729" y="3155132"/>
            <a:ext cx="538582" cy="2239828"/>
          </a:xfrm>
          <a:prstGeom prst="rect">
            <a:avLst/>
          </a:prstGeom>
          <a:solidFill>
            <a:srgbClr val="DCB264"/>
          </a:solidFill>
          <a:ln/>
        </p:spPr>
      </p:sp>
      <p:sp>
        <p:nvSpPr>
          <p:cNvPr id="38" name="Text 35"/>
          <p:cNvSpPr txBox="1"/>
          <p:nvPr/>
        </p:nvSpPr>
        <p:spPr>
          <a:xfrm>
            <a:off x="6565849" y="2908244"/>
            <a:ext cx="904342"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293</a:t>
            </a:r>
            <a:endParaRPr lang="en-US" sz="1100" dirty="0"/>
          </a:p>
        </p:txBody>
      </p:sp>
      <p:sp>
        <p:nvSpPr>
          <p:cNvPr id="39" name="Text 36"/>
          <p:cNvSpPr txBox="1"/>
          <p:nvPr/>
        </p:nvSpPr>
        <p:spPr>
          <a:xfrm>
            <a:off x="658368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Gewinn</a:t>
            </a:r>
            <a:endParaRPr lang="en-US" sz="1000" dirty="0"/>
          </a:p>
        </p:txBody>
      </p:sp>
      <p:sp>
        <p:nvSpPr>
          <p:cNvPr id="40" name="Shape 37"/>
          <p:cNvSpPr/>
          <p:nvPr/>
        </p:nvSpPr>
        <p:spPr>
          <a:xfrm>
            <a:off x="502920" y="5394960"/>
            <a:ext cx="6949440" cy="0"/>
          </a:xfrm>
          <a:prstGeom prst="line">
            <a:avLst/>
          </a:prstGeom>
          <a:noFill/>
          <a:ln w="9525">
            <a:solidFill>
              <a:srgbClr val="243033"/>
            </a:solidFill>
            <a:prstDash val="solid"/>
          </a:ln>
        </p:spPr>
      </p:sp>
      <p:sp>
        <p:nvSpPr>
          <p:cNvPr id="41" name="Text 38"/>
          <p:cNvSpPr txBox="1"/>
          <p:nvPr/>
        </p:nvSpPr>
        <p:spPr>
          <a:xfrm>
            <a:off x="502920" y="5943600"/>
            <a:ext cx="6949440" cy="27432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Ø je Fonds in Mio. € · 240 KI-Fonds · 60 simulierte Partien mit der Spiel-Engine · abgerufen Ø 488 Mio. €</a:t>
            </a:r>
            <a:endParaRPr lang="en-US" sz="1000" dirty="0"/>
          </a:p>
        </p:txBody>
      </p:sp>
      <p:pic>
        <p:nvPicPr>
          <p:cNvPr id="42" name="Image 0" descr="/tmp/claude-0/deck/img/drivers.jpg">    </p:cNvPr>
          <p:cNvPicPr>
            <a:picLocks noChangeAspect="1"/>
          </p:cNvPicPr>
          <p:nvPr/>
        </p:nvPicPr>
        <p:blipFill>
          <a:blip r:embed="rId1"/>
          <a:stretch>
            <a:fillRect/>
          </a:stretch>
        </p:blipFill>
        <p:spPr>
          <a:xfrm>
            <a:off x="9747208" y="1600200"/>
            <a:ext cx="1938824" cy="4343400"/>
          </a:xfrm>
          <a:prstGeom prst="rect">
            <a:avLst/>
          </a:prstGeom>
        </p:spPr>
      </p:pic>
      <p:sp>
        <p:nvSpPr>
          <p:cNvPr id="43" name="Shape 39"/>
          <p:cNvSpPr/>
          <p:nvPr/>
        </p:nvSpPr>
        <p:spPr>
          <a:xfrm>
            <a:off x="9747208" y="1600200"/>
            <a:ext cx="1938824" cy="4343400"/>
          </a:xfrm>
          <a:prstGeom prst="rect">
            <a:avLst/>
          </a:prstGeom>
          <a:ln w="9525">
            <a:solidFill>
              <a:srgbClr val="33474B"/>
            </a:solidFill>
            <a:prstDash val="solid"/>
          </a:ln>
        </p:spPr>
      </p:sp>
      <p:sp>
        <p:nvSpPr>
          <p:cNvPr id="44" name="Text 40"/>
          <p:cNvSpPr txBox="1"/>
          <p:nvPr/>
        </p:nvSpPr>
        <p:spPr>
          <a:xfrm>
            <a:off x="9472888" y="5998464"/>
            <a:ext cx="2487464"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„Woher die Rendite kam“ im Portfolio-Tab</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DEALFLOW</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Woher die Deals kommen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13</a:t>
            </a:r>
            <a:endParaRPr lang="en-US" sz="900" dirty="0"/>
          </a:p>
        </p:txBody>
      </p:sp>
      <p:sp>
        <p:nvSpPr>
          <p:cNvPr id="9" name="Shape 6"/>
          <p:cNvSpPr/>
          <p:nvPr/>
        </p:nvSpPr>
        <p:spPr>
          <a:xfrm>
            <a:off x="502920" y="1600200"/>
            <a:ext cx="6675120" cy="1024128"/>
          </a:xfrm>
          <a:prstGeom prst="roundRect">
            <a:avLst>
              <a:gd name="adj" fmla="val 7143"/>
            </a:avLst>
          </a:prstGeom>
          <a:solidFill>
            <a:srgbClr val="161F22"/>
          </a:solidFill>
          <a:ln w="12700">
            <a:solidFill>
              <a:srgbClr val="3B82F6"/>
            </a:solidFill>
            <a:prstDash val="solid"/>
          </a:ln>
        </p:spPr>
      </p:sp>
      <p:sp>
        <p:nvSpPr>
          <p:cNvPr id="10" name="Text 7"/>
          <p:cNvSpPr txBox="1"/>
          <p:nvPr/>
        </p:nvSpPr>
        <p:spPr>
          <a:xfrm>
            <a:off x="731520" y="1709928"/>
            <a:ext cx="201168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Auktion</a:t>
            </a:r>
            <a:endParaRPr lang="en-US" sz="1700" dirty="0"/>
          </a:p>
        </p:txBody>
      </p:sp>
      <p:sp>
        <p:nvSpPr>
          <p:cNvPr id="11" name="Text 8"/>
          <p:cNvSpPr txBox="1"/>
          <p:nvPr/>
        </p:nvSpPr>
        <p:spPr>
          <a:xfrm>
            <a:off x="731520" y="210312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4 je Halbjahr</a:t>
            </a:r>
            <a:endParaRPr lang="en-US" sz="1200" dirty="0"/>
          </a:p>
        </p:txBody>
      </p:sp>
      <p:sp>
        <p:nvSpPr>
          <p:cNvPr id="12" name="Text 9"/>
          <p:cNvSpPr txBox="1"/>
          <p:nvPr/>
        </p:nvSpPr>
        <p:spPr>
          <a:xfrm>
            <a:off x="2880360" y="170992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für alle Fonds sichtbar · KI bietet mit 74 % Wahrscheinlichkeit mit · Reservationspreis 85 % des Ask</a:t>
            </a:r>
            <a:endParaRPr lang="en-US" sz="1200" dirty="0"/>
          </a:p>
        </p:txBody>
      </p:sp>
      <p:sp>
        <p:nvSpPr>
          <p:cNvPr id="13" name="Shape 10"/>
          <p:cNvSpPr/>
          <p:nvPr/>
        </p:nvSpPr>
        <p:spPr>
          <a:xfrm>
            <a:off x="502920" y="2788920"/>
            <a:ext cx="6675120" cy="1024128"/>
          </a:xfrm>
          <a:prstGeom prst="roundRect">
            <a:avLst>
              <a:gd name="adj" fmla="val 7143"/>
            </a:avLst>
          </a:prstGeom>
          <a:solidFill>
            <a:srgbClr val="161F22"/>
          </a:solidFill>
          <a:ln w="12700">
            <a:solidFill>
              <a:srgbClr val="5FC4B1"/>
            </a:solidFill>
            <a:prstDash val="solid"/>
          </a:ln>
        </p:spPr>
      </p:sp>
      <p:sp>
        <p:nvSpPr>
          <p:cNvPr id="14" name="Text 11"/>
          <p:cNvSpPr txBox="1"/>
          <p:nvPr/>
        </p:nvSpPr>
        <p:spPr>
          <a:xfrm>
            <a:off x="731520" y="2898648"/>
            <a:ext cx="201168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Proprietär</a:t>
            </a:r>
            <a:endParaRPr lang="en-US" sz="1700" dirty="0"/>
          </a:p>
        </p:txBody>
      </p:sp>
      <p:sp>
        <p:nvSpPr>
          <p:cNvPr id="15" name="Text 12"/>
          <p:cNvSpPr txBox="1"/>
          <p:nvPr/>
        </p:nvSpPr>
        <p:spPr>
          <a:xfrm>
            <a:off x="731520" y="329184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0,55 × Origination, max. 3</a:t>
            </a:r>
            <a:endParaRPr lang="en-US" sz="1200" dirty="0"/>
          </a:p>
        </p:txBody>
      </p:sp>
      <p:sp>
        <p:nvSpPr>
          <p:cNvPr id="16" name="Text 13"/>
          <p:cNvSpPr txBox="1"/>
          <p:nvPr/>
        </p:nvSpPr>
        <p:spPr>
          <a:xfrm>
            <a:off x="2880360" y="289864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Preisabschlag 0,5–1,0 Turns + 0,12 × Origination · Reservationspreis 90 % · KI kommt selten dazu</a:t>
            </a:r>
            <a:endParaRPr lang="en-US" sz="1200" dirty="0"/>
          </a:p>
        </p:txBody>
      </p:sp>
      <p:sp>
        <p:nvSpPr>
          <p:cNvPr id="17" name="Shape 14"/>
          <p:cNvSpPr/>
          <p:nvPr/>
        </p:nvSpPr>
        <p:spPr>
          <a:xfrm>
            <a:off x="502920" y="3977640"/>
            <a:ext cx="6675120" cy="1024128"/>
          </a:xfrm>
          <a:prstGeom prst="roundRect">
            <a:avLst>
              <a:gd name="adj" fmla="val 7143"/>
            </a:avLst>
          </a:prstGeom>
          <a:solidFill>
            <a:srgbClr val="161F22"/>
          </a:solidFill>
          <a:ln w="12700">
            <a:solidFill>
              <a:srgbClr val="DCB264"/>
            </a:solidFill>
            <a:prstDash val="solid"/>
          </a:ln>
        </p:spPr>
      </p:sp>
      <p:sp>
        <p:nvSpPr>
          <p:cNvPr id="18" name="Text 15"/>
          <p:cNvSpPr txBox="1"/>
          <p:nvPr/>
        </p:nvSpPr>
        <p:spPr>
          <a:xfrm>
            <a:off x="731520" y="4087368"/>
            <a:ext cx="201168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Trophy Asset</a:t>
            </a:r>
            <a:endParaRPr lang="en-US" sz="1700" dirty="0"/>
          </a:p>
        </p:txBody>
      </p:sp>
      <p:sp>
        <p:nvSpPr>
          <p:cNvPr id="19" name="Text 16"/>
          <p:cNvSpPr txBox="1"/>
          <p:nvPr/>
        </p:nvSpPr>
        <p:spPr>
          <a:xfrm>
            <a:off x="731520" y="448056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1 × je Partie</a:t>
            </a:r>
            <a:endParaRPr lang="en-US" sz="1200" dirty="0"/>
          </a:p>
        </p:txBody>
      </p:sp>
      <p:sp>
        <p:nvSpPr>
          <p:cNvPr id="20" name="Text 17"/>
          <p:cNvSpPr txBox="1"/>
          <p:nvPr/>
        </p:nvSpPr>
        <p:spPr>
          <a:xfrm>
            <a:off x="2880360" y="408736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Angekündigt in HJ 8, am Markt in HJ 10 · 180–290 Mio. € Umsatz · Qualität +14 · KI bietet zu 92 % mit</a:t>
            </a:r>
            <a:endParaRPr lang="en-US" sz="1200" dirty="0"/>
          </a:p>
        </p:txBody>
      </p:sp>
      <p:sp>
        <p:nvSpPr>
          <p:cNvPr id="21" name="Shape 18"/>
          <p:cNvSpPr/>
          <p:nvPr/>
        </p:nvSpPr>
        <p:spPr>
          <a:xfrm>
            <a:off x="502920" y="5257800"/>
            <a:ext cx="6675120" cy="640080"/>
          </a:xfrm>
          <a:prstGeom prst="roundRect">
            <a:avLst>
              <a:gd name="adj" fmla="val 11429"/>
            </a:avLst>
          </a:prstGeom>
          <a:solidFill>
            <a:srgbClr val="1C282B"/>
          </a:solidFill>
          <a:ln w="12700">
            <a:solidFill>
              <a:srgbClr val="DCB264"/>
            </a:solidFill>
            <a:prstDash val="solid"/>
          </a:ln>
        </p:spPr>
      </p:sp>
      <p:sp>
        <p:nvSpPr>
          <p:cNvPr id="22" name="Text 19"/>
          <p:cNvSpPr txBox="1"/>
          <p:nvPr/>
        </p:nvSpPr>
        <p:spPr>
          <a:xfrm>
            <a:off x="685800" y="5257800"/>
            <a:ext cx="6309360" cy="6400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Proprietäre Deals je HJ ≈ 0,55 × Origination (Nachkommaanteil per Zufall)</a:t>
            </a:r>
            <a:endParaRPr lang="en-US" sz="1350" dirty="0"/>
          </a:p>
        </p:txBody>
      </p:sp>
      <p:pic>
        <p:nvPicPr>
          <p:cNvPr id="23" name="Image 0" descr="/tmp/claude-0/deck/img/landmark.jpg">    </p:cNvPr>
          <p:cNvPicPr>
            <a:picLocks noChangeAspect="1"/>
          </p:cNvPicPr>
          <p:nvPr/>
        </p:nvPicPr>
        <p:blipFill>
          <a:blip r:embed="rId1"/>
          <a:stretch>
            <a:fillRect/>
          </a:stretch>
        </p:blipFill>
        <p:spPr>
          <a:xfrm>
            <a:off x="8277561" y="1600200"/>
            <a:ext cx="3408471" cy="4389120"/>
          </a:xfrm>
          <a:prstGeom prst="rect">
            <a:avLst/>
          </a:prstGeom>
        </p:spPr>
      </p:pic>
      <p:sp>
        <p:nvSpPr>
          <p:cNvPr id="24" name="Shape 20"/>
          <p:cNvSpPr/>
          <p:nvPr/>
        </p:nvSpPr>
        <p:spPr>
          <a:xfrm>
            <a:off x="8277561" y="1600200"/>
            <a:ext cx="3408471" cy="4389120"/>
          </a:xfrm>
          <a:prstGeom prst="rect">
            <a:avLst/>
          </a:prstGeom>
          <a:ln w="9525">
            <a:solidFill>
              <a:srgbClr val="33474B"/>
            </a:solidFill>
            <a:prstDash val="solid"/>
          </a:ln>
        </p:spPr>
      </p:sp>
      <p:sp>
        <p:nvSpPr>
          <p:cNvPr id="25" name="Text 21"/>
          <p:cNvSpPr txBox="1"/>
          <p:nvPr/>
        </p:nvSpPr>
        <p:spPr>
          <a:xfrm>
            <a:off x="8003241" y="6044184"/>
            <a:ext cx="3957111"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Trophy Asset in der Ankündigungsphase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TARGET-PROFIL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Anatomie eines Targets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14</a:t>
            </a:r>
            <a:endParaRPr lang="en-US" sz="900" dirty="0"/>
          </a:p>
        </p:txBody>
      </p:sp>
      <p:pic>
        <p:nvPicPr>
          <p:cNvPr id="9" name="Image 0" descr="/tmp/claude-0/deck/img/deal_top.jpg">    </p:cNvPr>
          <p:cNvPicPr>
            <a:picLocks noChangeAspect="1"/>
          </p:cNvPicPr>
          <p:nvPr/>
        </p:nvPicPr>
        <p:blipFill>
          <a:blip r:embed="rId1"/>
          <a:stretch>
            <a:fillRect/>
          </a:stretch>
        </p:blipFill>
        <p:spPr>
          <a:xfrm>
            <a:off x="502920" y="1600200"/>
            <a:ext cx="3208729" cy="4526280"/>
          </a:xfrm>
          <a:prstGeom prst="rect">
            <a:avLst/>
          </a:prstGeom>
        </p:spPr>
      </p:pic>
      <p:sp>
        <p:nvSpPr>
          <p:cNvPr id="10" name="Shape 6"/>
          <p:cNvSpPr/>
          <p:nvPr/>
        </p:nvSpPr>
        <p:spPr>
          <a:xfrm>
            <a:off x="502920" y="1600200"/>
            <a:ext cx="3208729" cy="4526280"/>
          </a:xfrm>
          <a:prstGeom prst="rect">
            <a:avLst/>
          </a:prstGeom>
          <a:ln w="9525">
            <a:solidFill>
              <a:srgbClr val="33474B"/>
            </a:solidFill>
            <a:prstDash val="solid"/>
          </a:ln>
        </p:spPr>
      </p:sp>
      <p:sp>
        <p:nvSpPr>
          <p:cNvPr id="11" name="Text 7"/>
          <p:cNvSpPr txBox="1"/>
          <p:nvPr/>
        </p:nvSpPr>
        <p:spPr>
          <a:xfrm>
            <a:off x="228600" y="6181344"/>
            <a:ext cx="3757369"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Deal-Karte im Dealflow</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257800" y="1600200"/>
          <a:ext cx="6428232" cy="914400"/>
        </p:xfrm>
        <a:graphic>
          <a:graphicData uri="http://schemas.openxmlformats.org/drawingml/2006/table">
            <a:tbl>
              <a:tblPr/>
              <a:tblGrid>
                <a:gridCol w="1783080"/>
                <a:gridCol w="2770632"/>
                <a:gridCol w="1874520"/>
              </a:tblGrid>
              <a:tr h="47548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Bedeutung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Wirkt auf</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Umsatz</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des Geschäftsmodells × 1,25</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Größe, Ticket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EBITDA-Marge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 4–40 %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 Benchmark</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Wachstum (Historie)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Drift = künftiger Vorsprung</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Qualität 10–97</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Marktstellung, Kundenbasis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Multiple (+0,6 % je Punkt)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Leverage-Kapazität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2,5–5,5× EBITDA</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max. Fremdkapital</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Capex- / NWC-Quote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branchentypisch</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Free Cashflow</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Risikoflagge (55 %)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Kundenkonzentration, Margendruck, Nachfolge, Investitionsstau</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Preis, Ereignisse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3" name="Text 8"/>
          <p:cNvSpPr txBox="1"/>
          <p:nvPr/>
        </p:nvSpPr>
        <p:spPr>
          <a:xfrm>
            <a:off x="5257800" y="5577840"/>
            <a:ext cx="6428232" cy="548640"/>
          </a:xfrm>
          <a:prstGeom prst="rect">
            <a:avLst/>
          </a:prstGeom>
          <a:noFill/>
          <a:ln/>
        </p:spPr>
        <p:txBody>
          <a:bodyPr wrap="square" lIns="0" tIns="0" rIns="0" bIns="0" rtlCol="0" anchor="t"/>
          <a:lstStyle/>
          <a:p>
            <a:pPr algn="l" indent="0" marL="0">
              <a:buNone/>
            </a:pPr>
            <a:r>
              <a:rPr lang="en-US" sz="1150" i="1" dirty="0">
                <a:solidFill>
                  <a:srgbClr val="8E9C9B"/>
                </a:solidFill>
                <a:latin typeface="Calibri" pitchFamily="34" charset="0"/>
                <a:ea typeface="Calibri" pitchFamily="34" charset="-122"/>
                <a:cs typeface="Calibri" pitchFamily="34" charset="-120"/>
              </a:rPr>
              <a:t>Nachfolgesituation: Der Gründer-CEO ist stark (Rating 3–4), zieht sich aber nach 3 Halbjahren zurück.</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PRICING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der Kaufpreis entsteht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15</a:t>
            </a:r>
            <a:endParaRPr lang="en-US" sz="900" dirty="0"/>
          </a:p>
        </p:txBody>
      </p:sp>
      <p:sp>
        <p:nvSpPr>
          <p:cNvPr id="9" name="Shape 6"/>
          <p:cNvSpPr/>
          <p:nvPr/>
        </p:nvSpPr>
        <p:spPr>
          <a:xfrm>
            <a:off x="502920" y="1600200"/>
            <a:ext cx="11185855" cy="731520"/>
          </a:xfrm>
          <a:prstGeom prst="roundRect">
            <a:avLst>
              <a:gd name="adj" fmla="val 10000"/>
            </a:avLst>
          </a:prstGeom>
          <a:solidFill>
            <a:srgbClr val="1C282B"/>
          </a:solidFill>
          <a:ln w="12700">
            <a:solidFill>
              <a:srgbClr val="DCB264"/>
            </a:solidFill>
            <a:prstDash val="solid"/>
          </a:ln>
        </p:spPr>
      </p:sp>
      <p:sp>
        <p:nvSpPr>
          <p:cNvPr id="10" name="Text 7"/>
          <p:cNvSpPr txBox="1"/>
          <p:nvPr/>
        </p:nvSpPr>
        <p:spPr>
          <a:xfrm>
            <a:off x="685800" y="1600200"/>
            <a:ext cx="10820095" cy="731520"/>
          </a:xfrm>
          <a:prstGeom prst="rect">
            <a:avLst/>
          </a:prstGeom>
          <a:noFill/>
          <a:ln/>
        </p:spPr>
        <p:txBody>
          <a:bodyPr wrap="square" lIns="0" tIns="0" rIns="0" bIns="0" rtlCol="0" anchor="ctr"/>
          <a:lstStyle/>
          <a:p>
            <a:pPr algn="ctr" indent="0" marL="0">
              <a:buNone/>
            </a:pPr>
            <a:r>
              <a:rPr lang="en-US" sz="1700" b="1" dirty="0">
                <a:solidFill>
                  <a:srgbClr val="DCB264"/>
                </a:solidFill>
                <a:latin typeface="Calibri" pitchFamily="34" charset="0"/>
                <a:ea typeface="Calibri" pitchFamily="34" charset="-122"/>
                <a:cs typeface="Calibri" pitchFamily="34" charset="-120"/>
              </a:rPr>
              <a:t>Ask = Sektor-Multiple × (0,7 + 0,006 × Qualität) × Rauschen (±4 %) − Proprietary Discount</a:t>
            </a:r>
            <a:endParaRPr lang="en-US" sz="1700" dirty="0"/>
          </a:p>
        </p:txBody>
      </p:sp>
      <p:sp>
        <p:nvSpPr>
          <p:cNvPr id="11" name="Shape 8"/>
          <p:cNvSpPr/>
          <p:nvPr/>
        </p:nvSpPr>
        <p:spPr>
          <a:xfrm>
            <a:off x="502920" y="2606040"/>
            <a:ext cx="2670048" cy="1417320"/>
          </a:xfrm>
          <a:prstGeom prst="roundRect">
            <a:avLst>
              <a:gd name="adj" fmla="val 5161"/>
            </a:avLst>
          </a:prstGeom>
          <a:solidFill>
            <a:srgbClr val="161F22"/>
          </a:solidFill>
          <a:ln w="12700">
            <a:solidFill>
              <a:srgbClr val="3B82F6"/>
            </a:solidFill>
            <a:prstDash val="solid"/>
          </a:ln>
        </p:spPr>
      </p:sp>
      <p:sp>
        <p:nvSpPr>
          <p:cNvPr id="12" name="Text 9"/>
          <p:cNvSpPr txBox="1"/>
          <p:nvPr/>
        </p:nvSpPr>
        <p:spPr>
          <a:xfrm>
            <a:off x="685800" y="2715768"/>
            <a:ext cx="2331720" cy="365760"/>
          </a:xfrm>
          <a:prstGeom prst="rect">
            <a:avLst/>
          </a:prstGeom>
          <a:noFill/>
          <a:ln/>
        </p:spPr>
        <p:txBody>
          <a:bodyPr wrap="square" lIns="0" tIns="0" rIns="0" bIns="0" rtlCol="0" anchor="t"/>
          <a:lstStyle/>
          <a:p>
            <a:pPr algn="l" indent="0" marL="0">
              <a:buNone/>
            </a:pPr>
            <a:r>
              <a:rPr lang="en-US" sz="1500" b="1" dirty="0">
                <a:solidFill>
                  <a:srgbClr val="3B82F6"/>
                </a:solidFill>
                <a:latin typeface="Calibri" pitchFamily="34" charset="0"/>
                <a:ea typeface="Calibri" pitchFamily="34" charset="-122"/>
                <a:cs typeface="Calibri" pitchFamily="34" charset="-120"/>
              </a:rPr>
              <a:t>Sektor-Multiple</a:t>
            </a:r>
            <a:endParaRPr lang="en-US" sz="1500" dirty="0"/>
          </a:p>
        </p:txBody>
      </p:sp>
      <p:sp>
        <p:nvSpPr>
          <p:cNvPr id="13" name="Text 10"/>
          <p:cNvSpPr txBox="1"/>
          <p:nvPr/>
        </p:nvSpPr>
        <p:spPr>
          <a:xfrm>
            <a:off x="68580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Aktueller Marktwert des Sektors – schwankt jedes Halbjahr</a:t>
            </a:r>
            <a:endParaRPr lang="en-US" sz="1200" dirty="0"/>
          </a:p>
        </p:txBody>
      </p:sp>
      <p:sp>
        <p:nvSpPr>
          <p:cNvPr id="14" name="Shape 11"/>
          <p:cNvSpPr/>
          <p:nvPr/>
        </p:nvSpPr>
        <p:spPr>
          <a:xfrm>
            <a:off x="3337560" y="2606040"/>
            <a:ext cx="2670048" cy="1417320"/>
          </a:xfrm>
          <a:prstGeom prst="roundRect">
            <a:avLst>
              <a:gd name="adj" fmla="val 5161"/>
            </a:avLst>
          </a:prstGeom>
          <a:solidFill>
            <a:srgbClr val="161F22"/>
          </a:solidFill>
          <a:ln w="12700">
            <a:solidFill>
              <a:srgbClr val="5FC4B1"/>
            </a:solidFill>
            <a:prstDash val="solid"/>
          </a:ln>
        </p:spPr>
      </p:sp>
      <p:sp>
        <p:nvSpPr>
          <p:cNvPr id="15" name="Text 12"/>
          <p:cNvSpPr txBox="1"/>
          <p:nvPr/>
        </p:nvSpPr>
        <p:spPr>
          <a:xfrm>
            <a:off x="3520440" y="2715768"/>
            <a:ext cx="2331720" cy="365760"/>
          </a:xfrm>
          <a:prstGeom prst="rect">
            <a:avLst/>
          </a:prstGeom>
          <a:noFill/>
          <a:ln/>
        </p:spPr>
        <p:txBody>
          <a:bodyPr wrap="square" lIns="0" tIns="0" rIns="0" bIns="0" rtlCol="0" anchor="t"/>
          <a:lstStyle/>
          <a:p>
            <a:pPr algn="l" indent="0" marL="0">
              <a:buNone/>
            </a:pPr>
            <a:r>
              <a:rPr lang="en-US" sz="1500" b="1" dirty="0">
                <a:solidFill>
                  <a:srgbClr val="5FC4B1"/>
                </a:solidFill>
                <a:latin typeface="Calibri" pitchFamily="34" charset="0"/>
                <a:ea typeface="Calibri" pitchFamily="34" charset="-122"/>
                <a:cs typeface="Calibri" pitchFamily="34" charset="-120"/>
              </a:rPr>
              <a:t>Qualitätsfaktor</a:t>
            </a:r>
            <a:endParaRPr lang="en-US" sz="1500" dirty="0"/>
          </a:p>
        </p:txBody>
      </p:sp>
      <p:sp>
        <p:nvSpPr>
          <p:cNvPr id="16" name="Text 13"/>
          <p:cNvSpPr txBox="1"/>
          <p:nvPr/>
        </p:nvSpPr>
        <p:spPr>
          <a:xfrm>
            <a:off x="352044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Q 50 → 1,00 · Q 70 → 1,12 · Q 90 → 1,24</a:t>
            </a:r>
            <a:endParaRPr lang="en-US" sz="1200" dirty="0"/>
          </a:p>
        </p:txBody>
      </p:sp>
      <p:sp>
        <p:nvSpPr>
          <p:cNvPr id="17" name="Shape 14"/>
          <p:cNvSpPr/>
          <p:nvPr/>
        </p:nvSpPr>
        <p:spPr>
          <a:xfrm>
            <a:off x="6172200" y="2606040"/>
            <a:ext cx="2670048" cy="1417320"/>
          </a:xfrm>
          <a:prstGeom prst="roundRect">
            <a:avLst>
              <a:gd name="adj" fmla="val 5161"/>
            </a:avLst>
          </a:prstGeom>
          <a:solidFill>
            <a:srgbClr val="161F22"/>
          </a:solidFill>
          <a:ln w="12700">
            <a:solidFill>
              <a:srgbClr val="8E9C9B"/>
            </a:solidFill>
            <a:prstDash val="solid"/>
          </a:ln>
        </p:spPr>
      </p:sp>
      <p:sp>
        <p:nvSpPr>
          <p:cNvPr id="18" name="Text 15"/>
          <p:cNvSpPr txBox="1"/>
          <p:nvPr/>
        </p:nvSpPr>
        <p:spPr>
          <a:xfrm>
            <a:off x="6355080" y="2715768"/>
            <a:ext cx="2331720" cy="365760"/>
          </a:xfrm>
          <a:prstGeom prst="rect">
            <a:avLst/>
          </a:prstGeom>
          <a:noFill/>
          <a:ln/>
        </p:spPr>
        <p:txBody>
          <a:bodyPr wrap="square" lIns="0" tIns="0" rIns="0" bIns="0" rtlCol="0" anchor="t"/>
          <a:lstStyle/>
          <a:p>
            <a:pPr algn="l" indent="0" marL="0">
              <a:buNone/>
            </a:pPr>
            <a:r>
              <a:rPr lang="en-US" sz="1500" b="1" dirty="0">
                <a:solidFill>
                  <a:srgbClr val="8E9C9B"/>
                </a:solidFill>
                <a:latin typeface="Calibri" pitchFamily="34" charset="0"/>
                <a:ea typeface="Calibri" pitchFamily="34" charset="-122"/>
                <a:cs typeface="Calibri" pitchFamily="34" charset="-120"/>
              </a:rPr>
              <a:t>Rauschen</a:t>
            </a:r>
            <a:endParaRPr lang="en-US" sz="1500" dirty="0"/>
          </a:p>
        </p:txBody>
      </p:sp>
      <p:sp>
        <p:nvSpPr>
          <p:cNvPr id="19" name="Text 16"/>
          <p:cNvSpPr txBox="1"/>
          <p:nvPr/>
        </p:nvSpPr>
        <p:spPr>
          <a:xfrm>
            <a:off x="635508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0,96–1,04: kein Deal ist exakt fair bepreist</a:t>
            </a:r>
            <a:endParaRPr lang="en-US" sz="1200" dirty="0"/>
          </a:p>
        </p:txBody>
      </p:sp>
      <p:sp>
        <p:nvSpPr>
          <p:cNvPr id="20" name="Shape 17"/>
          <p:cNvSpPr/>
          <p:nvPr/>
        </p:nvSpPr>
        <p:spPr>
          <a:xfrm>
            <a:off x="9006840" y="2606040"/>
            <a:ext cx="2670048" cy="1417320"/>
          </a:xfrm>
          <a:prstGeom prst="roundRect">
            <a:avLst>
              <a:gd name="adj" fmla="val 5161"/>
            </a:avLst>
          </a:prstGeom>
          <a:solidFill>
            <a:srgbClr val="161F22"/>
          </a:solidFill>
          <a:ln w="12700">
            <a:solidFill>
              <a:srgbClr val="DCB264"/>
            </a:solidFill>
            <a:prstDash val="solid"/>
          </a:ln>
        </p:spPr>
      </p:sp>
      <p:sp>
        <p:nvSpPr>
          <p:cNvPr id="21" name="Text 18"/>
          <p:cNvSpPr txBox="1"/>
          <p:nvPr/>
        </p:nvSpPr>
        <p:spPr>
          <a:xfrm>
            <a:off x="9189720" y="2715768"/>
            <a:ext cx="2331720" cy="365760"/>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Proprietary Discount</a:t>
            </a:r>
            <a:endParaRPr lang="en-US" sz="1500" dirty="0"/>
          </a:p>
        </p:txBody>
      </p:sp>
      <p:sp>
        <p:nvSpPr>
          <p:cNvPr id="22" name="Text 19"/>
          <p:cNvSpPr txBox="1"/>
          <p:nvPr/>
        </p:nvSpPr>
        <p:spPr>
          <a:xfrm>
            <a:off x="918972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0,5–1,0 Turns + 0,12 × Origination</a:t>
            </a:r>
            <a:endParaRPr lang="en-US" sz="1200" dirty="0"/>
          </a:p>
        </p:txBody>
      </p:sp>
      <p:sp>
        <p:nvSpPr>
          <p:cNvPr id="23" name="Text 20"/>
          <p:cNvSpPr txBox="1"/>
          <p:nvPr/>
        </p:nvSpPr>
        <p:spPr>
          <a:xfrm>
            <a:off x="502920" y="4297680"/>
            <a:ext cx="54864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RECHENBEISPIEL HEALTHCARE (SEKTOR-MULTIPLE 11,0×)</a:t>
            </a:r>
            <a:endParaRPr lang="en-US" sz="1000" dirty="0"/>
          </a:p>
        </p:txBody>
      </p:sp>
      <p:sp>
        <p:nvSpPr>
          <p:cNvPr id="24" name="Shape 21"/>
          <p:cNvSpPr/>
          <p:nvPr/>
        </p:nvSpPr>
        <p:spPr>
          <a:xfrm>
            <a:off x="502920" y="4572000"/>
            <a:ext cx="3611880" cy="1005840"/>
          </a:xfrm>
          <a:prstGeom prst="roundRect">
            <a:avLst>
              <a:gd name="adj" fmla="val 7273"/>
            </a:avLst>
          </a:prstGeom>
          <a:solidFill>
            <a:srgbClr val="1C282B"/>
          </a:solidFill>
          <a:ln w="9525">
            <a:solidFill>
              <a:srgbClr val="243033"/>
            </a:solidFill>
            <a:prstDash val="solid"/>
          </a:ln>
        </p:spPr>
      </p:sp>
      <p:sp>
        <p:nvSpPr>
          <p:cNvPr id="25" name="Text 22"/>
          <p:cNvSpPr txBox="1"/>
          <p:nvPr/>
        </p:nvSpPr>
        <p:spPr>
          <a:xfrm>
            <a:off x="685800"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Qualität 70</a:t>
            </a:r>
            <a:endParaRPr lang="en-US" sz="1300" dirty="0"/>
          </a:p>
        </p:txBody>
      </p:sp>
      <p:sp>
        <p:nvSpPr>
          <p:cNvPr id="26" name="Text 23"/>
          <p:cNvSpPr txBox="1"/>
          <p:nvPr/>
        </p:nvSpPr>
        <p:spPr>
          <a:xfrm>
            <a:off x="685800"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11,0 × 1,12</a:t>
            </a:r>
            <a:endParaRPr lang="en-US" sz="1200" dirty="0"/>
          </a:p>
        </p:txBody>
      </p:sp>
      <p:sp>
        <p:nvSpPr>
          <p:cNvPr id="27" name="Text 24"/>
          <p:cNvSpPr txBox="1"/>
          <p:nvPr/>
        </p:nvSpPr>
        <p:spPr>
          <a:xfrm>
            <a:off x="2697480"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12,3×</a:t>
            </a:r>
            <a:endParaRPr lang="en-US" sz="2000" dirty="0"/>
          </a:p>
        </p:txBody>
      </p:sp>
      <p:sp>
        <p:nvSpPr>
          <p:cNvPr id="28" name="Shape 25"/>
          <p:cNvSpPr/>
          <p:nvPr/>
        </p:nvSpPr>
        <p:spPr>
          <a:xfrm>
            <a:off x="4279392" y="4572000"/>
            <a:ext cx="3611880" cy="1005840"/>
          </a:xfrm>
          <a:prstGeom prst="roundRect">
            <a:avLst>
              <a:gd name="adj" fmla="val 7273"/>
            </a:avLst>
          </a:prstGeom>
          <a:solidFill>
            <a:srgbClr val="1C282B"/>
          </a:solidFill>
          <a:ln w="9525">
            <a:solidFill>
              <a:srgbClr val="243033"/>
            </a:solidFill>
            <a:prstDash val="solid"/>
          </a:ln>
        </p:spPr>
      </p:sp>
      <p:sp>
        <p:nvSpPr>
          <p:cNvPr id="29" name="Text 26"/>
          <p:cNvSpPr txBox="1"/>
          <p:nvPr/>
        </p:nvSpPr>
        <p:spPr>
          <a:xfrm>
            <a:off x="4462272"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Auktion</a:t>
            </a:r>
            <a:endParaRPr lang="en-US" sz="1300" dirty="0"/>
          </a:p>
        </p:txBody>
      </p:sp>
      <p:sp>
        <p:nvSpPr>
          <p:cNvPr id="30" name="Text 27"/>
          <p:cNvSpPr txBox="1"/>
          <p:nvPr/>
        </p:nvSpPr>
        <p:spPr>
          <a:xfrm>
            <a:off x="4462272"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Reservationspreis 85 %</a:t>
            </a:r>
            <a:endParaRPr lang="en-US" sz="1200" dirty="0"/>
          </a:p>
        </p:txBody>
      </p:sp>
      <p:sp>
        <p:nvSpPr>
          <p:cNvPr id="31" name="Text 28"/>
          <p:cNvSpPr txBox="1"/>
          <p:nvPr/>
        </p:nvSpPr>
        <p:spPr>
          <a:xfrm>
            <a:off x="6473952"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10,5×</a:t>
            </a:r>
            <a:endParaRPr lang="en-US" sz="2000" dirty="0"/>
          </a:p>
        </p:txBody>
      </p:sp>
      <p:sp>
        <p:nvSpPr>
          <p:cNvPr id="32" name="Shape 29"/>
          <p:cNvSpPr/>
          <p:nvPr/>
        </p:nvSpPr>
        <p:spPr>
          <a:xfrm>
            <a:off x="8055864" y="4572000"/>
            <a:ext cx="3611880" cy="1005840"/>
          </a:xfrm>
          <a:prstGeom prst="roundRect">
            <a:avLst>
              <a:gd name="adj" fmla="val 7273"/>
            </a:avLst>
          </a:prstGeom>
          <a:solidFill>
            <a:srgbClr val="1C282B"/>
          </a:solidFill>
          <a:ln w="9525">
            <a:solidFill>
              <a:srgbClr val="243033"/>
            </a:solidFill>
            <a:prstDash val="solid"/>
          </a:ln>
        </p:spPr>
      </p:sp>
      <p:sp>
        <p:nvSpPr>
          <p:cNvPr id="33" name="Text 30"/>
          <p:cNvSpPr txBox="1"/>
          <p:nvPr/>
        </p:nvSpPr>
        <p:spPr>
          <a:xfrm>
            <a:off x="8238744"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Proprietär (Origination 3)</a:t>
            </a:r>
            <a:endParaRPr lang="en-US" sz="1300" dirty="0"/>
          </a:p>
        </p:txBody>
      </p:sp>
      <p:sp>
        <p:nvSpPr>
          <p:cNvPr id="34" name="Text 31"/>
          <p:cNvSpPr txBox="1"/>
          <p:nvPr/>
        </p:nvSpPr>
        <p:spPr>
          <a:xfrm>
            <a:off x="8238744"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−0,9 bis −1,4 Turns</a:t>
            </a:r>
            <a:endParaRPr lang="en-US" sz="1200" dirty="0"/>
          </a:p>
        </p:txBody>
      </p:sp>
      <p:sp>
        <p:nvSpPr>
          <p:cNvPr id="35" name="Text 32"/>
          <p:cNvSpPr txBox="1"/>
          <p:nvPr/>
        </p:nvSpPr>
        <p:spPr>
          <a:xfrm>
            <a:off x="10250424"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11,1×</a:t>
            </a:r>
            <a:endParaRPr lang="en-US" sz="2000" dirty="0"/>
          </a:p>
        </p:txBody>
      </p:sp>
      <p:sp>
        <p:nvSpPr>
          <p:cNvPr id="36" name="Text 33"/>
          <p:cNvSpPr txBox="1"/>
          <p:nvPr/>
        </p:nvSpPr>
        <p:spPr>
          <a:xfrm>
            <a:off x="502920" y="5806440"/>
            <a:ext cx="11185855" cy="365760"/>
          </a:xfrm>
          <a:prstGeom prst="rect">
            <a:avLst/>
          </a:prstGeom>
          <a:noFill/>
          <a:ln/>
        </p:spPr>
        <p:txBody>
          <a:bodyPr wrap="square" lIns="0" tIns="0" rIns="0" bIns="0" rtlCol="0" anchor="t"/>
          <a:lstStyle/>
          <a:p>
            <a:pPr algn="l" indent="0" marL="0">
              <a:buNone/>
            </a:pPr>
            <a:r>
              <a:rPr lang="en-US" sz="1200" i="1" dirty="0">
                <a:solidFill>
                  <a:srgbClr val="8E9C9B"/>
                </a:solidFill>
                <a:latin typeface="Calibri" pitchFamily="34" charset="0"/>
                <a:ea typeface="Calibri" pitchFamily="34" charset="-122"/>
                <a:cs typeface="Calibri" pitchFamily="34" charset="-120"/>
              </a:rPr>
              <a:t>Kein Aufwertungsgewinn am Closing-Tag: Kaufpreis (newDeal) und Bewertung (markMultiple) teilen QUAL_COEF = 0,006.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INFORMATIONSASYMMETRIE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Due Diligence: was man vor dem Kauf wissen kann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16</a:t>
            </a:r>
            <a:endParaRPr lang="en-US" sz="900" dirty="0"/>
          </a:p>
        </p:txBody>
      </p:sp>
      <p:graphicFrame>
        <p:nvGraphicFramePr>
          <p:cNvPr id="9" name="Chart 0" descr=""/>
          <p:cNvGraphicFramePr/>
          <p:nvPr/>
        </p:nvGraphicFramePr>
        <p:xfrm>
          <a:off x="502920" y="160020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502920" y="4892040"/>
            <a:ext cx="5120640" cy="594360"/>
          </a:xfrm>
          <a:prstGeom prst="roundRect">
            <a:avLst>
              <a:gd name="adj" fmla="val 12308"/>
            </a:avLst>
          </a:prstGeom>
          <a:solidFill>
            <a:srgbClr val="1C282B"/>
          </a:solidFill>
          <a:ln w="12700">
            <a:solidFill>
              <a:srgbClr val="DCB264"/>
            </a:solidFill>
            <a:prstDash val="solid"/>
          </a:ln>
        </p:spPr>
      </p:sp>
      <p:sp>
        <p:nvSpPr>
          <p:cNvPr id="11" name="Text 7"/>
          <p:cNvSpPr txBox="1"/>
          <p:nvPr/>
        </p:nvSpPr>
        <p:spPr>
          <a:xfrm>
            <a:off x="685800" y="4892040"/>
            <a:ext cx="4754880" cy="59436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Schätzfehler (σ) = 4,6 − 0,9 × Due Diligence  (min. 0,3)</a:t>
            </a:r>
            <a:endParaRPr lang="en-US" sz="1350" dirty="0"/>
          </a:p>
        </p:txBody>
      </p:sp>
      <p:sp>
        <p:nvSpPr>
          <p:cNvPr id="12" name="Shape 8"/>
          <p:cNvSpPr/>
          <p:nvPr/>
        </p:nvSpPr>
        <p:spPr>
          <a:xfrm>
            <a:off x="5852160" y="1600200"/>
            <a:ext cx="5833872" cy="868680"/>
          </a:xfrm>
          <a:prstGeom prst="roundRect">
            <a:avLst>
              <a:gd name="adj" fmla="val 8421"/>
            </a:avLst>
          </a:prstGeom>
          <a:solidFill>
            <a:srgbClr val="161F22"/>
          </a:solidFill>
          <a:ln w="9525">
            <a:solidFill>
              <a:srgbClr val="243033"/>
            </a:solidFill>
            <a:prstDash val="solid"/>
          </a:ln>
        </p:spPr>
      </p:sp>
      <p:sp>
        <p:nvSpPr>
          <p:cNvPr id="13" name="Text 9"/>
          <p:cNvSpPr txBox="1"/>
          <p:nvPr/>
        </p:nvSpPr>
        <p:spPr>
          <a:xfrm>
            <a:off x="5989320" y="1600200"/>
            <a:ext cx="1828800" cy="868680"/>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0,6 % des EV</a:t>
            </a:r>
            <a:endParaRPr lang="en-US" sz="1500" dirty="0"/>
          </a:p>
        </p:txBody>
      </p:sp>
      <p:sp>
        <p:nvSpPr>
          <p:cNvPr id="14" name="Text 10"/>
          <p:cNvSpPr txBox="1"/>
          <p:nvPr/>
        </p:nvSpPr>
        <p:spPr>
          <a:xfrm>
            <a:off x="7863840" y="1600200"/>
            <a:ext cx="3703320" cy="868680"/>
          </a:xfrm>
          <a:prstGeom prst="rect">
            <a:avLst/>
          </a:prstGeom>
          <a:noFill/>
          <a:ln/>
        </p:spPr>
        <p:txBody>
          <a:bodyPr wrap="square" lIns="0" tIns="0" rIns="0" bIns="0" rtlCol="0" anchor="ctr"/>
          <a:lstStyle/>
          <a:p>
            <a:pPr algn="l" indent="0" marL="0">
              <a:buNone/>
            </a:pPr>
            <a:r>
              <a:rPr lang="en-US" sz="1200" dirty="0">
                <a:solidFill>
                  <a:srgbClr val="EDF1EE"/>
                </a:solidFill>
                <a:latin typeface="Calibri" pitchFamily="34" charset="0"/>
                <a:ea typeface="Calibri" pitchFamily="34" charset="-122"/>
                <a:cs typeface="Calibri" pitchFamily="34" charset="-120"/>
              </a:rPr>
              <a:t>Kosten je Datenraum (0,6–3,5 Mio. €) – fällig auch, wenn der Deal verloren geht</a:t>
            </a:r>
            <a:endParaRPr lang="en-US" sz="1200" dirty="0"/>
          </a:p>
        </p:txBody>
      </p:sp>
      <p:sp>
        <p:nvSpPr>
          <p:cNvPr id="15" name="Shape 11"/>
          <p:cNvSpPr/>
          <p:nvPr/>
        </p:nvSpPr>
        <p:spPr>
          <a:xfrm>
            <a:off x="5852160" y="2587752"/>
            <a:ext cx="5833872" cy="868680"/>
          </a:xfrm>
          <a:prstGeom prst="roundRect">
            <a:avLst>
              <a:gd name="adj" fmla="val 8421"/>
            </a:avLst>
          </a:prstGeom>
          <a:solidFill>
            <a:srgbClr val="161F22"/>
          </a:solidFill>
          <a:ln w="9525">
            <a:solidFill>
              <a:srgbClr val="243033"/>
            </a:solidFill>
            <a:prstDash val="solid"/>
          </a:ln>
        </p:spPr>
      </p:sp>
      <p:sp>
        <p:nvSpPr>
          <p:cNvPr id="16" name="Text 12"/>
          <p:cNvSpPr txBox="1"/>
          <p:nvPr/>
        </p:nvSpPr>
        <p:spPr>
          <a:xfrm>
            <a:off x="5989320" y="2587752"/>
            <a:ext cx="1828800" cy="868680"/>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1 + DD / 2</a:t>
            </a:r>
            <a:endParaRPr lang="en-US" sz="1500" dirty="0"/>
          </a:p>
        </p:txBody>
      </p:sp>
      <p:sp>
        <p:nvSpPr>
          <p:cNvPr id="17" name="Text 13"/>
          <p:cNvSpPr txBox="1"/>
          <p:nvPr/>
        </p:nvSpPr>
        <p:spPr>
          <a:xfrm>
            <a:off x="7863840" y="2587752"/>
            <a:ext cx="3703320" cy="868680"/>
          </a:xfrm>
          <a:prstGeom prst="rect">
            <a:avLst/>
          </a:prstGeom>
          <a:noFill/>
          <a:ln/>
        </p:spPr>
        <p:txBody>
          <a:bodyPr wrap="square" lIns="0" tIns="0" rIns="0" bIns="0" rtlCol="0" anchor="ctr"/>
          <a:lstStyle/>
          <a:p>
            <a:pPr algn="l" indent="0" marL="0">
              <a:buNone/>
            </a:pPr>
            <a:r>
              <a:rPr lang="en-US" sz="1200" dirty="0">
                <a:solidFill>
                  <a:srgbClr val="EDF1EE"/>
                </a:solidFill>
                <a:latin typeface="Calibri" pitchFamily="34" charset="0"/>
                <a:ea typeface="Calibri" pitchFamily="34" charset="-122"/>
                <a:cs typeface="Calibri" pitchFamily="34" charset="-120"/>
              </a:rPr>
              <a:t>Datenräume parallel: Das Deal-Team ist knapp, nicht das Geld</a:t>
            </a:r>
            <a:endParaRPr lang="en-US" sz="1200" dirty="0"/>
          </a:p>
        </p:txBody>
      </p:sp>
      <p:sp>
        <p:nvSpPr>
          <p:cNvPr id="18" name="Shape 14"/>
          <p:cNvSpPr/>
          <p:nvPr/>
        </p:nvSpPr>
        <p:spPr>
          <a:xfrm>
            <a:off x="5852160" y="3575304"/>
            <a:ext cx="5833872" cy="868680"/>
          </a:xfrm>
          <a:prstGeom prst="roundRect">
            <a:avLst>
              <a:gd name="adj" fmla="val 8421"/>
            </a:avLst>
          </a:prstGeom>
          <a:solidFill>
            <a:srgbClr val="161F22"/>
          </a:solidFill>
          <a:ln w="9525">
            <a:solidFill>
              <a:srgbClr val="243033"/>
            </a:solidFill>
            <a:prstDash val="solid"/>
          </a:ln>
        </p:spPr>
      </p:sp>
      <p:sp>
        <p:nvSpPr>
          <p:cNvPr id="19" name="Text 15"/>
          <p:cNvSpPr txBox="1"/>
          <p:nvPr/>
        </p:nvSpPr>
        <p:spPr>
          <a:xfrm>
            <a:off x="5989320" y="3575304"/>
            <a:ext cx="1828800" cy="868680"/>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50 % − 9 % × DD</a:t>
            </a:r>
            <a:endParaRPr lang="en-US" sz="1500" dirty="0"/>
          </a:p>
        </p:txBody>
      </p:sp>
      <p:sp>
        <p:nvSpPr>
          <p:cNvPr id="20" name="Text 16"/>
          <p:cNvSpPr txBox="1"/>
          <p:nvPr/>
        </p:nvSpPr>
        <p:spPr>
          <a:xfrm>
            <a:off x="7863840" y="3575304"/>
            <a:ext cx="3703320" cy="868680"/>
          </a:xfrm>
          <a:prstGeom prst="rect">
            <a:avLst/>
          </a:prstGeom>
          <a:noFill/>
          <a:ln/>
        </p:spPr>
        <p:txBody>
          <a:bodyPr wrap="square" lIns="0" tIns="0" rIns="0" bIns="0" rtlCol="0" anchor="ctr"/>
          <a:lstStyle/>
          <a:p>
            <a:pPr algn="l" indent="0" marL="0">
              <a:buNone/>
            </a:pPr>
            <a:r>
              <a:rPr lang="en-US" sz="1200" dirty="0">
                <a:solidFill>
                  <a:srgbClr val="EDF1EE"/>
                </a:solidFill>
                <a:latin typeface="Calibri" pitchFamily="34" charset="0"/>
                <a:ea typeface="Calibri" pitchFamily="34" charset="-122"/>
                <a:cs typeface="Calibri" pitchFamily="34" charset="-120"/>
              </a:rPr>
              <a:t>Risiko einer Überraschung beim proprietären Deal ohne DD: Marge 10–24 % niedriger</a:t>
            </a:r>
            <a:endParaRPr lang="en-US" sz="1200" dirty="0"/>
          </a:p>
        </p:txBody>
      </p:sp>
      <p:sp>
        <p:nvSpPr>
          <p:cNvPr id="21" name="Shape 17"/>
          <p:cNvSpPr/>
          <p:nvPr/>
        </p:nvSpPr>
        <p:spPr>
          <a:xfrm>
            <a:off x="5852160" y="4562856"/>
            <a:ext cx="5833872" cy="868680"/>
          </a:xfrm>
          <a:prstGeom prst="roundRect">
            <a:avLst>
              <a:gd name="adj" fmla="val 8421"/>
            </a:avLst>
          </a:prstGeom>
          <a:solidFill>
            <a:srgbClr val="161F22"/>
          </a:solidFill>
          <a:ln w="9525">
            <a:solidFill>
              <a:srgbClr val="243033"/>
            </a:solidFill>
            <a:prstDash val="solid"/>
          </a:ln>
        </p:spPr>
      </p:sp>
      <p:sp>
        <p:nvSpPr>
          <p:cNvPr id="22" name="Text 18"/>
          <p:cNvSpPr txBox="1"/>
          <p:nvPr/>
        </p:nvSpPr>
        <p:spPr>
          <a:xfrm>
            <a:off x="5989320" y="4562856"/>
            <a:ext cx="1828800" cy="868680"/>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1 Mio. €</a:t>
            </a:r>
            <a:endParaRPr lang="en-US" sz="1500" dirty="0"/>
          </a:p>
        </p:txBody>
      </p:sp>
      <p:sp>
        <p:nvSpPr>
          <p:cNvPr id="23" name="Text 19"/>
          <p:cNvSpPr txBox="1"/>
          <p:nvPr/>
        </p:nvSpPr>
        <p:spPr>
          <a:xfrm>
            <a:off x="7863840" y="4562856"/>
            <a:ext cx="3703320" cy="868680"/>
          </a:xfrm>
          <a:prstGeom prst="rect">
            <a:avLst/>
          </a:prstGeom>
          <a:noFill/>
          <a:ln/>
        </p:spPr>
        <p:txBody>
          <a:bodyPr wrap="square" lIns="0" tIns="0" rIns="0" bIns="0" rtlCol="0" anchor="ctr"/>
          <a:lstStyle/>
          <a:p>
            <a:pPr algn="l" indent="0" marL="0">
              <a:buNone/>
            </a:pPr>
            <a:r>
              <a:rPr lang="en-US" sz="1200" dirty="0">
                <a:solidFill>
                  <a:srgbClr val="EDF1EE"/>
                </a:solidFill>
                <a:latin typeface="Calibri" pitchFamily="34" charset="0"/>
                <a:ea typeface="Calibri" pitchFamily="34" charset="-122"/>
                <a:cs typeface="Calibri" pitchFamily="34" charset="-120"/>
              </a:rPr>
              <a:t>Benchmarkstudie nachträglich: liefert Branchenmarge und Marktwachstum</a:t>
            </a:r>
            <a:endParaRPr lang="en-US" sz="1200" dirty="0"/>
          </a:p>
        </p:txBody>
      </p:sp>
      <p:sp>
        <p:nvSpPr>
          <p:cNvPr id="24" name="Text 20"/>
          <p:cNvSpPr txBox="1"/>
          <p:nvPr/>
        </p:nvSpPr>
        <p:spPr>
          <a:xfrm>
            <a:off x="5852160" y="5669280"/>
            <a:ext cx="5833872" cy="365760"/>
          </a:xfrm>
          <a:prstGeom prst="rect">
            <a:avLst/>
          </a:prstGeom>
          <a:noFill/>
          <a:ln/>
        </p:spPr>
        <p:txBody>
          <a:bodyPr wrap="square" lIns="0" tIns="0" rIns="0" bIns="0" rtlCol="0" anchor="t"/>
          <a:lstStyle/>
          <a:p>
            <a:pPr algn="l" indent="0" marL="0">
              <a:buNone/>
            </a:pPr>
            <a:r>
              <a:rPr lang="en-US" sz="1200" i="1" dirty="0">
                <a:solidFill>
                  <a:srgbClr val="8E9C9B"/>
                </a:solidFill>
                <a:latin typeface="Calibri" pitchFamily="34" charset="0"/>
                <a:ea typeface="Calibri" pitchFamily="34" charset="-122"/>
                <a:cs typeface="Calibri" pitchFamily="34" charset="-120"/>
              </a:rPr>
              <a:t>Die Schätzung verkleinert den Fehler, beseitigt ihn nie – genau wie ein echter Datenraum.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AUKTIONSMECHANIK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eine Auktion entschieden wird</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17</a:t>
            </a:r>
            <a:endParaRPr lang="en-US" sz="900" dirty="0"/>
          </a:p>
        </p:txBody>
      </p:sp>
      <p:sp>
        <p:nvSpPr>
          <p:cNvPr id="9" name="Shape 6"/>
          <p:cNvSpPr/>
          <p:nvPr/>
        </p:nvSpPr>
        <p:spPr>
          <a:xfrm>
            <a:off x="502920" y="1600200"/>
            <a:ext cx="2032345" cy="1188720"/>
          </a:xfrm>
          <a:prstGeom prst="roundRect">
            <a:avLst>
              <a:gd name="adj" fmla="val 6154"/>
            </a:avLst>
          </a:prstGeom>
          <a:solidFill>
            <a:srgbClr val="161F22"/>
          </a:solidFill>
          <a:ln w="9525">
            <a:solidFill>
              <a:srgbClr val="3B82F6"/>
            </a:solidFill>
            <a:prstDash val="solid"/>
          </a:ln>
        </p:spPr>
      </p:sp>
      <p:sp>
        <p:nvSpPr>
          <p:cNvPr id="10" name="Shape 7"/>
          <p:cNvSpPr/>
          <p:nvPr/>
        </p:nvSpPr>
        <p:spPr>
          <a:xfrm>
            <a:off x="640080" y="1709928"/>
            <a:ext cx="329184" cy="329184"/>
          </a:xfrm>
          <a:prstGeom prst="ellipse">
            <a:avLst/>
          </a:prstGeom>
          <a:solidFill>
            <a:srgbClr val="3B82F6"/>
          </a:solidFill>
          <a:ln/>
        </p:spPr>
      </p:sp>
      <p:sp>
        <p:nvSpPr>
          <p:cNvPr id="11" name="Text 8"/>
          <p:cNvSpPr txBox="1"/>
          <p:nvPr/>
        </p:nvSpPr>
        <p:spPr>
          <a:xfrm>
            <a:off x="64008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1</a:t>
            </a:r>
            <a:endParaRPr lang="en-US" sz="1200" dirty="0"/>
          </a:p>
        </p:txBody>
      </p:sp>
      <p:sp>
        <p:nvSpPr>
          <p:cNvPr id="12" name="Text 9"/>
          <p:cNvSpPr txBox="1"/>
          <p:nvPr/>
        </p:nvSpPr>
        <p:spPr>
          <a:xfrm>
            <a:off x="105156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Gebot</a:t>
            </a:r>
            <a:endParaRPr lang="en-US" sz="1400" dirty="0"/>
          </a:p>
        </p:txBody>
      </p:sp>
      <p:sp>
        <p:nvSpPr>
          <p:cNvPr id="13" name="Text 10"/>
          <p:cNvSpPr txBox="1"/>
          <p:nvPr/>
        </p:nvSpPr>
        <p:spPr>
          <a:xfrm>
            <a:off x="64008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Multiple + Leverage (≤ Kapazität)</a:t>
            </a:r>
            <a:endParaRPr lang="en-US" sz="1150" dirty="0"/>
          </a:p>
        </p:txBody>
      </p:sp>
      <p:sp>
        <p:nvSpPr>
          <p:cNvPr id="14" name="Shape 11"/>
          <p:cNvSpPr/>
          <p:nvPr/>
        </p:nvSpPr>
        <p:spPr>
          <a:xfrm>
            <a:off x="2553553" y="2194560"/>
            <a:ext cx="219456" cy="0"/>
          </a:xfrm>
          <a:prstGeom prst="line">
            <a:avLst/>
          </a:prstGeom>
          <a:noFill/>
          <a:ln w="19050">
            <a:solidFill>
              <a:srgbClr val="8E9C9B"/>
            </a:solidFill>
            <a:prstDash val="solid"/>
            <a:tailEnd type="triangle"/>
          </a:ln>
        </p:spPr>
      </p:sp>
      <p:sp>
        <p:nvSpPr>
          <p:cNvPr id="15" name="Shape 12"/>
          <p:cNvSpPr/>
          <p:nvPr/>
        </p:nvSpPr>
        <p:spPr>
          <a:xfrm>
            <a:off x="2791297" y="1600200"/>
            <a:ext cx="2032345" cy="1188720"/>
          </a:xfrm>
          <a:prstGeom prst="roundRect">
            <a:avLst>
              <a:gd name="adj" fmla="val 6154"/>
            </a:avLst>
          </a:prstGeom>
          <a:solidFill>
            <a:srgbClr val="161F22"/>
          </a:solidFill>
          <a:ln w="9525">
            <a:solidFill>
              <a:srgbClr val="3B82F6"/>
            </a:solidFill>
            <a:prstDash val="solid"/>
          </a:ln>
        </p:spPr>
      </p:sp>
      <p:sp>
        <p:nvSpPr>
          <p:cNvPr id="16" name="Shape 13"/>
          <p:cNvSpPr/>
          <p:nvPr/>
        </p:nvSpPr>
        <p:spPr>
          <a:xfrm>
            <a:off x="2928457" y="1709928"/>
            <a:ext cx="329184" cy="329184"/>
          </a:xfrm>
          <a:prstGeom prst="ellipse">
            <a:avLst/>
          </a:prstGeom>
          <a:solidFill>
            <a:srgbClr val="3B82F6"/>
          </a:solidFill>
          <a:ln/>
        </p:spPr>
      </p:sp>
      <p:sp>
        <p:nvSpPr>
          <p:cNvPr id="17" name="Text 14"/>
          <p:cNvSpPr txBox="1"/>
          <p:nvPr/>
        </p:nvSpPr>
        <p:spPr>
          <a:xfrm>
            <a:off x="2928457"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2</a:t>
            </a:r>
            <a:endParaRPr lang="en-US" sz="1200" dirty="0"/>
          </a:p>
        </p:txBody>
      </p:sp>
      <p:sp>
        <p:nvSpPr>
          <p:cNvPr id="18" name="Text 15"/>
          <p:cNvSpPr txBox="1"/>
          <p:nvPr/>
        </p:nvSpPr>
        <p:spPr>
          <a:xfrm>
            <a:off x="3339937"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Kapitalcheck</a:t>
            </a:r>
            <a:endParaRPr lang="en-US" sz="1400" dirty="0"/>
          </a:p>
        </p:txBody>
      </p:sp>
      <p:sp>
        <p:nvSpPr>
          <p:cNvPr id="19" name="Text 16"/>
          <p:cNvSpPr txBox="1"/>
          <p:nvPr/>
        </p:nvSpPr>
        <p:spPr>
          <a:xfrm>
            <a:off x="2928457"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Equity ≤ investierbares Kapital</a:t>
            </a:r>
            <a:endParaRPr lang="en-US" sz="1150" dirty="0"/>
          </a:p>
        </p:txBody>
      </p:sp>
      <p:sp>
        <p:nvSpPr>
          <p:cNvPr id="20" name="Shape 17"/>
          <p:cNvSpPr/>
          <p:nvPr/>
        </p:nvSpPr>
        <p:spPr>
          <a:xfrm>
            <a:off x="4841931" y="2194560"/>
            <a:ext cx="219456" cy="0"/>
          </a:xfrm>
          <a:prstGeom prst="line">
            <a:avLst/>
          </a:prstGeom>
          <a:noFill/>
          <a:ln w="19050">
            <a:solidFill>
              <a:srgbClr val="8E9C9B"/>
            </a:solidFill>
            <a:prstDash val="solid"/>
            <a:tailEnd type="triangle"/>
          </a:ln>
        </p:spPr>
      </p:sp>
      <p:sp>
        <p:nvSpPr>
          <p:cNvPr id="21" name="Shape 18"/>
          <p:cNvSpPr/>
          <p:nvPr/>
        </p:nvSpPr>
        <p:spPr>
          <a:xfrm>
            <a:off x="5079675" y="1600200"/>
            <a:ext cx="2032345" cy="1188720"/>
          </a:xfrm>
          <a:prstGeom prst="roundRect">
            <a:avLst>
              <a:gd name="adj" fmla="val 6154"/>
            </a:avLst>
          </a:prstGeom>
          <a:solidFill>
            <a:srgbClr val="161F22"/>
          </a:solidFill>
          <a:ln w="9525">
            <a:solidFill>
              <a:srgbClr val="3B82F6"/>
            </a:solidFill>
            <a:prstDash val="solid"/>
          </a:ln>
        </p:spPr>
      </p:sp>
      <p:sp>
        <p:nvSpPr>
          <p:cNvPr id="22" name="Shape 19"/>
          <p:cNvSpPr/>
          <p:nvPr/>
        </p:nvSpPr>
        <p:spPr>
          <a:xfrm>
            <a:off x="5216835" y="1709928"/>
            <a:ext cx="329184" cy="329184"/>
          </a:xfrm>
          <a:prstGeom prst="ellipse">
            <a:avLst/>
          </a:prstGeom>
          <a:solidFill>
            <a:srgbClr val="3B82F6"/>
          </a:solidFill>
          <a:ln/>
        </p:spPr>
      </p:sp>
      <p:sp>
        <p:nvSpPr>
          <p:cNvPr id="23" name="Text 20"/>
          <p:cNvSpPr txBox="1"/>
          <p:nvPr/>
        </p:nvSpPr>
        <p:spPr>
          <a:xfrm>
            <a:off x="5216835"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3</a:t>
            </a:r>
            <a:endParaRPr lang="en-US" sz="1200" dirty="0"/>
          </a:p>
        </p:txBody>
      </p:sp>
      <p:sp>
        <p:nvSpPr>
          <p:cNvPr id="24" name="Text 21"/>
          <p:cNvSpPr txBox="1"/>
          <p:nvPr/>
        </p:nvSpPr>
        <p:spPr>
          <a:xfrm>
            <a:off x="5628315"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Reservation</a:t>
            </a:r>
            <a:endParaRPr lang="en-US" sz="1400" dirty="0"/>
          </a:p>
        </p:txBody>
      </p:sp>
      <p:sp>
        <p:nvSpPr>
          <p:cNvPr id="25" name="Text 22"/>
          <p:cNvSpPr txBox="1"/>
          <p:nvPr/>
        </p:nvSpPr>
        <p:spPr>
          <a:xfrm>
            <a:off x="5216835"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 85 % (proprietär 90 %) des Ask</a:t>
            </a:r>
            <a:endParaRPr lang="en-US" sz="1150" dirty="0"/>
          </a:p>
        </p:txBody>
      </p:sp>
      <p:sp>
        <p:nvSpPr>
          <p:cNvPr id="26" name="Shape 23"/>
          <p:cNvSpPr/>
          <p:nvPr/>
        </p:nvSpPr>
        <p:spPr>
          <a:xfrm>
            <a:off x="7130308" y="2194560"/>
            <a:ext cx="219456" cy="0"/>
          </a:xfrm>
          <a:prstGeom prst="line">
            <a:avLst/>
          </a:prstGeom>
          <a:noFill/>
          <a:ln w="19050">
            <a:solidFill>
              <a:srgbClr val="8E9C9B"/>
            </a:solidFill>
            <a:prstDash val="solid"/>
            <a:tailEnd type="triangle"/>
          </a:ln>
        </p:spPr>
      </p:sp>
      <p:sp>
        <p:nvSpPr>
          <p:cNvPr id="27" name="Shape 24"/>
          <p:cNvSpPr/>
          <p:nvPr/>
        </p:nvSpPr>
        <p:spPr>
          <a:xfrm>
            <a:off x="7368052" y="1600200"/>
            <a:ext cx="2032345" cy="1188720"/>
          </a:xfrm>
          <a:prstGeom prst="roundRect">
            <a:avLst>
              <a:gd name="adj" fmla="val 6154"/>
            </a:avLst>
          </a:prstGeom>
          <a:solidFill>
            <a:srgbClr val="161F22"/>
          </a:solidFill>
          <a:ln w="9525">
            <a:solidFill>
              <a:srgbClr val="3B82F6"/>
            </a:solidFill>
            <a:prstDash val="solid"/>
          </a:ln>
        </p:spPr>
      </p:sp>
      <p:sp>
        <p:nvSpPr>
          <p:cNvPr id="28" name="Shape 25"/>
          <p:cNvSpPr/>
          <p:nvPr/>
        </p:nvSpPr>
        <p:spPr>
          <a:xfrm>
            <a:off x="7505212" y="1709928"/>
            <a:ext cx="329184" cy="329184"/>
          </a:xfrm>
          <a:prstGeom prst="ellipse">
            <a:avLst/>
          </a:prstGeom>
          <a:solidFill>
            <a:srgbClr val="3B82F6"/>
          </a:solidFill>
          <a:ln/>
        </p:spPr>
      </p:sp>
      <p:sp>
        <p:nvSpPr>
          <p:cNvPr id="29" name="Text 26"/>
          <p:cNvSpPr txBox="1"/>
          <p:nvPr/>
        </p:nvSpPr>
        <p:spPr>
          <a:xfrm>
            <a:off x="7505212"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4</a:t>
            </a:r>
            <a:endParaRPr lang="en-US" sz="1200" dirty="0"/>
          </a:p>
        </p:txBody>
      </p:sp>
      <p:sp>
        <p:nvSpPr>
          <p:cNvPr id="30" name="Text 27"/>
          <p:cNvSpPr txBox="1"/>
          <p:nvPr/>
        </p:nvSpPr>
        <p:spPr>
          <a:xfrm>
            <a:off x="7916692"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Zuschlag</a:t>
            </a:r>
            <a:endParaRPr lang="en-US" sz="1400" dirty="0"/>
          </a:p>
        </p:txBody>
      </p:sp>
      <p:sp>
        <p:nvSpPr>
          <p:cNvPr id="31" name="Text 28"/>
          <p:cNvSpPr txBox="1"/>
          <p:nvPr/>
        </p:nvSpPr>
        <p:spPr>
          <a:xfrm>
            <a:off x="7505212"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Höchstes Multiple; Gleichstand: Execution</a:t>
            </a:r>
            <a:endParaRPr lang="en-US" sz="1150" dirty="0"/>
          </a:p>
        </p:txBody>
      </p:sp>
      <p:sp>
        <p:nvSpPr>
          <p:cNvPr id="32" name="Shape 29"/>
          <p:cNvSpPr/>
          <p:nvPr/>
        </p:nvSpPr>
        <p:spPr>
          <a:xfrm>
            <a:off x="9418686" y="2194560"/>
            <a:ext cx="219456" cy="0"/>
          </a:xfrm>
          <a:prstGeom prst="line">
            <a:avLst/>
          </a:prstGeom>
          <a:noFill/>
          <a:ln w="19050">
            <a:solidFill>
              <a:srgbClr val="8E9C9B"/>
            </a:solidFill>
            <a:prstDash val="solid"/>
            <a:tailEnd type="triangle"/>
          </a:ln>
        </p:spPr>
      </p:sp>
      <p:sp>
        <p:nvSpPr>
          <p:cNvPr id="33" name="Shape 30"/>
          <p:cNvSpPr/>
          <p:nvPr/>
        </p:nvSpPr>
        <p:spPr>
          <a:xfrm>
            <a:off x="9656430" y="1600200"/>
            <a:ext cx="2032345" cy="1188720"/>
          </a:xfrm>
          <a:prstGeom prst="roundRect">
            <a:avLst>
              <a:gd name="adj" fmla="val 6154"/>
            </a:avLst>
          </a:prstGeom>
          <a:solidFill>
            <a:srgbClr val="161F22"/>
          </a:solidFill>
          <a:ln w="9525">
            <a:solidFill>
              <a:srgbClr val="3B82F6"/>
            </a:solidFill>
            <a:prstDash val="solid"/>
          </a:ln>
        </p:spPr>
      </p:sp>
      <p:sp>
        <p:nvSpPr>
          <p:cNvPr id="34" name="Shape 31"/>
          <p:cNvSpPr/>
          <p:nvPr/>
        </p:nvSpPr>
        <p:spPr>
          <a:xfrm>
            <a:off x="9793590" y="1709928"/>
            <a:ext cx="329184" cy="329184"/>
          </a:xfrm>
          <a:prstGeom prst="ellipse">
            <a:avLst/>
          </a:prstGeom>
          <a:solidFill>
            <a:srgbClr val="3B82F6"/>
          </a:solidFill>
          <a:ln/>
        </p:spPr>
      </p:sp>
      <p:sp>
        <p:nvSpPr>
          <p:cNvPr id="35" name="Text 32"/>
          <p:cNvSpPr txBox="1"/>
          <p:nvPr/>
        </p:nvSpPr>
        <p:spPr>
          <a:xfrm>
            <a:off x="979359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5</a:t>
            </a:r>
            <a:endParaRPr lang="en-US" sz="1200" dirty="0"/>
          </a:p>
        </p:txBody>
      </p:sp>
      <p:sp>
        <p:nvSpPr>
          <p:cNvPr id="36" name="Text 33"/>
          <p:cNvSpPr txBox="1"/>
          <p:nvPr/>
        </p:nvSpPr>
        <p:spPr>
          <a:xfrm>
            <a:off x="1020507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Nachverhandlung</a:t>
            </a:r>
            <a:endParaRPr lang="en-US" sz="1400" dirty="0"/>
          </a:p>
        </p:txBody>
      </p:sp>
      <p:sp>
        <p:nvSpPr>
          <p:cNvPr id="37" name="Text 34"/>
          <p:cNvSpPr txBox="1"/>
          <p:nvPr/>
        </p:nvSpPr>
        <p:spPr>
          <a:xfrm>
            <a:off x="979359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−1 % Preis je Execution-Punkt</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3063240"/>
          <a:ext cx="7223760" cy="914400"/>
        </p:xfrm>
        <a:graphic>
          <a:graphicData uri="http://schemas.openxmlformats.org/drawingml/2006/table">
            <a:tbl>
              <a:tblPr/>
              <a:tblGrid>
                <a:gridCol w="1920240"/>
                <a:gridCol w="1005840"/>
                <a:gridCol w="868680"/>
                <a:gridCol w="868680"/>
                <a:gridCol w="1280160"/>
                <a:gridCol w="640080"/>
                <a:gridCol w="640080"/>
              </a:tblGrid>
              <a:tr h="47548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KI-Fonds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Stil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Aufschlag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Leverage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Vorliebe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TVPI*</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IRR*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Nordkap Capital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Qualität &gt; 60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1,62×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Hansabruck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Operativ</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Marge &lt; 14 %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13 %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Aurum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Leverage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Kapazität &gt; 4,2×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1,84×</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26 %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Vierturm Beteiligungen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Generalist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
        <p:nvSpPr>
          <p:cNvPr id="39" name="Text 35"/>
          <p:cNvSpPr txBox="1"/>
          <p:nvPr/>
        </p:nvSpPr>
        <p:spPr>
          <a:xfrm>
            <a:off x="502920" y="5532120"/>
            <a:ext cx="7223760" cy="45720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Aufschlag auf den Ask, Leverage in % der Kapazität · *Median aus 60 simulierten Partien ohne menschlichen Spieler</a:t>
            </a:r>
            <a:endParaRPr lang="en-US" sz="1000" dirty="0"/>
          </a:p>
        </p:txBody>
      </p:sp>
      <p:pic>
        <p:nvPicPr>
          <p:cNvPr id="40" name="Image 0" descr="/tmp/claude-0/deck/img/news8.jpg">    </p:cNvPr>
          <p:cNvPicPr>
            <a:picLocks noChangeAspect="1"/>
          </p:cNvPicPr>
          <p:nvPr/>
        </p:nvPicPr>
        <p:blipFill>
          <a:blip r:embed="rId1"/>
          <a:stretch>
            <a:fillRect/>
          </a:stretch>
        </p:blipFill>
        <p:spPr>
          <a:xfrm>
            <a:off x="8585023" y="3063240"/>
            <a:ext cx="3101009" cy="2743200"/>
          </a:xfrm>
          <a:prstGeom prst="rect">
            <a:avLst/>
          </a:prstGeom>
        </p:spPr>
      </p:pic>
      <p:sp>
        <p:nvSpPr>
          <p:cNvPr id="41" name="Shape 36"/>
          <p:cNvSpPr/>
          <p:nvPr/>
        </p:nvSpPr>
        <p:spPr>
          <a:xfrm>
            <a:off x="8585023" y="3063240"/>
            <a:ext cx="3101009" cy="2743200"/>
          </a:xfrm>
          <a:prstGeom prst="rect">
            <a:avLst/>
          </a:prstGeom>
          <a:ln w="9525">
            <a:solidFill>
              <a:srgbClr val="33474B"/>
            </a:solidFill>
            <a:prstDash val="solid"/>
          </a:ln>
        </p:spPr>
      </p:sp>
      <p:sp>
        <p:nvSpPr>
          <p:cNvPr id="42" name="Text 37"/>
          <p:cNvSpPr txBox="1"/>
          <p:nvPr/>
        </p:nvSpPr>
        <p:spPr>
          <a:xfrm>
            <a:off x="8310703" y="5861304"/>
            <a:ext cx="3649649"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Meldungen: Zuschlag und Überboten</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FINANZIERUNG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Leverage kostet – über drei Kanäle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18</a:t>
            </a:r>
            <a:endParaRPr lang="en-US" sz="900" dirty="0"/>
          </a:p>
        </p:txBody>
      </p:sp>
      <p:graphicFrame>
        <p:nvGraphicFramePr>
          <p:cNvPr id="9" name="Chart 0" descr=""/>
          <p:cNvGraphicFramePr/>
          <p:nvPr/>
        </p:nvGraphicFramePr>
        <p:xfrm>
          <a:off x="502920" y="160020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6720840" y="1600200"/>
            <a:ext cx="4965192" cy="777240"/>
          </a:xfrm>
          <a:prstGeom prst="roundRect">
            <a:avLst>
              <a:gd name="adj" fmla="val 9412"/>
            </a:avLst>
          </a:prstGeom>
          <a:solidFill>
            <a:srgbClr val="1C282B"/>
          </a:solidFill>
          <a:ln w="12700">
            <a:solidFill>
              <a:srgbClr val="DCB264"/>
            </a:solidFill>
            <a:prstDash val="solid"/>
          </a:ln>
        </p:spPr>
      </p:sp>
      <p:sp>
        <p:nvSpPr>
          <p:cNvPr id="11" name="Text 7"/>
          <p:cNvSpPr txBox="1"/>
          <p:nvPr/>
        </p:nvSpPr>
        <p:spPr>
          <a:xfrm>
            <a:off x="6903720" y="1600200"/>
            <a:ext cx="459943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Zins = 6,5 % − 0,25 pp × Financing + 0,85 pp × max(0; Leverage − 3,0)</a:t>
            </a:r>
            <a:endParaRPr lang="en-US" sz="1350" dirty="0"/>
          </a:p>
        </p:txBody>
      </p:sp>
      <p:sp>
        <p:nvSpPr>
          <p:cNvPr id="12" name="Shape 8"/>
          <p:cNvSpPr/>
          <p:nvPr/>
        </p:nvSpPr>
        <p:spPr>
          <a:xfrm>
            <a:off x="6720840" y="2514600"/>
            <a:ext cx="4965192" cy="777240"/>
          </a:xfrm>
          <a:prstGeom prst="roundRect">
            <a:avLst>
              <a:gd name="adj" fmla="val 9412"/>
            </a:avLst>
          </a:prstGeom>
          <a:solidFill>
            <a:srgbClr val="1C282B"/>
          </a:solidFill>
          <a:ln w="12700">
            <a:solidFill>
              <a:srgbClr val="DCB264"/>
            </a:solidFill>
            <a:prstDash val="solid"/>
          </a:ln>
        </p:spPr>
      </p:sp>
      <p:sp>
        <p:nvSpPr>
          <p:cNvPr id="13" name="Text 9"/>
          <p:cNvSpPr txBox="1"/>
          <p:nvPr/>
        </p:nvSpPr>
        <p:spPr>
          <a:xfrm>
            <a:off x="6903720" y="2514600"/>
            <a:ext cx="459943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Covenant = max(4,0× ; Einstiegs-Leverage + 1,2 + 0,1 × Financing)</a:t>
            </a:r>
            <a:endParaRPr lang="en-US" sz="1350" dirty="0"/>
          </a:p>
        </p:txBody>
      </p:sp>
      <p:sp>
        <p:nvSpPr>
          <p:cNvPr id="14" name="Text 10"/>
          <p:cNvSpPr txBox="1"/>
          <p:nvPr/>
        </p:nvSpPr>
        <p:spPr>
          <a:xfrm>
            <a:off x="6720840" y="3474720"/>
            <a:ext cx="4965192" cy="274320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Margin Grid: </a:t>
            </a:r>
            <a:pPr indent="0" marL="0">
              <a:buNone/>
            </a:pPr>
            <a:r>
              <a:rPr lang="en-US" sz="1200" dirty="0">
                <a:solidFill>
                  <a:srgbClr val="EDF1EE"/>
                </a:solidFill>
                <a:latin typeface="Calibri" pitchFamily="34" charset="0"/>
                <a:ea typeface="Calibri" pitchFamily="34" charset="-122"/>
                <a:cs typeface="Calibri" pitchFamily="34" charset="-120"/>
              </a:rPr>
              <a:t>Leverage war früher bis zum Covenant gratis – maximaler Hebel war dominant. Jetzt zahlt man, bevor es weh tut.</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Zinsschranke: </a:t>
            </a:r>
            <a:pPr indent="0" marL="0">
              <a:buNone/>
            </a:pPr>
            <a:r>
              <a:rPr lang="en-US" sz="1200" dirty="0">
                <a:solidFill>
                  <a:srgbClr val="EDF1EE"/>
                </a:solidFill>
                <a:latin typeface="Calibri" pitchFamily="34" charset="0"/>
                <a:ea typeface="Calibri" pitchFamily="34" charset="-122"/>
                <a:cs typeface="Calibri" pitchFamily="34" charset="-120"/>
              </a:rPr>
              <a:t>§ 4h EStG: Zins nur bis 30 % des EBITDA abzugsfähig, kein Vortrag.</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Covenant: </a:t>
            </a:r>
            <a:pPr indent="0" marL="0">
              <a:buNone/>
            </a:pPr>
            <a:r>
              <a:rPr lang="en-US" sz="1200" dirty="0">
                <a:solidFill>
                  <a:srgbClr val="EDF1EE"/>
                </a:solidFill>
                <a:latin typeface="Calibri" pitchFamily="34" charset="0"/>
                <a:ea typeface="Calibri" pitchFamily="34" charset="-122"/>
                <a:cs typeface="Calibri" pitchFamily="34" charset="-120"/>
              </a:rPr>
              <a:t>getestet auf bereinigtem EBITDA; 1. Bruch = Warnung, 2. Bruch in Folge = Enforcement.</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Cash Sweep: </a:t>
            </a:r>
            <a:pPr indent="0" marL="0">
              <a:buNone/>
            </a:pPr>
            <a:r>
              <a:rPr lang="en-US" sz="1200" dirty="0">
                <a:solidFill>
                  <a:srgbClr val="EDF1EE"/>
                </a:solidFill>
                <a:latin typeface="Calibri" pitchFamily="34" charset="0"/>
                <a:ea typeface="Calibri" pitchFamily="34" charset="-122"/>
                <a:cs typeface="Calibri" pitchFamily="34" charset="-120"/>
              </a:rPr>
              <a:t>100 % des freien Cashflows tilgen; schuldenfreie Beteiligungen schütten aus.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UNDERWRITING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Equity Ticket und Base Case vor dem Gebot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19</a:t>
            </a:r>
            <a:endParaRPr lang="en-US" sz="900" dirty="0"/>
          </a:p>
        </p:txBody>
      </p:sp>
      <p:sp>
        <p:nvSpPr>
          <p:cNvPr id="9" name="Text 6"/>
          <p:cNvSpPr txBox="1"/>
          <p:nvPr/>
        </p:nvSpPr>
        <p:spPr>
          <a:xfrm>
            <a:off x="502920" y="1600200"/>
            <a:ext cx="475488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EQUITY TICKET – BEISPIEL</a:t>
            </a:r>
            <a:endParaRPr lang="en-US" sz="1000" dirty="0"/>
          </a:p>
        </p:txBody>
      </p:sp>
      <p:sp>
        <p:nvSpPr>
          <p:cNvPr id="10" name="Shape 7"/>
          <p:cNvSpPr/>
          <p:nvPr/>
        </p:nvSpPr>
        <p:spPr>
          <a:xfrm>
            <a:off x="728777" y="2360815"/>
            <a:ext cx="737006" cy="2119745"/>
          </a:xfrm>
          <a:prstGeom prst="rect">
            <a:avLst/>
          </a:prstGeom>
          <a:solidFill>
            <a:srgbClr val="3B82F6"/>
          </a:solidFill>
          <a:ln/>
        </p:spPr>
      </p:sp>
      <p:sp>
        <p:nvSpPr>
          <p:cNvPr id="11" name="Text 8"/>
          <p:cNvSpPr txBox="1"/>
          <p:nvPr/>
        </p:nvSpPr>
        <p:spPr>
          <a:xfrm>
            <a:off x="545897" y="2113927"/>
            <a:ext cx="1102766"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100</a:t>
            </a:r>
            <a:endParaRPr lang="en-US" sz="1100" dirty="0"/>
          </a:p>
        </p:txBody>
      </p:sp>
      <p:sp>
        <p:nvSpPr>
          <p:cNvPr id="12" name="Shape 9"/>
          <p:cNvSpPr/>
          <p:nvPr/>
        </p:nvSpPr>
        <p:spPr>
          <a:xfrm>
            <a:off x="1465783" y="2360815"/>
            <a:ext cx="451714" cy="0"/>
          </a:xfrm>
          <a:prstGeom prst="line">
            <a:avLst/>
          </a:prstGeom>
          <a:noFill/>
          <a:ln w="9525">
            <a:solidFill>
              <a:srgbClr val="4A5C5F"/>
            </a:solidFill>
            <a:prstDash val="dash"/>
          </a:ln>
        </p:spPr>
      </p:sp>
      <p:sp>
        <p:nvSpPr>
          <p:cNvPr id="13" name="Text 10"/>
          <p:cNvSpPr txBox="1"/>
          <p:nvPr/>
        </p:nvSpPr>
        <p:spPr>
          <a:xfrm>
            <a:off x="502920" y="4535424"/>
            <a:ext cx="118872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Enterprise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Value</a:t>
            </a:r>
            <a:endParaRPr lang="en-US" sz="1000" dirty="0"/>
          </a:p>
        </p:txBody>
      </p:sp>
      <p:sp>
        <p:nvSpPr>
          <p:cNvPr id="14" name="Shape 11"/>
          <p:cNvSpPr/>
          <p:nvPr/>
        </p:nvSpPr>
        <p:spPr>
          <a:xfrm>
            <a:off x="1917497" y="2360815"/>
            <a:ext cx="737006" cy="847898"/>
          </a:xfrm>
          <a:prstGeom prst="rect">
            <a:avLst/>
          </a:prstGeom>
          <a:solidFill>
            <a:srgbClr val="E3897F"/>
          </a:solidFill>
          <a:ln/>
        </p:spPr>
      </p:sp>
      <p:sp>
        <p:nvSpPr>
          <p:cNvPr id="15" name="Text 12"/>
          <p:cNvSpPr txBox="1"/>
          <p:nvPr/>
        </p:nvSpPr>
        <p:spPr>
          <a:xfrm>
            <a:off x="1734617" y="2113927"/>
            <a:ext cx="1102766"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−40</a:t>
            </a:r>
            <a:endParaRPr lang="en-US" sz="1100" dirty="0"/>
          </a:p>
        </p:txBody>
      </p:sp>
      <p:sp>
        <p:nvSpPr>
          <p:cNvPr id="16" name="Shape 13"/>
          <p:cNvSpPr/>
          <p:nvPr/>
        </p:nvSpPr>
        <p:spPr>
          <a:xfrm>
            <a:off x="2654503" y="3208713"/>
            <a:ext cx="451714" cy="0"/>
          </a:xfrm>
          <a:prstGeom prst="line">
            <a:avLst/>
          </a:prstGeom>
          <a:noFill/>
          <a:ln w="9525">
            <a:solidFill>
              <a:srgbClr val="4A5C5F"/>
            </a:solidFill>
            <a:prstDash val="dash"/>
          </a:ln>
        </p:spPr>
      </p:sp>
      <p:sp>
        <p:nvSpPr>
          <p:cNvPr id="17" name="Text 14"/>
          <p:cNvSpPr txBox="1"/>
          <p:nvPr/>
        </p:nvSpPr>
        <p:spPr>
          <a:xfrm>
            <a:off x="1691640" y="4535424"/>
            <a:ext cx="118872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Fremd-</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kapital</a:t>
            </a:r>
            <a:endParaRPr lang="en-US" sz="1000" dirty="0"/>
          </a:p>
        </p:txBody>
      </p:sp>
      <p:sp>
        <p:nvSpPr>
          <p:cNvPr id="18" name="Shape 15"/>
          <p:cNvSpPr/>
          <p:nvPr/>
        </p:nvSpPr>
        <p:spPr>
          <a:xfrm>
            <a:off x="3106217" y="3166318"/>
            <a:ext cx="737006" cy="42395"/>
          </a:xfrm>
          <a:prstGeom prst="rect">
            <a:avLst/>
          </a:prstGeom>
          <a:solidFill>
            <a:srgbClr val="E3897F"/>
          </a:solidFill>
          <a:ln/>
        </p:spPr>
      </p:sp>
      <p:sp>
        <p:nvSpPr>
          <p:cNvPr id="19" name="Text 16"/>
          <p:cNvSpPr txBox="1"/>
          <p:nvPr/>
        </p:nvSpPr>
        <p:spPr>
          <a:xfrm>
            <a:off x="2923337" y="2919430"/>
            <a:ext cx="1102766"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+2</a:t>
            </a:r>
            <a:endParaRPr lang="en-US" sz="1100" dirty="0"/>
          </a:p>
        </p:txBody>
      </p:sp>
      <p:sp>
        <p:nvSpPr>
          <p:cNvPr id="20" name="Shape 17"/>
          <p:cNvSpPr/>
          <p:nvPr/>
        </p:nvSpPr>
        <p:spPr>
          <a:xfrm>
            <a:off x="3843223" y="3166318"/>
            <a:ext cx="451714" cy="0"/>
          </a:xfrm>
          <a:prstGeom prst="line">
            <a:avLst/>
          </a:prstGeom>
          <a:noFill/>
          <a:ln w="9525">
            <a:solidFill>
              <a:srgbClr val="4A5C5F"/>
            </a:solidFill>
            <a:prstDash val="dash"/>
          </a:ln>
        </p:spPr>
      </p:sp>
      <p:sp>
        <p:nvSpPr>
          <p:cNvPr id="21" name="Text 18"/>
          <p:cNvSpPr txBox="1"/>
          <p:nvPr/>
        </p:nvSpPr>
        <p:spPr>
          <a:xfrm>
            <a:off x="2880360" y="4535424"/>
            <a:ext cx="118872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Entry Fee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2 %</a:t>
            </a:r>
            <a:endParaRPr lang="en-US" sz="1000" dirty="0"/>
          </a:p>
        </p:txBody>
      </p:sp>
      <p:sp>
        <p:nvSpPr>
          <p:cNvPr id="22" name="Shape 19"/>
          <p:cNvSpPr/>
          <p:nvPr/>
        </p:nvSpPr>
        <p:spPr>
          <a:xfrm>
            <a:off x="4294937" y="3166318"/>
            <a:ext cx="737006" cy="1314242"/>
          </a:xfrm>
          <a:prstGeom prst="rect">
            <a:avLst/>
          </a:prstGeom>
          <a:solidFill>
            <a:srgbClr val="DCB264"/>
          </a:solidFill>
          <a:ln/>
        </p:spPr>
      </p:sp>
      <p:sp>
        <p:nvSpPr>
          <p:cNvPr id="23" name="Text 20"/>
          <p:cNvSpPr txBox="1"/>
          <p:nvPr/>
        </p:nvSpPr>
        <p:spPr>
          <a:xfrm>
            <a:off x="4112057" y="2919430"/>
            <a:ext cx="1102766"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62</a:t>
            </a:r>
            <a:endParaRPr lang="en-US" sz="1100" dirty="0"/>
          </a:p>
        </p:txBody>
      </p:sp>
      <p:sp>
        <p:nvSpPr>
          <p:cNvPr id="24" name="Text 21"/>
          <p:cNvSpPr txBox="1"/>
          <p:nvPr/>
        </p:nvSpPr>
        <p:spPr>
          <a:xfrm>
            <a:off x="4069080" y="4535424"/>
            <a:ext cx="118872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Equity</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Ticket</a:t>
            </a:r>
            <a:endParaRPr lang="en-US" sz="1000" dirty="0"/>
          </a:p>
        </p:txBody>
      </p:sp>
      <p:sp>
        <p:nvSpPr>
          <p:cNvPr id="25" name="Shape 22"/>
          <p:cNvSpPr/>
          <p:nvPr/>
        </p:nvSpPr>
        <p:spPr>
          <a:xfrm>
            <a:off x="502920" y="4480560"/>
            <a:ext cx="4754880" cy="0"/>
          </a:xfrm>
          <a:prstGeom prst="line">
            <a:avLst/>
          </a:prstGeom>
          <a:noFill/>
          <a:ln w="9525">
            <a:solidFill>
              <a:srgbClr val="243033"/>
            </a:solidFill>
            <a:prstDash val="solid"/>
          </a:ln>
        </p:spPr>
      </p:sp>
      <p:sp>
        <p:nvSpPr>
          <p:cNvPr id="26" name="Shape 23"/>
          <p:cNvSpPr/>
          <p:nvPr/>
        </p:nvSpPr>
        <p:spPr>
          <a:xfrm>
            <a:off x="502920" y="5120640"/>
            <a:ext cx="4754880" cy="640080"/>
          </a:xfrm>
          <a:prstGeom prst="roundRect">
            <a:avLst>
              <a:gd name="adj" fmla="val 11429"/>
            </a:avLst>
          </a:prstGeom>
          <a:solidFill>
            <a:srgbClr val="1C282B"/>
          </a:solidFill>
          <a:ln w="12700">
            <a:solidFill>
              <a:srgbClr val="DCB264"/>
            </a:solidFill>
            <a:prstDash val="solid"/>
          </a:ln>
        </p:spPr>
      </p:sp>
      <p:sp>
        <p:nvSpPr>
          <p:cNvPr id="27" name="Text 24"/>
          <p:cNvSpPr txBox="1"/>
          <p:nvPr/>
        </p:nvSpPr>
        <p:spPr>
          <a:xfrm>
            <a:off x="685800" y="5120640"/>
            <a:ext cx="4389120" cy="64008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Equity = EBITDA × Multiple − EBITDA × Leverage + 2 % × EV</a:t>
            </a:r>
            <a:endParaRPr lang="en-US" sz="1300" dirty="0"/>
          </a:p>
        </p:txBody>
      </p:sp>
      <p:sp>
        <p:nvSpPr>
          <p:cNvPr id="28" name="Text 25"/>
          <p:cNvSpPr txBox="1"/>
          <p:nvPr/>
        </p:nvSpPr>
        <p:spPr>
          <a:xfrm>
            <a:off x="502920" y="5852160"/>
            <a:ext cx="4754880" cy="27432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EBITDA 10 Mio. €, Gebot 10,0×, Leverage 4,0× (Werte in Mio. €)</a:t>
            </a:r>
            <a:endParaRPr lang="en-US" sz="1000" dirty="0"/>
          </a:p>
        </p:txBody>
      </p:sp>
      <p:sp>
        <p:nvSpPr>
          <p:cNvPr id="29" name="Shape 26"/>
          <p:cNvSpPr/>
          <p:nvPr/>
        </p:nvSpPr>
        <p:spPr>
          <a:xfrm>
            <a:off x="5440680" y="1600200"/>
            <a:ext cx="2514600" cy="4160520"/>
          </a:xfrm>
          <a:prstGeom prst="roundRect">
            <a:avLst>
              <a:gd name="adj" fmla="val 2909"/>
            </a:avLst>
          </a:prstGeom>
          <a:solidFill>
            <a:srgbClr val="161F22"/>
          </a:solidFill>
          <a:ln w="9525">
            <a:solidFill>
              <a:srgbClr val="243033"/>
            </a:solidFill>
            <a:prstDash val="solid"/>
          </a:ln>
        </p:spPr>
      </p:sp>
      <p:sp>
        <p:nvSpPr>
          <p:cNvPr id="30" name="Text 27"/>
          <p:cNvSpPr txBox="1"/>
          <p:nvPr/>
        </p:nvSpPr>
        <p:spPr>
          <a:xfrm>
            <a:off x="5577840" y="1737360"/>
            <a:ext cx="22860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BASE CASE (IMM)</a:t>
            </a:r>
            <a:endParaRPr lang="en-US" sz="1000" dirty="0"/>
          </a:p>
        </p:txBody>
      </p:sp>
      <p:sp>
        <p:nvSpPr>
          <p:cNvPr id="31" name="Text 28"/>
          <p:cNvSpPr txBox="1"/>
          <p:nvPr/>
        </p:nvSpPr>
        <p:spPr>
          <a:xfrm>
            <a:off x="5577840" y="2057400"/>
            <a:ext cx="2240280" cy="356616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5 Jahre, Halbjahresschritte wie im Spiel</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Wachstum = Sektor + geschätzter Drift</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keine Maßnahmen, Reifegrade auf Benchmark</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Exit zum Einstiegsmultiple</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3 % Exitkosten</a:t>
            </a:r>
            <a:endParaRPr lang="en-US" sz="1200" dirty="0"/>
          </a:p>
        </p:txBody>
      </p:sp>
      <p:pic>
        <p:nvPicPr>
          <p:cNvPr id="32" name="Image 0" descr="/tmp/claude-0/deck/img/deal_uw.jpg">    </p:cNvPr>
          <p:cNvPicPr>
            <a:picLocks noChangeAspect="1"/>
          </p:cNvPicPr>
          <p:nvPr/>
        </p:nvPicPr>
        <p:blipFill>
          <a:blip r:embed="rId1"/>
          <a:stretch>
            <a:fillRect/>
          </a:stretch>
        </p:blipFill>
        <p:spPr>
          <a:xfrm>
            <a:off x="8563461" y="1600200"/>
            <a:ext cx="3122571" cy="4160520"/>
          </a:xfrm>
          <a:prstGeom prst="rect">
            <a:avLst/>
          </a:prstGeom>
        </p:spPr>
      </p:pic>
      <p:sp>
        <p:nvSpPr>
          <p:cNvPr id="33" name="Shape 29"/>
          <p:cNvSpPr/>
          <p:nvPr/>
        </p:nvSpPr>
        <p:spPr>
          <a:xfrm>
            <a:off x="8563461" y="1600200"/>
            <a:ext cx="3122571" cy="4160520"/>
          </a:xfrm>
          <a:prstGeom prst="rect">
            <a:avLst/>
          </a:prstGeom>
          <a:ln w="9525">
            <a:solidFill>
              <a:srgbClr val="33474B"/>
            </a:solidFill>
            <a:prstDash val="solid"/>
          </a:ln>
        </p:spPr>
      </p:sp>
      <p:sp>
        <p:nvSpPr>
          <p:cNvPr id="34" name="Text 30"/>
          <p:cNvSpPr txBox="1"/>
          <p:nvPr/>
        </p:nvSpPr>
        <p:spPr>
          <a:xfrm>
            <a:off x="8289141" y="5815584"/>
            <a:ext cx="3671211"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Underwriting-Bereich der Deal-Karte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Deal-Phase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20</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3B82F6"/>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Der Preis ist die erste Rendite</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Jeder Turn zu viel muss über Jahre durch EBITDA-Wachstum zurückverdient werden.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3B82F6"/>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Proprietär schlägt Auktion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Origination bringt Abschlag und weniger Konkurrenz – aber nur mit DD ohne Überraschungen.</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3B82F6"/>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Information hat einen Preis</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Due Diligence kostet auch bei verlorenen Deals – dafür verkleinert sie den Schätzfehler.</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3B82F6"/>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ist kein Gratishebel</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Margin Grid, Zinsschranke und Covenant begrenzen den Nutzen von Fremdkapital.</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3B82F6"/>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Kapital ist die Nebenbedingung</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Gebote scheitern am Equity Ticket, nicht am Multiple – Dry Powder im Blick behalten.</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3B82F6"/>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Den Base Case kennen</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Der IMM zeigt, was ohne eigene Arbeit herauskommt; alles darüber ist Value Creation.</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WERTTREIBER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drei Werttreiber – und wie stark Deals streuen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21</a:t>
            </a:r>
            <a:endParaRPr lang="en-US" sz="900" dirty="0"/>
          </a:p>
        </p:txBody>
      </p:sp>
      <p:sp>
        <p:nvSpPr>
          <p:cNvPr id="9" name="Shape 6"/>
          <p:cNvSpPr/>
          <p:nvPr/>
        </p:nvSpPr>
        <p:spPr>
          <a:xfrm>
            <a:off x="502920" y="1600200"/>
            <a:ext cx="566928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303520" cy="685800"/>
          </a:xfrm>
          <a:prstGeom prst="rect">
            <a:avLst/>
          </a:prstGeom>
          <a:noFill/>
          <a:ln/>
        </p:spPr>
        <p:txBody>
          <a:bodyPr wrap="square" lIns="0" tIns="0" rIns="0" bIns="0" rtlCol="0" anchor="ctr"/>
          <a:lstStyle/>
          <a:p>
            <a:pPr algn="ctr" indent="0" marL="0">
              <a:buNone/>
            </a:pPr>
            <a:r>
              <a:rPr lang="en-US" sz="1700" b="1" dirty="0">
                <a:solidFill>
                  <a:srgbClr val="DCB264"/>
                </a:solidFill>
                <a:latin typeface="Calibri" pitchFamily="34" charset="0"/>
                <a:ea typeface="Calibri" pitchFamily="34" charset="-122"/>
                <a:cs typeface="Calibri" pitchFamily="34" charset="-120"/>
              </a:rPr>
              <a:t>Equity Value = EBITDA × Multiple − Nettoverschuldung</a:t>
            </a:r>
            <a:endParaRPr lang="en-US" sz="1700" dirty="0"/>
          </a:p>
        </p:txBody>
      </p:sp>
      <p:sp>
        <p:nvSpPr>
          <p:cNvPr id="11" name="Shape 8"/>
          <p:cNvSpPr/>
          <p:nvPr/>
        </p:nvSpPr>
        <p:spPr>
          <a:xfrm>
            <a:off x="502920" y="2514600"/>
            <a:ext cx="5669280" cy="1024128"/>
          </a:xfrm>
          <a:prstGeom prst="roundRect">
            <a:avLst>
              <a:gd name="adj" fmla="val 7143"/>
            </a:avLst>
          </a:prstGeom>
          <a:solidFill>
            <a:srgbClr val="161F22"/>
          </a:solidFill>
          <a:ln w="12700">
            <a:solidFill>
              <a:srgbClr val="5FC4B1"/>
            </a:solidFill>
            <a:prstDash val="solid"/>
          </a:ln>
        </p:spPr>
      </p:sp>
      <p:sp>
        <p:nvSpPr>
          <p:cNvPr id="12" name="Shape 9"/>
          <p:cNvSpPr/>
          <p:nvPr/>
        </p:nvSpPr>
        <p:spPr>
          <a:xfrm>
            <a:off x="685800" y="2770632"/>
            <a:ext cx="512064" cy="512064"/>
          </a:xfrm>
          <a:prstGeom prst="ellipse">
            <a:avLst/>
          </a:prstGeom>
          <a:solidFill>
            <a:srgbClr val="5FC4B1"/>
          </a:solidFill>
          <a:ln/>
        </p:spPr>
      </p:sp>
      <p:sp>
        <p:nvSpPr>
          <p:cNvPr id="13" name="Text 10"/>
          <p:cNvSpPr txBox="1"/>
          <p:nvPr/>
        </p:nvSpPr>
        <p:spPr>
          <a:xfrm>
            <a:off x="685800" y="277063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4" name="Text 11"/>
          <p:cNvSpPr txBox="1"/>
          <p:nvPr/>
        </p:nvSpPr>
        <p:spPr>
          <a:xfrm>
            <a:off x="1371600" y="2642616"/>
            <a:ext cx="4572000" cy="365760"/>
          </a:xfrm>
          <a:prstGeom prst="rect">
            <a:avLst/>
          </a:prstGeom>
          <a:noFill/>
          <a:ln/>
        </p:spPr>
        <p:txBody>
          <a:bodyPr wrap="square" lIns="0" tIns="0" rIns="0" bIns="0" rtlCol="0" anchor="t"/>
          <a:lstStyle/>
          <a:p>
            <a:pPr algn="l" indent="0" marL="0">
              <a:buNone/>
            </a:pPr>
            <a:r>
              <a:rPr lang="en-US" sz="1600" b="1" dirty="0">
                <a:solidFill>
                  <a:srgbClr val="5FC4B1"/>
                </a:solidFill>
                <a:latin typeface="Calibri" pitchFamily="34" charset="0"/>
                <a:ea typeface="Calibri" pitchFamily="34" charset="-122"/>
                <a:cs typeface="Calibri" pitchFamily="34" charset="-120"/>
              </a:rPr>
              <a:t>EBITDA-Wachstum</a:t>
            </a:r>
            <a:endParaRPr lang="en-US" sz="1600" dirty="0"/>
          </a:p>
        </p:txBody>
      </p:sp>
      <p:sp>
        <p:nvSpPr>
          <p:cNvPr id="15" name="Text 12"/>
          <p:cNvSpPr txBox="1"/>
          <p:nvPr/>
        </p:nvSpPr>
        <p:spPr>
          <a:xfrm>
            <a:off x="1371600" y="301752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Umsatz × Marge: Wachstum, Pricing, Cost-out, Add-ons</a:t>
            </a:r>
            <a:endParaRPr lang="en-US" sz="1250" dirty="0"/>
          </a:p>
        </p:txBody>
      </p:sp>
      <p:sp>
        <p:nvSpPr>
          <p:cNvPr id="16" name="Shape 13"/>
          <p:cNvSpPr/>
          <p:nvPr/>
        </p:nvSpPr>
        <p:spPr>
          <a:xfrm>
            <a:off x="502920" y="3703320"/>
            <a:ext cx="5669280" cy="1024128"/>
          </a:xfrm>
          <a:prstGeom prst="roundRect">
            <a:avLst>
              <a:gd name="adj" fmla="val 7143"/>
            </a:avLst>
          </a:prstGeom>
          <a:solidFill>
            <a:srgbClr val="161F22"/>
          </a:solidFill>
          <a:ln w="12700">
            <a:solidFill>
              <a:srgbClr val="DCB264"/>
            </a:solidFill>
            <a:prstDash val="solid"/>
          </a:ln>
        </p:spPr>
      </p:sp>
      <p:sp>
        <p:nvSpPr>
          <p:cNvPr id="17" name="Shape 14"/>
          <p:cNvSpPr/>
          <p:nvPr/>
        </p:nvSpPr>
        <p:spPr>
          <a:xfrm>
            <a:off x="685800" y="3959352"/>
            <a:ext cx="512064" cy="512064"/>
          </a:xfrm>
          <a:prstGeom prst="ellipse">
            <a:avLst/>
          </a:prstGeom>
          <a:solidFill>
            <a:srgbClr val="DCB264"/>
          </a:solidFill>
          <a:ln/>
        </p:spPr>
      </p:sp>
      <p:sp>
        <p:nvSpPr>
          <p:cNvPr id="18" name="Text 15"/>
          <p:cNvSpPr txBox="1"/>
          <p:nvPr/>
        </p:nvSpPr>
        <p:spPr>
          <a:xfrm>
            <a:off x="685800" y="395935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9" name="Text 16"/>
          <p:cNvSpPr txBox="1"/>
          <p:nvPr/>
        </p:nvSpPr>
        <p:spPr>
          <a:xfrm>
            <a:off x="1371600" y="3831336"/>
            <a:ext cx="4572000" cy="365760"/>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Multiple-Veränderung</a:t>
            </a:r>
            <a:endParaRPr lang="en-US" sz="1600" dirty="0"/>
          </a:p>
        </p:txBody>
      </p:sp>
      <p:sp>
        <p:nvSpPr>
          <p:cNvPr id="20" name="Text 17"/>
          <p:cNvSpPr txBox="1"/>
          <p:nvPr/>
        </p:nvSpPr>
        <p:spPr>
          <a:xfrm>
            <a:off x="1371600" y="420624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Qualität, Wachstumsprämie, Marktzyklus, Haltedauer</a:t>
            </a:r>
            <a:endParaRPr lang="en-US" sz="1250" dirty="0"/>
          </a:p>
        </p:txBody>
      </p:sp>
      <p:sp>
        <p:nvSpPr>
          <p:cNvPr id="21" name="Shape 18"/>
          <p:cNvSpPr/>
          <p:nvPr/>
        </p:nvSpPr>
        <p:spPr>
          <a:xfrm>
            <a:off x="502920" y="4892040"/>
            <a:ext cx="5669280" cy="1024128"/>
          </a:xfrm>
          <a:prstGeom prst="roundRect">
            <a:avLst>
              <a:gd name="adj" fmla="val 7143"/>
            </a:avLst>
          </a:prstGeom>
          <a:solidFill>
            <a:srgbClr val="161F22"/>
          </a:solidFill>
          <a:ln w="12700">
            <a:solidFill>
              <a:srgbClr val="3B82F6"/>
            </a:solidFill>
            <a:prstDash val="solid"/>
          </a:ln>
        </p:spPr>
      </p:sp>
      <p:sp>
        <p:nvSpPr>
          <p:cNvPr id="22" name="Shape 19"/>
          <p:cNvSpPr/>
          <p:nvPr/>
        </p:nvSpPr>
        <p:spPr>
          <a:xfrm>
            <a:off x="685800" y="5148072"/>
            <a:ext cx="512064" cy="512064"/>
          </a:xfrm>
          <a:prstGeom prst="ellipse">
            <a:avLst/>
          </a:prstGeom>
          <a:solidFill>
            <a:srgbClr val="3B82F6"/>
          </a:solidFill>
          <a:ln/>
        </p:spPr>
      </p:sp>
      <p:sp>
        <p:nvSpPr>
          <p:cNvPr id="23" name="Text 20"/>
          <p:cNvSpPr txBox="1"/>
          <p:nvPr/>
        </p:nvSpPr>
        <p:spPr>
          <a:xfrm>
            <a:off x="685800" y="514807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4" name="Text 21"/>
          <p:cNvSpPr txBox="1"/>
          <p:nvPr/>
        </p:nvSpPr>
        <p:spPr>
          <a:xfrm>
            <a:off x="1371600" y="5020056"/>
            <a:ext cx="4572000" cy="365760"/>
          </a:xfrm>
          <a:prstGeom prst="rect">
            <a:avLst/>
          </a:prstGeom>
          <a:noFill/>
          <a:ln/>
        </p:spPr>
        <p:txBody>
          <a:bodyPr wrap="square" lIns="0" tIns="0" rIns="0" bIns="0" rtlCol="0" anchor="t"/>
          <a:lstStyle/>
          <a:p>
            <a:pPr algn="l" indent="0" marL="0">
              <a:buNone/>
            </a:pPr>
            <a:r>
              <a:rPr lang="en-US" sz="1600" b="1" dirty="0">
                <a:solidFill>
                  <a:srgbClr val="3B82F6"/>
                </a:solidFill>
                <a:latin typeface="Calibri" pitchFamily="34" charset="0"/>
                <a:ea typeface="Calibri" pitchFamily="34" charset="-122"/>
                <a:cs typeface="Calibri" pitchFamily="34" charset="-120"/>
              </a:rPr>
              <a:t>Entschuldung</a:t>
            </a:r>
            <a:endParaRPr lang="en-US" sz="1600" dirty="0"/>
          </a:p>
        </p:txBody>
      </p:sp>
      <p:sp>
        <p:nvSpPr>
          <p:cNvPr id="25" name="Text 22"/>
          <p:cNvSpPr txBox="1"/>
          <p:nvPr/>
        </p:nvSpPr>
        <p:spPr>
          <a:xfrm>
            <a:off x="1371600" y="539496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Free Cashflow tilgt die Akquisitionsschuld (Cash Sweep)</a:t>
            </a:r>
            <a:endParaRPr lang="en-US" sz="1250" dirty="0"/>
          </a:p>
        </p:txBody>
      </p:sp>
      <p:graphicFrame>
        <p:nvGraphicFramePr>
          <p:cNvPr id="26" name="Chart 0" descr=""/>
          <p:cNvGraphicFramePr/>
          <p:nvPr/>
        </p:nvGraphicFramePr>
        <p:xfrm>
          <a:off x="6400800" y="1600200"/>
          <a:ext cx="5285232" cy="4023360"/>
        </p:xfrm>
        <a:graphic xmlns:a="http://schemas.openxmlformats.org/drawingml/2006/main">
          <a:graphicData uri="http://schemas.openxmlformats.org/drawingml/2006/chart">
            <c:chart xmlns:c="http://schemas.openxmlformats.org/drawingml/2006/chart" r:id="rId1"/>
          </a:graphicData>
        </a:graphic>
      </p:graphicFrame>
      <p:sp>
        <p:nvSpPr>
          <p:cNvPr id="27" name="Text 23"/>
          <p:cNvSpPr txBox="1"/>
          <p:nvPr/>
        </p:nvSpPr>
        <p:spPr>
          <a:xfrm>
            <a:off x="6400800" y="5715000"/>
            <a:ext cx="5285232" cy="36576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1.256 realisierte Deals der KI-Fonds · 60 Simulationen · Median 1,9× · 16 % unter 1,0×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OPERATING MODEL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Ein Halbjahr im Leben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22</a:t>
            </a:r>
            <a:endParaRPr lang="en-US" sz="900" dirty="0"/>
          </a:p>
        </p:txBody>
      </p:sp>
      <p:sp>
        <p:nvSpPr>
          <p:cNvPr id="9" name="Shape 6"/>
          <p:cNvSpPr/>
          <p:nvPr/>
        </p:nvSpPr>
        <p:spPr>
          <a:xfrm>
            <a:off x="502920" y="1600200"/>
            <a:ext cx="3566160" cy="457200"/>
          </a:xfrm>
          <a:prstGeom prst="roundRect">
            <a:avLst>
              <a:gd name="adj" fmla="val 16000"/>
            </a:avLst>
          </a:prstGeom>
          <a:solidFill>
            <a:srgbClr val="161F22"/>
          </a:solidFill>
          <a:ln w="9525">
            <a:solidFill>
              <a:srgbClr val="5FC4B1"/>
            </a:solidFill>
            <a:prstDash val="solid"/>
          </a:ln>
        </p:spPr>
      </p:sp>
      <p:sp>
        <p:nvSpPr>
          <p:cNvPr id="10" name="Text 7"/>
          <p:cNvSpPr txBox="1"/>
          <p:nvPr/>
        </p:nvSpPr>
        <p:spPr>
          <a:xfrm>
            <a:off x="640080" y="1600200"/>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Umsatz</a:t>
            </a:r>
            <a:endParaRPr lang="en-US" sz="1300" dirty="0"/>
          </a:p>
        </p:txBody>
      </p:sp>
      <p:sp>
        <p:nvSpPr>
          <p:cNvPr id="11" name="Text 8"/>
          <p:cNvSpPr txBox="1"/>
          <p:nvPr/>
        </p:nvSpPr>
        <p:spPr>
          <a:xfrm>
            <a:off x="1965960" y="160020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 (1 + Wachstum / 2)</a:t>
            </a:r>
            <a:endParaRPr lang="en-US" sz="1100" dirty="0"/>
          </a:p>
        </p:txBody>
      </p:sp>
      <p:sp>
        <p:nvSpPr>
          <p:cNvPr id="12" name="Shape 9"/>
          <p:cNvSpPr/>
          <p:nvPr/>
        </p:nvSpPr>
        <p:spPr>
          <a:xfrm>
            <a:off x="502920" y="2130552"/>
            <a:ext cx="3566160" cy="457200"/>
          </a:xfrm>
          <a:prstGeom prst="roundRect">
            <a:avLst>
              <a:gd name="adj" fmla="val 16000"/>
            </a:avLst>
          </a:prstGeom>
          <a:solidFill>
            <a:srgbClr val="161F22"/>
          </a:solidFill>
          <a:ln w="9525">
            <a:solidFill>
              <a:srgbClr val="5FC4B1"/>
            </a:solidFill>
            <a:prstDash val="solid"/>
          </a:ln>
        </p:spPr>
      </p:sp>
      <p:sp>
        <p:nvSpPr>
          <p:cNvPr id="13" name="Text 10"/>
          <p:cNvSpPr txBox="1"/>
          <p:nvPr/>
        </p:nvSpPr>
        <p:spPr>
          <a:xfrm>
            <a:off x="640080" y="2130552"/>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 Marge</a:t>
            </a:r>
            <a:endParaRPr lang="en-US" sz="1300" dirty="0"/>
          </a:p>
        </p:txBody>
      </p:sp>
      <p:sp>
        <p:nvSpPr>
          <p:cNvPr id="14" name="Text 11"/>
          <p:cNvSpPr txBox="1"/>
          <p:nvPr/>
        </p:nvSpPr>
        <p:spPr>
          <a:xfrm>
            <a:off x="1965960" y="213055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läuft auf Zielmarge zu</a:t>
            </a:r>
            <a:endParaRPr lang="en-US" sz="1100" dirty="0"/>
          </a:p>
        </p:txBody>
      </p:sp>
      <p:sp>
        <p:nvSpPr>
          <p:cNvPr id="15" name="Shape 12"/>
          <p:cNvSpPr/>
          <p:nvPr/>
        </p:nvSpPr>
        <p:spPr>
          <a:xfrm>
            <a:off x="502920" y="2660904"/>
            <a:ext cx="3566160" cy="457200"/>
          </a:xfrm>
          <a:prstGeom prst="roundRect">
            <a:avLst>
              <a:gd name="adj" fmla="val 16000"/>
            </a:avLst>
          </a:prstGeom>
          <a:solidFill>
            <a:srgbClr val="1C282B"/>
          </a:solidFill>
          <a:ln w="9525">
            <a:solidFill>
              <a:srgbClr val="DCB264"/>
            </a:solidFill>
            <a:prstDash val="solid"/>
          </a:ln>
        </p:spPr>
      </p:sp>
      <p:sp>
        <p:nvSpPr>
          <p:cNvPr id="16" name="Text 13"/>
          <p:cNvSpPr txBox="1"/>
          <p:nvPr/>
        </p:nvSpPr>
        <p:spPr>
          <a:xfrm>
            <a:off x="640080" y="2660904"/>
            <a:ext cx="1371600" cy="457200"/>
          </a:xfrm>
          <a:prstGeom prst="rect">
            <a:avLst/>
          </a:prstGeom>
          <a:noFill/>
          <a:ln/>
        </p:spPr>
        <p:txBody>
          <a:bodyPr wrap="square" lIns="0" tIns="0" rIns="0" bIns="0" rtlCol="0" anchor="ctr"/>
          <a:lstStyle/>
          <a:p>
            <a:pPr algn="l" indent="0" marL="0">
              <a:buNone/>
            </a:pPr>
            <a:r>
              <a:rPr lang="en-US" sz="1300" b="1" dirty="0">
                <a:solidFill>
                  <a:srgbClr val="DCB264"/>
                </a:solidFill>
                <a:latin typeface="Calibri" pitchFamily="34" charset="0"/>
                <a:ea typeface="Calibri" pitchFamily="34" charset="-122"/>
                <a:cs typeface="Calibri" pitchFamily="34" charset="-120"/>
              </a:rPr>
              <a:t>= EBITDA</a:t>
            </a:r>
            <a:endParaRPr lang="en-US" sz="1300" dirty="0"/>
          </a:p>
        </p:txBody>
      </p:sp>
      <p:sp>
        <p:nvSpPr>
          <p:cNvPr id="17" name="Text 14"/>
          <p:cNvSpPr txBox="1"/>
          <p:nvPr/>
        </p:nvSpPr>
        <p:spPr>
          <a:xfrm>
            <a:off x="1965960" y="266090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Basis für Bewertung &amp; Covenant</a:t>
            </a:r>
            <a:endParaRPr lang="en-US" sz="1100" dirty="0"/>
          </a:p>
        </p:txBody>
      </p:sp>
      <p:sp>
        <p:nvSpPr>
          <p:cNvPr id="18" name="Shape 15"/>
          <p:cNvSpPr/>
          <p:nvPr/>
        </p:nvSpPr>
        <p:spPr>
          <a:xfrm>
            <a:off x="502920" y="3191256"/>
            <a:ext cx="3566160" cy="457200"/>
          </a:xfrm>
          <a:prstGeom prst="roundRect">
            <a:avLst>
              <a:gd name="adj" fmla="val 16000"/>
            </a:avLst>
          </a:prstGeom>
          <a:solidFill>
            <a:srgbClr val="161F22"/>
          </a:solidFill>
          <a:ln w="9525">
            <a:solidFill>
              <a:srgbClr val="E3897F"/>
            </a:solidFill>
            <a:prstDash val="solid"/>
          </a:ln>
        </p:spPr>
      </p:sp>
      <p:sp>
        <p:nvSpPr>
          <p:cNvPr id="19" name="Text 16"/>
          <p:cNvSpPr txBox="1"/>
          <p:nvPr/>
        </p:nvSpPr>
        <p:spPr>
          <a:xfrm>
            <a:off x="640080" y="3191256"/>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Zins</a:t>
            </a:r>
            <a:endParaRPr lang="en-US" sz="1300" dirty="0"/>
          </a:p>
        </p:txBody>
      </p:sp>
      <p:sp>
        <p:nvSpPr>
          <p:cNvPr id="20" name="Text 17"/>
          <p:cNvSpPr txBox="1"/>
          <p:nvPr/>
        </p:nvSpPr>
        <p:spPr>
          <a:xfrm>
            <a:off x="1965960" y="3191256"/>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Margin Grid</a:t>
            </a:r>
            <a:endParaRPr lang="en-US" sz="1100" dirty="0"/>
          </a:p>
        </p:txBody>
      </p:sp>
      <p:sp>
        <p:nvSpPr>
          <p:cNvPr id="21" name="Shape 18"/>
          <p:cNvSpPr/>
          <p:nvPr/>
        </p:nvSpPr>
        <p:spPr>
          <a:xfrm>
            <a:off x="502920" y="3721608"/>
            <a:ext cx="3566160" cy="457200"/>
          </a:xfrm>
          <a:prstGeom prst="roundRect">
            <a:avLst>
              <a:gd name="adj" fmla="val 16000"/>
            </a:avLst>
          </a:prstGeom>
          <a:solidFill>
            <a:srgbClr val="161F22"/>
          </a:solidFill>
          <a:ln w="9525">
            <a:solidFill>
              <a:srgbClr val="E3897F"/>
            </a:solidFill>
            <a:prstDash val="solid"/>
          </a:ln>
        </p:spPr>
      </p:sp>
      <p:sp>
        <p:nvSpPr>
          <p:cNvPr id="22" name="Text 19"/>
          <p:cNvSpPr txBox="1"/>
          <p:nvPr/>
        </p:nvSpPr>
        <p:spPr>
          <a:xfrm>
            <a:off x="640080" y="3721608"/>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Capex</a:t>
            </a:r>
            <a:endParaRPr lang="en-US" sz="1300" dirty="0"/>
          </a:p>
        </p:txBody>
      </p:sp>
      <p:sp>
        <p:nvSpPr>
          <p:cNvPr id="23" name="Text 20"/>
          <p:cNvSpPr txBox="1"/>
          <p:nvPr/>
        </p:nvSpPr>
        <p:spPr>
          <a:xfrm>
            <a:off x="1965960" y="3721608"/>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Quote × Umsatz</a:t>
            </a:r>
            <a:endParaRPr lang="en-US" sz="1100" dirty="0"/>
          </a:p>
        </p:txBody>
      </p:sp>
      <p:sp>
        <p:nvSpPr>
          <p:cNvPr id="24" name="Shape 21"/>
          <p:cNvSpPr/>
          <p:nvPr/>
        </p:nvSpPr>
        <p:spPr>
          <a:xfrm>
            <a:off x="502920" y="4251960"/>
            <a:ext cx="3566160" cy="457200"/>
          </a:xfrm>
          <a:prstGeom prst="roundRect">
            <a:avLst>
              <a:gd name="adj" fmla="val 16000"/>
            </a:avLst>
          </a:prstGeom>
          <a:solidFill>
            <a:srgbClr val="161F22"/>
          </a:solidFill>
          <a:ln w="9525">
            <a:solidFill>
              <a:srgbClr val="E3897F"/>
            </a:solidFill>
            <a:prstDash val="solid"/>
          </a:ln>
        </p:spPr>
      </p:sp>
      <p:sp>
        <p:nvSpPr>
          <p:cNvPr id="25" name="Text 22"/>
          <p:cNvSpPr txBox="1"/>
          <p:nvPr/>
        </p:nvSpPr>
        <p:spPr>
          <a:xfrm>
            <a:off x="640080" y="4251960"/>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Δ NWC</a:t>
            </a:r>
            <a:endParaRPr lang="en-US" sz="1300" dirty="0"/>
          </a:p>
        </p:txBody>
      </p:sp>
      <p:sp>
        <p:nvSpPr>
          <p:cNvPr id="26" name="Text 23"/>
          <p:cNvSpPr txBox="1"/>
          <p:nvPr/>
        </p:nvSpPr>
        <p:spPr>
          <a:xfrm>
            <a:off x="1965960" y="425196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Bestandsveränderung</a:t>
            </a:r>
            <a:endParaRPr lang="en-US" sz="1100" dirty="0"/>
          </a:p>
        </p:txBody>
      </p:sp>
      <p:sp>
        <p:nvSpPr>
          <p:cNvPr id="27" name="Shape 24"/>
          <p:cNvSpPr/>
          <p:nvPr/>
        </p:nvSpPr>
        <p:spPr>
          <a:xfrm>
            <a:off x="502920" y="4782312"/>
            <a:ext cx="3566160" cy="457200"/>
          </a:xfrm>
          <a:prstGeom prst="roundRect">
            <a:avLst>
              <a:gd name="adj" fmla="val 16000"/>
            </a:avLst>
          </a:prstGeom>
          <a:solidFill>
            <a:srgbClr val="161F22"/>
          </a:solidFill>
          <a:ln w="9525">
            <a:solidFill>
              <a:srgbClr val="E3897F"/>
            </a:solidFill>
            <a:prstDash val="solid"/>
          </a:ln>
        </p:spPr>
      </p:sp>
      <p:sp>
        <p:nvSpPr>
          <p:cNvPr id="28" name="Text 25"/>
          <p:cNvSpPr txBox="1"/>
          <p:nvPr/>
        </p:nvSpPr>
        <p:spPr>
          <a:xfrm>
            <a:off x="640080" y="4782312"/>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Steuern</a:t>
            </a:r>
            <a:endParaRPr lang="en-US" sz="1300" dirty="0"/>
          </a:p>
        </p:txBody>
      </p:sp>
      <p:sp>
        <p:nvSpPr>
          <p:cNvPr id="29" name="Text 26"/>
          <p:cNvSpPr txBox="1"/>
          <p:nvPr/>
        </p:nvSpPr>
        <p:spPr>
          <a:xfrm>
            <a:off x="1965960" y="478231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30 %, Zinsschranke</a:t>
            </a:r>
            <a:endParaRPr lang="en-US" sz="1100" dirty="0"/>
          </a:p>
        </p:txBody>
      </p:sp>
      <p:sp>
        <p:nvSpPr>
          <p:cNvPr id="30" name="Shape 27"/>
          <p:cNvSpPr/>
          <p:nvPr/>
        </p:nvSpPr>
        <p:spPr>
          <a:xfrm>
            <a:off x="502920" y="5312664"/>
            <a:ext cx="3566160" cy="457200"/>
          </a:xfrm>
          <a:prstGeom prst="roundRect">
            <a:avLst>
              <a:gd name="adj" fmla="val 16000"/>
            </a:avLst>
          </a:prstGeom>
          <a:solidFill>
            <a:srgbClr val="1C282B"/>
          </a:solidFill>
          <a:ln w="9525">
            <a:solidFill>
              <a:srgbClr val="3B82F6"/>
            </a:solidFill>
            <a:prstDash val="solid"/>
          </a:ln>
        </p:spPr>
      </p:sp>
      <p:sp>
        <p:nvSpPr>
          <p:cNvPr id="31" name="Text 28"/>
          <p:cNvSpPr txBox="1"/>
          <p:nvPr/>
        </p:nvSpPr>
        <p:spPr>
          <a:xfrm>
            <a:off x="640080" y="5312664"/>
            <a:ext cx="1371600" cy="457200"/>
          </a:xfrm>
          <a:prstGeom prst="rect">
            <a:avLst/>
          </a:prstGeom>
          <a:noFill/>
          <a:ln/>
        </p:spPr>
        <p:txBody>
          <a:bodyPr wrap="square" lIns="0" tIns="0" rIns="0" bIns="0" rtlCol="0" anchor="ctr"/>
          <a:lstStyle/>
          <a:p>
            <a:pPr algn="l" indent="0" marL="0">
              <a:buNone/>
            </a:pPr>
            <a:r>
              <a:rPr lang="en-US" sz="1300" b="1" dirty="0">
                <a:solidFill>
                  <a:srgbClr val="3B82F6"/>
                </a:solidFill>
                <a:latin typeface="Calibri" pitchFamily="34" charset="0"/>
                <a:ea typeface="Calibri" pitchFamily="34" charset="-122"/>
                <a:cs typeface="Calibri" pitchFamily="34" charset="-120"/>
              </a:rPr>
              <a:t>= FCF</a:t>
            </a:r>
            <a:endParaRPr lang="en-US" sz="1300" dirty="0"/>
          </a:p>
        </p:txBody>
      </p:sp>
      <p:sp>
        <p:nvSpPr>
          <p:cNvPr id="32" name="Text 29"/>
          <p:cNvSpPr txBox="1"/>
          <p:nvPr/>
        </p:nvSpPr>
        <p:spPr>
          <a:xfrm>
            <a:off x="1965960" y="531266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tilgt Schulden</a:t>
            </a:r>
            <a:endParaRPr lang="en-US" sz="1100" dirty="0"/>
          </a:p>
        </p:txBody>
      </p:sp>
      <p:sp>
        <p:nvSpPr>
          <p:cNvPr id="33" name="Shape 30"/>
          <p:cNvSpPr/>
          <p:nvPr/>
        </p:nvSpPr>
        <p:spPr>
          <a:xfrm>
            <a:off x="4343400" y="1600200"/>
            <a:ext cx="3886200" cy="1143000"/>
          </a:xfrm>
          <a:prstGeom prst="roundRect">
            <a:avLst>
              <a:gd name="adj" fmla="val 6400"/>
            </a:avLst>
          </a:prstGeom>
          <a:solidFill>
            <a:srgbClr val="1C282B"/>
          </a:solidFill>
          <a:ln w="12700">
            <a:solidFill>
              <a:srgbClr val="DCB264"/>
            </a:solidFill>
            <a:prstDash val="solid"/>
          </a:ln>
        </p:spPr>
      </p:sp>
      <p:sp>
        <p:nvSpPr>
          <p:cNvPr id="34" name="Text 31"/>
          <p:cNvSpPr txBox="1"/>
          <p:nvPr/>
        </p:nvSpPr>
        <p:spPr>
          <a:xfrm>
            <a:off x="4526280" y="1600200"/>
            <a:ext cx="3520440" cy="114300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Wachstum = Sektor-g + Drift + (Growth_eff − 2) × 1,7 pp × (1 + 0,1 × Value Creation) + Rauschen</a:t>
            </a:r>
            <a:endParaRPr lang="en-US" sz="1300" dirty="0"/>
          </a:p>
        </p:txBody>
      </p:sp>
      <p:sp>
        <p:nvSpPr>
          <p:cNvPr id="35" name="Shape 32"/>
          <p:cNvSpPr/>
          <p:nvPr/>
        </p:nvSpPr>
        <p:spPr>
          <a:xfrm>
            <a:off x="4343400" y="2880360"/>
            <a:ext cx="3886200" cy="1417320"/>
          </a:xfrm>
          <a:prstGeom prst="roundRect">
            <a:avLst>
              <a:gd name="adj" fmla="val 5161"/>
            </a:avLst>
          </a:prstGeom>
          <a:solidFill>
            <a:srgbClr val="1C282B"/>
          </a:solidFill>
          <a:ln w="12700">
            <a:solidFill>
              <a:srgbClr val="5FC4B1"/>
            </a:solidFill>
            <a:prstDash val="solid"/>
          </a:ln>
        </p:spPr>
      </p:sp>
      <p:sp>
        <p:nvSpPr>
          <p:cNvPr id="36" name="Text 33"/>
          <p:cNvSpPr txBox="1"/>
          <p:nvPr/>
        </p:nvSpPr>
        <p:spPr>
          <a:xfrm>
            <a:off x="4526280" y="2880360"/>
            <a:ext cx="3520440" cy="1417320"/>
          </a:xfrm>
          <a:prstGeom prst="rect">
            <a:avLst/>
          </a:prstGeom>
          <a:noFill/>
          <a:ln/>
        </p:spPr>
        <p:txBody>
          <a:bodyPr wrap="square" lIns="0" tIns="0" rIns="0" bIns="0" rtlCol="0" anchor="ctr"/>
          <a:lstStyle/>
          <a:p>
            <a:pPr algn="ctr" indent="0" marL="0">
              <a:buNone/>
            </a:pPr>
            <a:r>
              <a:rPr lang="en-US" sz="1200" b="1" dirty="0">
                <a:solidFill>
                  <a:srgbClr val="5FC4B1"/>
                </a:solidFill>
                <a:latin typeface="Calibri" pitchFamily="34" charset="0"/>
                <a:ea typeface="Calibri" pitchFamily="34" charset="-122"/>
                <a:cs typeface="Calibri" pitchFamily="34" charset="-120"/>
              </a:rPr>
              <a:t>Zielmarge = Branchenmarge + (Performance − 2) × 1 pp + Operating Leverage − Überdehnung × 1,4 − Mehrkosten Management − Programmbelastung</a:t>
            </a:r>
            <a:endParaRPr lang="en-US" sz="1200" dirty="0"/>
          </a:p>
        </p:txBody>
      </p:sp>
      <p:sp>
        <p:nvSpPr>
          <p:cNvPr id="37" name="Text 34"/>
          <p:cNvSpPr txBox="1"/>
          <p:nvPr/>
        </p:nvSpPr>
        <p:spPr>
          <a:xfrm>
            <a:off x="4343400" y="4480560"/>
            <a:ext cx="3886200" cy="164592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Aufholen: </a:t>
            </a:r>
            <a:pPr indent="0" marL="0">
              <a:buNone/>
            </a:pPr>
            <a:r>
              <a:rPr lang="en-US" sz="1200" dirty="0">
                <a:solidFill>
                  <a:srgbClr val="EDF1EE"/>
                </a:solidFill>
                <a:latin typeface="Calibri" pitchFamily="34" charset="0"/>
                <a:ea typeface="Calibri" pitchFamily="34" charset="-122"/>
                <a:cs typeface="Calibri" pitchFamily="34" charset="-120"/>
              </a:rPr>
              <a:t>30 % der Lücke je HJ (× Value Creation)</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Zurückfallen: </a:t>
            </a:r>
            <a:pPr indent="0" marL="0">
              <a:buNone/>
            </a:pPr>
            <a:r>
              <a:rPr lang="en-US" sz="1200" dirty="0">
                <a:solidFill>
                  <a:srgbClr val="EDF1EE"/>
                </a:solidFill>
                <a:latin typeface="Calibri" pitchFamily="34" charset="0"/>
                <a:ea typeface="Calibri" pitchFamily="34" charset="-122"/>
                <a:cs typeface="Calibri" pitchFamily="34" charset="-120"/>
              </a:rPr>
              <a:t>40 % der Lücke je HJ</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Rauschen: </a:t>
            </a:r>
            <a:pPr indent="0" marL="0">
              <a:buNone/>
            </a:pPr>
            <a:r>
              <a:rPr lang="en-US" sz="1200" dirty="0">
                <a:solidFill>
                  <a:srgbClr val="EDF1EE"/>
                </a:solidFill>
                <a:latin typeface="Calibri" pitchFamily="34" charset="0"/>
                <a:ea typeface="Calibri" pitchFamily="34" charset="-122"/>
                <a:cs typeface="Calibri" pitchFamily="34" charset="-120"/>
              </a:rPr>
              <a:t>Wachstum σ ≈ 3,5 pp, Marge σ ≈ 0,35 pp</a:t>
            </a:r>
            <a:endParaRPr lang="en-US" sz="1200" dirty="0"/>
          </a:p>
        </p:txBody>
      </p:sp>
      <p:pic>
        <p:nvPicPr>
          <p:cNvPr id="38" name="Image 0" descr="/tmp/claude-0/deck/img/statements.jpg">    </p:cNvPr>
          <p:cNvPicPr>
            <a:picLocks noChangeAspect="1"/>
          </p:cNvPicPr>
          <p:nvPr/>
        </p:nvPicPr>
        <p:blipFill>
          <a:blip r:embed="rId1"/>
          <a:stretch>
            <a:fillRect/>
          </a:stretch>
        </p:blipFill>
        <p:spPr>
          <a:xfrm>
            <a:off x="9052560" y="1600200"/>
            <a:ext cx="2633472" cy="4389120"/>
          </a:xfrm>
          <a:prstGeom prst="rect">
            <a:avLst/>
          </a:prstGeom>
        </p:spPr>
      </p:pic>
      <p:sp>
        <p:nvSpPr>
          <p:cNvPr id="39" name="Shape 35"/>
          <p:cNvSpPr/>
          <p:nvPr/>
        </p:nvSpPr>
        <p:spPr>
          <a:xfrm>
            <a:off x="9052560" y="1600200"/>
            <a:ext cx="2633472" cy="4389120"/>
          </a:xfrm>
          <a:prstGeom prst="rect">
            <a:avLst/>
          </a:prstGeom>
          <a:ln w="9525">
            <a:solidFill>
              <a:srgbClr val="33474B"/>
            </a:solidFill>
            <a:prstDash val="solid"/>
          </a:ln>
        </p:spPr>
      </p:sp>
      <p:sp>
        <p:nvSpPr>
          <p:cNvPr id="40" name="Text 36"/>
          <p:cNvSpPr txBox="1"/>
          <p:nvPr/>
        </p:nvSpPr>
        <p:spPr>
          <a:xfrm>
            <a:off x="8778240" y="6044184"/>
            <a:ext cx="3182112"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Financial Statements einer Beteiligung</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REIFEGRADE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People, Performance, Growth – Growth braucht Unterbau</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23</a:t>
            </a:r>
            <a:endParaRPr lang="en-US" sz="900" dirty="0"/>
          </a:p>
        </p:txBody>
      </p:sp>
      <p:sp>
        <p:nvSpPr>
          <p:cNvPr id="9" name="Text 6"/>
          <p:cNvSpPr txBox="1"/>
          <p:nvPr/>
        </p:nvSpPr>
        <p:spPr>
          <a:xfrm>
            <a:off x="502920" y="1828800"/>
            <a:ext cx="1371600" cy="411480"/>
          </a:xfrm>
          <a:prstGeom prst="rect">
            <a:avLst/>
          </a:prstGeom>
          <a:noFill/>
          <a:ln/>
        </p:spPr>
        <p:txBody>
          <a:bodyPr wrap="square" lIns="0" tIns="0" rIns="0" bIns="0" rtlCol="0" anchor="ctr"/>
          <a:lstStyle/>
          <a:p>
            <a:pPr algn="l" indent="0" marL="0">
              <a:buNone/>
            </a:pPr>
            <a:r>
              <a:rPr lang="en-US" sz="1400" b="1" dirty="0">
                <a:solidFill>
                  <a:srgbClr val="D2A03F"/>
                </a:solidFill>
                <a:latin typeface="Calibri" pitchFamily="34" charset="0"/>
                <a:ea typeface="Calibri" pitchFamily="34" charset="-122"/>
                <a:cs typeface="Calibri" pitchFamily="34" charset="-120"/>
              </a:rPr>
              <a:t>People</a:t>
            </a:r>
            <a:endParaRPr lang="en-US" sz="1400" dirty="0"/>
          </a:p>
        </p:txBody>
      </p:sp>
      <p:sp>
        <p:nvSpPr>
          <p:cNvPr id="10" name="Shape 7"/>
          <p:cNvSpPr/>
          <p:nvPr/>
        </p:nvSpPr>
        <p:spPr>
          <a:xfrm>
            <a:off x="1965960" y="1901952"/>
            <a:ext cx="5029200" cy="274320"/>
          </a:xfrm>
          <a:prstGeom prst="roundRect">
            <a:avLst>
              <a:gd name="adj" fmla="val 16667"/>
            </a:avLst>
          </a:prstGeom>
          <a:solidFill>
            <a:srgbClr val="1C282B"/>
          </a:solidFill>
          <a:ln/>
        </p:spPr>
      </p:sp>
      <p:sp>
        <p:nvSpPr>
          <p:cNvPr id="11" name="Shape 8"/>
          <p:cNvSpPr/>
          <p:nvPr/>
        </p:nvSpPr>
        <p:spPr>
          <a:xfrm>
            <a:off x="1965960" y="1901952"/>
            <a:ext cx="2011680" cy="274320"/>
          </a:xfrm>
          <a:prstGeom prst="roundRect">
            <a:avLst>
              <a:gd name="adj" fmla="val 16667"/>
            </a:avLst>
          </a:prstGeom>
          <a:solidFill>
            <a:srgbClr val="D2A03F"/>
          </a:solidFill>
          <a:ln/>
        </p:spPr>
      </p:sp>
      <p:sp>
        <p:nvSpPr>
          <p:cNvPr id="12" name="Text 9"/>
          <p:cNvSpPr txBox="1"/>
          <p:nvPr/>
        </p:nvSpPr>
        <p:spPr>
          <a:xfrm>
            <a:off x="1965960" y="221284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Ø Rating von CEO, CFO und Fachrolle</a:t>
            </a:r>
            <a:endParaRPr lang="en-US" sz="1050" dirty="0"/>
          </a:p>
        </p:txBody>
      </p:sp>
      <p:sp>
        <p:nvSpPr>
          <p:cNvPr id="13" name="Text 10"/>
          <p:cNvSpPr txBox="1"/>
          <p:nvPr/>
        </p:nvSpPr>
        <p:spPr>
          <a:xfrm>
            <a:off x="502920" y="2697480"/>
            <a:ext cx="1371600" cy="411480"/>
          </a:xfrm>
          <a:prstGeom prst="rect">
            <a:avLst/>
          </a:prstGeom>
          <a:noFill/>
          <a:ln/>
        </p:spPr>
        <p:txBody>
          <a:bodyPr wrap="square" lIns="0" tIns="0" rIns="0" bIns="0" rtlCol="0" anchor="ctr"/>
          <a:lstStyle/>
          <a:p>
            <a:pPr algn="l" indent="0" marL="0">
              <a:buNone/>
            </a:pPr>
            <a:r>
              <a:rPr lang="en-US" sz="1400" b="1" dirty="0">
                <a:solidFill>
                  <a:srgbClr val="5FC4B1"/>
                </a:solidFill>
                <a:latin typeface="Calibri" pitchFamily="34" charset="0"/>
                <a:ea typeface="Calibri" pitchFamily="34" charset="-122"/>
                <a:cs typeface="Calibri" pitchFamily="34" charset="-120"/>
              </a:rPr>
              <a:t>Performance</a:t>
            </a:r>
            <a:endParaRPr lang="en-US" sz="1400" dirty="0"/>
          </a:p>
        </p:txBody>
      </p:sp>
      <p:sp>
        <p:nvSpPr>
          <p:cNvPr id="14" name="Shape 11"/>
          <p:cNvSpPr/>
          <p:nvPr/>
        </p:nvSpPr>
        <p:spPr>
          <a:xfrm>
            <a:off x="1965960" y="2770632"/>
            <a:ext cx="5029200" cy="274320"/>
          </a:xfrm>
          <a:prstGeom prst="roundRect">
            <a:avLst>
              <a:gd name="adj" fmla="val 16667"/>
            </a:avLst>
          </a:prstGeom>
          <a:solidFill>
            <a:srgbClr val="1C282B"/>
          </a:solidFill>
          <a:ln/>
        </p:spPr>
      </p:sp>
      <p:sp>
        <p:nvSpPr>
          <p:cNvPr id="15" name="Shape 12"/>
          <p:cNvSpPr/>
          <p:nvPr/>
        </p:nvSpPr>
        <p:spPr>
          <a:xfrm>
            <a:off x="1965960" y="2770632"/>
            <a:ext cx="2011680" cy="274320"/>
          </a:xfrm>
          <a:prstGeom prst="roundRect">
            <a:avLst>
              <a:gd name="adj" fmla="val 16667"/>
            </a:avLst>
          </a:prstGeom>
          <a:solidFill>
            <a:srgbClr val="5FC4B1"/>
          </a:solidFill>
          <a:ln/>
        </p:spPr>
      </p:sp>
      <p:sp>
        <p:nvSpPr>
          <p:cNvPr id="16" name="Text 13"/>
          <p:cNvSpPr txBox="1"/>
          <p:nvPr/>
        </p:nvSpPr>
        <p:spPr>
          <a:xfrm>
            <a:off x="1965960" y="308152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Prozessreife: Kosten, Capex, NWC</a:t>
            </a:r>
            <a:endParaRPr lang="en-US" sz="1050" dirty="0"/>
          </a:p>
        </p:txBody>
      </p:sp>
      <p:sp>
        <p:nvSpPr>
          <p:cNvPr id="17" name="Text 14"/>
          <p:cNvSpPr txBox="1"/>
          <p:nvPr/>
        </p:nvSpPr>
        <p:spPr>
          <a:xfrm>
            <a:off x="502920" y="3566160"/>
            <a:ext cx="1371600" cy="411480"/>
          </a:xfrm>
          <a:prstGeom prst="rect">
            <a:avLst/>
          </a:prstGeom>
          <a:noFill/>
          <a:ln/>
        </p:spPr>
        <p:txBody>
          <a:bodyPr wrap="square" lIns="0" tIns="0" rIns="0" bIns="0" rtlCol="0" anchor="ctr"/>
          <a:lstStyle/>
          <a:p>
            <a:pPr algn="l" indent="0" marL="0">
              <a:buNone/>
            </a:pPr>
            <a:r>
              <a:rPr lang="en-US" sz="1400" b="1" dirty="0">
                <a:solidFill>
                  <a:srgbClr val="A855F7"/>
                </a:solidFill>
                <a:latin typeface="Calibri" pitchFamily="34" charset="0"/>
                <a:ea typeface="Calibri" pitchFamily="34" charset="-122"/>
                <a:cs typeface="Calibri" pitchFamily="34" charset="-120"/>
              </a:rPr>
              <a:t>Growth</a:t>
            </a:r>
            <a:endParaRPr lang="en-US" sz="1400" dirty="0"/>
          </a:p>
        </p:txBody>
      </p:sp>
      <p:sp>
        <p:nvSpPr>
          <p:cNvPr id="18" name="Shape 15"/>
          <p:cNvSpPr/>
          <p:nvPr/>
        </p:nvSpPr>
        <p:spPr>
          <a:xfrm>
            <a:off x="1965960" y="3639312"/>
            <a:ext cx="5029200" cy="274320"/>
          </a:xfrm>
          <a:prstGeom prst="roundRect">
            <a:avLst>
              <a:gd name="adj" fmla="val 16667"/>
            </a:avLst>
          </a:prstGeom>
          <a:solidFill>
            <a:srgbClr val="1C282B"/>
          </a:solidFill>
          <a:ln/>
        </p:spPr>
      </p:sp>
      <p:sp>
        <p:nvSpPr>
          <p:cNvPr id="19" name="Shape 16"/>
          <p:cNvSpPr/>
          <p:nvPr/>
        </p:nvSpPr>
        <p:spPr>
          <a:xfrm>
            <a:off x="1965960" y="3639312"/>
            <a:ext cx="3017520" cy="274320"/>
          </a:xfrm>
          <a:prstGeom prst="roundRect">
            <a:avLst>
              <a:gd name="adj" fmla="val 16667"/>
            </a:avLst>
          </a:prstGeom>
          <a:solidFill>
            <a:srgbClr val="A855F7"/>
          </a:solidFill>
          <a:ln/>
        </p:spPr>
      </p:sp>
      <p:sp>
        <p:nvSpPr>
          <p:cNvPr id="20" name="Shape 17"/>
          <p:cNvSpPr/>
          <p:nvPr/>
        </p:nvSpPr>
        <p:spPr>
          <a:xfrm>
            <a:off x="4983480" y="3639312"/>
            <a:ext cx="1207008" cy="274320"/>
          </a:xfrm>
          <a:prstGeom prst="roundRect">
            <a:avLst>
              <a:gd name="adj" fmla="val 16667"/>
            </a:avLst>
          </a:prstGeom>
          <a:solidFill>
            <a:srgbClr val="E3897F">
              <a:alpha val="70000"/>
            </a:srgbClr>
          </a:solidFill>
          <a:ln/>
        </p:spPr>
      </p:sp>
      <p:sp>
        <p:nvSpPr>
          <p:cNvPr id="21" name="Text 18"/>
          <p:cNvSpPr txBox="1"/>
          <p:nvPr/>
        </p:nvSpPr>
        <p:spPr>
          <a:xfrm>
            <a:off x="1965960" y="395020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Wachstumsfähigkeit: Vertrieb, Märkte</a:t>
            </a:r>
            <a:endParaRPr lang="en-US" sz="1050" dirty="0"/>
          </a:p>
        </p:txBody>
      </p:sp>
      <p:sp>
        <p:nvSpPr>
          <p:cNvPr id="22" name="Shape 19"/>
          <p:cNvSpPr/>
          <p:nvPr/>
        </p:nvSpPr>
        <p:spPr>
          <a:xfrm>
            <a:off x="3977640" y="1691640"/>
            <a:ext cx="0" cy="2606040"/>
          </a:xfrm>
          <a:prstGeom prst="line">
            <a:avLst/>
          </a:prstGeom>
          <a:noFill/>
          <a:ln w="12700">
            <a:solidFill>
              <a:srgbClr val="8E9C9B"/>
            </a:solidFill>
            <a:prstDash val="dash"/>
          </a:ln>
        </p:spPr>
      </p:sp>
      <p:sp>
        <p:nvSpPr>
          <p:cNvPr id="23" name="Text 20"/>
          <p:cNvSpPr txBox="1"/>
          <p:nvPr/>
        </p:nvSpPr>
        <p:spPr>
          <a:xfrm>
            <a:off x="3429000" y="4315968"/>
            <a:ext cx="1097280" cy="22860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Benchmark 2</a:t>
            </a:r>
            <a:endParaRPr lang="en-US" sz="1000" dirty="0"/>
          </a:p>
        </p:txBody>
      </p:sp>
      <p:sp>
        <p:nvSpPr>
          <p:cNvPr id="24" name="Shape 21"/>
          <p:cNvSpPr/>
          <p:nvPr/>
        </p:nvSpPr>
        <p:spPr>
          <a:xfrm>
            <a:off x="4983480" y="3429000"/>
            <a:ext cx="0" cy="548640"/>
          </a:xfrm>
          <a:prstGeom prst="line">
            <a:avLst/>
          </a:prstGeom>
          <a:noFill/>
          <a:ln w="25400">
            <a:solidFill>
              <a:srgbClr val="DCB264"/>
            </a:solidFill>
            <a:prstDash val="solid"/>
          </a:ln>
        </p:spPr>
      </p:sp>
      <p:sp>
        <p:nvSpPr>
          <p:cNvPr id="25" name="Text 22"/>
          <p:cNvSpPr txBox="1"/>
          <p:nvPr/>
        </p:nvSpPr>
        <p:spPr>
          <a:xfrm>
            <a:off x="5029200" y="3310128"/>
            <a:ext cx="1371600" cy="228600"/>
          </a:xfrm>
          <a:prstGeom prst="rect">
            <a:avLst/>
          </a:prstGeom>
          <a:noFill/>
          <a:ln/>
        </p:spPr>
        <p:txBody>
          <a:bodyPr wrap="square" lIns="0" tIns="0" rIns="0" bIns="0" rtlCol="0" anchor="t"/>
          <a:lstStyle/>
          <a:p>
            <a:pPr algn="l" indent="0" marL="0">
              <a:buNone/>
            </a:pPr>
            <a:r>
              <a:rPr lang="en-US" sz="1000" b="1" dirty="0">
                <a:solidFill>
                  <a:srgbClr val="DCB264"/>
                </a:solidFill>
                <a:latin typeface="Calibri" pitchFamily="34" charset="0"/>
                <a:ea typeface="Calibri" pitchFamily="34" charset="-122"/>
                <a:cs typeface="Calibri" pitchFamily="34" charset="-120"/>
              </a:rPr>
              <a:t>Wirkgrenze 3,0</a:t>
            </a:r>
            <a:endParaRPr lang="en-US" sz="1000" dirty="0"/>
          </a:p>
        </p:txBody>
      </p:sp>
      <p:sp>
        <p:nvSpPr>
          <p:cNvPr id="26" name="Text 23"/>
          <p:cNvSpPr txBox="1"/>
          <p:nvPr/>
        </p:nvSpPr>
        <p:spPr>
          <a:xfrm>
            <a:off x="5367528" y="4041648"/>
            <a:ext cx="1371600" cy="228600"/>
          </a:xfrm>
          <a:prstGeom prst="rect">
            <a:avLst/>
          </a:prstGeom>
          <a:noFill/>
          <a:ln/>
        </p:spPr>
        <p:txBody>
          <a:bodyPr wrap="square" lIns="0" tIns="0" rIns="0" bIns="0" rtlCol="0" anchor="t"/>
          <a:lstStyle/>
          <a:p>
            <a:pPr algn="l" indent="0" marL="0">
              <a:buNone/>
            </a:pPr>
            <a:r>
              <a:rPr lang="en-US" sz="1000" b="1" dirty="0">
                <a:solidFill>
                  <a:srgbClr val="E3897F"/>
                </a:solidFill>
                <a:latin typeface="Calibri" pitchFamily="34" charset="0"/>
                <a:ea typeface="Calibri" pitchFamily="34" charset="-122"/>
                <a:cs typeface="Calibri" pitchFamily="34" charset="-120"/>
              </a:rPr>
              <a:t>Überdehnung</a:t>
            </a:r>
            <a:endParaRPr lang="en-US" sz="1000" dirty="0"/>
          </a:p>
        </p:txBody>
      </p:sp>
      <p:sp>
        <p:nvSpPr>
          <p:cNvPr id="27" name="Shape 24"/>
          <p:cNvSpPr/>
          <p:nvPr/>
        </p:nvSpPr>
        <p:spPr>
          <a:xfrm>
            <a:off x="502920" y="4663440"/>
            <a:ext cx="6858000" cy="640080"/>
          </a:xfrm>
          <a:prstGeom prst="roundRect">
            <a:avLst>
              <a:gd name="adj" fmla="val 11429"/>
            </a:avLst>
          </a:prstGeom>
          <a:solidFill>
            <a:srgbClr val="1C282B"/>
          </a:solidFill>
          <a:ln w="12700">
            <a:solidFill>
              <a:srgbClr val="DCB264"/>
            </a:solidFill>
            <a:prstDash val="solid"/>
          </a:ln>
        </p:spPr>
      </p:sp>
      <p:sp>
        <p:nvSpPr>
          <p:cNvPr id="28" name="Text 25"/>
          <p:cNvSpPr txBox="1"/>
          <p:nvPr/>
        </p:nvSpPr>
        <p:spPr>
          <a:xfrm>
            <a:off x="685800" y="4663440"/>
            <a:ext cx="6492240" cy="64008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Growth wirksam = min( Growth ; People + 1 ; Performance + 1 )</a:t>
            </a:r>
            <a:endParaRPr lang="en-US" sz="1500" dirty="0"/>
          </a:p>
        </p:txBody>
      </p:sp>
      <p:sp>
        <p:nvSpPr>
          <p:cNvPr id="29" name="Text 26"/>
          <p:cNvSpPr txBox="1"/>
          <p:nvPr/>
        </p:nvSpPr>
        <p:spPr>
          <a:xfrm>
            <a:off x="502920" y="5486400"/>
            <a:ext cx="6858000" cy="8229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Überdehnung kostet </a:t>
            </a:r>
            <a:pPr indent="0" marL="0">
              <a:buNone/>
            </a:pPr>
            <a:r>
              <a:rPr lang="en-US" sz="1250" dirty="0">
                <a:solidFill>
                  <a:srgbClr val="EDF1EE"/>
                </a:solidFill>
                <a:latin typeface="Calibri" pitchFamily="34" charset="0"/>
                <a:ea typeface="Calibri" pitchFamily="34" charset="-122"/>
                <a:cs typeface="Calibri" pitchFamily="34" charset="-120"/>
              </a:rPr>
              <a:t>1,4 pp Zielmarge und 1,8 Qualitätspunkte je Halbjahr und Stufe</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Verfall </a:t>
            </a:r>
            <a:pPr indent="0" marL="0">
              <a:buNone/>
            </a:pPr>
            <a:r>
              <a:rPr lang="en-US" sz="1250" dirty="0">
                <a:solidFill>
                  <a:srgbClr val="EDF1EE"/>
                </a:solidFill>
                <a:latin typeface="Calibri" pitchFamily="34" charset="0"/>
                <a:ea typeface="Calibri" pitchFamily="34" charset="-122"/>
                <a:cs typeface="Calibri" pitchFamily="34" charset="-120"/>
              </a:rPr>
              <a:t>8 % je Stufe über 2 je Halbjahr ohne laufendes Programm</a:t>
            </a:r>
            <a:endParaRPr lang="en-US" sz="1250" dirty="0"/>
          </a:p>
        </p:txBody>
      </p:sp>
      <p:pic>
        <p:nvPicPr>
          <p:cNvPr id="30" name="Image 0" descr="/tmp/claude-0/deck/img/init_pricing.jpg">    </p:cNvPr>
          <p:cNvPicPr>
            <a:picLocks noChangeAspect="1"/>
          </p:cNvPicPr>
          <p:nvPr/>
        </p:nvPicPr>
        <p:blipFill>
          <a:blip r:embed="rId1"/>
          <a:stretch>
            <a:fillRect/>
          </a:stretch>
        </p:blipFill>
        <p:spPr>
          <a:xfrm>
            <a:off x="8940655" y="1600200"/>
            <a:ext cx="2745377" cy="4434840"/>
          </a:xfrm>
          <a:prstGeom prst="rect">
            <a:avLst/>
          </a:prstGeom>
        </p:spPr>
      </p:pic>
      <p:sp>
        <p:nvSpPr>
          <p:cNvPr id="31" name="Shape 27"/>
          <p:cNvSpPr/>
          <p:nvPr/>
        </p:nvSpPr>
        <p:spPr>
          <a:xfrm>
            <a:off x="8940655" y="1600200"/>
            <a:ext cx="2745377" cy="4434840"/>
          </a:xfrm>
          <a:prstGeom prst="rect">
            <a:avLst/>
          </a:prstGeom>
          <a:ln w="9525">
            <a:solidFill>
              <a:srgbClr val="33474B"/>
            </a:solidFill>
            <a:prstDash val="solid"/>
          </a:ln>
        </p:spPr>
      </p:sp>
      <p:sp>
        <p:nvSpPr>
          <p:cNvPr id="32" name="Text 28"/>
          <p:cNvSpPr txBox="1"/>
          <p:nvPr/>
        </p:nvSpPr>
        <p:spPr>
          <a:xfrm>
            <a:off x="8666335" y="6089904"/>
            <a:ext cx="3294017"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Maßnahmenkatalog: Zeile „Davon wirksam“</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MASSNAHMENKATALOG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Sieben Maßnahmen, drei Risikoklassen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949440" cy="914400"/>
        </p:xfrm>
        <a:graphic>
          <a:graphicData uri="http://schemas.openxmlformats.org/drawingml/2006/table">
            <a:tbl>
              <a:tblPr/>
              <a:tblGrid>
                <a:gridCol w="1828800"/>
                <a:gridCol w="960120"/>
                <a:gridCol w="822960"/>
                <a:gridCol w="1600200"/>
                <a:gridCol w="1737360"/>
              </a:tblGrid>
              <a:tr h="402336">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Maßnahme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Klasse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Reifegrad</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Eignung hoch, wenn …</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 / Risiko</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Cost-out-Programm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&lt; Branche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0,06 × EBITDA einmalig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NWC-Programm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hohe Kapitalbindung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NWC −3 pp dauerhaft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ERP &amp; Digitalisierung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EBITDA groß</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Capex +2 pp; Fehlschlag 0,35 × EBITDA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KI-Automatisierung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groß + reife Prozesse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CFO-Rating ≥ 4 nötig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Pricing &amp; Cross-Selling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Qualität hoch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−0,5 pp während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Markt-/Segmentexpansion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marktabh.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Sektor wächst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 pp; Fehlschlag −0,8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Add-on M&amp;A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Plattform, Luft im Covenant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siehe Buy-and-Build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502920" y="4983480"/>
            <a:ext cx="6949440" cy="685800"/>
          </a:xfrm>
          <a:prstGeom prst="roundRect">
            <a:avLst>
              <a:gd name="adj" fmla="val 10667"/>
            </a:avLst>
          </a:prstGeom>
          <a:solidFill>
            <a:srgbClr val="1C282B"/>
          </a:solidFill>
          <a:ln w="12700">
            <a:solidFill>
              <a:srgbClr val="DCB264"/>
            </a:solidFill>
            <a:prstDash val="solid"/>
          </a:ln>
        </p:spPr>
      </p:sp>
      <p:sp>
        <p:nvSpPr>
          <p:cNvPr id="11" name="Text 7"/>
          <p:cNvSpPr txBox="1"/>
          <p:nvPr/>
        </p:nvSpPr>
        <p:spPr>
          <a:xfrm>
            <a:off x="685800" y="4983480"/>
            <a:ext cx="6583680" cy="685800"/>
          </a:xfrm>
          <a:prstGeom prst="rect">
            <a:avLst/>
          </a:prstGeom>
          <a:noFill/>
          <a:ln/>
        </p:spPr>
        <p:txBody>
          <a:bodyPr wrap="square" lIns="0" tIns="0" rIns="0" bIns="0" rtlCol="0" anchor="ctr"/>
          <a:lstStyle/>
          <a:p>
            <a:pPr algn="ctr" indent="0" marL="0">
              <a:buNone/>
            </a:pPr>
            <a:r>
              <a:rPr lang="en-US" sz="1250" b="1" dirty="0">
                <a:solidFill>
                  <a:srgbClr val="DCB264"/>
                </a:solidFill>
                <a:latin typeface="Calibri" pitchFamily="34" charset="0"/>
                <a:ea typeface="Calibri" pitchFamily="34" charset="-122"/>
                <a:cs typeface="Calibri" pitchFamily="34" charset="-120"/>
              </a:rPr>
              <a:t>Gewinn = (0,7 + 3,6 × E / (E + 4)) × Eignung × Streuung × Wiederholungsmalus × Deckenfaktor</a:t>
            </a:r>
            <a:endParaRPr lang="en-US" sz="1250" dirty="0"/>
          </a:p>
        </p:txBody>
      </p:sp>
      <p:sp>
        <p:nvSpPr>
          <p:cNvPr id="12" name="Text 8"/>
          <p:cNvSpPr txBox="1"/>
          <p:nvPr/>
        </p:nvSpPr>
        <p:spPr>
          <a:xfrm>
            <a:off x="502920" y="5760720"/>
            <a:ext cx="6949440" cy="36576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E = effektives Rating der verantwortlichen Rolle · Dauer = max(1; 4 − ⌊E / 1,6⌋) Halbjahre ± Maßnahme</a:t>
            </a:r>
            <a:endParaRPr lang="en-US" sz="1050" dirty="0"/>
          </a:p>
        </p:txBody>
      </p:sp>
      <p:graphicFrame>
        <p:nvGraphicFramePr>
          <p:cNvPr id="13" name="Chart 0" descr=""/>
          <p:cNvGraphicFramePr/>
          <p:nvPr/>
        </p:nvGraphicFramePr>
        <p:xfrm>
          <a:off x="7726680" y="1600200"/>
          <a:ext cx="3959352" cy="45262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PEOPLE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Management-Team</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25</a:t>
            </a:r>
            <a:endParaRPr lang="en-US" sz="900" dirty="0"/>
          </a:p>
        </p:txBody>
      </p:sp>
      <p:pic>
        <p:nvPicPr>
          <p:cNvPr id="9" name="Image 0" descr="/tmp/claude-0/deck/img/hold_stages.jpg">    </p:cNvPr>
          <p:cNvPicPr>
            <a:picLocks noChangeAspect="1"/>
          </p:cNvPicPr>
          <p:nvPr/>
        </p:nvPicPr>
        <p:blipFill>
          <a:blip r:embed="rId1"/>
          <a:stretch>
            <a:fillRect/>
          </a:stretch>
        </p:blipFill>
        <p:spPr>
          <a:xfrm>
            <a:off x="502920" y="1600200"/>
            <a:ext cx="4206240" cy="2772829"/>
          </a:xfrm>
          <a:prstGeom prst="rect">
            <a:avLst/>
          </a:prstGeom>
        </p:spPr>
      </p:pic>
      <p:sp>
        <p:nvSpPr>
          <p:cNvPr id="10" name="Shape 6"/>
          <p:cNvSpPr/>
          <p:nvPr/>
        </p:nvSpPr>
        <p:spPr>
          <a:xfrm>
            <a:off x="502920" y="1600200"/>
            <a:ext cx="4206240" cy="2772829"/>
          </a:xfrm>
          <a:prstGeom prst="rect">
            <a:avLst/>
          </a:prstGeom>
          <a:ln w="9525">
            <a:solidFill>
              <a:srgbClr val="33474B"/>
            </a:solidFill>
            <a:prstDash val="solid"/>
          </a:ln>
        </p:spPr>
      </p:sp>
      <p:sp>
        <p:nvSpPr>
          <p:cNvPr id="11" name="Text 7"/>
          <p:cNvSpPr txBox="1"/>
          <p:nvPr/>
        </p:nvSpPr>
        <p:spPr>
          <a:xfrm>
            <a:off x="228600" y="4427893"/>
            <a:ext cx="4754880"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Reifegrad und Führung auf der Beteiligungskarte</a:t>
            </a:r>
            <a:endParaRPr lang="en-US" sz="950" dirty="0"/>
          </a:p>
        </p:txBody>
      </p:sp>
      <p:sp>
        <p:nvSpPr>
          <p:cNvPr id="12" name="Shape 8"/>
          <p:cNvSpPr/>
          <p:nvPr/>
        </p:nvSpPr>
        <p:spPr>
          <a:xfrm>
            <a:off x="502920" y="4846320"/>
            <a:ext cx="4206240" cy="685800"/>
          </a:xfrm>
          <a:prstGeom prst="roundRect">
            <a:avLst>
              <a:gd name="adj" fmla="val 10667"/>
            </a:avLst>
          </a:prstGeom>
          <a:solidFill>
            <a:srgbClr val="1C282B"/>
          </a:solidFill>
          <a:ln w="12700">
            <a:solidFill>
              <a:srgbClr val="DCB264"/>
            </a:solidFill>
            <a:prstDash val="solid"/>
          </a:ln>
        </p:spPr>
      </p:sp>
      <p:sp>
        <p:nvSpPr>
          <p:cNvPr id="13" name="Text 9"/>
          <p:cNvSpPr txBox="1"/>
          <p:nvPr/>
        </p:nvSpPr>
        <p:spPr>
          <a:xfrm>
            <a:off x="685800" y="4846320"/>
            <a:ext cx="3840480" cy="68580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E = min(Rolle; CEO + 1,5) + 0,5 × CEO + 0,5 (bei MEP)</a:t>
            </a:r>
            <a:endParaRPr lang="en-US" sz="1300" dirty="0"/>
          </a:p>
        </p:txBody>
      </p:sp>
      <p:sp>
        <p:nvSpPr>
          <p:cNvPr id="14" name="Text 10"/>
          <p:cNvSpPr txBox="1"/>
          <p:nvPr/>
        </p:nvSpPr>
        <p:spPr>
          <a:xfrm>
            <a:off x="502920" y="5623560"/>
            <a:ext cx="4206240" cy="68580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Sonderwirkung der Fachrolle: CTO Industrials −0,5 pp Capex · CTO Healthcare halbiert Regulatorik-Ereignisse · CTO Software stärkt den CFO · Head of BD Services · CMO Consumer +0,4× beim Verkauf an Strategen</a:t>
            </a:r>
            <a:endParaRPr lang="en-US" sz="10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937760" y="1600200"/>
          <a:ext cx="3749040" cy="914400"/>
        </p:xfrm>
        <a:graphic>
          <a:graphicData uri="http://schemas.openxmlformats.org/drawingml/2006/table">
            <a:tbl>
              <a:tblPr/>
              <a:tblGrid>
                <a:gridCol w="1325880"/>
                <a:gridCol w="777240"/>
                <a:gridCol w="594360"/>
                <a:gridCol w="1051560"/>
              </a:tblGrid>
              <a:tr h="45720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Kandidat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Rating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Gehalt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Besonderheit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Branchenveteran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2,5 ± 0,5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Markt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keine Überraschung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A-Player (Konzern)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5,0 ± 0,5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 2×</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wird doppelt so oft abgeworben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Entwicklungsprofil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2,0 ± 1,5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niedrig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+0,25 je HJ bis 4,5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6" name="Text 11"/>
          <p:cNvSpPr txBox="1"/>
          <p:nvPr/>
        </p:nvSpPr>
        <p:spPr>
          <a:xfrm>
            <a:off x="4937760" y="3657600"/>
            <a:ext cx="3749040" cy="256032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Retainer </a:t>
            </a:r>
            <a:pPr indent="0" marL="0">
              <a:buNone/>
            </a:pPr>
            <a:r>
              <a:rPr lang="en-US" sz="1200" dirty="0">
                <a:solidFill>
                  <a:srgbClr val="EDF1EE"/>
                </a:solidFill>
                <a:latin typeface="Calibri" pitchFamily="34" charset="0"/>
                <a:ea typeface="Calibri" pitchFamily="34" charset="-122"/>
                <a:cs typeface="Calibri" pitchFamily="34" charset="-120"/>
              </a:rPr>
              <a:t>22,5 % eines Jahresgehalts</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Signing Bonus </a:t>
            </a:r>
            <a:pPr indent="0" marL="0">
              <a:buNone/>
            </a:pPr>
            <a:r>
              <a:rPr lang="en-US" sz="1200" dirty="0">
                <a:solidFill>
                  <a:srgbClr val="EDF1EE"/>
                </a:solidFill>
                <a:latin typeface="Calibri" pitchFamily="34" charset="0"/>
                <a:ea typeface="Calibri" pitchFamily="34" charset="-122"/>
                <a:cs typeface="Calibri" pitchFamily="34" charset="-120"/>
              </a:rPr>
              <a:t>0,3 Jahresgehälter</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Abfindung </a:t>
            </a:r>
            <a:pPr indent="0" marL="0">
              <a:buNone/>
            </a:pPr>
            <a:r>
              <a:rPr lang="en-US" sz="1200" dirty="0">
                <a:solidFill>
                  <a:srgbClr val="EDF1EE"/>
                </a:solidFill>
                <a:latin typeface="Calibri" pitchFamily="34" charset="0"/>
                <a:ea typeface="Calibri" pitchFamily="34" charset="-122"/>
                <a:cs typeface="Calibri" pitchFamily="34" charset="-120"/>
              </a:rPr>
              <a:t>1 Jahresgehalt des Vorgängers</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Shortlist </a:t>
            </a:r>
            <a:pPr indent="0" marL="0">
              <a:buNone/>
            </a:pPr>
            <a:r>
              <a:rPr lang="en-US" sz="1200" dirty="0">
                <a:solidFill>
                  <a:srgbClr val="EDF1EE"/>
                </a:solidFill>
                <a:latin typeface="Calibri" pitchFamily="34" charset="0"/>
                <a:ea typeface="Calibri" pitchFamily="34" charset="-122"/>
                <a:cs typeface="Calibri" pitchFamily="34" charset="-120"/>
              </a:rPr>
              <a:t>nach 2 Halbjahren, Rating nur als Spanne sichtbar</a:t>
            </a:r>
            <a:endParaRPr lang="en-US" sz="1200" dirty="0"/>
          </a:p>
        </p:txBody>
      </p:sp>
      <p:pic>
        <p:nvPicPr>
          <p:cNvPr id="17" name="Image 1" descr="/tmp/claude-0/deck/img/shortlist.jpg">    </p:cNvPr>
          <p:cNvPicPr>
            <a:picLocks noChangeAspect="1"/>
          </p:cNvPicPr>
          <p:nvPr/>
        </p:nvPicPr>
        <p:blipFill>
          <a:blip r:embed="rId2"/>
          <a:stretch>
            <a:fillRect/>
          </a:stretch>
        </p:blipFill>
        <p:spPr>
          <a:xfrm>
            <a:off x="8915400" y="1600200"/>
            <a:ext cx="2770632" cy="4191469"/>
          </a:xfrm>
          <a:prstGeom prst="rect">
            <a:avLst/>
          </a:prstGeom>
        </p:spPr>
      </p:pic>
      <p:sp>
        <p:nvSpPr>
          <p:cNvPr id="18" name="Shape 12"/>
          <p:cNvSpPr/>
          <p:nvPr/>
        </p:nvSpPr>
        <p:spPr>
          <a:xfrm>
            <a:off x="8915400" y="1600200"/>
            <a:ext cx="2770632" cy="4191469"/>
          </a:xfrm>
          <a:prstGeom prst="rect">
            <a:avLst/>
          </a:prstGeom>
          <a:ln w="9525">
            <a:solidFill>
              <a:srgbClr val="33474B"/>
            </a:solidFill>
            <a:prstDash val="solid"/>
          </a:ln>
        </p:spPr>
      </p:sp>
      <p:sp>
        <p:nvSpPr>
          <p:cNvPr id="19" name="Text 13"/>
          <p:cNvSpPr txBox="1"/>
          <p:nvPr/>
        </p:nvSpPr>
        <p:spPr>
          <a:xfrm>
            <a:off x="8641080" y="5846533"/>
            <a:ext cx="3319272"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Shortlist für einen CEO</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INCENTIVIERUNG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Management-Beteiligung (MEP): Bindung durch Wert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26</a:t>
            </a:r>
            <a:endParaRPr lang="en-US" sz="900" dirty="0"/>
          </a:p>
        </p:txBody>
      </p:sp>
      <p:graphicFrame>
        <p:nvGraphicFramePr>
          <p:cNvPr id="9" name="Chart 0" descr=""/>
          <p:cNvGraphicFramePr/>
          <p:nvPr/>
        </p:nvGraphicFramePr>
        <p:xfrm>
          <a:off x="502920" y="160020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7178040" y="1600200"/>
            <a:ext cx="4507992" cy="1005840"/>
          </a:xfrm>
          <a:prstGeom prst="roundRect">
            <a:avLst>
              <a:gd name="adj" fmla="val 7273"/>
            </a:avLst>
          </a:prstGeom>
          <a:solidFill>
            <a:srgbClr val="161F22"/>
          </a:solidFill>
          <a:ln w="9525">
            <a:solidFill>
              <a:srgbClr val="243033"/>
            </a:solidFill>
            <a:prstDash val="solid"/>
          </a:ln>
        </p:spPr>
      </p:sp>
      <p:sp>
        <p:nvSpPr>
          <p:cNvPr id="11" name="Text 7"/>
          <p:cNvSpPr txBox="1"/>
          <p:nvPr/>
        </p:nvSpPr>
        <p:spPr>
          <a:xfrm>
            <a:off x="7360920" y="1600200"/>
            <a:ext cx="1463040" cy="1005840"/>
          </a:xfrm>
          <a:prstGeom prst="rect">
            <a:avLst/>
          </a:prstGeom>
          <a:noFill/>
          <a:ln/>
        </p:spPr>
        <p:txBody>
          <a:bodyPr wrap="square" lIns="0" tIns="0" rIns="0" bIns="0" rtlCol="0" anchor="ctr"/>
          <a:lstStyle/>
          <a:p>
            <a:pPr algn="l" indent="0" marL="0">
              <a:buNone/>
            </a:pPr>
            <a:r>
              <a:rPr lang="en-US" sz="2800" b="1" dirty="0">
                <a:solidFill>
                  <a:srgbClr val="E3897F"/>
                </a:solidFill>
                <a:latin typeface="Calibri" pitchFamily="34" charset="0"/>
                <a:ea typeface="Calibri" pitchFamily="34" charset="-122"/>
                <a:cs typeface="Calibri" pitchFamily="34" charset="-120"/>
              </a:rPr>
              <a:t>6 %</a:t>
            </a:r>
            <a:endParaRPr lang="en-US" sz="2800" dirty="0"/>
          </a:p>
        </p:txBody>
      </p:sp>
      <p:sp>
        <p:nvSpPr>
          <p:cNvPr id="12" name="Text 8"/>
          <p:cNvSpPr txBox="1"/>
          <p:nvPr/>
        </p:nvSpPr>
        <p:spPr>
          <a:xfrm>
            <a:off x="8869680" y="1600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Sweet Equity an jedem Rückfluss</a:t>
            </a:r>
            <a:endParaRPr lang="en-US" sz="1300" dirty="0"/>
          </a:p>
        </p:txBody>
      </p:sp>
      <p:sp>
        <p:nvSpPr>
          <p:cNvPr id="13" name="Shape 9"/>
          <p:cNvSpPr/>
          <p:nvPr/>
        </p:nvSpPr>
        <p:spPr>
          <a:xfrm>
            <a:off x="7178040" y="2743200"/>
            <a:ext cx="4507992" cy="1005840"/>
          </a:xfrm>
          <a:prstGeom prst="roundRect">
            <a:avLst>
              <a:gd name="adj" fmla="val 7273"/>
            </a:avLst>
          </a:prstGeom>
          <a:solidFill>
            <a:srgbClr val="161F22"/>
          </a:solidFill>
          <a:ln w="9525">
            <a:solidFill>
              <a:srgbClr val="243033"/>
            </a:solidFill>
            <a:prstDash val="solid"/>
          </a:ln>
        </p:spPr>
      </p:sp>
      <p:sp>
        <p:nvSpPr>
          <p:cNvPr id="14" name="Text 10"/>
          <p:cNvSpPr txBox="1"/>
          <p:nvPr/>
        </p:nvSpPr>
        <p:spPr>
          <a:xfrm>
            <a:off x="7360920" y="2743200"/>
            <a:ext cx="1463040" cy="1005840"/>
          </a:xfrm>
          <a:prstGeom prst="rect">
            <a:avLst/>
          </a:prstGeom>
          <a:noFill/>
          <a:ln/>
        </p:spPr>
        <p:txBody>
          <a:bodyPr wrap="square" lIns="0" tIns="0" rIns="0" bIns="0" rtlCol="0" anchor="ctr"/>
          <a:lstStyle/>
          <a:p>
            <a:pPr algn="l" indent="0" marL="0">
              <a:buNone/>
            </a:pPr>
            <a:r>
              <a:rPr lang="en-US" sz="2800" b="1" dirty="0">
                <a:solidFill>
                  <a:srgbClr val="5FC4B1"/>
                </a:solidFill>
                <a:latin typeface="Calibri" pitchFamily="34" charset="0"/>
                <a:ea typeface="Calibri" pitchFamily="34" charset="-122"/>
                <a:cs typeface="Calibri" pitchFamily="34" charset="-120"/>
              </a:rPr>
              <a:t>+0,5</a:t>
            </a:r>
            <a:endParaRPr lang="en-US" sz="2800" dirty="0"/>
          </a:p>
        </p:txBody>
      </p:sp>
      <p:sp>
        <p:nvSpPr>
          <p:cNvPr id="15" name="Text 11"/>
          <p:cNvSpPr txBox="1"/>
          <p:nvPr/>
        </p:nvSpPr>
        <p:spPr>
          <a:xfrm>
            <a:off x="8869680" y="2743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effektives Rating aller Rollen</a:t>
            </a:r>
            <a:endParaRPr lang="en-US" sz="1300" dirty="0"/>
          </a:p>
        </p:txBody>
      </p:sp>
      <p:sp>
        <p:nvSpPr>
          <p:cNvPr id="16" name="Shape 12"/>
          <p:cNvSpPr/>
          <p:nvPr/>
        </p:nvSpPr>
        <p:spPr>
          <a:xfrm>
            <a:off x="7178040" y="3886200"/>
            <a:ext cx="4507992" cy="1005840"/>
          </a:xfrm>
          <a:prstGeom prst="roundRect">
            <a:avLst>
              <a:gd name="adj" fmla="val 7273"/>
            </a:avLst>
          </a:prstGeom>
          <a:solidFill>
            <a:srgbClr val="161F22"/>
          </a:solidFill>
          <a:ln w="9525">
            <a:solidFill>
              <a:srgbClr val="243033"/>
            </a:solidFill>
            <a:prstDash val="solid"/>
          </a:ln>
        </p:spPr>
      </p:sp>
      <p:sp>
        <p:nvSpPr>
          <p:cNvPr id="17" name="Text 13"/>
          <p:cNvSpPr txBox="1"/>
          <p:nvPr/>
        </p:nvSpPr>
        <p:spPr>
          <a:xfrm>
            <a:off x="7360920" y="3886200"/>
            <a:ext cx="1463040" cy="1005840"/>
          </a:xfrm>
          <a:prstGeom prst="rect">
            <a:avLst/>
          </a:prstGeom>
          <a:noFill/>
          <a:ln/>
        </p:spPr>
        <p:txBody>
          <a:bodyPr wrap="square" lIns="0" tIns="0" rIns="0" bIns="0" rtlCol="0" anchor="ctr"/>
          <a:lstStyle/>
          <a:p>
            <a:pPr algn="l" indent="0" marL="0">
              <a:buNone/>
            </a:pPr>
            <a:r>
              <a:rPr lang="en-US" sz="2800" b="1" dirty="0">
                <a:solidFill>
                  <a:srgbClr val="DCB264"/>
                </a:solidFill>
                <a:latin typeface="Calibri" pitchFamily="34" charset="0"/>
                <a:ea typeface="Calibri" pitchFamily="34" charset="-122"/>
                <a:cs typeface="Calibri" pitchFamily="34" charset="-120"/>
              </a:rPr>
              <a:t>0,08×</a:t>
            </a:r>
            <a:endParaRPr lang="en-US" sz="2800" dirty="0"/>
          </a:p>
        </p:txBody>
      </p:sp>
      <p:sp>
        <p:nvSpPr>
          <p:cNvPr id="18" name="Text 14"/>
          <p:cNvSpPr txBox="1"/>
          <p:nvPr/>
        </p:nvSpPr>
        <p:spPr>
          <a:xfrm>
            <a:off x="8869680" y="3886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Restrisiko ab 2,2× MOIC</a:t>
            </a:r>
            <a:endParaRPr lang="en-US" sz="1300" dirty="0"/>
          </a:p>
        </p:txBody>
      </p:sp>
      <p:sp>
        <p:nvSpPr>
          <p:cNvPr id="19" name="Shape 15"/>
          <p:cNvSpPr/>
          <p:nvPr/>
        </p:nvSpPr>
        <p:spPr>
          <a:xfrm>
            <a:off x="7178040" y="5120640"/>
            <a:ext cx="4507992" cy="685800"/>
          </a:xfrm>
          <a:prstGeom prst="roundRect">
            <a:avLst>
              <a:gd name="adj" fmla="val 10667"/>
            </a:avLst>
          </a:prstGeom>
          <a:solidFill>
            <a:srgbClr val="1C282B"/>
          </a:solidFill>
          <a:ln w="12700">
            <a:solidFill>
              <a:srgbClr val="DCB264"/>
            </a:solidFill>
            <a:prstDash val="solid"/>
          </a:ln>
        </p:spPr>
      </p:sp>
      <p:sp>
        <p:nvSpPr>
          <p:cNvPr id="20" name="Text 16"/>
          <p:cNvSpPr txBox="1"/>
          <p:nvPr/>
        </p:nvSpPr>
        <p:spPr>
          <a:xfrm>
            <a:off x="7360920" y="5120640"/>
            <a:ext cx="4142232" cy="68580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Abwerbung je HJ = 0,08 % × Rating² × Faktor</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BUY-AND-BUILD</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Add-on M&amp;A als Mandat: Größe und Preis steuern das Risiko</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27</a:t>
            </a:r>
            <a:endParaRPr lang="en-US" sz="900" dirty="0"/>
          </a:p>
        </p:txBody>
      </p:sp>
      <p:sp>
        <p:nvSpPr>
          <p:cNvPr id="9" name="Text 6"/>
          <p:cNvSpPr txBox="1"/>
          <p:nvPr/>
        </p:nvSpPr>
        <p:spPr>
          <a:xfrm>
            <a:off x="502920" y="1600200"/>
            <a:ext cx="64008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SCHEITERUNGSRISIKO DER INTEGRATION (REFERENZPLATTFORM)</a:t>
            </a:r>
            <a:endParaRPr lang="en-US" sz="1000" dirty="0"/>
          </a:p>
        </p:txBody>
      </p:sp>
      <p:sp>
        <p:nvSpPr>
          <p:cNvPr id="10" name="Text 7"/>
          <p:cNvSpPr txBox="1"/>
          <p:nvPr/>
        </p:nvSpPr>
        <p:spPr>
          <a:xfrm>
            <a:off x="1737360" y="1828800"/>
            <a:ext cx="5120640" cy="22860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Gebot unter der Preisvorstellung des Verkäufers (Turns) →</a:t>
            </a:r>
            <a:endParaRPr lang="en-US" sz="1050" dirty="0"/>
          </a:p>
        </p:txBody>
      </p:sp>
      <p:sp>
        <p:nvSpPr>
          <p:cNvPr id="11" name="Text 8"/>
          <p:cNvSpPr txBox="1"/>
          <p:nvPr/>
        </p:nvSpPr>
        <p:spPr>
          <a:xfrm>
            <a:off x="1737360"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voller Preis</a:t>
            </a:r>
            <a:endParaRPr lang="en-US" sz="1050" dirty="0"/>
          </a:p>
        </p:txBody>
      </p:sp>
      <p:sp>
        <p:nvSpPr>
          <p:cNvPr id="12" name="Text 9"/>
          <p:cNvSpPr txBox="1"/>
          <p:nvPr/>
        </p:nvSpPr>
        <p:spPr>
          <a:xfrm>
            <a:off x="2761488"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−0,5</a:t>
            </a:r>
            <a:endParaRPr lang="en-US" sz="1050" dirty="0"/>
          </a:p>
        </p:txBody>
      </p:sp>
      <p:sp>
        <p:nvSpPr>
          <p:cNvPr id="13" name="Text 10"/>
          <p:cNvSpPr txBox="1"/>
          <p:nvPr/>
        </p:nvSpPr>
        <p:spPr>
          <a:xfrm>
            <a:off x="3785616"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−1,0</a:t>
            </a:r>
            <a:endParaRPr lang="en-US" sz="1050" dirty="0"/>
          </a:p>
        </p:txBody>
      </p:sp>
      <p:sp>
        <p:nvSpPr>
          <p:cNvPr id="14" name="Text 11"/>
          <p:cNvSpPr txBox="1"/>
          <p:nvPr/>
        </p:nvSpPr>
        <p:spPr>
          <a:xfrm>
            <a:off x="4809744"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−1,5</a:t>
            </a:r>
            <a:endParaRPr lang="en-US" sz="1050" dirty="0"/>
          </a:p>
        </p:txBody>
      </p:sp>
      <p:sp>
        <p:nvSpPr>
          <p:cNvPr id="15" name="Text 12"/>
          <p:cNvSpPr txBox="1"/>
          <p:nvPr/>
        </p:nvSpPr>
        <p:spPr>
          <a:xfrm>
            <a:off x="5833872"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−2,0</a:t>
            </a:r>
            <a:endParaRPr lang="en-US" sz="1050" dirty="0"/>
          </a:p>
        </p:txBody>
      </p:sp>
      <p:sp>
        <p:nvSpPr>
          <p:cNvPr id="16" name="Text 13"/>
          <p:cNvSpPr txBox="1"/>
          <p:nvPr/>
        </p:nvSpPr>
        <p:spPr>
          <a:xfrm>
            <a:off x="502920" y="237744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10 % EBITDA</a:t>
            </a:r>
            <a:endParaRPr lang="en-US" sz="1050" dirty="0"/>
          </a:p>
        </p:txBody>
      </p:sp>
      <p:sp>
        <p:nvSpPr>
          <p:cNvPr id="17" name="Shape 14"/>
          <p:cNvSpPr/>
          <p:nvPr/>
        </p:nvSpPr>
        <p:spPr>
          <a:xfrm>
            <a:off x="1764792" y="2404872"/>
            <a:ext cx="969264" cy="365760"/>
          </a:xfrm>
          <a:prstGeom prst="roundRect">
            <a:avLst>
              <a:gd name="adj" fmla="val 10000"/>
            </a:avLst>
          </a:prstGeom>
          <a:solidFill>
            <a:srgbClr val="2F6B61"/>
          </a:solidFill>
          <a:ln/>
        </p:spPr>
      </p:sp>
      <p:sp>
        <p:nvSpPr>
          <p:cNvPr id="18" name="Text 15"/>
          <p:cNvSpPr txBox="1"/>
          <p:nvPr/>
        </p:nvSpPr>
        <p:spPr>
          <a:xfrm>
            <a:off x="1737360"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2 %</a:t>
            </a:r>
            <a:endParaRPr lang="en-US" sz="1200" dirty="0"/>
          </a:p>
        </p:txBody>
      </p:sp>
      <p:sp>
        <p:nvSpPr>
          <p:cNvPr id="19" name="Shape 16"/>
          <p:cNvSpPr/>
          <p:nvPr/>
        </p:nvSpPr>
        <p:spPr>
          <a:xfrm>
            <a:off x="2788920" y="2404872"/>
            <a:ext cx="969264" cy="365760"/>
          </a:xfrm>
          <a:prstGeom prst="roundRect">
            <a:avLst>
              <a:gd name="adj" fmla="val 10000"/>
            </a:avLst>
          </a:prstGeom>
          <a:solidFill>
            <a:srgbClr val="2F6B61"/>
          </a:solidFill>
          <a:ln/>
        </p:spPr>
      </p:sp>
      <p:sp>
        <p:nvSpPr>
          <p:cNvPr id="20" name="Text 17"/>
          <p:cNvSpPr txBox="1"/>
          <p:nvPr/>
        </p:nvSpPr>
        <p:spPr>
          <a:xfrm>
            <a:off x="2761488"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4 %</a:t>
            </a:r>
            <a:endParaRPr lang="en-US" sz="1200" dirty="0"/>
          </a:p>
        </p:txBody>
      </p:sp>
      <p:sp>
        <p:nvSpPr>
          <p:cNvPr id="21" name="Shape 18"/>
          <p:cNvSpPr/>
          <p:nvPr/>
        </p:nvSpPr>
        <p:spPr>
          <a:xfrm>
            <a:off x="3813048" y="2404872"/>
            <a:ext cx="969264" cy="365760"/>
          </a:xfrm>
          <a:prstGeom prst="roundRect">
            <a:avLst>
              <a:gd name="adj" fmla="val 10000"/>
            </a:avLst>
          </a:prstGeom>
          <a:solidFill>
            <a:srgbClr val="2F6B61"/>
          </a:solidFill>
          <a:ln/>
        </p:spPr>
      </p:sp>
      <p:sp>
        <p:nvSpPr>
          <p:cNvPr id="22" name="Text 19"/>
          <p:cNvSpPr txBox="1"/>
          <p:nvPr/>
        </p:nvSpPr>
        <p:spPr>
          <a:xfrm>
            <a:off x="3785616"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13 %</a:t>
            </a:r>
            <a:endParaRPr lang="en-US" sz="1200" dirty="0"/>
          </a:p>
        </p:txBody>
      </p:sp>
      <p:sp>
        <p:nvSpPr>
          <p:cNvPr id="23" name="Shape 20"/>
          <p:cNvSpPr/>
          <p:nvPr/>
        </p:nvSpPr>
        <p:spPr>
          <a:xfrm>
            <a:off x="4837176" y="2404872"/>
            <a:ext cx="969264" cy="365760"/>
          </a:xfrm>
          <a:prstGeom prst="roundRect">
            <a:avLst>
              <a:gd name="adj" fmla="val 10000"/>
            </a:avLst>
          </a:prstGeom>
          <a:solidFill>
            <a:srgbClr val="6B6A3A"/>
          </a:solidFill>
          <a:ln/>
        </p:spPr>
      </p:sp>
      <p:sp>
        <p:nvSpPr>
          <p:cNvPr id="24" name="Text 21"/>
          <p:cNvSpPr txBox="1"/>
          <p:nvPr/>
        </p:nvSpPr>
        <p:spPr>
          <a:xfrm>
            <a:off x="4809744"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22 %</a:t>
            </a:r>
            <a:endParaRPr lang="en-US" sz="1200" dirty="0"/>
          </a:p>
        </p:txBody>
      </p:sp>
      <p:sp>
        <p:nvSpPr>
          <p:cNvPr id="25" name="Shape 22"/>
          <p:cNvSpPr/>
          <p:nvPr/>
        </p:nvSpPr>
        <p:spPr>
          <a:xfrm>
            <a:off x="5861304" y="2404872"/>
            <a:ext cx="969264" cy="365760"/>
          </a:xfrm>
          <a:prstGeom prst="roundRect">
            <a:avLst>
              <a:gd name="adj" fmla="val 10000"/>
            </a:avLst>
          </a:prstGeom>
          <a:solidFill>
            <a:srgbClr val="7A4B35"/>
          </a:solidFill>
          <a:ln/>
        </p:spPr>
      </p:sp>
      <p:sp>
        <p:nvSpPr>
          <p:cNvPr id="26" name="Text 23"/>
          <p:cNvSpPr txBox="1"/>
          <p:nvPr/>
        </p:nvSpPr>
        <p:spPr>
          <a:xfrm>
            <a:off x="5833872"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31 %</a:t>
            </a:r>
            <a:endParaRPr lang="en-US" sz="1200" dirty="0"/>
          </a:p>
        </p:txBody>
      </p:sp>
      <p:sp>
        <p:nvSpPr>
          <p:cNvPr id="27" name="Text 24"/>
          <p:cNvSpPr txBox="1"/>
          <p:nvPr/>
        </p:nvSpPr>
        <p:spPr>
          <a:xfrm>
            <a:off x="502920" y="2798064"/>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20 % EBITDA</a:t>
            </a:r>
            <a:endParaRPr lang="en-US" sz="1050" dirty="0"/>
          </a:p>
        </p:txBody>
      </p:sp>
      <p:sp>
        <p:nvSpPr>
          <p:cNvPr id="28" name="Shape 25"/>
          <p:cNvSpPr/>
          <p:nvPr/>
        </p:nvSpPr>
        <p:spPr>
          <a:xfrm>
            <a:off x="1764792" y="2825496"/>
            <a:ext cx="969264" cy="365760"/>
          </a:xfrm>
          <a:prstGeom prst="roundRect">
            <a:avLst>
              <a:gd name="adj" fmla="val 10000"/>
            </a:avLst>
          </a:prstGeom>
          <a:solidFill>
            <a:srgbClr val="2F6B61"/>
          </a:solidFill>
          <a:ln/>
        </p:spPr>
      </p:sp>
      <p:sp>
        <p:nvSpPr>
          <p:cNvPr id="29" name="Text 26"/>
          <p:cNvSpPr txBox="1"/>
          <p:nvPr/>
        </p:nvSpPr>
        <p:spPr>
          <a:xfrm>
            <a:off x="1737360"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5 %</a:t>
            </a:r>
            <a:endParaRPr lang="en-US" sz="1200" dirty="0"/>
          </a:p>
        </p:txBody>
      </p:sp>
      <p:sp>
        <p:nvSpPr>
          <p:cNvPr id="30" name="Shape 27"/>
          <p:cNvSpPr/>
          <p:nvPr/>
        </p:nvSpPr>
        <p:spPr>
          <a:xfrm>
            <a:off x="2788920" y="2825496"/>
            <a:ext cx="969264" cy="365760"/>
          </a:xfrm>
          <a:prstGeom prst="roundRect">
            <a:avLst>
              <a:gd name="adj" fmla="val 10000"/>
            </a:avLst>
          </a:prstGeom>
          <a:solidFill>
            <a:srgbClr val="2F6B61"/>
          </a:solidFill>
          <a:ln/>
        </p:spPr>
      </p:sp>
      <p:sp>
        <p:nvSpPr>
          <p:cNvPr id="31" name="Text 28"/>
          <p:cNvSpPr txBox="1"/>
          <p:nvPr/>
        </p:nvSpPr>
        <p:spPr>
          <a:xfrm>
            <a:off x="2761488"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14 %</a:t>
            </a:r>
            <a:endParaRPr lang="en-US" sz="1200" dirty="0"/>
          </a:p>
        </p:txBody>
      </p:sp>
      <p:sp>
        <p:nvSpPr>
          <p:cNvPr id="32" name="Shape 29"/>
          <p:cNvSpPr/>
          <p:nvPr/>
        </p:nvSpPr>
        <p:spPr>
          <a:xfrm>
            <a:off x="3813048" y="2825496"/>
            <a:ext cx="969264" cy="365760"/>
          </a:xfrm>
          <a:prstGeom prst="roundRect">
            <a:avLst>
              <a:gd name="adj" fmla="val 10000"/>
            </a:avLst>
          </a:prstGeom>
          <a:solidFill>
            <a:srgbClr val="6B6A3A"/>
          </a:solidFill>
          <a:ln/>
        </p:spPr>
      </p:sp>
      <p:sp>
        <p:nvSpPr>
          <p:cNvPr id="33" name="Text 30"/>
          <p:cNvSpPr txBox="1"/>
          <p:nvPr/>
        </p:nvSpPr>
        <p:spPr>
          <a:xfrm>
            <a:off x="3785616"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23 %</a:t>
            </a:r>
            <a:endParaRPr lang="en-US" sz="1200" dirty="0"/>
          </a:p>
        </p:txBody>
      </p:sp>
      <p:sp>
        <p:nvSpPr>
          <p:cNvPr id="34" name="Shape 31"/>
          <p:cNvSpPr/>
          <p:nvPr/>
        </p:nvSpPr>
        <p:spPr>
          <a:xfrm>
            <a:off x="4837176" y="2825496"/>
            <a:ext cx="969264" cy="365760"/>
          </a:xfrm>
          <a:prstGeom prst="roundRect">
            <a:avLst>
              <a:gd name="adj" fmla="val 10000"/>
            </a:avLst>
          </a:prstGeom>
          <a:solidFill>
            <a:srgbClr val="7A4B35"/>
          </a:solidFill>
          <a:ln/>
        </p:spPr>
      </p:sp>
      <p:sp>
        <p:nvSpPr>
          <p:cNvPr id="35" name="Text 32"/>
          <p:cNvSpPr txBox="1"/>
          <p:nvPr/>
        </p:nvSpPr>
        <p:spPr>
          <a:xfrm>
            <a:off x="4809744"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32 %</a:t>
            </a:r>
            <a:endParaRPr lang="en-US" sz="1200" dirty="0"/>
          </a:p>
        </p:txBody>
      </p:sp>
      <p:sp>
        <p:nvSpPr>
          <p:cNvPr id="36" name="Shape 33"/>
          <p:cNvSpPr/>
          <p:nvPr/>
        </p:nvSpPr>
        <p:spPr>
          <a:xfrm>
            <a:off x="5861304" y="2825496"/>
            <a:ext cx="969264" cy="365760"/>
          </a:xfrm>
          <a:prstGeom prst="roundRect">
            <a:avLst>
              <a:gd name="adj" fmla="val 10000"/>
            </a:avLst>
          </a:prstGeom>
          <a:solidFill>
            <a:srgbClr val="7A4B35"/>
          </a:solidFill>
          <a:ln/>
        </p:spPr>
      </p:sp>
      <p:sp>
        <p:nvSpPr>
          <p:cNvPr id="37" name="Text 34"/>
          <p:cNvSpPr txBox="1"/>
          <p:nvPr/>
        </p:nvSpPr>
        <p:spPr>
          <a:xfrm>
            <a:off x="5833872"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41 %</a:t>
            </a:r>
            <a:endParaRPr lang="en-US" sz="1200" dirty="0"/>
          </a:p>
        </p:txBody>
      </p:sp>
      <p:sp>
        <p:nvSpPr>
          <p:cNvPr id="38" name="Text 35"/>
          <p:cNvSpPr txBox="1"/>
          <p:nvPr/>
        </p:nvSpPr>
        <p:spPr>
          <a:xfrm>
            <a:off x="502920" y="3218688"/>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25 % EBITDA</a:t>
            </a:r>
            <a:endParaRPr lang="en-US" sz="1050" dirty="0"/>
          </a:p>
        </p:txBody>
      </p:sp>
      <p:sp>
        <p:nvSpPr>
          <p:cNvPr id="39" name="Shape 36"/>
          <p:cNvSpPr/>
          <p:nvPr/>
        </p:nvSpPr>
        <p:spPr>
          <a:xfrm>
            <a:off x="1764792" y="3246120"/>
            <a:ext cx="969264" cy="365760"/>
          </a:xfrm>
          <a:prstGeom prst="roundRect">
            <a:avLst>
              <a:gd name="adj" fmla="val 10000"/>
            </a:avLst>
          </a:prstGeom>
          <a:solidFill>
            <a:srgbClr val="2F6B61"/>
          </a:solidFill>
          <a:ln/>
        </p:spPr>
      </p:sp>
      <p:sp>
        <p:nvSpPr>
          <p:cNvPr id="40" name="Text 37"/>
          <p:cNvSpPr txBox="1"/>
          <p:nvPr/>
        </p:nvSpPr>
        <p:spPr>
          <a:xfrm>
            <a:off x="1737360"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10 %</a:t>
            </a:r>
            <a:endParaRPr lang="en-US" sz="1200" dirty="0"/>
          </a:p>
        </p:txBody>
      </p:sp>
      <p:sp>
        <p:nvSpPr>
          <p:cNvPr id="41" name="Shape 38"/>
          <p:cNvSpPr/>
          <p:nvPr/>
        </p:nvSpPr>
        <p:spPr>
          <a:xfrm>
            <a:off x="2788920" y="3246120"/>
            <a:ext cx="969264" cy="365760"/>
          </a:xfrm>
          <a:prstGeom prst="roundRect">
            <a:avLst>
              <a:gd name="adj" fmla="val 10000"/>
            </a:avLst>
          </a:prstGeom>
          <a:solidFill>
            <a:srgbClr val="6B6A3A"/>
          </a:solidFill>
          <a:ln/>
        </p:spPr>
      </p:sp>
      <p:sp>
        <p:nvSpPr>
          <p:cNvPr id="42" name="Text 39"/>
          <p:cNvSpPr txBox="1"/>
          <p:nvPr/>
        </p:nvSpPr>
        <p:spPr>
          <a:xfrm>
            <a:off x="2761488"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19 %</a:t>
            </a:r>
            <a:endParaRPr lang="en-US" sz="1200" dirty="0"/>
          </a:p>
        </p:txBody>
      </p:sp>
      <p:sp>
        <p:nvSpPr>
          <p:cNvPr id="43" name="Shape 40"/>
          <p:cNvSpPr/>
          <p:nvPr/>
        </p:nvSpPr>
        <p:spPr>
          <a:xfrm>
            <a:off x="3813048" y="3246120"/>
            <a:ext cx="969264" cy="365760"/>
          </a:xfrm>
          <a:prstGeom prst="roundRect">
            <a:avLst>
              <a:gd name="adj" fmla="val 10000"/>
            </a:avLst>
          </a:prstGeom>
          <a:solidFill>
            <a:srgbClr val="6B6A3A"/>
          </a:solidFill>
          <a:ln/>
        </p:spPr>
      </p:sp>
      <p:sp>
        <p:nvSpPr>
          <p:cNvPr id="44" name="Text 41"/>
          <p:cNvSpPr txBox="1"/>
          <p:nvPr/>
        </p:nvSpPr>
        <p:spPr>
          <a:xfrm>
            <a:off x="3785616"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28 %</a:t>
            </a:r>
            <a:endParaRPr lang="en-US" sz="1200" dirty="0"/>
          </a:p>
        </p:txBody>
      </p:sp>
      <p:sp>
        <p:nvSpPr>
          <p:cNvPr id="45" name="Shape 42"/>
          <p:cNvSpPr/>
          <p:nvPr/>
        </p:nvSpPr>
        <p:spPr>
          <a:xfrm>
            <a:off x="4837176" y="3246120"/>
            <a:ext cx="969264" cy="365760"/>
          </a:xfrm>
          <a:prstGeom prst="roundRect">
            <a:avLst>
              <a:gd name="adj" fmla="val 10000"/>
            </a:avLst>
          </a:prstGeom>
          <a:solidFill>
            <a:srgbClr val="7A4B35"/>
          </a:solidFill>
          <a:ln/>
        </p:spPr>
      </p:sp>
      <p:sp>
        <p:nvSpPr>
          <p:cNvPr id="46" name="Text 43"/>
          <p:cNvSpPr txBox="1"/>
          <p:nvPr/>
        </p:nvSpPr>
        <p:spPr>
          <a:xfrm>
            <a:off x="4809744"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37 %</a:t>
            </a:r>
            <a:endParaRPr lang="en-US" sz="1200" dirty="0"/>
          </a:p>
        </p:txBody>
      </p:sp>
      <p:sp>
        <p:nvSpPr>
          <p:cNvPr id="47" name="Shape 44"/>
          <p:cNvSpPr/>
          <p:nvPr/>
        </p:nvSpPr>
        <p:spPr>
          <a:xfrm>
            <a:off x="5861304" y="3246120"/>
            <a:ext cx="969264" cy="365760"/>
          </a:xfrm>
          <a:prstGeom prst="roundRect">
            <a:avLst>
              <a:gd name="adj" fmla="val 10000"/>
            </a:avLst>
          </a:prstGeom>
          <a:solidFill>
            <a:srgbClr val="7A4B35"/>
          </a:solidFill>
          <a:ln/>
        </p:spPr>
      </p:sp>
      <p:sp>
        <p:nvSpPr>
          <p:cNvPr id="48" name="Text 45"/>
          <p:cNvSpPr txBox="1"/>
          <p:nvPr/>
        </p:nvSpPr>
        <p:spPr>
          <a:xfrm>
            <a:off x="5833872"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46 %</a:t>
            </a:r>
            <a:endParaRPr lang="en-US" sz="1200" dirty="0"/>
          </a:p>
        </p:txBody>
      </p:sp>
      <p:sp>
        <p:nvSpPr>
          <p:cNvPr id="49" name="Text 46"/>
          <p:cNvSpPr txBox="1"/>
          <p:nvPr/>
        </p:nvSpPr>
        <p:spPr>
          <a:xfrm>
            <a:off x="502920" y="3639312"/>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30 % EBITDA</a:t>
            </a:r>
            <a:endParaRPr lang="en-US" sz="1050" dirty="0"/>
          </a:p>
        </p:txBody>
      </p:sp>
      <p:sp>
        <p:nvSpPr>
          <p:cNvPr id="50" name="Shape 47"/>
          <p:cNvSpPr/>
          <p:nvPr/>
        </p:nvSpPr>
        <p:spPr>
          <a:xfrm>
            <a:off x="1764792" y="3666744"/>
            <a:ext cx="969264" cy="365760"/>
          </a:xfrm>
          <a:prstGeom prst="roundRect">
            <a:avLst>
              <a:gd name="adj" fmla="val 10000"/>
            </a:avLst>
          </a:prstGeom>
          <a:solidFill>
            <a:srgbClr val="6B6A3A"/>
          </a:solidFill>
          <a:ln/>
        </p:spPr>
      </p:sp>
      <p:sp>
        <p:nvSpPr>
          <p:cNvPr id="51" name="Text 48"/>
          <p:cNvSpPr txBox="1"/>
          <p:nvPr/>
        </p:nvSpPr>
        <p:spPr>
          <a:xfrm>
            <a:off x="1737360"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15 %</a:t>
            </a:r>
            <a:endParaRPr lang="en-US" sz="1200" dirty="0"/>
          </a:p>
        </p:txBody>
      </p:sp>
      <p:sp>
        <p:nvSpPr>
          <p:cNvPr id="52" name="Shape 49"/>
          <p:cNvSpPr/>
          <p:nvPr/>
        </p:nvSpPr>
        <p:spPr>
          <a:xfrm>
            <a:off x="2788920" y="3666744"/>
            <a:ext cx="969264" cy="365760"/>
          </a:xfrm>
          <a:prstGeom prst="roundRect">
            <a:avLst>
              <a:gd name="adj" fmla="val 10000"/>
            </a:avLst>
          </a:prstGeom>
          <a:solidFill>
            <a:srgbClr val="6B6A3A"/>
          </a:solidFill>
          <a:ln/>
        </p:spPr>
      </p:sp>
      <p:sp>
        <p:nvSpPr>
          <p:cNvPr id="53" name="Text 50"/>
          <p:cNvSpPr txBox="1"/>
          <p:nvPr/>
        </p:nvSpPr>
        <p:spPr>
          <a:xfrm>
            <a:off x="2761488"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24 %</a:t>
            </a:r>
            <a:endParaRPr lang="en-US" sz="1200" dirty="0"/>
          </a:p>
        </p:txBody>
      </p:sp>
      <p:sp>
        <p:nvSpPr>
          <p:cNvPr id="54" name="Shape 51"/>
          <p:cNvSpPr/>
          <p:nvPr/>
        </p:nvSpPr>
        <p:spPr>
          <a:xfrm>
            <a:off x="3813048" y="3666744"/>
            <a:ext cx="969264" cy="365760"/>
          </a:xfrm>
          <a:prstGeom prst="roundRect">
            <a:avLst>
              <a:gd name="adj" fmla="val 10000"/>
            </a:avLst>
          </a:prstGeom>
          <a:solidFill>
            <a:srgbClr val="7A4B35"/>
          </a:solidFill>
          <a:ln/>
        </p:spPr>
      </p:sp>
      <p:sp>
        <p:nvSpPr>
          <p:cNvPr id="55" name="Text 52"/>
          <p:cNvSpPr txBox="1"/>
          <p:nvPr/>
        </p:nvSpPr>
        <p:spPr>
          <a:xfrm>
            <a:off x="3785616"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33 %</a:t>
            </a:r>
            <a:endParaRPr lang="en-US" sz="1200" dirty="0"/>
          </a:p>
        </p:txBody>
      </p:sp>
      <p:sp>
        <p:nvSpPr>
          <p:cNvPr id="56" name="Shape 53"/>
          <p:cNvSpPr/>
          <p:nvPr/>
        </p:nvSpPr>
        <p:spPr>
          <a:xfrm>
            <a:off x="4837176" y="3666744"/>
            <a:ext cx="969264" cy="365760"/>
          </a:xfrm>
          <a:prstGeom prst="roundRect">
            <a:avLst>
              <a:gd name="adj" fmla="val 10000"/>
            </a:avLst>
          </a:prstGeom>
          <a:solidFill>
            <a:srgbClr val="7A4B35"/>
          </a:solidFill>
          <a:ln/>
        </p:spPr>
      </p:sp>
      <p:sp>
        <p:nvSpPr>
          <p:cNvPr id="57" name="Text 54"/>
          <p:cNvSpPr txBox="1"/>
          <p:nvPr/>
        </p:nvSpPr>
        <p:spPr>
          <a:xfrm>
            <a:off x="4809744"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42 %</a:t>
            </a:r>
            <a:endParaRPr lang="en-US" sz="1200" dirty="0"/>
          </a:p>
        </p:txBody>
      </p:sp>
      <p:sp>
        <p:nvSpPr>
          <p:cNvPr id="58" name="Shape 55"/>
          <p:cNvSpPr/>
          <p:nvPr/>
        </p:nvSpPr>
        <p:spPr>
          <a:xfrm>
            <a:off x="5861304" y="3666744"/>
            <a:ext cx="969264" cy="365760"/>
          </a:xfrm>
          <a:prstGeom prst="roundRect">
            <a:avLst>
              <a:gd name="adj" fmla="val 10000"/>
            </a:avLst>
          </a:prstGeom>
          <a:solidFill>
            <a:srgbClr val="7A3434"/>
          </a:solidFill>
          <a:ln/>
        </p:spPr>
      </p:sp>
      <p:sp>
        <p:nvSpPr>
          <p:cNvPr id="59" name="Text 56"/>
          <p:cNvSpPr txBox="1"/>
          <p:nvPr/>
        </p:nvSpPr>
        <p:spPr>
          <a:xfrm>
            <a:off x="5833872"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51 %</a:t>
            </a:r>
            <a:endParaRPr lang="en-US" sz="1200" dirty="0"/>
          </a:p>
        </p:txBody>
      </p:sp>
      <p:sp>
        <p:nvSpPr>
          <p:cNvPr id="60" name="Text 57"/>
          <p:cNvSpPr txBox="1"/>
          <p:nvPr/>
        </p:nvSpPr>
        <p:spPr>
          <a:xfrm>
            <a:off x="502920" y="4059936"/>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40 % EBITDA</a:t>
            </a:r>
            <a:endParaRPr lang="en-US" sz="1050" dirty="0"/>
          </a:p>
        </p:txBody>
      </p:sp>
      <p:sp>
        <p:nvSpPr>
          <p:cNvPr id="61" name="Shape 58"/>
          <p:cNvSpPr/>
          <p:nvPr/>
        </p:nvSpPr>
        <p:spPr>
          <a:xfrm>
            <a:off x="1764792" y="4087368"/>
            <a:ext cx="969264" cy="365760"/>
          </a:xfrm>
          <a:prstGeom prst="roundRect">
            <a:avLst>
              <a:gd name="adj" fmla="val 10000"/>
            </a:avLst>
          </a:prstGeom>
          <a:solidFill>
            <a:srgbClr val="6B6A3A"/>
          </a:solidFill>
          <a:ln/>
        </p:spPr>
      </p:sp>
      <p:sp>
        <p:nvSpPr>
          <p:cNvPr id="62" name="Text 59"/>
          <p:cNvSpPr txBox="1"/>
          <p:nvPr/>
        </p:nvSpPr>
        <p:spPr>
          <a:xfrm>
            <a:off x="1737360"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25 %</a:t>
            </a:r>
            <a:endParaRPr lang="en-US" sz="1200" dirty="0"/>
          </a:p>
        </p:txBody>
      </p:sp>
      <p:sp>
        <p:nvSpPr>
          <p:cNvPr id="63" name="Shape 60"/>
          <p:cNvSpPr/>
          <p:nvPr/>
        </p:nvSpPr>
        <p:spPr>
          <a:xfrm>
            <a:off x="2788920" y="4087368"/>
            <a:ext cx="969264" cy="365760"/>
          </a:xfrm>
          <a:prstGeom prst="roundRect">
            <a:avLst>
              <a:gd name="adj" fmla="val 10000"/>
            </a:avLst>
          </a:prstGeom>
          <a:solidFill>
            <a:srgbClr val="7A4B35"/>
          </a:solidFill>
          <a:ln/>
        </p:spPr>
      </p:sp>
      <p:sp>
        <p:nvSpPr>
          <p:cNvPr id="64" name="Text 61"/>
          <p:cNvSpPr txBox="1"/>
          <p:nvPr/>
        </p:nvSpPr>
        <p:spPr>
          <a:xfrm>
            <a:off x="2761488"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34 %</a:t>
            </a:r>
            <a:endParaRPr lang="en-US" sz="1200" dirty="0"/>
          </a:p>
        </p:txBody>
      </p:sp>
      <p:sp>
        <p:nvSpPr>
          <p:cNvPr id="65" name="Shape 62"/>
          <p:cNvSpPr/>
          <p:nvPr/>
        </p:nvSpPr>
        <p:spPr>
          <a:xfrm>
            <a:off x="3813048" y="4087368"/>
            <a:ext cx="969264" cy="365760"/>
          </a:xfrm>
          <a:prstGeom prst="roundRect">
            <a:avLst>
              <a:gd name="adj" fmla="val 10000"/>
            </a:avLst>
          </a:prstGeom>
          <a:solidFill>
            <a:srgbClr val="7A4B35"/>
          </a:solidFill>
          <a:ln/>
        </p:spPr>
      </p:sp>
      <p:sp>
        <p:nvSpPr>
          <p:cNvPr id="66" name="Text 63"/>
          <p:cNvSpPr txBox="1"/>
          <p:nvPr/>
        </p:nvSpPr>
        <p:spPr>
          <a:xfrm>
            <a:off x="3785616"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43 %</a:t>
            </a:r>
            <a:endParaRPr lang="en-US" sz="1200" dirty="0"/>
          </a:p>
        </p:txBody>
      </p:sp>
      <p:sp>
        <p:nvSpPr>
          <p:cNvPr id="67" name="Shape 64"/>
          <p:cNvSpPr/>
          <p:nvPr/>
        </p:nvSpPr>
        <p:spPr>
          <a:xfrm>
            <a:off x="4837176" y="4087368"/>
            <a:ext cx="969264" cy="365760"/>
          </a:xfrm>
          <a:prstGeom prst="roundRect">
            <a:avLst>
              <a:gd name="adj" fmla="val 10000"/>
            </a:avLst>
          </a:prstGeom>
          <a:solidFill>
            <a:srgbClr val="7A3434"/>
          </a:solidFill>
          <a:ln/>
        </p:spPr>
      </p:sp>
      <p:sp>
        <p:nvSpPr>
          <p:cNvPr id="68" name="Text 65"/>
          <p:cNvSpPr txBox="1"/>
          <p:nvPr/>
        </p:nvSpPr>
        <p:spPr>
          <a:xfrm>
            <a:off x="4809744"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52 %</a:t>
            </a:r>
            <a:endParaRPr lang="en-US" sz="1200" dirty="0"/>
          </a:p>
        </p:txBody>
      </p:sp>
      <p:sp>
        <p:nvSpPr>
          <p:cNvPr id="69" name="Shape 66"/>
          <p:cNvSpPr/>
          <p:nvPr/>
        </p:nvSpPr>
        <p:spPr>
          <a:xfrm>
            <a:off x="5861304" y="4087368"/>
            <a:ext cx="969264" cy="365760"/>
          </a:xfrm>
          <a:prstGeom prst="roundRect">
            <a:avLst>
              <a:gd name="adj" fmla="val 10000"/>
            </a:avLst>
          </a:prstGeom>
          <a:solidFill>
            <a:srgbClr val="7A3434"/>
          </a:solidFill>
          <a:ln/>
        </p:spPr>
      </p:sp>
      <p:sp>
        <p:nvSpPr>
          <p:cNvPr id="70" name="Text 67"/>
          <p:cNvSpPr txBox="1"/>
          <p:nvPr/>
        </p:nvSpPr>
        <p:spPr>
          <a:xfrm>
            <a:off x="5833872"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61 %</a:t>
            </a:r>
            <a:endParaRPr lang="en-US" sz="1200" dirty="0"/>
          </a:p>
        </p:txBody>
      </p:sp>
      <p:sp>
        <p:nvSpPr>
          <p:cNvPr id="71" name="Text 68"/>
          <p:cNvSpPr txBox="1"/>
          <p:nvPr/>
        </p:nvSpPr>
        <p:spPr>
          <a:xfrm>
            <a:off x="502920" y="448056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50 % EBITDA</a:t>
            </a:r>
            <a:endParaRPr lang="en-US" sz="1050" dirty="0"/>
          </a:p>
        </p:txBody>
      </p:sp>
      <p:sp>
        <p:nvSpPr>
          <p:cNvPr id="72" name="Shape 69"/>
          <p:cNvSpPr/>
          <p:nvPr/>
        </p:nvSpPr>
        <p:spPr>
          <a:xfrm>
            <a:off x="1764792" y="4507992"/>
            <a:ext cx="969264" cy="365760"/>
          </a:xfrm>
          <a:prstGeom prst="roundRect">
            <a:avLst>
              <a:gd name="adj" fmla="val 10000"/>
            </a:avLst>
          </a:prstGeom>
          <a:solidFill>
            <a:srgbClr val="7A4B35"/>
          </a:solidFill>
          <a:ln/>
        </p:spPr>
      </p:sp>
      <p:sp>
        <p:nvSpPr>
          <p:cNvPr id="73" name="Text 70"/>
          <p:cNvSpPr txBox="1"/>
          <p:nvPr/>
        </p:nvSpPr>
        <p:spPr>
          <a:xfrm>
            <a:off x="1737360"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35 %</a:t>
            </a:r>
            <a:endParaRPr lang="en-US" sz="1200" dirty="0"/>
          </a:p>
        </p:txBody>
      </p:sp>
      <p:sp>
        <p:nvSpPr>
          <p:cNvPr id="74" name="Shape 71"/>
          <p:cNvSpPr/>
          <p:nvPr/>
        </p:nvSpPr>
        <p:spPr>
          <a:xfrm>
            <a:off x="2788920" y="4507992"/>
            <a:ext cx="969264" cy="365760"/>
          </a:xfrm>
          <a:prstGeom prst="roundRect">
            <a:avLst>
              <a:gd name="adj" fmla="val 10000"/>
            </a:avLst>
          </a:prstGeom>
          <a:solidFill>
            <a:srgbClr val="7A4B35"/>
          </a:solidFill>
          <a:ln/>
        </p:spPr>
      </p:sp>
      <p:sp>
        <p:nvSpPr>
          <p:cNvPr id="75" name="Text 72"/>
          <p:cNvSpPr txBox="1"/>
          <p:nvPr/>
        </p:nvSpPr>
        <p:spPr>
          <a:xfrm>
            <a:off x="2761488"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44 %</a:t>
            </a:r>
            <a:endParaRPr lang="en-US" sz="1200" dirty="0"/>
          </a:p>
        </p:txBody>
      </p:sp>
      <p:sp>
        <p:nvSpPr>
          <p:cNvPr id="76" name="Shape 73"/>
          <p:cNvSpPr/>
          <p:nvPr/>
        </p:nvSpPr>
        <p:spPr>
          <a:xfrm>
            <a:off x="3813048" y="4507992"/>
            <a:ext cx="969264" cy="365760"/>
          </a:xfrm>
          <a:prstGeom prst="roundRect">
            <a:avLst>
              <a:gd name="adj" fmla="val 10000"/>
            </a:avLst>
          </a:prstGeom>
          <a:solidFill>
            <a:srgbClr val="7A3434"/>
          </a:solidFill>
          <a:ln/>
        </p:spPr>
      </p:sp>
      <p:sp>
        <p:nvSpPr>
          <p:cNvPr id="77" name="Text 74"/>
          <p:cNvSpPr txBox="1"/>
          <p:nvPr/>
        </p:nvSpPr>
        <p:spPr>
          <a:xfrm>
            <a:off x="3785616"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53 %</a:t>
            </a:r>
            <a:endParaRPr lang="en-US" sz="1200" dirty="0"/>
          </a:p>
        </p:txBody>
      </p:sp>
      <p:sp>
        <p:nvSpPr>
          <p:cNvPr id="78" name="Shape 75"/>
          <p:cNvSpPr/>
          <p:nvPr/>
        </p:nvSpPr>
        <p:spPr>
          <a:xfrm>
            <a:off x="4837176" y="4507992"/>
            <a:ext cx="969264" cy="365760"/>
          </a:xfrm>
          <a:prstGeom prst="roundRect">
            <a:avLst>
              <a:gd name="adj" fmla="val 10000"/>
            </a:avLst>
          </a:prstGeom>
          <a:solidFill>
            <a:srgbClr val="7A3434"/>
          </a:solidFill>
          <a:ln/>
        </p:spPr>
      </p:sp>
      <p:sp>
        <p:nvSpPr>
          <p:cNvPr id="79" name="Text 76"/>
          <p:cNvSpPr txBox="1"/>
          <p:nvPr/>
        </p:nvSpPr>
        <p:spPr>
          <a:xfrm>
            <a:off x="4809744"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62 %</a:t>
            </a:r>
            <a:endParaRPr lang="en-US" sz="1200" dirty="0"/>
          </a:p>
        </p:txBody>
      </p:sp>
      <p:sp>
        <p:nvSpPr>
          <p:cNvPr id="80" name="Shape 77"/>
          <p:cNvSpPr/>
          <p:nvPr/>
        </p:nvSpPr>
        <p:spPr>
          <a:xfrm>
            <a:off x="5861304" y="4507992"/>
            <a:ext cx="969264" cy="365760"/>
          </a:xfrm>
          <a:prstGeom prst="roundRect">
            <a:avLst>
              <a:gd name="adj" fmla="val 10000"/>
            </a:avLst>
          </a:prstGeom>
          <a:solidFill>
            <a:srgbClr val="7A3434"/>
          </a:solidFill>
          <a:ln/>
        </p:spPr>
      </p:sp>
      <p:sp>
        <p:nvSpPr>
          <p:cNvPr id="81" name="Text 78"/>
          <p:cNvSpPr txBox="1"/>
          <p:nvPr/>
        </p:nvSpPr>
        <p:spPr>
          <a:xfrm>
            <a:off x="5833872"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71 %</a:t>
            </a:r>
            <a:endParaRPr lang="en-US" sz="1200" dirty="0"/>
          </a:p>
        </p:txBody>
      </p:sp>
      <p:sp>
        <p:nvSpPr>
          <p:cNvPr id="82" name="Text 79"/>
          <p:cNvSpPr txBox="1"/>
          <p:nvPr/>
        </p:nvSpPr>
        <p:spPr>
          <a:xfrm>
            <a:off x="502920" y="1828800"/>
            <a:ext cx="1188720" cy="228600"/>
          </a:xfrm>
          <a:prstGeom prst="rect">
            <a:avLst/>
          </a:prstGeom>
          <a:noFill/>
          <a:ln/>
        </p:spPr>
        <p:txBody>
          <a:bodyPr wrap="square" lIns="0" tIns="0" rIns="0" bIns="0" rtlCol="0" anchor="t"/>
          <a:lstStyle/>
          <a:p>
            <a:pPr algn="r" indent="0" marL="0">
              <a:buNone/>
            </a:pPr>
            <a:r>
              <a:rPr lang="en-US" sz="1050" dirty="0">
                <a:solidFill>
                  <a:srgbClr val="8E9C9B"/>
                </a:solidFill>
                <a:latin typeface="Calibri" pitchFamily="34" charset="0"/>
                <a:ea typeface="Calibri" pitchFamily="34" charset="-122"/>
                <a:cs typeface="Calibri" pitchFamily="34" charset="-120"/>
              </a:rPr>
              <a:t>Zielgröße ↓</a:t>
            </a:r>
            <a:endParaRPr lang="en-US" sz="1050" dirty="0"/>
          </a:p>
        </p:txBody>
      </p:sp>
      <p:sp>
        <p:nvSpPr>
          <p:cNvPr id="83" name="Text 80"/>
          <p:cNvSpPr txBox="1"/>
          <p:nvPr/>
        </p:nvSpPr>
        <p:spPr>
          <a:xfrm>
            <a:off x="502920" y="5074920"/>
            <a:ext cx="7315200" cy="1280160"/>
          </a:xfrm>
          <a:prstGeom prst="rect">
            <a:avLst/>
          </a:prstGeom>
          <a:noFill/>
          <a:ln/>
        </p:spPr>
        <p:txBody>
          <a:bodyPr wrap="square" lIns="0" tIns="0" rIns="0" bIns="0" rtlCol="0" anchor="t"/>
          <a:lstStyle/>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Preis: </a:t>
            </a:r>
            <a:pPr indent="0" marL="0">
              <a:buNone/>
            </a:pPr>
            <a:r>
              <a:rPr lang="en-US" sz="1150" dirty="0">
                <a:solidFill>
                  <a:srgbClr val="EDF1EE"/>
                </a:solidFill>
                <a:latin typeface="Calibri" pitchFamily="34" charset="0"/>
                <a:ea typeface="Calibri" pitchFamily="34" charset="-122"/>
                <a:cs typeface="Calibri" pitchFamily="34" charset="-120"/>
              </a:rPr>
              <a:t>Plattform-Multiple − Arbitrage; Arbitrage = Größenabschlag (bis 2,4 Turns, kleiner bei großen Zielen) − Markthitze − Konkurrenz</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Finanzierung: </a:t>
            </a:r>
            <a:pPr indent="0" marL="0">
              <a:buNone/>
            </a:pPr>
            <a:r>
              <a:rPr lang="en-US" sz="1150" dirty="0">
                <a:solidFill>
                  <a:srgbClr val="EDF1EE"/>
                </a:solidFill>
                <a:latin typeface="Calibri" pitchFamily="34" charset="0"/>
                <a:ea typeface="Calibri" pitchFamily="34" charset="-122"/>
                <a:cs typeface="Calibri" pitchFamily="34" charset="-120"/>
              </a:rPr>
              <a:t>Pro-forma-Leverage ≤ Covenant − 0,6; Rest optional als Eigenkapital aus dem Fonds</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Plattform: </a:t>
            </a:r>
            <a:pPr indent="0" marL="0">
              <a:buNone/>
            </a:pPr>
            <a:r>
              <a:rPr lang="en-US" sz="1150" dirty="0">
                <a:solidFill>
                  <a:srgbClr val="EDF1EE"/>
                </a:solidFill>
                <a:latin typeface="Calibri" pitchFamily="34" charset="0"/>
                <a:ea typeface="Calibri" pitchFamily="34" charset="-122"/>
                <a:cs typeface="Calibri" pitchFamily="34" charset="-120"/>
              </a:rPr>
              <a:t>Prozessreife −5 pp je Stufe über 2, Team −4,5 pp je Ratingpunkt, Leverage +6 pp je Turn über 3,0×</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Ergebnis: </a:t>
            </a:r>
            <a:pPr indent="0" marL="0">
              <a:buNone/>
            </a:pPr>
            <a:r>
              <a:rPr lang="en-US" sz="1150" dirty="0">
                <a:solidFill>
                  <a:srgbClr val="EDF1EE"/>
                </a:solidFill>
                <a:latin typeface="Calibri" pitchFamily="34" charset="0"/>
                <a:ea typeface="Calibri" pitchFamily="34" charset="-122"/>
                <a:cs typeface="Calibri" pitchFamily="34" charset="-120"/>
              </a:rPr>
              <a:t>Erfolg = EBITDA + Growth +1,0 · Scheitern = 35 % Umsatz, volle Schuld, Marge −1,8 pp, Qualität −7</a:t>
            </a:r>
            <a:endParaRPr lang="en-US" sz="1150" dirty="0"/>
          </a:p>
        </p:txBody>
      </p:sp>
      <p:pic>
        <p:nvPicPr>
          <p:cNvPr id="84" name="Image 0" descr="/tmp/claude-0/deck/img/addon_b.jpg">    </p:cNvPr>
          <p:cNvPicPr>
            <a:picLocks noChangeAspect="1"/>
          </p:cNvPicPr>
          <p:nvPr/>
        </p:nvPicPr>
        <p:blipFill>
          <a:blip r:embed="rId1"/>
          <a:stretch>
            <a:fillRect/>
          </a:stretch>
        </p:blipFill>
        <p:spPr>
          <a:xfrm>
            <a:off x="8747394" y="1600200"/>
            <a:ext cx="2938638" cy="4389120"/>
          </a:xfrm>
          <a:prstGeom prst="rect">
            <a:avLst/>
          </a:prstGeom>
        </p:spPr>
      </p:pic>
      <p:sp>
        <p:nvSpPr>
          <p:cNvPr id="85" name="Shape 81"/>
          <p:cNvSpPr/>
          <p:nvPr/>
        </p:nvSpPr>
        <p:spPr>
          <a:xfrm>
            <a:off x="8747394" y="1600200"/>
            <a:ext cx="2938638" cy="4389120"/>
          </a:xfrm>
          <a:prstGeom prst="rect">
            <a:avLst/>
          </a:prstGeom>
          <a:ln w="9525">
            <a:solidFill>
              <a:srgbClr val="33474B"/>
            </a:solidFill>
            <a:prstDash val="solid"/>
          </a:ln>
        </p:spPr>
      </p:sp>
      <p:sp>
        <p:nvSpPr>
          <p:cNvPr id="86" name="Text 82"/>
          <p:cNvSpPr txBox="1"/>
          <p:nvPr/>
        </p:nvSpPr>
        <p:spPr>
          <a:xfrm>
            <a:off x="8473074" y="6044184"/>
            <a:ext cx="3487278"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Add-on-Mandat im Maßnahmenkatalog</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MULTIPLE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Qualität und Wachstum das Multiple bewegen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28</a:t>
            </a:r>
            <a:endParaRPr lang="en-US" sz="900" dirty="0"/>
          </a:p>
        </p:txBody>
      </p:sp>
      <p:sp>
        <p:nvSpPr>
          <p:cNvPr id="9" name="Shape 6"/>
          <p:cNvSpPr/>
          <p:nvPr/>
        </p:nvSpPr>
        <p:spPr>
          <a:xfrm>
            <a:off x="502920" y="1600200"/>
            <a:ext cx="7406640" cy="777240"/>
          </a:xfrm>
          <a:prstGeom prst="roundRect">
            <a:avLst>
              <a:gd name="adj" fmla="val 9412"/>
            </a:avLst>
          </a:prstGeom>
          <a:solidFill>
            <a:srgbClr val="1C282B"/>
          </a:solidFill>
          <a:ln w="12700">
            <a:solidFill>
              <a:srgbClr val="DCB264"/>
            </a:solidFill>
            <a:prstDash val="solid"/>
          </a:ln>
        </p:spPr>
      </p:sp>
      <p:sp>
        <p:nvSpPr>
          <p:cNvPr id="10" name="Text 7"/>
          <p:cNvSpPr txBox="1"/>
          <p:nvPr/>
        </p:nvSpPr>
        <p:spPr>
          <a:xfrm>
            <a:off x="685800" y="1600200"/>
            <a:ext cx="7040880" cy="77724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Multiple = Sektor-Multiple × (0,7 + 0,006 × Qualität) × (1 + Wachstumsprämie) × Altbestandsabschlag</a:t>
            </a:r>
            <a:endParaRPr lang="en-US" sz="1500" dirty="0"/>
          </a:p>
        </p:txBody>
      </p:sp>
      <p:sp>
        <p:nvSpPr>
          <p:cNvPr id="11" name="Shape 8"/>
          <p:cNvSpPr/>
          <p:nvPr/>
        </p:nvSpPr>
        <p:spPr>
          <a:xfrm>
            <a:off x="502920" y="2606040"/>
            <a:ext cx="3611880" cy="960120"/>
          </a:xfrm>
          <a:prstGeom prst="roundRect">
            <a:avLst>
              <a:gd name="adj" fmla="val 7619"/>
            </a:avLst>
          </a:prstGeom>
          <a:solidFill>
            <a:srgbClr val="161F22"/>
          </a:solidFill>
          <a:ln w="9525">
            <a:solidFill>
              <a:srgbClr val="3B82F6"/>
            </a:solidFill>
            <a:prstDash val="solid"/>
          </a:ln>
        </p:spPr>
      </p:sp>
      <p:sp>
        <p:nvSpPr>
          <p:cNvPr id="12" name="Text 9"/>
          <p:cNvSpPr txBox="1"/>
          <p:nvPr/>
        </p:nvSpPr>
        <p:spPr>
          <a:xfrm>
            <a:off x="667512" y="2679192"/>
            <a:ext cx="3291840" cy="320040"/>
          </a:xfrm>
          <a:prstGeom prst="rect">
            <a:avLst/>
          </a:prstGeom>
          <a:noFill/>
          <a:ln/>
        </p:spPr>
        <p:txBody>
          <a:bodyPr wrap="square" lIns="0" tIns="0" rIns="0" bIns="0" rtlCol="0" anchor="t"/>
          <a:lstStyle/>
          <a:p>
            <a:pPr algn="l" indent="0" marL="0">
              <a:buNone/>
            </a:pPr>
            <a:r>
              <a:rPr lang="en-US" sz="1400" b="1" dirty="0">
                <a:solidFill>
                  <a:srgbClr val="3B82F6"/>
                </a:solidFill>
                <a:latin typeface="Calibri" pitchFamily="34" charset="0"/>
                <a:ea typeface="Calibri" pitchFamily="34" charset="-122"/>
                <a:cs typeface="Calibri" pitchFamily="34" charset="-120"/>
              </a:rPr>
              <a:t>Sektor-Multiple</a:t>
            </a:r>
            <a:endParaRPr lang="en-US" sz="1400" dirty="0"/>
          </a:p>
        </p:txBody>
      </p:sp>
      <p:sp>
        <p:nvSpPr>
          <p:cNvPr id="13" name="Text 10"/>
          <p:cNvSpPr txBox="1"/>
          <p:nvPr/>
        </p:nvSpPr>
        <p:spPr>
          <a:xfrm>
            <a:off x="66751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Marktzyklus, ±5 % je HJ, Expansion/Abschwung</a:t>
            </a:r>
            <a:endParaRPr lang="en-US" sz="1150" dirty="0"/>
          </a:p>
        </p:txBody>
      </p:sp>
      <p:sp>
        <p:nvSpPr>
          <p:cNvPr id="14" name="Shape 11"/>
          <p:cNvSpPr/>
          <p:nvPr/>
        </p:nvSpPr>
        <p:spPr>
          <a:xfrm>
            <a:off x="4251960" y="2606040"/>
            <a:ext cx="3611880" cy="960120"/>
          </a:xfrm>
          <a:prstGeom prst="roundRect">
            <a:avLst>
              <a:gd name="adj" fmla="val 7619"/>
            </a:avLst>
          </a:prstGeom>
          <a:solidFill>
            <a:srgbClr val="161F22"/>
          </a:solidFill>
          <a:ln w="9525">
            <a:solidFill>
              <a:srgbClr val="5FC4B1"/>
            </a:solidFill>
            <a:prstDash val="solid"/>
          </a:ln>
        </p:spPr>
      </p:sp>
      <p:sp>
        <p:nvSpPr>
          <p:cNvPr id="15" name="Text 12"/>
          <p:cNvSpPr txBox="1"/>
          <p:nvPr/>
        </p:nvSpPr>
        <p:spPr>
          <a:xfrm>
            <a:off x="4416552" y="2679192"/>
            <a:ext cx="329184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Qualitätsfaktor</a:t>
            </a:r>
            <a:endParaRPr lang="en-US" sz="1400" dirty="0"/>
          </a:p>
        </p:txBody>
      </p:sp>
      <p:sp>
        <p:nvSpPr>
          <p:cNvPr id="16" name="Text 13"/>
          <p:cNvSpPr txBox="1"/>
          <p:nvPr/>
        </p:nvSpPr>
        <p:spPr>
          <a:xfrm>
            <a:off x="441655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Q 40 → 0,94 · Q 60 → 1,06 · Q 80 → 1,18</a:t>
            </a:r>
            <a:endParaRPr lang="en-US" sz="1150" dirty="0"/>
          </a:p>
        </p:txBody>
      </p:sp>
      <p:sp>
        <p:nvSpPr>
          <p:cNvPr id="17" name="Shape 14"/>
          <p:cNvSpPr/>
          <p:nvPr/>
        </p:nvSpPr>
        <p:spPr>
          <a:xfrm>
            <a:off x="502920" y="3703320"/>
            <a:ext cx="3611880" cy="960120"/>
          </a:xfrm>
          <a:prstGeom prst="roundRect">
            <a:avLst>
              <a:gd name="adj" fmla="val 7619"/>
            </a:avLst>
          </a:prstGeom>
          <a:solidFill>
            <a:srgbClr val="161F22"/>
          </a:solidFill>
          <a:ln w="9525">
            <a:solidFill>
              <a:srgbClr val="DCB264"/>
            </a:solidFill>
            <a:prstDash val="solid"/>
          </a:ln>
        </p:spPr>
      </p:sp>
      <p:sp>
        <p:nvSpPr>
          <p:cNvPr id="18" name="Text 15"/>
          <p:cNvSpPr txBox="1"/>
          <p:nvPr/>
        </p:nvSpPr>
        <p:spPr>
          <a:xfrm>
            <a:off x="667512" y="3776472"/>
            <a:ext cx="329184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Wachstumsprämie</a:t>
            </a:r>
            <a:endParaRPr lang="en-US" sz="1400" dirty="0"/>
          </a:p>
        </p:txBody>
      </p:sp>
      <p:sp>
        <p:nvSpPr>
          <p:cNvPr id="19" name="Text 16"/>
          <p:cNvSpPr txBox="1"/>
          <p:nvPr/>
        </p:nvSpPr>
        <p:spPr>
          <a:xfrm>
            <a:off x="66751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+7 % je pp Umsatz-CAGR über Sektor, −20 % bis +55 %, ab 1 Jahr Haltedauer</a:t>
            </a:r>
            <a:endParaRPr lang="en-US" sz="1150" dirty="0"/>
          </a:p>
        </p:txBody>
      </p:sp>
      <p:sp>
        <p:nvSpPr>
          <p:cNvPr id="20" name="Shape 17"/>
          <p:cNvSpPr/>
          <p:nvPr/>
        </p:nvSpPr>
        <p:spPr>
          <a:xfrm>
            <a:off x="4251960" y="3703320"/>
            <a:ext cx="3611880" cy="960120"/>
          </a:xfrm>
          <a:prstGeom prst="roundRect">
            <a:avLst>
              <a:gd name="adj" fmla="val 7619"/>
            </a:avLst>
          </a:prstGeom>
          <a:solidFill>
            <a:srgbClr val="161F22"/>
          </a:solidFill>
          <a:ln w="9525">
            <a:solidFill>
              <a:srgbClr val="8E9C9B"/>
            </a:solidFill>
            <a:prstDash val="solid"/>
          </a:ln>
        </p:spPr>
      </p:sp>
      <p:sp>
        <p:nvSpPr>
          <p:cNvPr id="21" name="Text 18"/>
          <p:cNvSpPr txBox="1"/>
          <p:nvPr/>
        </p:nvSpPr>
        <p:spPr>
          <a:xfrm>
            <a:off x="4416552" y="3776472"/>
            <a:ext cx="3291840" cy="320040"/>
          </a:xfrm>
          <a:prstGeom prst="rect">
            <a:avLst/>
          </a:prstGeom>
          <a:noFill/>
          <a:ln/>
        </p:spPr>
        <p:txBody>
          <a:bodyPr wrap="square" lIns="0" tIns="0" rIns="0" bIns="0" rtlCol="0" anchor="t"/>
          <a:lstStyle/>
          <a:p>
            <a:pPr algn="l" indent="0" marL="0">
              <a:buNone/>
            </a:pPr>
            <a:r>
              <a:rPr lang="en-US" sz="1400" b="1" dirty="0">
                <a:solidFill>
                  <a:srgbClr val="8E9C9B"/>
                </a:solidFill>
                <a:latin typeface="Calibri" pitchFamily="34" charset="0"/>
                <a:ea typeface="Calibri" pitchFamily="34" charset="-122"/>
                <a:cs typeface="Calibri" pitchFamily="34" charset="-120"/>
              </a:rPr>
              <a:t>Deckel</a:t>
            </a:r>
            <a:endParaRPr lang="en-US" sz="1400" dirty="0"/>
          </a:p>
        </p:txBody>
      </p:sp>
      <p:sp>
        <p:nvSpPr>
          <p:cNvPr id="22" name="Text 19"/>
          <p:cNvSpPr txBox="1"/>
          <p:nvPr/>
        </p:nvSpPr>
        <p:spPr>
          <a:xfrm>
            <a:off x="441655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höchstens 1,85 × Sektor-Multiple</a:t>
            </a:r>
            <a:endParaRPr lang="en-US" sz="1150" dirty="0"/>
          </a:p>
        </p:txBody>
      </p:sp>
      <p:sp>
        <p:nvSpPr>
          <p:cNvPr id="23" name="Text 20"/>
          <p:cNvSpPr txBox="1"/>
          <p:nvPr/>
        </p:nvSpPr>
        <p:spPr>
          <a:xfrm>
            <a:off x="502920" y="489204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QUALITÄT JE HALBJAHR BEWEGT SICH DURCH</a:t>
            </a:r>
            <a:endParaRPr lang="en-US" sz="1000" dirty="0"/>
          </a:p>
        </p:txBody>
      </p:sp>
      <p:sp>
        <p:nvSpPr>
          <p:cNvPr id="24" name="Shape 21"/>
          <p:cNvSpPr/>
          <p:nvPr/>
        </p:nvSpPr>
        <p:spPr>
          <a:xfrm>
            <a:off x="502920" y="5166360"/>
            <a:ext cx="2377440" cy="457200"/>
          </a:xfrm>
          <a:prstGeom prst="roundRect">
            <a:avLst>
              <a:gd name="adj" fmla="val 16000"/>
            </a:avLst>
          </a:prstGeom>
          <a:solidFill>
            <a:srgbClr val="1C282B"/>
          </a:solidFill>
          <a:ln w="9525">
            <a:solidFill>
              <a:srgbClr val="243033"/>
            </a:solidFill>
            <a:prstDash val="solid"/>
          </a:ln>
        </p:spPr>
      </p:sp>
      <p:sp>
        <p:nvSpPr>
          <p:cNvPr id="25" name="Text 22"/>
          <p:cNvSpPr txBox="1"/>
          <p:nvPr/>
        </p:nvSpPr>
        <p:spPr>
          <a:xfrm>
            <a:off x="612648"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6" name="Text 23"/>
          <p:cNvSpPr txBox="1"/>
          <p:nvPr/>
        </p:nvSpPr>
        <p:spPr>
          <a:xfrm>
            <a:off x="886968"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Wachstum über Sektor (×0,30)</a:t>
            </a:r>
            <a:endParaRPr lang="en-US" sz="1100" dirty="0"/>
          </a:p>
        </p:txBody>
      </p:sp>
      <p:sp>
        <p:nvSpPr>
          <p:cNvPr id="27" name="Shape 24"/>
          <p:cNvSpPr/>
          <p:nvPr/>
        </p:nvSpPr>
        <p:spPr>
          <a:xfrm>
            <a:off x="2990088" y="5166360"/>
            <a:ext cx="2377440" cy="457200"/>
          </a:xfrm>
          <a:prstGeom prst="roundRect">
            <a:avLst>
              <a:gd name="adj" fmla="val 16000"/>
            </a:avLst>
          </a:prstGeom>
          <a:solidFill>
            <a:srgbClr val="1C282B"/>
          </a:solidFill>
          <a:ln w="9525">
            <a:solidFill>
              <a:srgbClr val="243033"/>
            </a:solidFill>
            <a:prstDash val="solid"/>
          </a:ln>
        </p:spPr>
      </p:sp>
      <p:sp>
        <p:nvSpPr>
          <p:cNvPr id="28" name="Text 25"/>
          <p:cNvSpPr txBox="1"/>
          <p:nvPr/>
        </p:nvSpPr>
        <p:spPr>
          <a:xfrm>
            <a:off x="3099816"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9" name="Text 26"/>
          <p:cNvSpPr txBox="1"/>
          <p:nvPr/>
        </p:nvSpPr>
        <p:spPr>
          <a:xfrm>
            <a:off x="3374136"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Marge über Benchmark (×0,35)</a:t>
            </a:r>
            <a:endParaRPr lang="en-US" sz="1100" dirty="0"/>
          </a:p>
        </p:txBody>
      </p:sp>
      <p:sp>
        <p:nvSpPr>
          <p:cNvPr id="30" name="Shape 27"/>
          <p:cNvSpPr/>
          <p:nvPr/>
        </p:nvSpPr>
        <p:spPr>
          <a:xfrm>
            <a:off x="5477256" y="5166360"/>
            <a:ext cx="2377440" cy="457200"/>
          </a:xfrm>
          <a:prstGeom prst="roundRect">
            <a:avLst>
              <a:gd name="adj" fmla="val 16000"/>
            </a:avLst>
          </a:prstGeom>
          <a:solidFill>
            <a:srgbClr val="1C282B"/>
          </a:solidFill>
          <a:ln w="9525">
            <a:solidFill>
              <a:srgbClr val="243033"/>
            </a:solidFill>
            <a:prstDash val="solid"/>
          </a:ln>
        </p:spPr>
      </p:sp>
      <p:sp>
        <p:nvSpPr>
          <p:cNvPr id="31" name="Text 28"/>
          <p:cNvSpPr txBox="1"/>
          <p:nvPr/>
        </p:nvSpPr>
        <p:spPr>
          <a:xfrm>
            <a:off x="5586984"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32" name="Text 29"/>
          <p:cNvSpPr txBox="1"/>
          <p:nvPr/>
        </p:nvSpPr>
        <p:spPr>
          <a:xfrm>
            <a:off x="5861304"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People &gt; 2 (×0,35)</a:t>
            </a:r>
            <a:endParaRPr lang="en-US" sz="1100" dirty="0"/>
          </a:p>
        </p:txBody>
      </p:sp>
      <p:sp>
        <p:nvSpPr>
          <p:cNvPr id="33" name="Shape 30"/>
          <p:cNvSpPr/>
          <p:nvPr/>
        </p:nvSpPr>
        <p:spPr>
          <a:xfrm>
            <a:off x="502920" y="5715000"/>
            <a:ext cx="2377440" cy="457200"/>
          </a:xfrm>
          <a:prstGeom prst="roundRect">
            <a:avLst>
              <a:gd name="adj" fmla="val 16000"/>
            </a:avLst>
          </a:prstGeom>
          <a:solidFill>
            <a:srgbClr val="1C282B"/>
          </a:solidFill>
          <a:ln w="9525">
            <a:solidFill>
              <a:srgbClr val="243033"/>
            </a:solidFill>
            <a:prstDash val="solid"/>
          </a:ln>
        </p:spPr>
      </p:sp>
      <p:sp>
        <p:nvSpPr>
          <p:cNvPr id="34" name="Text 31"/>
          <p:cNvSpPr txBox="1"/>
          <p:nvPr/>
        </p:nvSpPr>
        <p:spPr>
          <a:xfrm>
            <a:off x="612648"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5" name="Text 32"/>
          <p:cNvSpPr txBox="1"/>
          <p:nvPr/>
        </p:nvSpPr>
        <p:spPr>
          <a:xfrm>
            <a:off x="886968"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Überdehnung (×1,8)</a:t>
            </a:r>
            <a:endParaRPr lang="en-US" sz="1100" dirty="0"/>
          </a:p>
        </p:txBody>
      </p:sp>
      <p:sp>
        <p:nvSpPr>
          <p:cNvPr id="36" name="Shape 33"/>
          <p:cNvSpPr/>
          <p:nvPr/>
        </p:nvSpPr>
        <p:spPr>
          <a:xfrm>
            <a:off x="2990088" y="5715000"/>
            <a:ext cx="2377440" cy="457200"/>
          </a:xfrm>
          <a:prstGeom prst="roundRect">
            <a:avLst>
              <a:gd name="adj" fmla="val 16000"/>
            </a:avLst>
          </a:prstGeom>
          <a:solidFill>
            <a:srgbClr val="1C282B"/>
          </a:solidFill>
          <a:ln w="9525">
            <a:solidFill>
              <a:srgbClr val="243033"/>
            </a:solidFill>
            <a:prstDash val="solid"/>
          </a:ln>
        </p:spPr>
      </p:sp>
      <p:sp>
        <p:nvSpPr>
          <p:cNvPr id="37" name="Text 34"/>
          <p:cNvSpPr txBox="1"/>
          <p:nvPr/>
        </p:nvSpPr>
        <p:spPr>
          <a:xfrm>
            <a:off x="3099816"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8" name="Text 35"/>
          <p:cNvSpPr txBox="1"/>
          <p:nvPr/>
        </p:nvSpPr>
        <p:spPr>
          <a:xfrm>
            <a:off x="3374136"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Leverage &gt; 5×</a:t>
            </a:r>
            <a:endParaRPr lang="en-US" sz="1100" dirty="0"/>
          </a:p>
        </p:txBody>
      </p:sp>
      <p:sp>
        <p:nvSpPr>
          <p:cNvPr id="39" name="Shape 36"/>
          <p:cNvSpPr/>
          <p:nvPr/>
        </p:nvSpPr>
        <p:spPr>
          <a:xfrm>
            <a:off x="5477256" y="5715000"/>
            <a:ext cx="2377440" cy="457200"/>
          </a:xfrm>
          <a:prstGeom prst="roundRect">
            <a:avLst>
              <a:gd name="adj" fmla="val 16000"/>
            </a:avLst>
          </a:prstGeom>
          <a:solidFill>
            <a:srgbClr val="1C282B"/>
          </a:solidFill>
          <a:ln w="9525">
            <a:solidFill>
              <a:srgbClr val="243033"/>
            </a:solidFill>
            <a:prstDash val="solid"/>
          </a:ln>
        </p:spPr>
      </p:sp>
      <p:sp>
        <p:nvSpPr>
          <p:cNvPr id="40" name="Text 37"/>
          <p:cNvSpPr txBox="1"/>
          <p:nvPr/>
        </p:nvSpPr>
        <p:spPr>
          <a:xfrm>
            <a:off x="5586984"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41" name="Text 38"/>
          <p:cNvSpPr txBox="1"/>
          <p:nvPr/>
        </p:nvSpPr>
        <p:spPr>
          <a:xfrm>
            <a:off x="5861304"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Alterung ab HJ 8</a:t>
            </a:r>
            <a:endParaRPr lang="en-US" sz="1100" dirty="0"/>
          </a:p>
        </p:txBody>
      </p:sp>
      <p:pic>
        <p:nvPicPr>
          <p:cNvPr id="42" name="Image 0" descr="/tmp/claude-0/deck/img/hold_more.jpg">    </p:cNvPr>
          <p:cNvPicPr>
            <a:picLocks noChangeAspect="1"/>
          </p:cNvPicPr>
          <p:nvPr/>
        </p:nvPicPr>
        <p:blipFill>
          <a:blip r:embed="rId1"/>
          <a:stretch>
            <a:fillRect/>
          </a:stretch>
        </p:blipFill>
        <p:spPr>
          <a:xfrm>
            <a:off x="8445546" y="1600200"/>
            <a:ext cx="3240486" cy="4480560"/>
          </a:xfrm>
          <a:prstGeom prst="rect">
            <a:avLst/>
          </a:prstGeom>
        </p:spPr>
      </p:pic>
      <p:sp>
        <p:nvSpPr>
          <p:cNvPr id="43" name="Shape 39"/>
          <p:cNvSpPr/>
          <p:nvPr/>
        </p:nvSpPr>
        <p:spPr>
          <a:xfrm>
            <a:off x="8445546" y="1600200"/>
            <a:ext cx="3240486" cy="4480560"/>
          </a:xfrm>
          <a:prstGeom prst="rect">
            <a:avLst/>
          </a:prstGeom>
          <a:ln w="9525">
            <a:solidFill>
              <a:srgbClr val="33474B"/>
            </a:solidFill>
            <a:prstDash val="solid"/>
          </a:ln>
        </p:spPr>
      </p:sp>
      <p:sp>
        <p:nvSpPr>
          <p:cNvPr id="44" name="Text 40"/>
          <p:cNvSpPr txBox="1"/>
          <p:nvPr/>
        </p:nvSpPr>
        <p:spPr>
          <a:xfrm>
            <a:off x="8171226" y="6135624"/>
            <a:ext cx="3789126"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Detailansicht: Marktmultiple 19,6× vs. 12,4× Einstieg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RISIKEN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Ereignisse, Covenant Breach und Equity Cure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29</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583680" cy="914400"/>
        </p:xfrm>
        <a:graphic>
          <a:graphicData uri="http://schemas.openxmlformats.org/drawingml/2006/table">
            <a:tbl>
              <a:tblPr/>
              <a:tblGrid>
                <a:gridCol w="2331720"/>
                <a:gridCol w="2743200"/>
                <a:gridCol w="1508760"/>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Ereignis (10 % je HJ)</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Abwehr ab 4</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Schlüsselkunde kündigt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−20 %, Drift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CEO verlässt Unternehmen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−6, Marge −0,5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CFO wirft hin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Wettbewerber senkt Preise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−2,5 pp, dauerhaft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Investitionsstau aufgedeckt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 × EBITDA Schuld, Capex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Regulatorische Auflage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−1,2 pp, dauerhaft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Großauftrag gewonnen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+14 %,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Add-on-Gelegenheit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+25 %, 1,6 × EBITDA Schuld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Projekt vorgezogen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laufende Maßnahme 1 HJ früher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7315200" y="1600200"/>
            <a:ext cx="4370832" cy="731520"/>
          </a:xfrm>
          <a:prstGeom prst="roundRect">
            <a:avLst>
              <a:gd name="adj" fmla="val 10000"/>
            </a:avLst>
          </a:prstGeom>
          <a:solidFill>
            <a:srgbClr val="161F22"/>
          </a:solidFill>
          <a:ln w="12700">
            <a:solidFill>
              <a:srgbClr val="DCB264"/>
            </a:solidFill>
            <a:prstDash val="solid"/>
          </a:ln>
        </p:spPr>
      </p:sp>
      <p:sp>
        <p:nvSpPr>
          <p:cNvPr id="11" name="Text 7"/>
          <p:cNvSpPr txBox="1"/>
          <p:nvPr/>
        </p:nvSpPr>
        <p:spPr>
          <a:xfrm>
            <a:off x="7479792" y="1655064"/>
            <a:ext cx="402336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Leverage &gt; Covenant</a:t>
            </a:r>
            <a:endParaRPr lang="en-US" sz="1400" dirty="0"/>
          </a:p>
        </p:txBody>
      </p:sp>
      <p:sp>
        <p:nvSpPr>
          <p:cNvPr id="12" name="Text 8"/>
          <p:cNvSpPr txBox="1"/>
          <p:nvPr/>
        </p:nvSpPr>
        <p:spPr>
          <a:xfrm>
            <a:off x="7479792" y="198424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1. Bruch: Warnung</a:t>
            </a:r>
            <a:endParaRPr lang="en-US" sz="1200" dirty="0"/>
          </a:p>
        </p:txBody>
      </p:sp>
      <p:sp>
        <p:nvSpPr>
          <p:cNvPr id="13" name="Shape 9"/>
          <p:cNvSpPr/>
          <p:nvPr/>
        </p:nvSpPr>
        <p:spPr>
          <a:xfrm>
            <a:off x="7315200" y="2468880"/>
            <a:ext cx="4370832" cy="731520"/>
          </a:xfrm>
          <a:prstGeom prst="roundRect">
            <a:avLst>
              <a:gd name="adj" fmla="val 10000"/>
            </a:avLst>
          </a:prstGeom>
          <a:solidFill>
            <a:srgbClr val="161F22"/>
          </a:solidFill>
          <a:ln w="12700">
            <a:solidFill>
              <a:srgbClr val="E3897F"/>
            </a:solidFill>
            <a:prstDash val="solid"/>
          </a:ln>
        </p:spPr>
      </p:sp>
      <p:sp>
        <p:nvSpPr>
          <p:cNvPr id="14" name="Text 10"/>
          <p:cNvSpPr txBox="1"/>
          <p:nvPr/>
        </p:nvSpPr>
        <p:spPr>
          <a:xfrm>
            <a:off x="7479792" y="2523744"/>
            <a:ext cx="4023360" cy="320040"/>
          </a:xfrm>
          <a:prstGeom prst="rect">
            <a:avLst/>
          </a:prstGeom>
          <a:noFill/>
          <a:ln/>
        </p:spPr>
        <p:txBody>
          <a:bodyPr wrap="square" lIns="0" tIns="0" rIns="0" bIns="0" rtlCol="0" anchor="t"/>
          <a:lstStyle/>
          <a:p>
            <a:pPr algn="l" indent="0" marL="0">
              <a:buNone/>
            </a:pPr>
            <a:r>
              <a:rPr lang="en-US" sz="1400" b="1" dirty="0">
                <a:solidFill>
                  <a:srgbClr val="E3897F"/>
                </a:solidFill>
                <a:latin typeface="Calibri" pitchFamily="34" charset="0"/>
                <a:ea typeface="Calibri" pitchFamily="34" charset="-122"/>
                <a:cs typeface="Calibri" pitchFamily="34" charset="-120"/>
              </a:rPr>
              <a:t>2. Halbjahr in Folge</a:t>
            </a:r>
            <a:endParaRPr lang="en-US" sz="1400" dirty="0"/>
          </a:p>
        </p:txBody>
      </p:sp>
      <p:sp>
        <p:nvSpPr>
          <p:cNvPr id="15" name="Text 11"/>
          <p:cNvSpPr txBox="1"/>
          <p:nvPr/>
        </p:nvSpPr>
        <p:spPr>
          <a:xfrm>
            <a:off x="7479792" y="285292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Enforcement: Totalverlust</a:t>
            </a:r>
            <a:endParaRPr lang="en-US" sz="1200" dirty="0"/>
          </a:p>
        </p:txBody>
      </p:sp>
      <p:sp>
        <p:nvSpPr>
          <p:cNvPr id="16" name="Shape 12"/>
          <p:cNvSpPr/>
          <p:nvPr/>
        </p:nvSpPr>
        <p:spPr>
          <a:xfrm>
            <a:off x="7315200" y="3337560"/>
            <a:ext cx="4370832" cy="731520"/>
          </a:xfrm>
          <a:prstGeom prst="roundRect">
            <a:avLst>
              <a:gd name="adj" fmla="val 10000"/>
            </a:avLst>
          </a:prstGeom>
          <a:solidFill>
            <a:srgbClr val="161F22"/>
          </a:solidFill>
          <a:ln w="12700">
            <a:solidFill>
              <a:srgbClr val="5FC4B1"/>
            </a:solidFill>
            <a:prstDash val="solid"/>
          </a:ln>
        </p:spPr>
      </p:sp>
      <p:sp>
        <p:nvSpPr>
          <p:cNvPr id="17" name="Text 13"/>
          <p:cNvSpPr txBox="1"/>
          <p:nvPr/>
        </p:nvSpPr>
        <p:spPr>
          <a:xfrm>
            <a:off x="7479792" y="3392424"/>
            <a:ext cx="402336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Equity Cure</a:t>
            </a:r>
            <a:endParaRPr lang="en-US" sz="1400" dirty="0"/>
          </a:p>
        </p:txBody>
      </p:sp>
      <p:sp>
        <p:nvSpPr>
          <p:cNvPr id="18" name="Text 14"/>
          <p:cNvSpPr txBox="1"/>
          <p:nvPr/>
        </p:nvSpPr>
        <p:spPr>
          <a:xfrm>
            <a:off x="7479792" y="372160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Fonds schießt Eigenkapital nach</a:t>
            </a:r>
            <a:endParaRPr lang="en-US" sz="1200" dirty="0"/>
          </a:p>
        </p:txBody>
      </p:sp>
      <p:pic>
        <p:nvPicPr>
          <p:cNvPr id="19" name="Image 0" descr="/tmp/claude-0/deck/img/equity.jpg">    </p:cNvPr>
          <p:cNvPicPr>
            <a:picLocks noChangeAspect="1"/>
          </p:cNvPicPr>
          <p:nvPr/>
        </p:nvPicPr>
        <p:blipFill>
          <a:blip r:embed="rId1"/>
          <a:stretch>
            <a:fillRect/>
          </a:stretch>
        </p:blipFill>
        <p:spPr>
          <a:xfrm>
            <a:off x="7315200" y="4297680"/>
            <a:ext cx="1882140" cy="1737360"/>
          </a:xfrm>
          <a:prstGeom prst="rect">
            <a:avLst/>
          </a:prstGeom>
        </p:spPr>
      </p:pic>
      <p:sp>
        <p:nvSpPr>
          <p:cNvPr id="20" name="Shape 15"/>
          <p:cNvSpPr/>
          <p:nvPr/>
        </p:nvSpPr>
        <p:spPr>
          <a:xfrm>
            <a:off x="7315200" y="4297680"/>
            <a:ext cx="1882140" cy="1737360"/>
          </a:xfrm>
          <a:prstGeom prst="rect">
            <a:avLst/>
          </a:prstGeom>
          <a:ln w="9525">
            <a:solidFill>
              <a:srgbClr val="33474B"/>
            </a:solidFill>
            <a:prstDash val="solid"/>
          </a:ln>
        </p:spPr>
      </p:sp>
      <p:sp>
        <p:nvSpPr>
          <p:cNvPr id="21" name="Text 16"/>
          <p:cNvSpPr txBox="1"/>
          <p:nvPr/>
        </p:nvSpPr>
        <p:spPr>
          <a:xfrm>
            <a:off x="7040880" y="6089904"/>
            <a:ext cx="2430780"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Dialog „Eigenkapital nachschießen“</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PORTFOLIO-MONITORING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Monitoring: Performance gegen Benchmark</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30</a:t>
            </a:r>
            <a:endParaRPr lang="en-US" sz="900" dirty="0"/>
          </a:p>
        </p:txBody>
      </p:sp>
      <p:pic>
        <p:nvPicPr>
          <p:cNvPr id="9" name="Image 0" descr="/tmp/claude-0/deck/img/hold_attn.jpg">    </p:cNvPr>
          <p:cNvPicPr>
            <a:picLocks noChangeAspect="1"/>
          </p:cNvPicPr>
          <p:nvPr/>
        </p:nvPicPr>
        <p:blipFill>
          <a:blip r:embed="rId1"/>
          <a:stretch>
            <a:fillRect/>
          </a:stretch>
        </p:blipFill>
        <p:spPr>
          <a:xfrm>
            <a:off x="502920" y="1600200"/>
            <a:ext cx="3026491" cy="4480560"/>
          </a:xfrm>
          <a:prstGeom prst="rect">
            <a:avLst/>
          </a:prstGeom>
        </p:spPr>
      </p:pic>
      <p:sp>
        <p:nvSpPr>
          <p:cNvPr id="10" name="Shape 6"/>
          <p:cNvSpPr/>
          <p:nvPr/>
        </p:nvSpPr>
        <p:spPr>
          <a:xfrm>
            <a:off x="502920" y="1600200"/>
            <a:ext cx="3026491" cy="4480560"/>
          </a:xfrm>
          <a:prstGeom prst="rect">
            <a:avLst/>
          </a:prstGeom>
          <a:ln w="9525">
            <a:solidFill>
              <a:srgbClr val="33474B"/>
            </a:solidFill>
            <a:prstDash val="solid"/>
          </a:ln>
        </p:spPr>
      </p:sp>
      <p:sp>
        <p:nvSpPr>
          <p:cNvPr id="11" name="Text 7"/>
          <p:cNvSpPr txBox="1"/>
          <p:nvPr/>
        </p:nvSpPr>
        <p:spPr>
          <a:xfrm>
            <a:off x="228600" y="6135624"/>
            <a:ext cx="3575131"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Karte mit Warnhinweisen</a:t>
            </a:r>
            <a:endParaRPr lang="en-US" sz="950" dirty="0"/>
          </a:p>
        </p:txBody>
      </p:sp>
      <p:sp>
        <p:nvSpPr>
          <p:cNvPr id="12" name="Text 8"/>
          <p:cNvSpPr txBox="1"/>
          <p:nvPr/>
        </p:nvSpPr>
        <p:spPr>
          <a:xfrm>
            <a:off x="4160520" y="1600200"/>
            <a:ext cx="36576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BEFUNDE NACH GEWICHT (HEALTHOF)</a:t>
            </a:r>
            <a:endParaRPr lang="en-US" sz="1000" dirty="0"/>
          </a:p>
        </p:txBody>
      </p:sp>
      <p:sp>
        <p:nvSpPr>
          <p:cNvPr id="13" name="Shape 9"/>
          <p:cNvSpPr/>
          <p:nvPr/>
        </p:nvSpPr>
        <p:spPr>
          <a:xfrm>
            <a:off x="4160520" y="1920240"/>
            <a:ext cx="3657600" cy="484632"/>
          </a:xfrm>
          <a:prstGeom prst="roundRect">
            <a:avLst>
              <a:gd name="adj" fmla="val 15094"/>
            </a:avLst>
          </a:prstGeom>
          <a:solidFill>
            <a:srgbClr val="161F22"/>
          </a:solidFill>
          <a:ln w="9525">
            <a:solidFill>
              <a:srgbClr val="243033"/>
            </a:solidFill>
            <a:prstDash val="solid"/>
          </a:ln>
        </p:spPr>
      </p:sp>
      <p:sp>
        <p:nvSpPr>
          <p:cNvPr id="14" name="Text 10"/>
          <p:cNvSpPr txBox="1"/>
          <p:nvPr/>
        </p:nvSpPr>
        <p:spPr>
          <a:xfrm>
            <a:off x="4297680" y="1920240"/>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100</a:t>
            </a:r>
            <a:endParaRPr lang="en-US" sz="1500" dirty="0"/>
          </a:p>
        </p:txBody>
      </p:sp>
      <p:sp>
        <p:nvSpPr>
          <p:cNvPr id="15" name="Text 11"/>
          <p:cNvSpPr txBox="1"/>
          <p:nvPr/>
        </p:nvSpPr>
        <p:spPr>
          <a:xfrm>
            <a:off x="4937760" y="192024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 gebrochen</a:t>
            </a:r>
            <a:endParaRPr lang="en-US" sz="1250" dirty="0"/>
          </a:p>
        </p:txBody>
      </p:sp>
      <p:sp>
        <p:nvSpPr>
          <p:cNvPr id="16" name="Shape 12"/>
          <p:cNvSpPr/>
          <p:nvPr/>
        </p:nvSpPr>
        <p:spPr>
          <a:xfrm>
            <a:off x="4160520" y="2496312"/>
            <a:ext cx="3657600" cy="484632"/>
          </a:xfrm>
          <a:prstGeom prst="roundRect">
            <a:avLst>
              <a:gd name="adj" fmla="val 15094"/>
            </a:avLst>
          </a:prstGeom>
          <a:solidFill>
            <a:srgbClr val="161F22"/>
          </a:solidFill>
          <a:ln w="9525">
            <a:solidFill>
              <a:srgbClr val="243033"/>
            </a:solidFill>
            <a:prstDash val="solid"/>
          </a:ln>
        </p:spPr>
      </p:sp>
      <p:sp>
        <p:nvSpPr>
          <p:cNvPr id="17" name="Text 13"/>
          <p:cNvSpPr txBox="1"/>
          <p:nvPr/>
        </p:nvSpPr>
        <p:spPr>
          <a:xfrm>
            <a:off x="4297680" y="2496312"/>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88</a:t>
            </a:r>
            <a:endParaRPr lang="en-US" sz="1500" dirty="0"/>
          </a:p>
        </p:txBody>
      </p:sp>
      <p:sp>
        <p:nvSpPr>
          <p:cNvPr id="18" name="Text 14"/>
          <p:cNvSpPr txBox="1"/>
          <p:nvPr/>
        </p:nvSpPr>
        <p:spPr>
          <a:xfrm>
            <a:off x="4937760" y="249631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Covenant-Luft &lt; 0,4×</a:t>
            </a:r>
            <a:endParaRPr lang="en-US" sz="1250" dirty="0"/>
          </a:p>
        </p:txBody>
      </p:sp>
      <p:sp>
        <p:nvSpPr>
          <p:cNvPr id="19" name="Shape 15"/>
          <p:cNvSpPr/>
          <p:nvPr/>
        </p:nvSpPr>
        <p:spPr>
          <a:xfrm>
            <a:off x="4160520" y="3072384"/>
            <a:ext cx="3657600" cy="484632"/>
          </a:xfrm>
          <a:prstGeom prst="roundRect">
            <a:avLst>
              <a:gd name="adj" fmla="val 15094"/>
            </a:avLst>
          </a:prstGeom>
          <a:solidFill>
            <a:srgbClr val="161F22"/>
          </a:solidFill>
          <a:ln w="9525">
            <a:solidFill>
              <a:srgbClr val="243033"/>
            </a:solidFill>
            <a:prstDash val="solid"/>
          </a:ln>
        </p:spPr>
      </p:sp>
      <p:sp>
        <p:nvSpPr>
          <p:cNvPr id="20" name="Text 16"/>
          <p:cNvSpPr txBox="1"/>
          <p:nvPr/>
        </p:nvSpPr>
        <p:spPr>
          <a:xfrm>
            <a:off x="4297680" y="3072384"/>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74</a:t>
            </a:r>
            <a:endParaRPr lang="en-US" sz="1500" dirty="0"/>
          </a:p>
        </p:txBody>
      </p:sp>
      <p:sp>
        <p:nvSpPr>
          <p:cNvPr id="21" name="Text 17"/>
          <p:cNvSpPr txBox="1"/>
          <p:nvPr/>
        </p:nvSpPr>
        <p:spPr>
          <a:xfrm>
            <a:off x="4937760" y="3072384"/>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Position vakant</a:t>
            </a:r>
            <a:endParaRPr lang="en-US" sz="1250" dirty="0"/>
          </a:p>
        </p:txBody>
      </p:sp>
      <p:sp>
        <p:nvSpPr>
          <p:cNvPr id="22" name="Shape 18"/>
          <p:cNvSpPr/>
          <p:nvPr/>
        </p:nvSpPr>
        <p:spPr>
          <a:xfrm>
            <a:off x="4160520" y="3648456"/>
            <a:ext cx="3657600" cy="484632"/>
          </a:xfrm>
          <a:prstGeom prst="roundRect">
            <a:avLst>
              <a:gd name="adj" fmla="val 15094"/>
            </a:avLst>
          </a:prstGeom>
          <a:solidFill>
            <a:srgbClr val="161F22"/>
          </a:solidFill>
          <a:ln w="9525">
            <a:solidFill>
              <a:srgbClr val="243033"/>
            </a:solidFill>
            <a:prstDash val="solid"/>
          </a:ln>
        </p:spPr>
      </p:sp>
      <p:sp>
        <p:nvSpPr>
          <p:cNvPr id="23" name="Text 19"/>
          <p:cNvSpPr txBox="1"/>
          <p:nvPr/>
        </p:nvSpPr>
        <p:spPr>
          <a:xfrm>
            <a:off x="4297680" y="3648456"/>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66</a:t>
            </a:r>
            <a:endParaRPr lang="en-US" sz="1500" dirty="0"/>
          </a:p>
        </p:txBody>
      </p:sp>
      <p:sp>
        <p:nvSpPr>
          <p:cNvPr id="24" name="Text 20"/>
          <p:cNvSpPr txBox="1"/>
          <p:nvPr/>
        </p:nvSpPr>
        <p:spPr>
          <a:xfrm>
            <a:off x="4937760" y="3648456"/>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unter Einstand (&lt; 0,95×)</a:t>
            </a:r>
            <a:endParaRPr lang="en-US" sz="1250" dirty="0"/>
          </a:p>
        </p:txBody>
      </p:sp>
      <p:sp>
        <p:nvSpPr>
          <p:cNvPr id="25" name="Shape 21"/>
          <p:cNvSpPr/>
          <p:nvPr/>
        </p:nvSpPr>
        <p:spPr>
          <a:xfrm>
            <a:off x="4160520" y="4224528"/>
            <a:ext cx="3657600" cy="484632"/>
          </a:xfrm>
          <a:prstGeom prst="roundRect">
            <a:avLst>
              <a:gd name="adj" fmla="val 15094"/>
            </a:avLst>
          </a:prstGeom>
          <a:solidFill>
            <a:srgbClr val="161F22"/>
          </a:solidFill>
          <a:ln w="9525">
            <a:solidFill>
              <a:srgbClr val="243033"/>
            </a:solidFill>
            <a:prstDash val="solid"/>
          </a:ln>
        </p:spPr>
      </p:sp>
      <p:sp>
        <p:nvSpPr>
          <p:cNvPr id="26" name="Text 22"/>
          <p:cNvSpPr txBox="1"/>
          <p:nvPr/>
        </p:nvSpPr>
        <p:spPr>
          <a:xfrm>
            <a:off x="4297680" y="4224528"/>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58</a:t>
            </a:r>
            <a:endParaRPr lang="en-US" sz="1500" dirty="0"/>
          </a:p>
        </p:txBody>
      </p:sp>
      <p:sp>
        <p:nvSpPr>
          <p:cNvPr id="27" name="Text 23"/>
          <p:cNvSpPr txBox="1"/>
          <p:nvPr/>
        </p:nvSpPr>
        <p:spPr>
          <a:xfrm>
            <a:off x="4937760" y="4224528"/>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Wachstum überdehnt</a:t>
            </a:r>
            <a:endParaRPr lang="en-US" sz="1250" dirty="0"/>
          </a:p>
        </p:txBody>
      </p:sp>
      <p:sp>
        <p:nvSpPr>
          <p:cNvPr id="28" name="Shape 24"/>
          <p:cNvSpPr/>
          <p:nvPr/>
        </p:nvSpPr>
        <p:spPr>
          <a:xfrm>
            <a:off x="4160520" y="4800600"/>
            <a:ext cx="3657600" cy="484632"/>
          </a:xfrm>
          <a:prstGeom prst="roundRect">
            <a:avLst>
              <a:gd name="adj" fmla="val 15094"/>
            </a:avLst>
          </a:prstGeom>
          <a:solidFill>
            <a:srgbClr val="1C282B"/>
          </a:solidFill>
          <a:ln w="9525">
            <a:solidFill>
              <a:srgbClr val="243033"/>
            </a:solidFill>
            <a:prstDash val="solid"/>
          </a:ln>
        </p:spPr>
      </p:sp>
      <p:sp>
        <p:nvSpPr>
          <p:cNvPr id="29" name="Text 25"/>
          <p:cNvSpPr txBox="1"/>
          <p:nvPr/>
        </p:nvSpPr>
        <p:spPr>
          <a:xfrm>
            <a:off x="4297680" y="4800600"/>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44</a:t>
            </a:r>
            <a:endParaRPr lang="en-US" sz="1500" dirty="0"/>
          </a:p>
        </p:txBody>
      </p:sp>
      <p:sp>
        <p:nvSpPr>
          <p:cNvPr id="30" name="Text 26"/>
          <p:cNvSpPr txBox="1"/>
          <p:nvPr/>
        </p:nvSpPr>
        <p:spPr>
          <a:xfrm>
            <a:off x="4937760" y="480060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Marge unter Benchmark</a:t>
            </a:r>
            <a:endParaRPr lang="en-US" sz="1250" dirty="0"/>
          </a:p>
        </p:txBody>
      </p:sp>
      <p:sp>
        <p:nvSpPr>
          <p:cNvPr id="31" name="Shape 27"/>
          <p:cNvSpPr/>
          <p:nvPr/>
        </p:nvSpPr>
        <p:spPr>
          <a:xfrm>
            <a:off x="4160520" y="5376672"/>
            <a:ext cx="3657600" cy="484632"/>
          </a:xfrm>
          <a:prstGeom prst="roundRect">
            <a:avLst>
              <a:gd name="adj" fmla="val 15094"/>
            </a:avLst>
          </a:prstGeom>
          <a:solidFill>
            <a:srgbClr val="1C282B"/>
          </a:solidFill>
          <a:ln w="9525">
            <a:solidFill>
              <a:srgbClr val="243033"/>
            </a:solidFill>
            <a:prstDash val="solid"/>
          </a:ln>
        </p:spPr>
      </p:sp>
      <p:sp>
        <p:nvSpPr>
          <p:cNvPr id="32" name="Text 28"/>
          <p:cNvSpPr txBox="1"/>
          <p:nvPr/>
        </p:nvSpPr>
        <p:spPr>
          <a:xfrm>
            <a:off x="4297680" y="5376672"/>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38</a:t>
            </a:r>
            <a:endParaRPr lang="en-US" sz="1500" dirty="0"/>
          </a:p>
        </p:txBody>
      </p:sp>
      <p:sp>
        <p:nvSpPr>
          <p:cNvPr id="33" name="Text 29"/>
          <p:cNvSpPr txBox="1"/>
          <p:nvPr/>
        </p:nvSpPr>
        <p:spPr>
          <a:xfrm>
            <a:off x="4937760" y="537667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keine Maßnahme aktiv</a:t>
            </a:r>
            <a:endParaRPr lang="en-US" sz="1250" dirty="0"/>
          </a:p>
        </p:txBody>
      </p:sp>
      <p:sp>
        <p:nvSpPr>
          <p:cNvPr id="34" name="Shape 30"/>
          <p:cNvSpPr/>
          <p:nvPr/>
        </p:nvSpPr>
        <p:spPr>
          <a:xfrm>
            <a:off x="4160520" y="4754880"/>
            <a:ext cx="3657600" cy="0"/>
          </a:xfrm>
          <a:prstGeom prst="line">
            <a:avLst/>
          </a:prstGeom>
          <a:noFill/>
          <a:ln w="12700">
            <a:solidFill>
              <a:srgbClr val="DCB264"/>
            </a:solidFill>
            <a:prstDash val="dash"/>
          </a:ln>
        </p:spPr>
      </p:sp>
      <p:sp>
        <p:nvSpPr>
          <p:cNvPr id="35" name="Text 31"/>
          <p:cNvSpPr txBox="1"/>
          <p:nvPr/>
        </p:nvSpPr>
        <p:spPr>
          <a:xfrm>
            <a:off x="4160520" y="5989320"/>
            <a:ext cx="3657600" cy="274320"/>
          </a:xfrm>
          <a:prstGeom prst="rect">
            <a:avLst/>
          </a:prstGeom>
          <a:noFill/>
          <a:ln/>
        </p:spPr>
        <p:txBody>
          <a:bodyPr wrap="square" lIns="0" tIns="0" rIns="0" bIns="0" rtlCol="0" anchor="t"/>
          <a:lstStyle/>
          <a:p>
            <a:pPr algn="l" indent="0" marL="0">
              <a:buNone/>
            </a:pPr>
            <a:r>
              <a:rPr lang="en-US" sz="1050" b="1" dirty="0">
                <a:solidFill>
                  <a:srgbClr val="DCB264"/>
                </a:solidFill>
                <a:latin typeface="Calibri" pitchFamily="34" charset="0"/>
                <a:ea typeface="Calibri" pitchFamily="34" charset="-122"/>
                <a:cs typeface="Calibri" pitchFamily="34" charset="-120"/>
              </a:rPr>
              <a:t>↑ ab 55: „Needs Attention“</a:t>
            </a:r>
            <a:endParaRPr lang="en-US" sz="1050" dirty="0"/>
          </a:p>
        </p:txBody>
      </p:sp>
      <p:pic>
        <p:nvPicPr>
          <p:cNvPr id="36" name="Image 1" descr="/tmp/claude-0/deck/img/hold_perf.jpg">    </p:cNvPr>
          <p:cNvPicPr>
            <a:picLocks noChangeAspect="1"/>
          </p:cNvPicPr>
          <p:nvPr/>
        </p:nvPicPr>
        <p:blipFill>
          <a:blip r:embed="rId2"/>
          <a:stretch>
            <a:fillRect/>
          </a:stretch>
        </p:blipFill>
        <p:spPr>
          <a:xfrm>
            <a:off x="8884215" y="1600200"/>
            <a:ext cx="2801817" cy="4480560"/>
          </a:xfrm>
          <a:prstGeom prst="rect">
            <a:avLst/>
          </a:prstGeom>
        </p:spPr>
      </p:pic>
      <p:sp>
        <p:nvSpPr>
          <p:cNvPr id="37" name="Shape 32"/>
          <p:cNvSpPr/>
          <p:nvPr/>
        </p:nvSpPr>
        <p:spPr>
          <a:xfrm>
            <a:off x="8884215" y="1600200"/>
            <a:ext cx="2801817" cy="4480560"/>
          </a:xfrm>
          <a:prstGeom prst="rect">
            <a:avLst/>
          </a:prstGeom>
          <a:ln w="9525">
            <a:solidFill>
              <a:srgbClr val="33474B"/>
            </a:solidFill>
            <a:prstDash val="solid"/>
          </a:ln>
        </p:spPr>
      </p:sp>
      <p:sp>
        <p:nvSpPr>
          <p:cNvPr id="38" name="Text 33"/>
          <p:cNvSpPr txBox="1"/>
          <p:nvPr/>
        </p:nvSpPr>
        <p:spPr>
          <a:xfrm>
            <a:off x="8609895" y="6135624"/>
            <a:ext cx="3350457"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Performance-Vergleich und Wertbeitrag</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Value Creation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31</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5FC4B1"/>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EBITDA ist der größte Hebel</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Im Mittel der Simulation stammt der größte Teil des Gewinns aus EBITDA-Wachstum.</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5FC4B1"/>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Balance statt Tunnelblick</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Growth wirkt nur bis People + 1 und Performance + 1 – darüber schadet es.</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5FC4B1"/>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Die passende Maßnahme wählen</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Eignung hängt am Defizit: Cost-out bei schwacher Marge, Expansion in wachsenden Märkten.</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5FC4B1"/>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Menschen sind der Engpass</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Das effektive Rating treibt Erfolgsquote und Tempo; Vakanzen kosten mehr, als sie sparen.</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5FC4B1"/>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Buy-and-Build mit Maß</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Kleine Zukäufe zum vollen Preis sind sicher; große oder billige erhöhen das Risiko stark.</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5FC4B1"/>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verstärkt jedes Risiko</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Ereignisse und Abschwünge treffen gehebelte Beteiligungen härter – bis zum Enforcement.</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EXIT-TIMING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Der Preis der Zeit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32</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Frühester Exit nach 6 Halbjahren Haltedauer (Mindesthaltedauer).</a:t>
            </a:r>
            <a:endParaRPr lang="en-US" sz="1050" dirty="0"/>
          </a:p>
        </p:txBody>
      </p:sp>
      <p:sp>
        <p:nvSpPr>
          <p:cNvPr id="11" name="Shape 7"/>
          <p:cNvSpPr/>
          <p:nvPr/>
        </p:nvSpPr>
        <p:spPr>
          <a:xfrm>
            <a:off x="7726680" y="1600200"/>
            <a:ext cx="3959352" cy="941832"/>
          </a:xfrm>
          <a:prstGeom prst="roundRect">
            <a:avLst>
              <a:gd name="adj" fmla="val 7767"/>
            </a:avLst>
          </a:prstGeom>
          <a:solidFill>
            <a:srgbClr val="161F22"/>
          </a:solidFill>
          <a:ln w="9525">
            <a:solidFill>
              <a:srgbClr val="243033"/>
            </a:solidFill>
            <a:prstDash val="solid"/>
          </a:ln>
        </p:spPr>
      </p:sp>
      <p:sp>
        <p:nvSpPr>
          <p:cNvPr id="12" name="Text 8"/>
          <p:cNvSpPr txBox="1"/>
          <p:nvPr/>
        </p:nvSpPr>
        <p:spPr>
          <a:xfrm>
            <a:off x="7882128" y="1673352"/>
            <a:ext cx="3657600" cy="384048"/>
          </a:xfrm>
          <a:prstGeom prst="rect">
            <a:avLst/>
          </a:prstGeom>
          <a:noFill/>
          <a:ln/>
        </p:spPr>
        <p:txBody>
          <a:bodyPr wrap="square" lIns="0" tIns="0" rIns="0" bIns="0" rtlCol="0" anchor="t"/>
          <a:lstStyle/>
          <a:p>
            <a:pPr algn="l" indent="0" marL="0">
              <a:buNone/>
            </a:pPr>
            <a:r>
              <a:rPr lang="en-US" sz="1900" b="1" dirty="0">
                <a:solidFill>
                  <a:srgbClr val="EDF1EE"/>
                </a:solidFill>
                <a:latin typeface="Calibri" pitchFamily="34" charset="0"/>
                <a:ea typeface="Calibri" pitchFamily="34" charset="-122"/>
                <a:cs typeface="Calibri" pitchFamily="34" charset="-120"/>
              </a:rPr>
              <a:t>6 HJ</a:t>
            </a:r>
            <a:endParaRPr lang="en-US" sz="1900" dirty="0"/>
          </a:p>
        </p:txBody>
      </p:sp>
      <p:sp>
        <p:nvSpPr>
          <p:cNvPr id="13" name="Text 9"/>
          <p:cNvSpPr txBox="1"/>
          <p:nvPr/>
        </p:nvSpPr>
        <p:spPr>
          <a:xfrm>
            <a:off x="7882128" y="2103120"/>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Mindesthaltedauer</a:t>
            </a:r>
            <a:endParaRPr lang="en-US" sz="1200" dirty="0"/>
          </a:p>
        </p:txBody>
      </p:sp>
      <p:sp>
        <p:nvSpPr>
          <p:cNvPr id="14" name="Shape 10"/>
          <p:cNvSpPr/>
          <p:nvPr/>
        </p:nvSpPr>
        <p:spPr>
          <a:xfrm>
            <a:off x="7726680" y="2679192"/>
            <a:ext cx="3959352" cy="941832"/>
          </a:xfrm>
          <a:prstGeom prst="roundRect">
            <a:avLst>
              <a:gd name="adj" fmla="val 7767"/>
            </a:avLst>
          </a:prstGeom>
          <a:solidFill>
            <a:srgbClr val="161F22"/>
          </a:solidFill>
          <a:ln w="9525">
            <a:solidFill>
              <a:srgbClr val="243033"/>
            </a:solidFill>
            <a:prstDash val="solid"/>
          </a:ln>
        </p:spPr>
      </p:sp>
      <p:sp>
        <p:nvSpPr>
          <p:cNvPr id="15" name="Text 11"/>
          <p:cNvSpPr txBox="1"/>
          <p:nvPr/>
        </p:nvSpPr>
        <p:spPr>
          <a:xfrm>
            <a:off x="7882128" y="2752344"/>
            <a:ext cx="3657600" cy="384048"/>
          </a:xfrm>
          <a:prstGeom prst="rect">
            <a:avLst/>
          </a:prstGeom>
          <a:noFill/>
          <a:ln/>
        </p:spPr>
        <p:txBody>
          <a:bodyPr wrap="square" lIns="0" tIns="0" rIns="0" bIns="0" rtlCol="0" anchor="t"/>
          <a:lstStyle/>
          <a:p>
            <a:pPr algn="l" indent="0" marL="0">
              <a:buNone/>
            </a:pPr>
            <a:r>
              <a:rPr lang="en-US" sz="1900" b="1" dirty="0">
                <a:solidFill>
                  <a:srgbClr val="DCB264"/>
                </a:solidFill>
                <a:latin typeface="Calibri" pitchFamily="34" charset="0"/>
                <a:ea typeface="Calibri" pitchFamily="34" charset="-122"/>
                <a:cs typeface="Calibri" pitchFamily="34" charset="-120"/>
              </a:rPr>
              <a:t>ab 8 HJ</a:t>
            </a:r>
            <a:endParaRPr lang="en-US" sz="1900" dirty="0"/>
          </a:p>
        </p:txBody>
      </p:sp>
      <p:sp>
        <p:nvSpPr>
          <p:cNvPr id="16" name="Text 12"/>
          <p:cNvSpPr txBox="1"/>
          <p:nvPr/>
        </p:nvSpPr>
        <p:spPr>
          <a:xfrm>
            <a:off x="7882128" y="3182112"/>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−2 % je HJ, max. −20 % (staleDisc)</a:t>
            </a:r>
            <a:endParaRPr lang="en-US" sz="1200" dirty="0"/>
          </a:p>
        </p:txBody>
      </p:sp>
      <p:sp>
        <p:nvSpPr>
          <p:cNvPr id="17" name="Shape 13"/>
          <p:cNvSpPr/>
          <p:nvPr/>
        </p:nvSpPr>
        <p:spPr>
          <a:xfrm>
            <a:off x="7726680" y="3758184"/>
            <a:ext cx="3959352" cy="941832"/>
          </a:xfrm>
          <a:prstGeom prst="roundRect">
            <a:avLst>
              <a:gd name="adj" fmla="val 7767"/>
            </a:avLst>
          </a:prstGeom>
          <a:solidFill>
            <a:srgbClr val="161F22"/>
          </a:solidFill>
          <a:ln w="9525">
            <a:solidFill>
              <a:srgbClr val="243033"/>
            </a:solidFill>
            <a:prstDash val="solid"/>
          </a:ln>
        </p:spPr>
      </p:sp>
      <p:sp>
        <p:nvSpPr>
          <p:cNvPr id="18" name="Text 14"/>
          <p:cNvSpPr txBox="1"/>
          <p:nvPr/>
        </p:nvSpPr>
        <p:spPr>
          <a:xfrm>
            <a:off x="7882128" y="3831336"/>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letzte 4 HJ</a:t>
            </a:r>
            <a:endParaRPr lang="en-US" sz="1900" dirty="0"/>
          </a:p>
        </p:txBody>
      </p:sp>
      <p:sp>
        <p:nvSpPr>
          <p:cNvPr id="19" name="Text 15"/>
          <p:cNvSpPr txBox="1"/>
          <p:nvPr/>
        </p:nvSpPr>
        <p:spPr>
          <a:xfrm>
            <a:off x="7882128" y="4261104"/>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bis −2,6 Turns im Transaktionspreis</a:t>
            </a:r>
            <a:endParaRPr lang="en-US" sz="1200" dirty="0"/>
          </a:p>
        </p:txBody>
      </p:sp>
      <p:sp>
        <p:nvSpPr>
          <p:cNvPr id="20" name="Shape 16"/>
          <p:cNvSpPr/>
          <p:nvPr/>
        </p:nvSpPr>
        <p:spPr>
          <a:xfrm>
            <a:off x="7726680" y="4837176"/>
            <a:ext cx="3959352" cy="941832"/>
          </a:xfrm>
          <a:prstGeom prst="roundRect">
            <a:avLst>
              <a:gd name="adj" fmla="val 7767"/>
            </a:avLst>
          </a:prstGeom>
          <a:solidFill>
            <a:srgbClr val="161F22"/>
          </a:solidFill>
          <a:ln w="9525">
            <a:solidFill>
              <a:srgbClr val="243033"/>
            </a:solidFill>
            <a:prstDash val="solid"/>
          </a:ln>
        </p:spPr>
      </p:sp>
      <p:sp>
        <p:nvSpPr>
          <p:cNvPr id="21" name="Text 17"/>
          <p:cNvSpPr txBox="1"/>
          <p:nvPr/>
        </p:nvSpPr>
        <p:spPr>
          <a:xfrm>
            <a:off x="7882128" y="4910328"/>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HJ 20</a:t>
            </a:r>
            <a:endParaRPr lang="en-US" sz="1900" dirty="0"/>
          </a:p>
        </p:txBody>
      </p:sp>
      <p:sp>
        <p:nvSpPr>
          <p:cNvPr id="22" name="Text 18"/>
          <p:cNvSpPr txBox="1"/>
          <p:nvPr/>
        </p:nvSpPr>
        <p:spPr>
          <a:xfrm>
            <a:off x="7882128" y="5340096"/>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Tail-End: Bewertung −2,6 Turns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EXIT-ROUTEN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Fünf Wege aus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33</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2331720"/>
                <a:gridCol w="1325880"/>
                <a:gridCol w="2377440"/>
                <a:gridCol w="777240"/>
                <a:gridCol w="777240"/>
                <a:gridCol w="3593592"/>
              </a:tblGrid>
              <a:tr h="50292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Route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Dauer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Preis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Anteil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Besonderheit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02920">
                <a:tc>
                  <a:txBody>
                    <a:bodyPr/>
                    <a:lstStyle/>
                    <a:p>
                      <a:pPr algn="l" indent="0" marL="0">
                        <a:buNone/>
                      </a:pPr>
                      <a:r>
                        <a:rPr lang="en-US" sz="1200" dirty="0">
                          <a:solidFill>
                            <a:srgbClr val="5FC4B1"/>
                          </a:solidFill>
                          <a:latin typeface="Calibri" pitchFamily="34" charset="0"/>
                          <a:ea typeface="Calibri" pitchFamily="34" charset="-122"/>
                          <a:cs typeface="Calibri" pitchFamily="34" charset="-120"/>
                        </a:rPr>
                        <a:t>Auktion (Verkaufsprozess)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HJ</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Gebote 86–108 % des Fair Value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3 %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 je Execution-Punkt; Nachverhandeln möglich</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02920">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Bilateral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−0,5 Turns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sicher, schnell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02920">
                <a:tc>
                  <a:txBody>
                    <a:bodyPr/>
                    <a:lstStyle/>
                    <a:p>
                      <a:pPr algn="l" indent="0" marL="0">
                        <a:buNone/>
                      </a:pPr>
                      <a:r>
                        <a:rPr lang="en-US" sz="1200" dirty="0">
                          <a:solidFill>
                            <a:srgbClr val="3B82F6"/>
                          </a:solidFill>
                          <a:latin typeface="Calibri" pitchFamily="34" charset="0"/>
                          <a:ea typeface="Calibri" pitchFamily="34" charset="-122"/>
                          <a:cs typeface="Calibri" pitchFamily="34" charset="-120"/>
                        </a:rPr>
                        <a:t>GP-led Secondary (CV)</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95 % des Fair Value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Rest bleibt im Fonds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02920">
                <a:tc>
                  <a:txBody>
                    <a:bodyPr/>
                    <a:lstStyle/>
                    <a:p>
                      <a:pPr algn="l" indent="0" marL="0">
                        <a:buNone/>
                      </a:pPr>
                      <a:r>
                        <a:rPr lang="en-US" sz="1200" dirty="0">
                          <a:solidFill>
                            <a:srgbClr val="A855F7"/>
                          </a:solidFill>
                          <a:latin typeface="Calibri" pitchFamily="34" charset="0"/>
                          <a:ea typeface="Calibri" pitchFamily="34" charset="-122"/>
                          <a:cs typeface="Calibri" pitchFamily="34" charset="-120"/>
                        </a:rPr>
                        <a:t>Börsengang (IPO)</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 + Lock-up</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90 % (Emissionsabschlag)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ab 25 Mio. € EBITDA; Rest nach 2 HJ</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02920">
                <a:tc>
                  <a:txBody>
                    <a:bodyPr/>
                    <a:lstStyle/>
                    <a:p>
                      <a:pPr algn="l" indent="0" marL="0">
                        <a:buNone/>
                      </a:pPr>
                      <a:r>
                        <a:rPr lang="en-US" sz="1200" dirty="0">
                          <a:solidFill>
                            <a:srgbClr val="E3897F"/>
                          </a:solidFill>
                          <a:latin typeface="Calibri" pitchFamily="34" charset="0"/>
                          <a:ea typeface="Calibri" pitchFamily="34" charset="-122"/>
                          <a:cs typeface="Calibri" pitchFamily="34" charset="-120"/>
                        </a:rPr>
                        <a:t>Tail-End</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HJ 20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Bewertung −2,6 Turns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Zwangsverwertung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pic>
        <p:nvPicPr>
          <p:cNvPr id="10" name="Image 0" descr="/tmp/claude-0/deck/img/hold_exit.jpg">    </p:cNvPr>
          <p:cNvPicPr>
            <a:picLocks noChangeAspect="1"/>
          </p:cNvPicPr>
          <p:nvPr/>
        </p:nvPicPr>
        <p:blipFill>
          <a:blip r:embed="rId1"/>
          <a:stretch>
            <a:fillRect/>
          </a:stretch>
        </p:blipFill>
        <p:spPr>
          <a:xfrm>
            <a:off x="502920" y="4892040"/>
            <a:ext cx="2434180" cy="1325880"/>
          </a:xfrm>
          <a:prstGeom prst="rect">
            <a:avLst/>
          </a:prstGeom>
        </p:spPr>
      </p:pic>
      <p:sp>
        <p:nvSpPr>
          <p:cNvPr id="11" name="Shape 6"/>
          <p:cNvSpPr/>
          <p:nvPr/>
        </p:nvSpPr>
        <p:spPr>
          <a:xfrm>
            <a:off x="502920" y="4892040"/>
            <a:ext cx="2434180" cy="1325880"/>
          </a:xfrm>
          <a:prstGeom prst="rect">
            <a:avLst/>
          </a:prstGeom>
          <a:ln w="9525">
            <a:solidFill>
              <a:srgbClr val="33474B"/>
            </a:solidFill>
            <a:prstDash val="solid"/>
          </a:ln>
        </p:spPr>
      </p:sp>
      <p:sp>
        <p:nvSpPr>
          <p:cNvPr id="12" name="Shape 7"/>
          <p:cNvSpPr/>
          <p:nvPr/>
        </p:nvSpPr>
        <p:spPr>
          <a:xfrm>
            <a:off x="4114800" y="4892040"/>
            <a:ext cx="7571232" cy="640080"/>
          </a:xfrm>
          <a:prstGeom prst="roundRect">
            <a:avLst>
              <a:gd name="adj" fmla="val 11429"/>
            </a:avLst>
          </a:prstGeom>
          <a:solidFill>
            <a:srgbClr val="1C282B"/>
          </a:solidFill>
          <a:ln w="12700">
            <a:solidFill>
              <a:srgbClr val="DCB264"/>
            </a:solidFill>
            <a:prstDash val="solid"/>
          </a:ln>
        </p:spPr>
      </p:sp>
      <p:sp>
        <p:nvSpPr>
          <p:cNvPr id="13" name="Text 8"/>
          <p:cNvSpPr txBox="1"/>
          <p:nvPr/>
        </p:nvSpPr>
        <p:spPr>
          <a:xfrm>
            <a:off x="4297680" y="4892040"/>
            <a:ext cx="720547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Deal-MOIC = (Nettoerlös + Rekapitalisierungen) / verbleibende Kostenbasis</a:t>
            </a:r>
            <a:endParaRPr lang="en-US" sz="1400" dirty="0"/>
          </a:p>
        </p:txBody>
      </p:sp>
      <p:sp>
        <p:nvSpPr>
          <p:cNvPr id="14" name="Text 9"/>
          <p:cNvSpPr txBox="1"/>
          <p:nvPr/>
        </p:nvSpPr>
        <p:spPr>
          <a:xfrm>
            <a:off x="4114800" y="5623560"/>
            <a:ext cx="7571232" cy="5486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Ein abgebrochener Prozess sperrt die Beteiligung für ein Jahr. Nachverhandeln: 60 % Chance auf 5–8 % mehr, 25 % Risiko, dass der Bieter abspringt.</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KÄUFER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Wer bietet – und warum unterschiedlich</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34</a:t>
            </a:r>
            <a:endParaRPr lang="en-US" sz="900" dirty="0"/>
          </a:p>
        </p:txBody>
      </p:sp>
      <p:sp>
        <p:nvSpPr>
          <p:cNvPr id="9" name="Shape 6"/>
          <p:cNvSpPr/>
          <p:nvPr/>
        </p:nvSpPr>
        <p:spPr>
          <a:xfrm>
            <a:off x="502920" y="1600200"/>
            <a:ext cx="5852160" cy="1325880"/>
          </a:xfrm>
          <a:prstGeom prst="roundRect">
            <a:avLst>
              <a:gd name="adj" fmla="val 5517"/>
            </a:avLst>
          </a:prstGeom>
          <a:solidFill>
            <a:srgbClr val="161F22"/>
          </a:solidFill>
          <a:ln w="12700">
            <a:solidFill>
              <a:srgbClr val="5FC4B1"/>
            </a:solidFill>
            <a:prstDash val="solid"/>
          </a:ln>
        </p:spPr>
      </p:sp>
      <p:sp>
        <p:nvSpPr>
          <p:cNvPr id="10" name="Text 7"/>
          <p:cNvSpPr txBox="1"/>
          <p:nvPr/>
        </p:nvSpPr>
        <p:spPr>
          <a:xfrm>
            <a:off x="731520" y="1709928"/>
            <a:ext cx="329184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Strategischer Käufer</a:t>
            </a:r>
            <a:endParaRPr lang="en-US" sz="1700" dirty="0"/>
          </a:p>
        </p:txBody>
      </p:sp>
      <p:sp>
        <p:nvSpPr>
          <p:cNvPr id="11" name="Text 8"/>
          <p:cNvSpPr txBox="1"/>
          <p:nvPr/>
        </p:nvSpPr>
        <p:spPr>
          <a:xfrm>
            <a:off x="3886200" y="1728216"/>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92–108 % des Fair Value</a:t>
            </a:r>
            <a:endParaRPr lang="en-US" sz="1300" dirty="0"/>
          </a:p>
        </p:txBody>
      </p:sp>
      <p:sp>
        <p:nvSpPr>
          <p:cNvPr id="12" name="Text 9"/>
          <p:cNvSpPr txBox="1"/>
          <p:nvPr/>
        </p:nvSpPr>
        <p:spPr>
          <a:xfrm>
            <a:off x="731520" y="2148840"/>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60 % Chance auf Synergien (100–108 %) · 12 % Vollzugsrisiko · CMO im Consumer-Sektor: +0,4×</a:t>
            </a:r>
            <a:endParaRPr lang="en-US" sz="1200" dirty="0"/>
          </a:p>
        </p:txBody>
      </p:sp>
      <p:sp>
        <p:nvSpPr>
          <p:cNvPr id="13" name="Shape 10"/>
          <p:cNvSpPr/>
          <p:nvPr/>
        </p:nvSpPr>
        <p:spPr>
          <a:xfrm>
            <a:off x="502920" y="3081528"/>
            <a:ext cx="5852160" cy="1325880"/>
          </a:xfrm>
          <a:prstGeom prst="roundRect">
            <a:avLst>
              <a:gd name="adj" fmla="val 5517"/>
            </a:avLst>
          </a:prstGeom>
          <a:solidFill>
            <a:srgbClr val="161F22"/>
          </a:solidFill>
          <a:ln w="12700">
            <a:solidFill>
              <a:srgbClr val="3B82F6"/>
            </a:solidFill>
            <a:prstDash val="solid"/>
          </a:ln>
        </p:spPr>
      </p:sp>
      <p:sp>
        <p:nvSpPr>
          <p:cNvPr id="14" name="Text 11"/>
          <p:cNvSpPr txBox="1"/>
          <p:nvPr/>
        </p:nvSpPr>
        <p:spPr>
          <a:xfrm>
            <a:off x="731520" y="3191256"/>
            <a:ext cx="329184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Finanzinvestor (SBO)</a:t>
            </a:r>
            <a:endParaRPr lang="en-US" sz="1700" dirty="0"/>
          </a:p>
        </p:txBody>
      </p:sp>
      <p:sp>
        <p:nvSpPr>
          <p:cNvPr id="15" name="Text 12"/>
          <p:cNvSpPr txBox="1"/>
          <p:nvPr/>
        </p:nvSpPr>
        <p:spPr>
          <a:xfrm>
            <a:off x="3886200" y="3209544"/>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90–102 % des Fair Value</a:t>
            </a:r>
            <a:endParaRPr lang="en-US" sz="1300" dirty="0"/>
          </a:p>
        </p:txBody>
      </p:sp>
      <p:sp>
        <p:nvSpPr>
          <p:cNvPr id="16" name="Text 13"/>
          <p:cNvSpPr txBox="1"/>
          <p:nvPr/>
        </p:nvSpPr>
        <p:spPr>
          <a:xfrm>
            <a:off x="731520" y="3630168"/>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Nur wenn ein anderer Fonds Kapital und einen freien Platz hat · sieht nur veröffentlichte Kennzahlen</a:t>
            </a:r>
            <a:endParaRPr lang="en-US" sz="1200" dirty="0"/>
          </a:p>
        </p:txBody>
      </p:sp>
      <p:sp>
        <p:nvSpPr>
          <p:cNvPr id="17" name="Shape 14"/>
          <p:cNvSpPr/>
          <p:nvPr/>
        </p:nvSpPr>
        <p:spPr>
          <a:xfrm>
            <a:off x="502920" y="4562856"/>
            <a:ext cx="5852160" cy="1325880"/>
          </a:xfrm>
          <a:prstGeom prst="roundRect">
            <a:avLst>
              <a:gd name="adj" fmla="val 5517"/>
            </a:avLst>
          </a:prstGeom>
          <a:solidFill>
            <a:srgbClr val="161F22"/>
          </a:solidFill>
          <a:ln w="12700">
            <a:solidFill>
              <a:srgbClr val="DCB264"/>
            </a:solidFill>
            <a:prstDash val="solid"/>
          </a:ln>
        </p:spPr>
      </p:sp>
      <p:sp>
        <p:nvSpPr>
          <p:cNvPr id="18" name="Text 15"/>
          <p:cNvSpPr txBox="1"/>
          <p:nvPr/>
        </p:nvSpPr>
        <p:spPr>
          <a:xfrm>
            <a:off x="731520" y="4672584"/>
            <a:ext cx="329184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Family Office</a:t>
            </a:r>
            <a:endParaRPr lang="en-US" sz="1700" dirty="0"/>
          </a:p>
        </p:txBody>
      </p:sp>
      <p:sp>
        <p:nvSpPr>
          <p:cNvPr id="19" name="Text 16"/>
          <p:cNvSpPr txBox="1"/>
          <p:nvPr/>
        </p:nvSpPr>
        <p:spPr>
          <a:xfrm>
            <a:off x="3886200" y="4690872"/>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86–92 % des Fair Value</a:t>
            </a:r>
            <a:endParaRPr lang="en-US" sz="1300" dirty="0"/>
          </a:p>
        </p:txBody>
      </p:sp>
      <p:sp>
        <p:nvSpPr>
          <p:cNvPr id="20" name="Text 17"/>
          <p:cNvSpPr txBox="1"/>
          <p:nvPr/>
        </p:nvSpPr>
        <p:spPr>
          <a:xfrm>
            <a:off x="731520" y="5111496"/>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Zahlt am wenigsten, vollzieht aber sicher</a:t>
            </a:r>
            <a:endParaRPr lang="en-US" sz="1200" dirty="0"/>
          </a:p>
        </p:txBody>
      </p:sp>
      <p:sp>
        <p:nvSpPr>
          <p:cNvPr id="21" name="Text 18"/>
          <p:cNvSpPr txBox="1"/>
          <p:nvPr/>
        </p:nvSpPr>
        <p:spPr>
          <a:xfrm>
            <a:off x="502920" y="6035040"/>
            <a:ext cx="585216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Fair Value: Bewertungsmultiple × (1 + 2 % × Execution) − Endfälligkeitsdruck</a:t>
            </a:r>
            <a:endParaRPr lang="en-US" sz="1050" dirty="0"/>
          </a:p>
        </p:txBody>
      </p:sp>
      <p:pic>
        <p:nvPicPr>
          <p:cNvPr id="22" name="Image 0" descr="/tmp/claude-0/deck/img/offers.jpg">    </p:cNvPr>
          <p:cNvPicPr>
            <a:picLocks noChangeAspect="1"/>
          </p:cNvPicPr>
          <p:nvPr/>
        </p:nvPicPr>
        <p:blipFill>
          <a:blip r:embed="rId1"/>
          <a:stretch>
            <a:fillRect/>
          </a:stretch>
        </p:blipFill>
        <p:spPr>
          <a:xfrm>
            <a:off x="6880860" y="1600200"/>
            <a:ext cx="2217420" cy="4434840"/>
          </a:xfrm>
          <a:prstGeom prst="rect">
            <a:avLst/>
          </a:prstGeom>
        </p:spPr>
      </p:pic>
      <p:sp>
        <p:nvSpPr>
          <p:cNvPr id="23" name="Shape 19"/>
          <p:cNvSpPr/>
          <p:nvPr/>
        </p:nvSpPr>
        <p:spPr>
          <a:xfrm>
            <a:off x="6880860" y="1600200"/>
            <a:ext cx="2217420" cy="4434840"/>
          </a:xfrm>
          <a:prstGeom prst="rect">
            <a:avLst/>
          </a:prstGeom>
          <a:ln w="9525">
            <a:solidFill>
              <a:srgbClr val="33474B"/>
            </a:solidFill>
            <a:prstDash val="solid"/>
          </a:ln>
        </p:spPr>
      </p:sp>
      <p:sp>
        <p:nvSpPr>
          <p:cNvPr id="24" name="Text 20"/>
          <p:cNvSpPr txBox="1"/>
          <p:nvPr/>
        </p:nvSpPr>
        <p:spPr>
          <a:xfrm>
            <a:off x="6606540" y="6089904"/>
            <a:ext cx="2766060"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Eingegangene Gebote</a:t>
            </a:r>
            <a:endParaRPr lang="en-US" sz="950" dirty="0"/>
          </a:p>
        </p:txBody>
      </p:sp>
      <p:pic>
        <p:nvPicPr>
          <p:cNvPr id="25" name="Image 1" descr="/tmp/claude-0/deck/img/offers_fo.jpg">    </p:cNvPr>
          <p:cNvPicPr>
            <a:picLocks noChangeAspect="1"/>
          </p:cNvPicPr>
          <p:nvPr/>
        </p:nvPicPr>
        <p:blipFill>
          <a:blip r:embed="rId2"/>
          <a:stretch>
            <a:fillRect/>
          </a:stretch>
        </p:blipFill>
        <p:spPr>
          <a:xfrm>
            <a:off x="9442728" y="1600200"/>
            <a:ext cx="2243304" cy="4434840"/>
          </a:xfrm>
          <a:prstGeom prst="rect">
            <a:avLst/>
          </a:prstGeom>
        </p:spPr>
      </p:pic>
      <p:sp>
        <p:nvSpPr>
          <p:cNvPr id="26" name="Shape 21"/>
          <p:cNvSpPr/>
          <p:nvPr/>
        </p:nvSpPr>
        <p:spPr>
          <a:xfrm>
            <a:off x="9442728" y="1600200"/>
            <a:ext cx="2243304" cy="4434840"/>
          </a:xfrm>
          <a:prstGeom prst="rect">
            <a:avLst/>
          </a:prstGeom>
          <a:ln w="9525">
            <a:solidFill>
              <a:srgbClr val="33474B"/>
            </a:solidFill>
            <a:prstDash val="solid"/>
          </a:ln>
        </p:spPr>
      </p:sp>
      <p:sp>
        <p:nvSpPr>
          <p:cNvPr id="27" name="Text 22"/>
          <p:cNvSpPr txBox="1"/>
          <p:nvPr/>
        </p:nvSpPr>
        <p:spPr>
          <a:xfrm>
            <a:off x="9168408" y="6089904"/>
            <a:ext cx="2791944"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Family-Office-Gebot</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EXIT-RECHNUNG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Vom Enterprise Value zum Nettoerlös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35</a:t>
            </a:r>
            <a:endParaRPr lang="en-US" sz="900" dirty="0"/>
          </a:p>
        </p:txBody>
      </p:sp>
      <p:sp>
        <p:nvSpPr>
          <p:cNvPr id="9" name="Shape 6"/>
          <p:cNvSpPr/>
          <p:nvPr/>
        </p:nvSpPr>
        <p:spPr>
          <a:xfrm>
            <a:off x="717194" y="2110516"/>
            <a:ext cx="699211" cy="2735804"/>
          </a:xfrm>
          <a:prstGeom prst="rect">
            <a:avLst/>
          </a:prstGeom>
          <a:solidFill>
            <a:srgbClr val="3B82F6"/>
          </a:solidFill>
          <a:ln/>
        </p:spPr>
      </p:sp>
      <p:sp>
        <p:nvSpPr>
          <p:cNvPr id="10" name="Text 7"/>
          <p:cNvSpPr txBox="1"/>
          <p:nvPr/>
        </p:nvSpPr>
        <p:spPr>
          <a:xfrm>
            <a:off x="534314" y="1863628"/>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313</a:t>
            </a:r>
            <a:endParaRPr lang="en-US" sz="1100" dirty="0"/>
          </a:p>
        </p:txBody>
      </p:sp>
      <p:sp>
        <p:nvSpPr>
          <p:cNvPr id="11" name="Shape 8"/>
          <p:cNvSpPr/>
          <p:nvPr/>
        </p:nvSpPr>
        <p:spPr>
          <a:xfrm>
            <a:off x="1416406" y="2110516"/>
            <a:ext cx="428549" cy="0"/>
          </a:xfrm>
          <a:prstGeom prst="line">
            <a:avLst/>
          </a:prstGeom>
          <a:noFill/>
          <a:ln w="9525">
            <a:solidFill>
              <a:srgbClr val="4A5C5F"/>
            </a:solidFill>
            <a:prstDash val="dash"/>
          </a:ln>
        </p:spPr>
      </p:sp>
      <p:sp>
        <p:nvSpPr>
          <p:cNvPr id="12" name="Text 9"/>
          <p:cNvSpPr txBox="1"/>
          <p:nvPr/>
        </p:nvSpPr>
        <p:spPr>
          <a:xfrm>
            <a:off x="5029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EV</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15,6 × 20,0</a:t>
            </a:r>
            <a:endParaRPr lang="en-US" sz="1000" dirty="0"/>
          </a:p>
        </p:txBody>
      </p:sp>
      <p:sp>
        <p:nvSpPr>
          <p:cNvPr id="13" name="Shape 10"/>
          <p:cNvSpPr/>
          <p:nvPr/>
        </p:nvSpPr>
        <p:spPr>
          <a:xfrm>
            <a:off x="1844954" y="2110516"/>
            <a:ext cx="699211" cy="41081"/>
          </a:xfrm>
          <a:prstGeom prst="rect">
            <a:avLst/>
          </a:prstGeom>
          <a:solidFill>
            <a:srgbClr val="E3897F"/>
          </a:solidFill>
          <a:ln/>
        </p:spPr>
      </p:sp>
      <p:sp>
        <p:nvSpPr>
          <p:cNvPr id="14" name="Text 11"/>
          <p:cNvSpPr txBox="1"/>
          <p:nvPr/>
        </p:nvSpPr>
        <p:spPr>
          <a:xfrm>
            <a:off x="1662074" y="1863628"/>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−4,7</a:t>
            </a:r>
            <a:endParaRPr lang="en-US" sz="1100" dirty="0"/>
          </a:p>
        </p:txBody>
      </p:sp>
      <p:sp>
        <p:nvSpPr>
          <p:cNvPr id="15" name="Shape 12"/>
          <p:cNvSpPr/>
          <p:nvPr/>
        </p:nvSpPr>
        <p:spPr>
          <a:xfrm>
            <a:off x="2544166" y="2151597"/>
            <a:ext cx="428549" cy="0"/>
          </a:xfrm>
          <a:prstGeom prst="line">
            <a:avLst/>
          </a:prstGeom>
          <a:noFill/>
          <a:ln w="9525">
            <a:solidFill>
              <a:srgbClr val="4A5C5F"/>
            </a:solidFill>
            <a:prstDash val="dash"/>
          </a:ln>
        </p:spPr>
      </p:sp>
      <p:sp>
        <p:nvSpPr>
          <p:cNvPr id="16" name="Text 13"/>
          <p:cNvSpPr txBox="1"/>
          <p:nvPr/>
        </p:nvSpPr>
        <p:spPr>
          <a:xfrm>
            <a:off x="163068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verschuldung</a:t>
            </a:r>
            <a:endParaRPr lang="en-US" sz="1000" dirty="0"/>
          </a:p>
        </p:txBody>
      </p:sp>
      <p:sp>
        <p:nvSpPr>
          <p:cNvPr id="17" name="Shape 14"/>
          <p:cNvSpPr/>
          <p:nvPr/>
        </p:nvSpPr>
        <p:spPr>
          <a:xfrm>
            <a:off x="2972714" y="2154219"/>
            <a:ext cx="699211" cy="2692101"/>
          </a:xfrm>
          <a:prstGeom prst="rect">
            <a:avLst/>
          </a:prstGeom>
          <a:solidFill>
            <a:srgbClr val="3B82F6"/>
          </a:solidFill>
          <a:ln/>
        </p:spPr>
      </p:sp>
      <p:sp>
        <p:nvSpPr>
          <p:cNvPr id="18" name="Text 15"/>
          <p:cNvSpPr txBox="1"/>
          <p:nvPr/>
        </p:nvSpPr>
        <p:spPr>
          <a:xfrm>
            <a:off x="2789834" y="1907331"/>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308</a:t>
            </a:r>
            <a:endParaRPr lang="en-US" sz="1100" dirty="0"/>
          </a:p>
        </p:txBody>
      </p:sp>
      <p:sp>
        <p:nvSpPr>
          <p:cNvPr id="19" name="Shape 16"/>
          <p:cNvSpPr/>
          <p:nvPr/>
        </p:nvSpPr>
        <p:spPr>
          <a:xfrm>
            <a:off x="3671926" y="2154219"/>
            <a:ext cx="428549" cy="0"/>
          </a:xfrm>
          <a:prstGeom prst="line">
            <a:avLst/>
          </a:prstGeom>
          <a:noFill/>
          <a:ln w="9525">
            <a:solidFill>
              <a:srgbClr val="4A5C5F"/>
            </a:solidFill>
            <a:prstDash val="dash"/>
          </a:ln>
        </p:spPr>
      </p:sp>
      <p:sp>
        <p:nvSpPr>
          <p:cNvPr id="20" name="Text 17"/>
          <p:cNvSpPr txBox="1"/>
          <p:nvPr/>
        </p:nvSpPr>
        <p:spPr>
          <a:xfrm>
            <a:off x="275844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Equity</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Value</a:t>
            </a:r>
            <a:endParaRPr lang="en-US" sz="1000" dirty="0"/>
          </a:p>
        </p:txBody>
      </p:sp>
      <p:sp>
        <p:nvSpPr>
          <p:cNvPr id="21" name="Shape 18"/>
          <p:cNvSpPr/>
          <p:nvPr/>
        </p:nvSpPr>
        <p:spPr>
          <a:xfrm>
            <a:off x="4100474" y="2154219"/>
            <a:ext cx="699211" cy="80413"/>
          </a:xfrm>
          <a:prstGeom prst="rect">
            <a:avLst/>
          </a:prstGeom>
          <a:solidFill>
            <a:srgbClr val="E3897F"/>
          </a:solidFill>
          <a:ln/>
        </p:spPr>
      </p:sp>
      <p:sp>
        <p:nvSpPr>
          <p:cNvPr id="22" name="Text 19"/>
          <p:cNvSpPr txBox="1"/>
          <p:nvPr/>
        </p:nvSpPr>
        <p:spPr>
          <a:xfrm>
            <a:off x="3917594" y="1907331"/>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−9,2</a:t>
            </a:r>
            <a:endParaRPr lang="en-US" sz="1100" dirty="0"/>
          </a:p>
        </p:txBody>
      </p:sp>
      <p:sp>
        <p:nvSpPr>
          <p:cNvPr id="23" name="Shape 20"/>
          <p:cNvSpPr/>
          <p:nvPr/>
        </p:nvSpPr>
        <p:spPr>
          <a:xfrm>
            <a:off x="4799686" y="2234632"/>
            <a:ext cx="428549" cy="0"/>
          </a:xfrm>
          <a:prstGeom prst="line">
            <a:avLst/>
          </a:prstGeom>
          <a:noFill/>
          <a:ln w="9525">
            <a:solidFill>
              <a:srgbClr val="4A5C5F"/>
            </a:solidFill>
            <a:prstDash val="dash"/>
          </a:ln>
        </p:spPr>
      </p:sp>
      <p:sp>
        <p:nvSpPr>
          <p:cNvPr id="24" name="Text 21"/>
          <p:cNvSpPr txBox="1"/>
          <p:nvPr/>
        </p:nvSpPr>
        <p:spPr>
          <a:xfrm>
            <a:off x="388620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Transakt.-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kosten 3 %</a:t>
            </a:r>
            <a:endParaRPr lang="en-US" sz="1000" dirty="0"/>
          </a:p>
        </p:txBody>
      </p:sp>
      <p:sp>
        <p:nvSpPr>
          <p:cNvPr id="25" name="Shape 22"/>
          <p:cNvSpPr/>
          <p:nvPr/>
        </p:nvSpPr>
        <p:spPr>
          <a:xfrm>
            <a:off x="5228234" y="2234632"/>
            <a:ext cx="699211" cy="18288"/>
          </a:xfrm>
          <a:prstGeom prst="rect">
            <a:avLst/>
          </a:prstGeom>
          <a:solidFill>
            <a:srgbClr val="5FC4B1"/>
          </a:solidFill>
          <a:ln/>
        </p:spPr>
      </p:sp>
      <p:sp>
        <p:nvSpPr>
          <p:cNvPr id="26" name="Text 23"/>
          <p:cNvSpPr txBox="1"/>
          <p:nvPr/>
        </p:nvSpPr>
        <p:spPr>
          <a:xfrm>
            <a:off x="5045354" y="1987744"/>
            <a:ext cx="1064971"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0</a:t>
            </a:r>
            <a:endParaRPr lang="en-US" sz="1100" dirty="0"/>
          </a:p>
        </p:txBody>
      </p:sp>
      <p:sp>
        <p:nvSpPr>
          <p:cNvPr id="27" name="Shape 24"/>
          <p:cNvSpPr/>
          <p:nvPr/>
        </p:nvSpPr>
        <p:spPr>
          <a:xfrm>
            <a:off x="5927446" y="2234632"/>
            <a:ext cx="428549" cy="0"/>
          </a:xfrm>
          <a:prstGeom prst="line">
            <a:avLst/>
          </a:prstGeom>
          <a:noFill/>
          <a:ln w="9525">
            <a:solidFill>
              <a:srgbClr val="4A5C5F"/>
            </a:solidFill>
            <a:prstDash val="dash"/>
          </a:ln>
        </p:spPr>
      </p:sp>
      <p:sp>
        <p:nvSpPr>
          <p:cNvPr id="28" name="Text 25"/>
          <p:cNvSpPr txBox="1"/>
          <p:nvPr/>
        </p:nvSpPr>
        <p:spPr>
          <a:xfrm>
            <a:off x="501396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MEP 6 %</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(hier keins)</a:t>
            </a:r>
            <a:endParaRPr lang="en-US" sz="1000" dirty="0"/>
          </a:p>
        </p:txBody>
      </p:sp>
      <p:sp>
        <p:nvSpPr>
          <p:cNvPr id="29" name="Shape 26"/>
          <p:cNvSpPr/>
          <p:nvPr/>
        </p:nvSpPr>
        <p:spPr>
          <a:xfrm>
            <a:off x="6355994" y="2232884"/>
            <a:ext cx="699211" cy="2613436"/>
          </a:xfrm>
          <a:prstGeom prst="rect">
            <a:avLst/>
          </a:prstGeom>
          <a:solidFill>
            <a:srgbClr val="DCB264"/>
          </a:solidFill>
          <a:ln/>
        </p:spPr>
      </p:sp>
      <p:sp>
        <p:nvSpPr>
          <p:cNvPr id="30" name="Text 27"/>
          <p:cNvSpPr txBox="1"/>
          <p:nvPr/>
        </p:nvSpPr>
        <p:spPr>
          <a:xfrm>
            <a:off x="6173114" y="1985996"/>
            <a:ext cx="1064971"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299</a:t>
            </a:r>
            <a:endParaRPr lang="en-US" sz="1100" dirty="0"/>
          </a:p>
        </p:txBody>
      </p:sp>
      <p:sp>
        <p:nvSpPr>
          <p:cNvPr id="31" name="Text 28"/>
          <p:cNvSpPr txBox="1"/>
          <p:nvPr/>
        </p:nvSpPr>
        <p:spPr>
          <a:xfrm>
            <a:off x="61417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a:t>
            </a:r>
            <a:endParaRPr lang="en-US" sz="1000" dirty="0"/>
          </a:p>
        </p:txBody>
      </p:sp>
      <p:sp>
        <p:nvSpPr>
          <p:cNvPr id="32" name="Shape 29"/>
          <p:cNvSpPr/>
          <p:nvPr/>
        </p:nvSpPr>
        <p:spPr>
          <a:xfrm>
            <a:off x="502920" y="4846320"/>
            <a:ext cx="6766560" cy="0"/>
          </a:xfrm>
          <a:prstGeom prst="line">
            <a:avLst/>
          </a:prstGeom>
          <a:noFill/>
          <a:ln w="9525">
            <a:solidFill>
              <a:srgbClr val="243033"/>
            </a:solidFill>
            <a:prstDash val="solid"/>
          </a:ln>
        </p:spPr>
      </p:sp>
      <p:sp>
        <p:nvSpPr>
          <p:cNvPr id="33" name="Shape 30"/>
          <p:cNvSpPr/>
          <p:nvPr/>
        </p:nvSpPr>
        <p:spPr>
          <a:xfrm>
            <a:off x="502920" y="5440680"/>
            <a:ext cx="2148840" cy="868680"/>
          </a:xfrm>
          <a:prstGeom prst="roundRect">
            <a:avLst>
              <a:gd name="adj" fmla="val 8421"/>
            </a:avLst>
          </a:prstGeom>
          <a:solidFill>
            <a:srgbClr val="161F22"/>
          </a:solidFill>
          <a:ln w="9525">
            <a:solidFill>
              <a:srgbClr val="243033"/>
            </a:solidFill>
            <a:prstDash val="solid"/>
          </a:ln>
        </p:spPr>
      </p:sp>
      <p:sp>
        <p:nvSpPr>
          <p:cNvPr id="34" name="Text 31"/>
          <p:cNvSpPr txBox="1"/>
          <p:nvPr/>
        </p:nvSpPr>
        <p:spPr>
          <a:xfrm>
            <a:off x="640080" y="5468112"/>
            <a:ext cx="192024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97,5</a:t>
            </a:r>
            <a:endParaRPr lang="en-US" sz="2200" dirty="0"/>
          </a:p>
        </p:txBody>
      </p:sp>
      <p:sp>
        <p:nvSpPr>
          <p:cNvPr id="35" name="Text 32"/>
          <p:cNvSpPr txBox="1"/>
          <p:nvPr/>
        </p:nvSpPr>
        <p:spPr>
          <a:xfrm>
            <a:off x="640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Eigenkapital (Einstand)</a:t>
            </a:r>
            <a:endParaRPr lang="en-US" sz="1050" dirty="0"/>
          </a:p>
        </p:txBody>
      </p:sp>
      <p:sp>
        <p:nvSpPr>
          <p:cNvPr id="36" name="Shape 33"/>
          <p:cNvSpPr/>
          <p:nvPr/>
        </p:nvSpPr>
        <p:spPr>
          <a:xfrm>
            <a:off x="2788920" y="5440680"/>
            <a:ext cx="2148840" cy="868680"/>
          </a:xfrm>
          <a:prstGeom prst="roundRect">
            <a:avLst>
              <a:gd name="adj" fmla="val 8421"/>
            </a:avLst>
          </a:prstGeom>
          <a:solidFill>
            <a:srgbClr val="161F22"/>
          </a:solidFill>
          <a:ln w="9525">
            <a:solidFill>
              <a:srgbClr val="243033"/>
            </a:solidFill>
            <a:prstDash val="solid"/>
          </a:ln>
        </p:spPr>
      </p:sp>
      <p:sp>
        <p:nvSpPr>
          <p:cNvPr id="37" name="Text 34"/>
          <p:cNvSpPr txBox="1"/>
          <p:nvPr/>
        </p:nvSpPr>
        <p:spPr>
          <a:xfrm>
            <a:off x="2926080" y="5468112"/>
            <a:ext cx="1920240" cy="457200"/>
          </a:xfrm>
          <a:prstGeom prst="rect">
            <a:avLst/>
          </a:prstGeom>
          <a:noFill/>
          <a:ln/>
        </p:spPr>
        <p:txBody>
          <a:bodyPr wrap="square" lIns="0" tIns="0" rIns="0" bIns="0" rtlCol="0" anchor="t"/>
          <a:lstStyle/>
          <a:p>
            <a:pPr algn="l" indent="0" marL="0">
              <a:buNone/>
            </a:pPr>
            <a:r>
              <a:rPr lang="en-US" sz="2200" b="1" dirty="0">
                <a:solidFill>
                  <a:srgbClr val="DCB264"/>
                </a:solidFill>
                <a:latin typeface="Calibri" pitchFamily="34" charset="0"/>
                <a:ea typeface="Calibri" pitchFamily="34" charset="-122"/>
                <a:cs typeface="Calibri" pitchFamily="34" charset="-120"/>
              </a:rPr>
              <a:t>299</a:t>
            </a:r>
            <a:endParaRPr lang="en-US" sz="2200" dirty="0"/>
          </a:p>
        </p:txBody>
      </p:sp>
      <p:sp>
        <p:nvSpPr>
          <p:cNvPr id="38" name="Text 35"/>
          <p:cNvSpPr txBox="1"/>
          <p:nvPr/>
        </p:nvSpPr>
        <p:spPr>
          <a:xfrm>
            <a:off x="2926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Nettoerlös</a:t>
            </a:r>
            <a:endParaRPr lang="en-US" sz="1050" dirty="0"/>
          </a:p>
        </p:txBody>
      </p:sp>
      <p:sp>
        <p:nvSpPr>
          <p:cNvPr id="39" name="Shape 36"/>
          <p:cNvSpPr/>
          <p:nvPr/>
        </p:nvSpPr>
        <p:spPr>
          <a:xfrm>
            <a:off x="5074920" y="5440680"/>
            <a:ext cx="2148840" cy="868680"/>
          </a:xfrm>
          <a:prstGeom prst="roundRect">
            <a:avLst>
              <a:gd name="adj" fmla="val 8421"/>
            </a:avLst>
          </a:prstGeom>
          <a:solidFill>
            <a:srgbClr val="161F22"/>
          </a:solidFill>
          <a:ln w="9525">
            <a:solidFill>
              <a:srgbClr val="243033"/>
            </a:solidFill>
            <a:prstDash val="solid"/>
          </a:ln>
        </p:spPr>
      </p:sp>
      <p:sp>
        <p:nvSpPr>
          <p:cNvPr id="40" name="Text 37"/>
          <p:cNvSpPr txBox="1"/>
          <p:nvPr/>
        </p:nvSpPr>
        <p:spPr>
          <a:xfrm>
            <a:off x="5212080" y="5468112"/>
            <a:ext cx="192024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3,07×</a:t>
            </a:r>
            <a:endParaRPr lang="en-US" sz="2200" dirty="0"/>
          </a:p>
        </p:txBody>
      </p:sp>
      <p:sp>
        <p:nvSpPr>
          <p:cNvPr id="41" name="Text 38"/>
          <p:cNvSpPr txBox="1"/>
          <p:nvPr/>
        </p:nvSpPr>
        <p:spPr>
          <a:xfrm>
            <a:off x="5212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MOIC des Deals</a:t>
            </a:r>
            <a:endParaRPr lang="en-US" sz="1050" dirty="0"/>
          </a:p>
        </p:txBody>
      </p:sp>
      <p:pic>
        <p:nvPicPr>
          <p:cNvPr id="42" name="Image 0" descr="/tmp/claude-0/deck/img/exit_result.jpg">    </p:cNvPr>
          <p:cNvPicPr>
            <a:picLocks noChangeAspect="1"/>
          </p:cNvPicPr>
          <p:nvPr/>
        </p:nvPicPr>
        <p:blipFill>
          <a:blip r:embed="rId1"/>
          <a:stretch>
            <a:fillRect/>
          </a:stretch>
        </p:blipFill>
        <p:spPr>
          <a:xfrm>
            <a:off x="9619891" y="1600200"/>
            <a:ext cx="2066141" cy="4572000"/>
          </a:xfrm>
          <a:prstGeom prst="rect">
            <a:avLst/>
          </a:prstGeom>
        </p:spPr>
      </p:pic>
      <p:sp>
        <p:nvSpPr>
          <p:cNvPr id="43" name="Shape 39"/>
          <p:cNvSpPr/>
          <p:nvPr/>
        </p:nvSpPr>
        <p:spPr>
          <a:xfrm>
            <a:off x="9619891" y="1600200"/>
            <a:ext cx="2066141" cy="4572000"/>
          </a:xfrm>
          <a:prstGeom prst="rect">
            <a:avLst/>
          </a:prstGeom>
          <a:ln w="9525">
            <a:solidFill>
              <a:srgbClr val="33474B"/>
            </a:solidFill>
            <a:prstDash val="solid"/>
          </a:ln>
        </p:spPr>
      </p:sp>
      <p:sp>
        <p:nvSpPr>
          <p:cNvPr id="44" name="Text 40"/>
          <p:cNvSpPr txBox="1"/>
          <p:nvPr/>
        </p:nvSpPr>
        <p:spPr>
          <a:xfrm>
            <a:off x="9345571" y="6227064"/>
            <a:ext cx="2614781"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Exit-Abrechnung mit Value Bridge</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LAUFZEITENDE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Tail-End: Bewertung ist nicht Verkaufspreis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36</a:t>
            </a:r>
            <a:endParaRPr lang="en-US" sz="900" dirty="0"/>
          </a:p>
        </p:txBody>
      </p:sp>
      <p:pic>
        <p:nvPicPr>
          <p:cNvPr id="9" name="Image 0" descr="/tmp/claude-0/deck/img/tail.jpg">    </p:cNvPr>
          <p:cNvPicPr>
            <a:picLocks noChangeAspect="1"/>
          </p:cNvPicPr>
          <p:nvPr/>
        </p:nvPicPr>
        <p:blipFill>
          <a:blip r:embed="rId1"/>
          <a:stretch>
            <a:fillRect/>
          </a:stretch>
        </p:blipFill>
        <p:spPr>
          <a:xfrm>
            <a:off x="502920" y="1600200"/>
            <a:ext cx="3264794" cy="2377440"/>
          </a:xfrm>
          <a:prstGeom prst="rect">
            <a:avLst/>
          </a:prstGeom>
        </p:spPr>
      </p:pic>
      <p:sp>
        <p:nvSpPr>
          <p:cNvPr id="10" name="Shape 6"/>
          <p:cNvSpPr/>
          <p:nvPr/>
        </p:nvSpPr>
        <p:spPr>
          <a:xfrm>
            <a:off x="502920" y="1600200"/>
            <a:ext cx="3264794" cy="2377440"/>
          </a:xfrm>
          <a:prstGeom prst="rect">
            <a:avLst/>
          </a:prstGeom>
          <a:ln w="9525">
            <a:solidFill>
              <a:srgbClr val="33474B"/>
            </a:solidFill>
            <a:prstDash val="solid"/>
          </a:ln>
        </p:spPr>
      </p:sp>
      <p:sp>
        <p:nvSpPr>
          <p:cNvPr id="11" name="Text 7"/>
          <p:cNvSpPr txBox="1"/>
          <p:nvPr/>
        </p:nvSpPr>
        <p:spPr>
          <a:xfrm>
            <a:off x="228600" y="4032504"/>
            <a:ext cx="3813434"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Kopfzeile in Halbjahr 19: Wertung mit und ohne Exit</a:t>
            </a:r>
            <a:endParaRPr lang="en-US" sz="950" dirty="0"/>
          </a:p>
        </p:txBody>
      </p:sp>
      <p:sp>
        <p:nvSpPr>
          <p:cNvPr id="12" name="Shape 8"/>
          <p:cNvSpPr/>
          <p:nvPr/>
        </p:nvSpPr>
        <p:spPr>
          <a:xfrm>
            <a:off x="502920" y="4389120"/>
            <a:ext cx="1828800" cy="1143000"/>
          </a:xfrm>
          <a:prstGeom prst="roundRect">
            <a:avLst>
              <a:gd name="adj" fmla="val 6400"/>
            </a:avLst>
          </a:prstGeom>
          <a:solidFill>
            <a:srgbClr val="161F22"/>
          </a:solidFill>
          <a:ln w="9525">
            <a:solidFill>
              <a:srgbClr val="243033"/>
            </a:solidFill>
            <a:prstDash val="solid"/>
          </a:ln>
        </p:spPr>
      </p:sp>
      <p:sp>
        <p:nvSpPr>
          <p:cNvPr id="13" name="Text 9"/>
          <p:cNvSpPr txBox="1"/>
          <p:nvPr/>
        </p:nvSpPr>
        <p:spPr>
          <a:xfrm>
            <a:off x="640080" y="4462272"/>
            <a:ext cx="1600200" cy="640080"/>
          </a:xfrm>
          <a:prstGeom prst="rect">
            <a:avLst/>
          </a:prstGeom>
          <a:noFill/>
          <a:ln/>
        </p:spPr>
        <p:txBody>
          <a:bodyPr wrap="square" lIns="0" tIns="0" rIns="0" bIns="0" rtlCol="0" anchor="t"/>
          <a:lstStyle/>
          <a:p>
            <a:pPr algn="l" indent="0" marL="0">
              <a:buNone/>
            </a:pPr>
            <a:r>
              <a:rPr lang="en-US" sz="2800" b="1" dirty="0">
                <a:solidFill>
                  <a:srgbClr val="EDF1EE"/>
                </a:solidFill>
                <a:latin typeface="Calibri" pitchFamily="34" charset="0"/>
                <a:ea typeface="Calibri" pitchFamily="34" charset="-122"/>
                <a:cs typeface="Calibri" pitchFamily="34" charset="-120"/>
              </a:rPr>
              <a:t>1,88×</a:t>
            </a:r>
            <a:endParaRPr lang="en-US" sz="2800" dirty="0"/>
          </a:p>
        </p:txBody>
      </p:sp>
      <p:sp>
        <p:nvSpPr>
          <p:cNvPr id="14" name="Text 10"/>
          <p:cNvSpPr txBox="1"/>
          <p:nvPr/>
        </p:nvSpPr>
        <p:spPr>
          <a:xfrm>
            <a:off x="64008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laut Bewertung</a:t>
            </a:r>
            <a:endParaRPr lang="en-US" sz="1050" dirty="0"/>
          </a:p>
        </p:txBody>
      </p:sp>
      <p:sp>
        <p:nvSpPr>
          <p:cNvPr id="15" name="Shape 11"/>
          <p:cNvSpPr/>
          <p:nvPr/>
        </p:nvSpPr>
        <p:spPr>
          <a:xfrm>
            <a:off x="2468880" y="4389120"/>
            <a:ext cx="1828800" cy="1143000"/>
          </a:xfrm>
          <a:prstGeom prst="roundRect">
            <a:avLst>
              <a:gd name="adj" fmla="val 6400"/>
            </a:avLst>
          </a:prstGeom>
          <a:solidFill>
            <a:srgbClr val="161F22"/>
          </a:solidFill>
          <a:ln w="9525">
            <a:solidFill>
              <a:srgbClr val="243033"/>
            </a:solidFill>
            <a:prstDash val="solid"/>
          </a:ln>
        </p:spPr>
      </p:sp>
      <p:sp>
        <p:nvSpPr>
          <p:cNvPr id="16" name="Text 12"/>
          <p:cNvSpPr txBox="1"/>
          <p:nvPr/>
        </p:nvSpPr>
        <p:spPr>
          <a:xfrm>
            <a:off x="260604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1,49×</a:t>
            </a:r>
            <a:endParaRPr lang="en-US" sz="2800" dirty="0"/>
          </a:p>
        </p:txBody>
      </p:sp>
      <p:sp>
        <p:nvSpPr>
          <p:cNvPr id="17" name="Text 13"/>
          <p:cNvSpPr txBox="1"/>
          <p:nvPr/>
        </p:nvSpPr>
        <p:spPr>
          <a:xfrm>
            <a:off x="260604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nach Tail-End-Verwertung</a:t>
            </a:r>
            <a:endParaRPr lang="en-US" sz="1050" dirty="0"/>
          </a:p>
        </p:txBody>
      </p:sp>
      <p:sp>
        <p:nvSpPr>
          <p:cNvPr id="18" name="Shape 14"/>
          <p:cNvSpPr/>
          <p:nvPr/>
        </p:nvSpPr>
        <p:spPr>
          <a:xfrm>
            <a:off x="4434840" y="4389120"/>
            <a:ext cx="1828800" cy="1143000"/>
          </a:xfrm>
          <a:prstGeom prst="roundRect">
            <a:avLst>
              <a:gd name="adj" fmla="val 6400"/>
            </a:avLst>
          </a:prstGeom>
          <a:solidFill>
            <a:srgbClr val="161F22"/>
          </a:solidFill>
          <a:ln w="9525">
            <a:solidFill>
              <a:srgbClr val="243033"/>
            </a:solidFill>
            <a:prstDash val="solid"/>
          </a:ln>
        </p:spPr>
      </p:sp>
      <p:sp>
        <p:nvSpPr>
          <p:cNvPr id="19" name="Text 15"/>
          <p:cNvSpPr txBox="1"/>
          <p:nvPr/>
        </p:nvSpPr>
        <p:spPr>
          <a:xfrm>
            <a:off x="457200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−0,39×</a:t>
            </a:r>
            <a:endParaRPr lang="en-US" sz="2800" dirty="0"/>
          </a:p>
        </p:txBody>
      </p:sp>
      <p:sp>
        <p:nvSpPr>
          <p:cNvPr id="20" name="Text 16"/>
          <p:cNvSpPr txBox="1"/>
          <p:nvPr/>
        </p:nvSpPr>
        <p:spPr>
          <a:xfrm>
            <a:off x="457200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Abschlag durch Zwangsverkauf</a:t>
            </a:r>
            <a:endParaRPr lang="en-US" sz="1050" dirty="0"/>
          </a:p>
        </p:txBody>
      </p:sp>
      <p:sp>
        <p:nvSpPr>
          <p:cNvPr id="21" name="Text 17"/>
          <p:cNvSpPr txBox="1"/>
          <p:nvPr/>
        </p:nvSpPr>
        <p:spPr>
          <a:xfrm>
            <a:off x="658368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9538E"/>
                </a:solidFill>
                <a:latin typeface="Calibri" pitchFamily="34" charset="0"/>
                <a:ea typeface="Calibri" pitchFamily="34" charset="-122"/>
                <a:cs typeface="Calibri" pitchFamily="34" charset="-120"/>
              </a:rPr>
              <a:t>WARUM DAS SO IST</a:t>
            </a:r>
            <a:endParaRPr lang="en-US" sz="1000" dirty="0"/>
          </a:p>
        </p:txBody>
      </p:sp>
      <p:sp>
        <p:nvSpPr>
          <p:cNvPr id="22" name="Text 18"/>
          <p:cNvSpPr txBox="1"/>
          <p:nvPr/>
        </p:nvSpPr>
        <p:spPr>
          <a:xfrm>
            <a:off x="6583680" y="1920240"/>
            <a:ext cx="5102352" cy="3108960"/>
          </a:xfrm>
          <a:prstGeom prst="rect">
            <a:avLst/>
          </a:prstGeom>
          <a:noFill/>
          <a:ln/>
        </p:spPr>
        <p:txBody>
          <a:bodyPr wrap="square" lIns="0" tIns="0" rIns="0" bIns="0" rtlCol="0" anchor="t"/>
          <a:lstStyle/>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NAV: </a:t>
            </a:r>
            <a:pPr indent="0" marL="0">
              <a:buNone/>
            </a:pPr>
            <a:r>
              <a:rPr lang="en-US" sz="1350" dirty="0">
                <a:solidFill>
                  <a:srgbClr val="EDF1EE"/>
                </a:solidFill>
                <a:latin typeface="Calibri" pitchFamily="34" charset="0"/>
                <a:ea typeface="Calibri" pitchFamily="34" charset="-122"/>
                <a:cs typeface="Calibri" pitchFamily="34" charset="-120"/>
              </a:rPr>
              <a:t>bewertet zum Marktmultiple (markMultiple) – ohne Endfälligkeitsdruck.</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Transaktion: </a:t>
            </a:r>
            <a:pPr indent="0" marL="0">
              <a:buNone/>
            </a:pPr>
            <a:r>
              <a:rPr lang="en-US" sz="1350" dirty="0">
                <a:solidFill>
                  <a:srgbClr val="EDF1EE"/>
                </a:solidFill>
                <a:latin typeface="Calibri" pitchFamily="34" charset="0"/>
                <a:ea typeface="Calibri" pitchFamily="34" charset="-122"/>
                <a:cs typeface="Calibri" pitchFamily="34" charset="-120"/>
              </a:rPr>
              <a:t>in den letzten 4 HJ bis 2,6 Turns Abschlag (endPressure).</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Tail-End: </a:t>
            </a:r>
            <a:pPr indent="0" marL="0">
              <a:buNone/>
            </a:pPr>
            <a:r>
              <a:rPr lang="en-US" sz="1350" dirty="0">
                <a:solidFill>
                  <a:srgbClr val="EDF1EE"/>
                </a:solidFill>
                <a:latin typeface="Calibri" pitchFamily="34" charset="0"/>
                <a:ea typeface="Calibri" pitchFamily="34" charset="-122"/>
                <a:cs typeface="Calibri" pitchFamily="34" charset="-120"/>
              </a:rPr>
              <a:t>alles Verbleibende wird in HJ 20 zum Marktmultiple −2,6 Turns verwertet, 2 % Kosten, MEP schneidet mit.</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Konsequenz: </a:t>
            </a:r>
            <a:pPr indent="0" marL="0">
              <a:buNone/>
            </a:pPr>
            <a:r>
              <a:rPr lang="en-US" sz="1350" dirty="0">
                <a:solidFill>
                  <a:srgbClr val="EDF1EE"/>
                </a:solidFill>
                <a:latin typeface="Calibri" pitchFamily="34" charset="0"/>
                <a:ea typeface="Calibri" pitchFamily="34" charset="-122"/>
                <a:cs typeface="Calibri" pitchFamily="34" charset="-120"/>
              </a:rPr>
              <a:t>Exits rechtzeitig planen – Auktionen dauern 2 HJ, maximal 3 laufen parallel.</a:t>
            </a:r>
            <a:endParaRPr lang="en-US" sz="1350" dirty="0"/>
          </a:p>
        </p:txBody>
      </p:sp>
      <p:sp>
        <p:nvSpPr>
          <p:cNvPr id="23" name="Shape 19"/>
          <p:cNvSpPr/>
          <p:nvPr/>
        </p:nvSpPr>
        <p:spPr>
          <a:xfrm>
            <a:off x="6583680" y="5120640"/>
            <a:ext cx="5102352" cy="777240"/>
          </a:xfrm>
          <a:prstGeom prst="roundRect">
            <a:avLst>
              <a:gd name="adj" fmla="val 9412"/>
            </a:avLst>
          </a:prstGeom>
          <a:solidFill>
            <a:srgbClr val="1C282B"/>
          </a:solidFill>
          <a:ln w="12700">
            <a:solidFill>
              <a:srgbClr val="DCB264"/>
            </a:solidFill>
            <a:prstDash val="solid"/>
          </a:ln>
        </p:spPr>
      </p:sp>
      <p:sp>
        <p:nvSpPr>
          <p:cNvPr id="24" name="Text 20"/>
          <p:cNvSpPr txBox="1"/>
          <p:nvPr/>
        </p:nvSpPr>
        <p:spPr>
          <a:xfrm>
            <a:off x="6766560" y="5120640"/>
            <a:ext cx="473659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Tail-End-Erlös = (EBITDA × (Multiple − 2,6) − Nettoverschuldung) × (1 − 2 %)</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beim Exit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37</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D9538E"/>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Zeit ist ein Kostenfaktor</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Altbestandsabschlag, Endfälligkeitsdruck und IRR bestrafen zu langes Halten.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D9538E"/>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Exits planen, nicht erzwingen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Auktionen brauchen 2 Halbjahre; wer erst in HJ 19 startet, verkauft unter Druck.</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D9538E"/>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Preis gegen Sicherheit</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Stratege, Sponsor, Family Office: Das höchste Gebot ist nicht immer das beste.</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D9538E"/>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Teilexits als Werkzeug</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CV und IPO realisieren Liquidität und lassen am weiteren Upside teilhaben.</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D9538E"/>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Netto zählt</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Transaktionskosten und Sweet Equity gehen vom Erlös ab – der MOIC misst netto.</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D9538E"/>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Bewertung ≠ Rendite</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Erst der DPI zeigt echtes Geld; die Tail-End-Vorschau zeigt, was bliebe.</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SYNTHESE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Welche Fähigkeit auf welchen Hebel wirkt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1737360"/>
                <a:gridCol w="3840480"/>
                <a:gridCol w="3931920"/>
                <a:gridCol w="1673352"/>
              </a:tblGrid>
              <a:tr h="71323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Fähigkeit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Deal-Phase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Value Creation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Exit &amp; 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+0,55 proprietäre Deals je Punkt; Abschlag +0,12 Turns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Due Diligence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Schätzfehler −0,9 pp je Punkt; 1 + DD/2 Datenräume; −9 % Überraschungsrisiko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ab 4: halbiert Kunden- und Capex-Ereignisse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Execution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−1 % Kaufpreis je Punkt; gewinnt bei Gleichstand</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 Verkaufspreis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Value Creation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 Wachstumswirkung und Aufholtempo je Punkt; +1 Maßnahmenplatz je 2 Punkte; ab 4: halbiert Management- und Markt-Ereignisse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Financing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−0,25 pp Zins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+0,1× Covenant-Luft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Text 6"/>
          <p:cNvSpPr txBox="1"/>
          <p:nvPr/>
        </p:nvSpPr>
        <p:spPr>
          <a:xfrm>
            <a:off x="502920" y="5943600"/>
            <a:ext cx="11185855" cy="320040"/>
          </a:xfrm>
          <a:prstGeom prst="rect">
            <a:avLst/>
          </a:prstGeom>
          <a:noFill/>
          <a:ln/>
        </p:spPr>
        <p:txBody>
          <a:bodyPr wrap="square" lIns="0" tIns="0" rIns="0" bIns="0" rtlCol="0" anchor="t"/>
          <a:lstStyle/>
          <a:p>
            <a:pPr algn="l" indent="0" marL="0">
              <a:buNone/>
            </a:pPr>
            <a:r>
              <a:rPr lang="en-US" sz="1150" i="1" dirty="0">
                <a:solidFill>
                  <a:srgbClr val="8E9C9B"/>
                </a:solidFill>
                <a:latin typeface="Calibri" pitchFamily="34" charset="0"/>
                <a:ea typeface="Calibri" pitchFamily="34" charset="-122"/>
                <a:cs typeface="Calibri" pitchFamily="34" charset="-120"/>
              </a:rPr>
              <a:t>Der Spieler verteilt 12 Punkte (Standard: 2 · 3 · 2 · 3 · 2). Die KI-Archetypen setzen je einen Schwerpunkt mit 5 Punkten.</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MODELLGRENZEN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Bewusste Vereinfachungen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39</a:t>
            </a:r>
            <a:endParaRPr lang="en-US" sz="900" dirty="0"/>
          </a:p>
        </p:txBody>
      </p:sp>
      <p:sp>
        <p:nvSpPr>
          <p:cNvPr id="9" name="Shape 6"/>
          <p:cNvSpPr/>
          <p:nvPr/>
        </p:nvSpPr>
        <p:spPr>
          <a:xfrm>
            <a:off x="502920" y="1600200"/>
            <a:ext cx="5468112" cy="1207008"/>
          </a:xfrm>
          <a:prstGeom prst="roundRect">
            <a:avLst>
              <a:gd name="adj" fmla="val 6061"/>
            </a:avLst>
          </a:prstGeom>
          <a:solidFill>
            <a:srgbClr val="161F22"/>
          </a:solidFill>
          <a:ln w="9525">
            <a:solidFill>
              <a:srgbClr val="243033"/>
            </a:solidFill>
            <a:prstDash val="solid"/>
          </a:ln>
        </p:spPr>
      </p:sp>
      <p:sp>
        <p:nvSpPr>
          <p:cNvPr id="10" name="Shape 7"/>
          <p:cNvSpPr/>
          <p:nvPr/>
        </p:nvSpPr>
        <p:spPr>
          <a:xfrm>
            <a:off x="685800" y="1901952"/>
            <a:ext cx="566928" cy="566928"/>
          </a:xfrm>
          <a:prstGeom prst="ellipse">
            <a:avLst/>
          </a:prstGeom>
          <a:solidFill>
            <a:srgbClr val="1C282B"/>
          </a:solidFill>
          <a:ln w="12700">
            <a:solidFill>
              <a:srgbClr val="DCB264"/>
            </a:solidFill>
            <a:prstDash val="solid"/>
          </a:ln>
        </p:spPr>
      </p:sp>
      <p:pic>
        <p:nvPicPr>
          <p:cNvPr id="11" name="Image 0" descr="/tmp/claude-0/deck/img/i_puzzle_gold.png">    </p:cNvPr>
          <p:cNvPicPr>
            <a:picLocks noChangeAspect="1"/>
          </p:cNvPicPr>
          <p:nvPr/>
        </p:nvPicPr>
        <p:blipFill>
          <a:blip r:embed="rId1"/>
          <a:stretch>
            <a:fillRect/>
          </a:stretch>
        </p:blipFill>
        <p:spPr>
          <a:xfrm>
            <a:off x="821863" y="2038015"/>
            <a:ext cx="294803" cy="294803"/>
          </a:xfrm>
          <a:prstGeom prst="rect">
            <a:avLst/>
          </a:prstGeom>
        </p:spPr>
      </p:pic>
      <p:sp>
        <p:nvSpPr>
          <p:cNvPr id="12" name="Text 8"/>
          <p:cNvSpPr txBox="1"/>
          <p:nvPr/>
        </p:nvSpPr>
        <p:spPr>
          <a:xfrm>
            <a:off x="141732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Schuldenstruktur</a:t>
            </a:r>
            <a:endParaRPr lang="en-US" sz="1500" dirty="0"/>
          </a:p>
        </p:txBody>
      </p:sp>
      <p:sp>
        <p:nvSpPr>
          <p:cNvPr id="13" name="Text 9"/>
          <p:cNvSpPr txBox="1"/>
          <p:nvPr/>
        </p:nvSpPr>
        <p:spPr>
          <a:xfrm>
            <a:off x="141732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Ein endfälliges Darlehen, 100 % Cash Sweep – keine Tranchen, kein PIK, kein Refinanzierungsrisiko.</a:t>
            </a:r>
            <a:endParaRPr lang="en-US" sz="1200" dirty="0"/>
          </a:p>
        </p:txBody>
      </p:sp>
      <p:sp>
        <p:nvSpPr>
          <p:cNvPr id="14" name="Shape 10"/>
          <p:cNvSpPr/>
          <p:nvPr/>
        </p:nvSpPr>
        <p:spPr>
          <a:xfrm>
            <a:off x="6172200" y="1600200"/>
            <a:ext cx="5468112" cy="1207008"/>
          </a:xfrm>
          <a:prstGeom prst="roundRect">
            <a:avLst>
              <a:gd name="adj" fmla="val 6061"/>
            </a:avLst>
          </a:prstGeom>
          <a:solidFill>
            <a:srgbClr val="161F22"/>
          </a:solidFill>
          <a:ln w="9525">
            <a:solidFill>
              <a:srgbClr val="243033"/>
            </a:solidFill>
            <a:prstDash val="solid"/>
          </a:ln>
        </p:spPr>
      </p:sp>
      <p:sp>
        <p:nvSpPr>
          <p:cNvPr id="15" name="Shape 11"/>
          <p:cNvSpPr/>
          <p:nvPr/>
        </p:nvSpPr>
        <p:spPr>
          <a:xfrm>
            <a:off x="6355080" y="1901952"/>
            <a:ext cx="566928" cy="566928"/>
          </a:xfrm>
          <a:prstGeom prst="ellipse">
            <a:avLst/>
          </a:prstGeom>
          <a:solidFill>
            <a:srgbClr val="1C282B"/>
          </a:solidFill>
          <a:ln w="12700">
            <a:solidFill>
              <a:srgbClr val="DCB264"/>
            </a:solidFill>
            <a:prstDash val="solid"/>
          </a:ln>
        </p:spPr>
      </p:sp>
      <p:pic>
        <p:nvPicPr>
          <p:cNvPr id="16" name="Image 1" descr="/tmp/claude-0/deck/img/i_puzzle_gold.png">    </p:cNvPr>
          <p:cNvPicPr>
            <a:picLocks noChangeAspect="1"/>
          </p:cNvPicPr>
          <p:nvPr/>
        </p:nvPicPr>
        <p:blipFill>
          <a:blip r:embed="rId2"/>
          <a:stretch>
            <a:fillRect/>
          </a:stretch>
        </p:blipFill>
        <p:spPr>
          <a:xfrm>
            <a:off x="6491143" y="2038015"/>
            <a:ext cx="294803" cy="294803"/>
          </a:xfrm>
          <a:prstGeom prst="rect">
            <a:avLst/>
          </a:prstGeom>
        </p:spPr>
      </p:pic>
      <p:sp>
        <p:nvSpPr>
          <p:cNvPr id="17" name="Text 12"/>
          <p:cNvSpPr txBox="1"/>
          <p:nvPr/>
        </p:nvSpPr>
        <p:spPr>
          <a:xfrm>
            <a:off x="708660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Covenant</a:t>
            </a:r>
            <a:endParaRPr lang="en-US" sz="1500" dirty="0"/>
          </a:p>
        </p:txBody>
      </p:sp>
      <p:sp>
        <p:nvSpPr>
          <p:cNvPr id="18" name="Text 13"/>
          <p:cNvSpPr txBox="1"/>
          <p:nvPr/>
        </p:nvSpPr>
        <p:spPr>
          <a:xfrm>
            <a:off x="708660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Getestet auf der annualisierten Laufrate, nicht auf LTM; Add-backs unbegrenzt.</a:t>
            </a:r>
            <a:endParaRPr lang="en-US" sz="1200" dirty="0"/>
          </a:p>
        </p:txBody>
      </p:sp>
      <p:sp>
        <p:nvSpPr>
          <p:cNvPr id="19" name="Shape 14"/>
          <p:cNvSpPr/>
          <p:nvPr/>
        </p:nvSpPr>
        <p:spPr>
          <a:xfrm>
            <a:off x="502920" y="2971800"/>
            <a:ext cx="5468112" cy="1207008"/>
          </a:xfrm>
          <a:prstGeom prst="roundRect">
            <a:avLst>
              <a:gd name="adj" fmla="val 6061"/>
            </a:avLst>
          </a:prstGeom>
          <a:solidFill>
            <a:srgbClr val="161F22"/>
          </a:solidFill>
          <a:ln w="9525">
            <a:solidFill>
              <a:srgbClr val="243033"/>
            </a:solidFill>
            <a:prstDash val="solid"/>
          </a:ln>
        </p:spPr>
      </p:sp>
      <p:sp>
        <p:nvSpPr>
          <p:cNvPr id="20" name="Shape 15"/>
          <p:cNvSpPr/>
          <p:nvPr/>
        </p:nvSpPr>
        <p:spPr>
          <a:xfrm>
            <a:off x="685800" y="3273552"/>
            <a:ext cx="566928" cy="566928"/>
          </a:xfrm>
          <a:prstGeom prst="ellipse">
            <a:avLst/>
          </a:prstGeom>
          <a:solidFill>
            <a:srgbClr val="1C282B"/>
          </a:solidFill>
          <a:ln w="12700">
            <a:solidFill>
              <a:srgbClr val="DCB264"/>
            </a:solidFill>
            <a:prstDash val="solid"/>
          </a:ln>
        </p:spPr>
      </p:sp>
      <p:pic>
        <p:nvPicPr>
          <p:cNvPr id="21" name="Image 2" descr="/tmp/claude-0/deck/img/i_puzzle_gold.png">    </p:cNvPr>
          <p:cNvPicPr>
            <a:picLocks noChangeAspect="1"/>
          </p:cNvPicPr>
          <p:nvPr/>
        </p:nvPicPr>
        <p:blipFill>
          <a:blip r:embed="rId3"/>
          <a:stretch>
            <a:fillRect/>
          </a:stretch>
        </p:blipFill>
        <p:spPr>
          <a:xfrm>
            <a:off x="821863" y="3409615"/>
            <a:ext cx="294803" cy="294803"/>
          </a:xfrm>
          <a:prstGeom prst="rect">
            <a:avLst/>
          </a:prstGeom>
        </p:spPr>
      </p:pic>
      <p:sp>
        <p:nvSpPr>
          <p:cNvPr id="22" name="Text 16"/>
          <p:cNvSpPr txBox="1"/>
          <p:nvPr/>
        </p:nvSpPr>
        <p:spPr>
          <a:xfrm>
            <a:off x="141732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Steuern</a:t>
            </a:r>
            <a:endParaRPr lang="en-US" sz="1500" dirty="0"/>
          </a:p>
        </p:txBody>
      </p:sp>
      <p:sp>
        <p:nvSpPr>
          <p:cNvPr id="23" name="Text 17"/>
          <p:cNvSpPr txBox="1"/>
          <p:nvPr/>
        </p:nvSpPr>
        <p:spPr>
          <a:xfrm>
            <a:off x="141732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Abschreibung = Capex; Zinsschranke ohne Zinsvortrag (konservativ).</a:t>
            </a:r>
            <a:endParaRPr lang="en-US" sz="1200" dirty="0"/>
          </a:p>
        </p:txBody>
      </p:sp>
      <p:sp>
        <p:nvSpPr>
          <p:cNvPr id="24" name="Shape 18"/>
          <p:cNvSpPr/>
          <p:nvPr/>
        </p:nvSpPr>
        <p:spPr>
          <a:xfrm>
            <a:off x="6172200" y="2971800"/>
            <a:ext cx="5468112" cy="1207008"/>
          </a:xfrm>
          <a:prstGeom prst="roundRect">
            <a:avLst>
              <a:gd name="adj" fmla="val 6061"/>
            </a:avLst>
          </a:prstGeom>
          <a:solidFill>
            <a:srgbClr val="161F22"/>
          </a:solidFill>
          <a:ln w="9525">
            <a:solidFill>
              <a:srgbClr val="243033"/>
            </a:solidFill>
            <a:prstDash val="solid"/>
          </a:ln>
        </p:spPr>
      </p:sp>
      <p:sp>
        <p:nvSpPr>
          <p:cNvPr id="25" name="Shape 19"/>
          <p:cNvSpPr/>
          <p:nvPr/>
        </p:nvSpPr>
        <p:spPr>
          <a:xfrm>
            <a:off x="6355080" y="3273552"/>
            <a:ext cx="566928" cy="566928"/>
          </a:xfrm>
          <a:prstGeom prst="ellipse">
            <a:avLst/>
          </a:prstGeom>
          <a:solidFill>
            <a:srgbClr val="1C282B"/>
          </a:solidFill>
          <a:ln w="12700">
            <a:solidFill>
              <a:srgbClr val="DCB264"/>
            </a:solidFill>
            <a:prstDash val="solid"/>
          </a:ln>
        </p:spPr>
      </p:sp>
      <p:pic>
        <p:nvPicPr>
          <p:cNvPr id="26" name="Image 3" descr="/tmp/claude-0/deck/img/i_puzzle_gold.png">    </p:cNvPr>
          <p:cNvPicPr>
            <a:picLocks noChangeAspect="1"/>
          </p:cNvPicPr>
          <p:nvPr/>
        </p:nvPicPr>
        <p:blipFill>
          <a:blip r:embed="rId4"/>
          <a:stretch>
            <a:fillRect/>
          </a:stretch>
        </p:blipFill>
        <p:spPr>
          <a:xfrm>
            <a:off x="6491143" y="3409615"/>
            <a:ext cx="294803" cy="294803"/>
          </a:xfrm>
          <a:prstGeom prst="rect">
            <a:avLst/>
          </a:prstGeom>
        </p:spPr>
      </p:pic>
      <p:sp>
        <p:nvSpPr>
          <p:cNvPr id="27" name="Text 20"/>
          <p:cNvSpPr txBox="1"/>
          <p:nvPr/>
        </p:nvSpPr>
        <p:spPr>
          <a:xfrm>
            <a:off x="708660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Carry</a:t>
            </a:r>
            <a:endParaRPr lang="en-US" sz="1500" dirty="0"/>
          </a:p>
        </p:txBody>
      </p:sp>
      <p:sp>
        <p:nvSpPr>
          <p:cNvPr id="28" name="Text 21"/>
          <p:cNvSpPr txBox="1"/>
          <p:nvPr/>
        </p:nvSpPr>
        <p:spPr>
          <a:xfrm>
            <a:off x="708660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Als Accrual auf den Gesamtwert, ohne Escrow und Clawback – am Laufzeitende identisch.</a:t>
            </a:r>
            <a:endParaRPr lang="en-US" sz="1200" dirty="0"/>
          </a:p>
        </p:txBody>
      </p:sp>
      <p:sp>
        <p:nvSpPr>
          <p:cNvPr id="29" name="Shape 22"/>
          <p:cNvSpPr/>
          <p:nvPr/>
        </p:nvSpPr>
        <p:spPr>
          <a:xfrm>
            <a:off x="502920" y="4343400"/>
            <a:ext cx="5468112" cy="1207008"/>
          </a:xfrm>
          <a:prstGeom prst="roundRect">
            <a:avLst>
              <a:gd name="adj" fmla="val 6061"/>
            </a:avLst>
          </a:prstGeom>
          <a:solidFill>
            <a:srgbClr val="161F22"/>
          </a:solidFill>
          <a:ln w="9525">
            <a:solidFill>
              <a:srgbClr val="243033"/>
            </a:solidFill>
            <a:prstDash val="solid"/>
          </a:ln>
        </p:spPr>
      </p:sp>
      <p:sp>
        <p:nvSpPr>
          <p:cNvPr id="30" name="Shape 23"/>
          <p:cNvSpPr/>
          <p:nvPr/>
        </p:nvSpPr>
        <p:spPr>
          <a:xfrm>
            <a:off x="685800" y="4645152"/>
            <a:ext cx="566928" cy="566928"/>
          </a:xfrm>
          <a:prstGeom prst="ellipse">
            <a:avLst/>
          </a:prstGeom>
          <a:solidFill>
            <a:srgbClr val="1C282B"/>
          </a:solidFill>
          <a:ln w="12700">
            <a:solidFill>
              <a:srgbClr val="DCB264"/>
            </a:solidFill>
            <a:prstDash val="solid"/>
          </a:ln>
        </p:spPr>
      </p:sp>
      <p:pic>
        <p:nvPicPr>
          <p:cNvPr id="31" name="Image 4" descr="/tmp/claude-0/deck/img/i_puzzle_gold.png">    </p:cNvPr>
          <p:cNvPicPr>
            <a:picLocks noChangeAspect="1"/>
          </p:cNvPicPr>
          <p:nvPr/>
        </p:nvPicPr>
        <p:blipFill>
          <a:blip r:embed="rId5"/>
          <a:stretch>
            <a:fillRect/>
          </a:stretch>
        </p:blipFill>
        <p:spPr>
          <a:xfrm>
            <a:off x="821863" y="4781215"/>
            <a:ext cx="294803" cy="294803"/>
          </a:xfrm>
          <a:prstGeom prst="rect">
            <a:avLst/>
          </a:prstGeom>
        </p:spPr>
      </p:pic>
      <p:sp>
        <p:nvSpPr>
          <p:cNvPr id="32" name="Text 24"/>
          <p:cNvSpPr txBox="1"/>
          <p:nvPr/>
        </p:nvSpPr>
        <p:spPr>
          <a:xfrm>
            <a:off x="141732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Sweet Equity</a:t>
            </a:r>
            <a:endParaRPr lang="en-US" sz="1500" dirty="0"/>
          </a:p>
        </p:txBody>
      </p:sp>
      <p:sp>
        <p:nvSpPr>
          <p:cNvPr id="33" name="Text 25"/>
          <p:cNvSpPr txBox="1"/>
          <p:nvPr/>
        </p:nvSpPr>
        <p:spPr>
          <a:xfrm>
            <a:off x="141732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6 % ohne Strike und Ratchet – das Management nimmt auch an Verlusten teil.</a:t>
            </a:r>
            <a:endParaRPr lang="en-US" sz="1200" dirty="0"/>
          </a:p>
        </p:txBody>
      </p:sp>
      <p:sp>
        <p:nvSpPr>
          <p:cNvPr id="34" name="Shape 26"/>
          <p:cNvSpPr/>
          <p:nvPr/>
        </p:nvSpPr>
        <p:spPr>
          <a:xfrm>
            <a:off x="6172200" y="4343400"/>
            <a:ext cx="5468112" cy="1207008"/>
          </a:xfrm>
          <a:prstGeom prst="roundRect">
            <a:avLst>
              <a:gd name="adj" fmla="val 6061"/>
            </a:avLst>
          </a:prstGeom>
          <a:solidFill>
            <a:srgbClr val="161F22"/>
          </a:solidFill>
          <a:ln w="9525">
            <a:solidFill>
              <a:srgbClr val="243033"/>
            </a:solidFill>
            <a:prstDash val="solid"/>
          </a:ln>
        </p:spPr>
      </p:sp>
      <p:sp>
        <p:nvSpPr>
          <p:cNvPr id="35" name="Shape 27"/>
          <p:cNvSpPr/>
          <p:nvPr/>
        </p:nvSpPr>
        <p:spPr>
          <a:xfrm>
            <a:off x="6355080" y="4645152"/>
            <a:ext cx="566928" cy="566928"/>
          </a:xfrm>
          <a:prstGeom prst="ellipse">
            <a:avLst/>
          </a:prstGeom>
          <a:solidFill>
            <a:srgbClr val="1C282B"/>
          </a:solidFill>
          <a:ln w="12700">
            <a:solidFill>
              <a:srgbClr val="DCB264"/>
            </a:solidFill>
            <a:prstDash val="solid"/>
          </a:ln>
        </p:spPr>
      </p:sp>
      <p:pic>
        <p:nvPicPr>
          <p:cNvPr id="36" name="Image 5" descr="/tmp/claude-0/deck/img/i_puzzle_gold.png">    </p:cNvPr>
          <p:cNvPicPr>
            <a:picLocks noChangeAspect="1"/>
          </p:cNvPicPr>
          <p:nvPr/>
        </p:nvPicPr>
        <p:blipFill>
          <a:blip r:embed="rId6"/>
          <a:stretch>
            <a:fillRect/>
          </a:stretch>
        </p:blipFill>
        <p:spPr>
          <a:xfrm>
            <a:off x="6491143" y="4781215"/>
            <a:ext cx="294803" cy="294803"/>
          </a:xfrm>
          <a:prstGeom prst="rect">
            <a:avLst/>
          </a:prstGeom>
        </p:spPr>
      </p:pic>
      <p:sp>
        <p:nvSpPr>
          <p:cNvPr id="37" name="Text 28"/>
          <p:cNvSpPr txBox="1"/>
          <p:nvPr/>
        </p:nvSpPr>
        <p:spPr>
          <a:xfrm>
            <a:off x="708660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Zeitraster</a:t>
            </a:r>
            <a:endParaRPr lang="en-US" sz="1500" dirty="0"/>
          </a:p>
        </p:txBody>
      </p:sp>
      <p:sp>
        <p:nvSpPr>
          <p:cNvPr id="38" name="Text 29"/>
          <p:cNvSpPr txBox="1"/>
          <p:nvPr/>
        </p:nvSpPr>
        <p:spPr>
          <a:xfrm>
            <a:off x="708660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Halbjahresschritte: Signing und Closing fallen in dasselbe Halbjahr.</a:t>
            </a:r>
            <a:endParaRPr lang="en-US" sz="1200" dirty="0"/>
          </a:p>
        </p:txBody>
      </p:sp>
      <p:sp>
        <p:nvSpPr>
          <p:cNvPr id="39" name="Text 30"/>
          <p:cNvSpPr txBox="1"/>
          <p:nvPr/>
        </p:nvSpPr>
        <p:spPr>
          <a:xfrm>
            <a:off x="502920" y="5806440"/>
            <a:ext cx="11185855" cy="457200"/>
          </a:xfrm>
          <a:prstGeom prst="rect">
            <a:avLst/>
          </a:prstGeom>
          <a:noFill/>
          <a:ln/>
        </p:spPr>
        <p:txBody>
          <a:bodyPr wrap="square" lIns="0" tIns="0" rIns="0" bIns="0" rtlCol="0" anchor="t"/>
          <a:lstStyle/>
          <a:p>
            <a:pPr algn="l" indent="0" marL="0">
              <a:buNone/>
            </a:pPr>
            <a:r>
              <a:rPr lang="en-US" sz="1250" i="1" dirty="0">
                <a:solidFill>
                  <a:srgbClr val="8E9C9B"/>
                </a:solidFill>
                <a:latin typeface="Calibri" pitchFamily="34" charset="0"/>
                <a:ea typeface="Calibri" pitchFamily="34" charset="-122"/>
                <a:cs typeface="Calibri" pitchFamily="34" charset="-120"/>
              </a:rPr>
              <a:t>Warum? Die Kernfrage des Spiels ist: Wann verkauft man ein Asset, das noch weiterläuft? Jede zusätzliche Ebene muss dieser Frage dienen.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ANHANG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Parameter-Glossar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5455768" cy="914400"/>
        </p:xfrm>
        <a:graphic>
          <a:graphicData uri="http://schemas.openxmlformats.org/drawingml/2006/table">
            <a:tbl>
              <a:tblPr/>
              <a:tblGrid>
                <a:gridCol w="2194560"/>
                <a:gridCol w="1417320"/>
                <a:gridCol w="1843888"/>
              </a:tblGrid>
              <a:tr h="39319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Commitment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500 Mio.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Laufzeit / Investitionsperiode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20 / 10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PERIODS, INVEST_PERIOD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Management 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p. 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MGMT_FEE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Hurdle / Carry</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8 % / 20 %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HURDLE, CARRY</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Recycling-Deckel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RECYCLE_CAP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Wertungsmarken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1,7× / 18 %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TVPI_BENCH, IRR_BENCH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Portfolio-Plätze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MAX_SLOTS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Entry 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des EV</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ENTRY_FEE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Qualitätsfaktor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0,006 je Punkt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QUAL_COEF</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Multiple-Deckel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1,85 × Sektor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MULT_CAP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6233008" y="1600200"/>
          <a:ext cx="5455768" cy="914400"/>
        </p:xfrm>
        <a:graphic>
          <a:graphicData uri="http://schemas.openxmlformats.org/drawingml/2006/table">
            <a:tbl>
              <a:tblPr/>
              <a:tblGrid>
                <a:gridCol w="2011680"/>
                <a:gridCol w="1737360"/>
                <a:gridCol w="1706728"/>
              </a:tblGrid>
              <a:tr h="39319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Basiszins / Margin Grid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6,5 % / +0,85 pp ab 3,0×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BASE_RATE, LEV_STEP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Zinsschranke / Steuer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30 % EBITDA / 30 %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INT_BARRIER, TAX_RATE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Covenant (Vorgabe/Boden)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6,5× / 4,0×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COV_DEFAULT, COV_FLOOR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Maßnahmenplätze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4 + Value Creation / 2</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INIT_SLOTS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Ereignis je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EVENT_P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Sweet Equity (MEP)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LTIP_SHARE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Add-on-Risiko Referenz</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10 % bei 25 %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ADDON_FAIL_BASE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Mindesthaltedauer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MIN_HOLD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Altbestandsabschlag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je HJ ab 8, max. 20 %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STALE_*</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Tail-End-Abschlag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2,6 Turns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LIQ_DISC</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 Leagues – Wie Private Equity in der Engine funktioniert</dc:title>
  <dc:subject>PptxGenJS Presentation</dc:subject>
  <dc:creator>PE Leagues</dc:creator>
  <cp:lastModifiedBy>PE Leagues</cp:lastModifiedBy>
  <cp:revision>1</cp:revision>
  <dcterms:created xsi:type="dcterms:W3CDTF">2026-09-30T10:30:54Z</dcterms:created>
  <dcterms:modified xsi:type="dcterms:W3CDTF">2026-09-30T10:30:54Z</dcterms:modified>
</cp:coreProperties>
</file>